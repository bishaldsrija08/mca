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9" r:id="rId10"/>
    <p:sldId id="271" r:id="rId11"/>
    <p:sldId id="272" r:id="rId12"/>
    <p:sldId id="273" r:id="rId13"/>
    <p:sldId id="274" r:id="rId14"/>
    <p:sldId id="275" r:id="rId15"/>
    <p:sldId id="276" r:id="rId16"/>
    <p:sldId id="264" r:id="rId17"/>
    <p:sldId id="265" r:id="rId18"/>
    <p:sldId id="267" r:id="rId19"/>
    <p:sldId id="26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D78D69-E34E-4C8B-A933-ADBBEC7E42DE}" type="datetimeFigureOut">
              <a:rPr lang="en-US" smtClean="0"/>
              <a:t>6/30/2024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007C8-3687-4F9B-88BF-1C3E6E65B959}" type="slidenum">
              <a:rPr lang="en-US" smtClean="0"/>
              <a:t>‹#›</a:t>
            </a:fld>
            <a:endParaRPr lang="en-US"/>
          </a:p>
        </p:txBody>
      </p:sp>
    </p:spTree>
    <p:extLst>
      <p:ext uri="{BB962C8B-B14F-4D97-AF65-F5344CB8AC3E}">
        <p14:creationId xmlns:p14="http://schemas.microsoft.com/office/powerpoint/2010/main" val="361752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6007C8-3687-4F9B-88BF-1C3E6E65B959}" type="slidenum">
              <a:rPr lang="en-US" smtClean="0"/>
              <a:t>1</a:t>
            </a:fld>
            <a:endParaRPr lang="en-US"/>
          </a:p>
        </p:txBody>
      </p:sp>
    </p:spTree>
    <p:extLst>
      <p:ext uri="{BB962C8B-B14F-4D97-AF65-F5344CB8AC3E}">
        <p14:creationId xmlns:p14="http://schemas.microsoft.com/office/powerpoint/2010/main" val="113249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228579-78AF-49C1-97AE-EBB1DFBEBD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7444F66-A070-4380-911F-C23D35B8D8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A850801-962E-443F-8527-B12527DF9027}"/>
              </a:ext>
            </a:extLst>
          </p:cNvPr>
          <p:cNvSpPr>
            <a:spLocks noGrp="1"/>
          </p:cNvSpPr>
          <p:nvPr>
            <p:ph type="dt" sz="half" idx="10"/>
          </p:nvPr>
        </p:nvSpPr>
        <p:spPr/>
        <p:txBody>
          <a:bodyPr/>
          <a:lstStyle/>
          <a:p>
            <a:fld id="{B71FA0C0-8753-4A49-864C-A10DAC426C2D}" type="datetime1">
              <a:rPr lang="en-US" smtClean="0"/>
              <a:t>6/30/2024</a:t>
            </a:fld>
            <a:endParaRPr lang="en-US"/>
          </a:p>
        </p:txBody>
      </p:sp>
      <p:sp>
        <p:nvSpPr>
          <p:cNvPr id="5" name="Footer Placeholder 4">
            <a:extLst>
              <a:ext uri="{FF2B5EF4-FFF2-40B4-BE49-F238E27FC236}">
                <a16:creationId xmlns:a16="http://schemas.microsoft.com/office/drawing/2014/main" xmlns="" id="{6A1AD4DA-0786-48DD-9452-215BBDCD1CDE}"/>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A2715B47-B02F-4CEC-BF47-C60B00215082}"/>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46240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3C583-938A-46B7-B1BC-74AC45C050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33FF09B-0517-42FB-A888-D71BC1F6B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20CD08-BF8B-4E95-BBB2-8B1F66FFBC85}"/>
              </a:ext>
            </a:extLst>
          </p:cNvPr>
          <p:cNvSpPr>
            <a:spLocks noGrp="1"/>
          </p:cNvSpPr>
          <p:nvPr>
            <p:ph type="dt" sz="half" idx="10"/>
          </p:nvPr>
        </p:nvSpPr>
        <p:spPr/>
        <p:txBody>
          <a:bodyPr/>
          <a:lstStyle/>
          <a:p>
            <a:fld id="{30F7C3D7-3931-4CE0-8F98-B0FF064B87F2}" type="datetime1">
              <a:rPr lang="en-US" smtClean="0"/>
              <a:t>6/30/2024</a:t>
            </a:fld>
            <a:endParaRPr lang="en-US"/>
          </a:p>
        </p:txBody>
      </p:sp>
      <p:sp>
        <p:nvSpPr>
          <p:cNvPr id="5" name="Footer Placeholder 4">
            <a:extLst>
              <a:ext uri="{FF2B5EF4-FFF2-40B4-BE49-F238E27FC236}">
                <a16:creationId xmlns:a16="http://schemas.microsoft.com/office/drawing/2014/main" xmlns="" id="{9CAB124C-FEB2-49BF-BC75-762C2C14B3F4}"/>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52356A3D-035B-4714-B6E9-D9B66F714AA0}"/>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8582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D2CC90-ACDC-4097-8CD4-699493A39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3606AD3-B3F7-4EDA-9CA3-901D18035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03A0F57-CC3D-4DEA-80FD-1F4E6002C535}"/>
              </a:ext>
            </a:extLst>
          </p:cNvPr>
          <p:cNvSpPr>
            <a:spLocks noGrp="1"/>
          </p:cNvSpPr>
          <p:nvPr>
            <p:ph type="dt" sz="half" idx="10"/>
          </p:nvPr>
        </p:nvSpPr>
        <p:spPr/>
        <p:txBody>
          <a:bodyPr/>
          <a:lstStyle/>
          <a:p>
            <a:fld id="{21DAB64E-3F1E-4E29-84FD-B1B99D7C48D5}" type="datetime1">
              <a:rPr lang="en-US" smtClean="0"/>
              <a:t>6/30/2024</a:t>
            </a:fld>
            <a:endParaRPr lang="en-US"/>
          </a:p>
        </p:txBody>
      </p:sp>
      <p:sp>
        <p:nvSpPr>
          <p:cNvPr id="5" name="Footer Placeholder 4">
            <a:extLst>
              <a:ext uri="{FF2B5EF4-FFF2-40B4-BE49-F238E27FC236}">
                <a16:creationId xmlns:a16="http://schemas.microsoft.com/office/drawing/2014/main" xmlns="" id="{1A1CEF9A-64DE-49AD-8F35-4A22AE09C983}"/>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62AFFCFD-7F9E-4DBF-8E22-D479DB6E97D9}"/>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564980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6D692-192F-4ED8-A041-E138E5E5D9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13D4C00-2066-469C-A564-6A6C8C7082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0AC5364-EA96-45A4-8873-2E37C515E0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16382FF-3DF5-4CC0-B76E-CFE529B0D11D}"/>
              </a:ext>
            </a:extLst>
          </p:cNvPr>
          <p:cNvSpPr>
            <a:spLocks noGrp="1"/>
          </p:cNvSpPr>
          <p:nvPr>
            <p:ph type="dt" sz="half" idx="10"/>
          </p:nvPr>
        </p:nvSpPr>
        <p:spPr/>
        <p:txBody>
          <a:bodyPr/>
          <a:lstStyle/>
          <a:p>
            <a:fld id="{11F03245-1690-4036-AD4B-1E3B7DBA02DF}" type="datetime1">
              <a:rPr lang="en-US" smtClean="0"/>
              <a:t>6/30/2024</a:t>
            </a:fld>
            <a:endParaRPr lang="en-US"/>
          </a:p>
        </p:txBody>
      </p:sp>
      <p:sp>
        <p:nvSpPr>
          <p:cNvPr id="6" name="Footer Placeholder 5">
            <a:extLst>
              <a:ext uri="{FF2B5EF4-FFF2-40B4-BE49-F238E27FC236}">
                <a16:creationId xmlns:a16="http://schemas.microsoft.com/office/drawing/2014/main" xmlns="" id="{FE9EB9CB-AD04-43DD-B333-CFB7714C156F}"/>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E153B090-33D7-427E-BC58-4790D404EB6F}"/>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55543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9ADE98-CFD0-45D6-8B68-FC717B2EE6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E26A639-CF5B-4553-B77E-4A254F3E0B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5E54C55-3941-40CD-8FC7-1038E4BE5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E24BDD7-2BD5-494D-AAF0-1EEB3558A9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564A173-E83E-44D2-94CF-ACDF2E3E6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F709A28-1B34-42BD-918D-961DBAFF26F3}"/>
              </a:ext>
            </a:extLst>
          </p:cNvPr>
          <p:cNvSpPr>
            <a:spLocks noGrp="1"/>
          </p:cNvSpPr>
          <p:nvPr>
            <p:ph type="dt" sz="half" idx="10"/>
          </p:nvPr>
        </p:nvSpPr>
        <p:spPr/>
        <p:txBody>
          <a:bodyPr/>
          <a:lstStyle/>
          <a:p>
            <a:fld id="{8A4CFE52-2DB9-407D-A7A4-CCA17A73D5CC}" type="datetime1">
              <a:rPr lang="en-US" smtClean="0"/>
              <a:t>6/30/2024</a:t>
            </a:fld>
            <a:endParaRPr lang="en-US"/>
          </a:p>
        </p:txBody>
      </p:sp>
      <p:sp>
        <p:nvSpPr>
          <p:cNvPr id="8" name="Footer Placeholder 7">
            <a:extLst>
              <a:ext uri="{FF2B5EF4-FFF2-40B4-BE49-F238E27FC236}">
                <a16:creationId xmlns:a16="http://schemas.microsoft.com/office/drawing/2014/main" xmlns="" id="{9AF48806-B8BC-46D4-AD83-EABDEB6A78E4}"/>
              </a:ext>
            </a:extLst>
          </p:cNvPr>
          <p:cNvSpPr>
            <a:spLocks noGrp="1"/>
          </p:cNvSpPr>
          <p:nvPr>
            <p:ph type="ftr" sz="quarter" idx="11"/>
          </p:nvPr>
        </p:nvSpPr>
        <p:spPr/>
        <p:txBody>
          <a:bodyPr/>
          <a:lstStyle/>
          <a:p>
            <a:r>
              <a:rPr lang="en-US" smtClean="0"/>
              <a:t>Bhupendra Ram Luhar</a:t>
            </a:r>
            <a:endParaRPr lang="en-US"/>
          </a:p>
        </p:txBody>
      </p:sp>
      <p:sp>
        <p:nvSpPr>
          <p:cNvPr id="9" name="Slide Number Placeholder 8">
            <a:extLst>
              <a:ext uri="{FF2B5EF4-FFF2-40B4-BE49-F238E27FC236}">
                <a16:creationId xmlns:a16="http://schemas.microsoft.com/office/drawing/2014/main" xmlns="" id="{F5F02BA7-7F8C-4E81-B9EA-BCBF62906BF1}"/>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700875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AA9A65-705D-4377-A562-5BF4951C8C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D7C2890-E5D8-4396-839C-F873DA5BD332}"/>
              </a:ext>
            </a:extLst>
          </p:cNvPr>
          <p:cNvSpPr>
            <a:spLocks noGrp="1"/>
          </p:cNvSpPr>
          <p:nvPr>
            <p:ph type="dt" sz="half" idx="10"/>
          </p:nvPr>
        </p:nvSpPr>
        <p:spPr/>
        <p:txBody>
          <a:bodyPr/>
          <a:lstStyle/>
          <a:p>
            <a:fld id="{8585DB09-C822-4B18-BE5A-72E9804A4915}" type="datetime1">
              <a:rPr lang="en-US" smtClean="0"/>
              <a:t>6/30/2024</a:t>
            </a:fld>
            <a:endParaRPr lang="en-US"/>
          </a:p>
        </p:txBody>
      </p:sp>
      <p:sp>
        <p:nvSpPr>
          <p:cNvPr id="4" name="Footer Placeholder 3">
            <a:extLst>
              <a:ext uri="{FF2B5EF4-FFF2-40B4-BE49-F238E27FC236}">
                <a16:creationId xmlns:a16="http://schemas.microsoft.com/office/drawing/2014/main" xmlns="" id="{C2A915D3-CBAA-401D-8AB6-2A593618E473}"/>
              </a:ext>
            </a:extLst>
          </p:cNvPr>
          <p:cNvSpPr>
            <a:spLocks noGrp="1"/>
          </p:cNvSpPr>
          <p:nvPr>
            <p:ph type="ftr" sz="quarter" idx="11"/>
          </p:nvPr>
        </p:nvSpPr>
        <p:spPr/>
        <p:txBody>
          <a:bodyPr/>
          <a:lstStyle/>
          <a:p>
            <a:r>
              <a:rPr lang="en-US" smtClean="0"/>
              <a:t>Bhupendra Ram Luhar</a:t>
            </a:r>
            <a:endParaRPr lang="en-US"/>
          </a:p>
        </p:txBody>
      </p:sp>
      <p:sp>
        <p:nvSpPr>
          <p:cNvPr id="5" name="Slide Number Placeholder 4">
            <a:extLst>
              <a:ext uri="{FF2B5EF4-FFF2-40B4-BE49-F238E27FC236}">
                <a16:creationId xmlns:a16="http://schemas.microsoft.com/office/drawing/2014/main" xmlns="" id="{F0D70446-2B29-4C0B-9184-5AB4941DDBD6}"/>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631675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75374F9-0523-4523-8D75-FC17D854F6B3}"/>
              </a:ext>
            </a:extLst>
          </p:cNvPr>
          <p:cNvSpPr>
            <a:spLocks noGrp="1"/>
          </p:cNvSpPr>
          <p:nvPr>
            <p:ph type="dt" sz="half" idx="10"/>
          </p:nvPr>
        </p:nvSpPr>
        <p:spPr/>
        <p:txBody>
          <a:bodyPr/>
          <a:lstStyle/>
          <a:p>
            <a:fld id="{A63445C1-4B5C-476E-AE31-60B4C9392945}" type="datetime1">
              <a:rPr lang="en-US" smtClean="0"/>
              <a:t>6/30/2024</a:t>
            </a:fld>
            <a:endParaRPr lang="en-US"/>
          </a:p>
        </p:txBody>
      </p:sp>
      <p:sp>
        <p:nvSpPr>
          <p:cNvPr id="3" name="Footer Placeholder 2">
            <a:extLst>
              <a:ext uri="{FF2B5EF4-FFF2-40B4-BE49-F238E27FC236}">
                <a16:creationId xmlns:a16="http://schemas.microsoft.com/office/drawing/2014/main" xmlns="" id="{E6F2BF33-8F10-49B8-A4FF-E0D6660F977E}"/>
              </a:ext>
            </a:extLst>
          </p:cNvPr>
          <p:cNvSpPr>
            <a:spLocks noGrp="1"/>
          </p:cNvSpPr>
          <p:nvPr>
            <p:ph type="ftr" sz="quarter" idx="11"/>
          </p:nvPr>
        </p:nvSpPr>
        <p:spPr/>
        <p:txBody>
          <a:bodyPr/>
          <a:lstStyle/>
          <a:p>
            <a:r>
              <a:rPr lang="en-US" smtClean="0"/>
              <a:t>Bhupendra Ram Luhar</a:t>
            </a:r>
            <a:endParaRPr lang="en-US"/>
          </a:p>
        </p:txBody>
      </p:sp>
      <p:sp>
        <p:nvSpPr>
          <p:cNvPr id="4" name="Slide Number Placeholder 3">
            <a:extLst>
              <a:ext uri="{FF2B5EF4-FFF2-40B4-BE49-F238E27FC236}">
                <a16:creationId xmlns:a16="http://schemas.microsoft.com/office/drawing/2014/main" xmlns="" id="{45CE0E93-C083-42F9-8D1C-D1F823CA2176}"/>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562358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2CD2E-2E33-4A66-B5E8-0C46A6323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98536A8-1616-481E-AFE0-FB5313442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279803F-7F31-4F27-9E4A-BF43DB683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A895017-18FB-4439-9D3C-6678EF722588}"/>
              </a:ext>
            </a:extLst>
          </p:cNvPr>
          <p:cNvSpPr>
            <a:spLocks noGrp="1"/>
          </p:cNvSpPr>
          <p:nvPr>
            <p:ph type="dt" sz="half" idx="10"/>
          </p:nvPr>
        </p:nvSpPr>
        <p:spPr/>
        <p:txBody>
          <a:bodyPr/>
          <a:lstStyle/>
          <a:p>
            <a:fld id="{BF54EDD7-B898-417C-8C62-F13DBADCFB63}" type="datetime1">
              <a:rPr lang="en-US" smtClean="0"/>
              <a:t>6/30/2024</a:t>
            </a:fld>
            <a:endParaRPr lang="en-US"/>
          </a:p>
        </p:txBody>
      </p:sp>
      <p:sp>
        <p:nvSpPr>
          <p:cNvPr id="6" name="Footer Placeholder 5">
            <a:extLst>
              <a:ext uri="{FF2B5EF4-FFF2-40B4-BE49-F238E27FC236}">
                <a16:creationId xmlns:a16="http://schemas.microsoft.com/office/drawing/2014/main" xmlns="" id="{7E5E46FE-5C60-4364-B09B-1B8E9CDCC510}"/>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8FE9C14A-2B64-407B-9678-2DB959A3136C}"/>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09247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1CE9EC-BAB5-4D64-8CC4-8E80BF93B1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DFB8580-E5FB-4D75-A218-0D3FF70FD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110BC0A2-DB29-4433-B9AB-3BCAC1C7D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8FCFDD7-1819-468A-BA4C-ED4496659422}"/>
              </a:ext>
            </a:extLst>
          </p:cNvPr>
          <p:cNvSpPr>
            <a:spLocks noGrp="1"/>
          </p:cNvSpPr>
          <p:nvPr>
            <p:ph type="dt" sz="half" idx="10"/>
          </p:nvPr>
        </p:nvSpPr>
        <p:spPr/>
        <p:txBody>
          <a:bodyPr/>
          <a:lstStyle/>
          <a:p>
            <a:fld id="{8BFDB73E-0609-4549-9385-32376C3EACF9}" type="datetime1">
              <a:rPr lang="en-US" smtClean="0"/>
              <a:t>6/30/2024</a:t>
            </a:fld>
            <a:endParaRPr lang="en-US"/>
          </a:p>
        </p:txBody>
      </p:sp>
      <p:sp>
        <p:nvSpPr>
          <p:cNvPr id="6" name="Footer Placeholder 5">
            <a:extLst>
              <a:ext uri="{FF2B5EF4-FFF2-40B4-BE49-F238E27FC236}">
                <a16:creationId xmlns:a16="http://schemas.microsoft.com/office/drawing/2014/main" xmlns="" id="{7B597457-E3AF-41F4-B0A9-9E516DC8CAA0}"/>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09B13BCA-D41F-4137-B2DC-F85AA2F51F45}"/>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78209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0309FE-8F13-45BB-B1BB-5271BD74C4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7A2510A5-A177-49E6-BF13-C71D287D63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F83F0DF-7AE5-4EC8-A163-FB4DE979F885}"/>
              </a:ext>
            </a:extLst>
          </p:cNvPr>
          <p:cNvSpPr>
            <a:spLocks noGrp="1"/>
          </p:cNvSpPr>
          <p:nvPr>
            <p:ph type="dt" sz="half" idx="10"/>
          </p:nvPr>
        </p:nvSpPr>
        <p:spPr/>
        <p:txBody>
          <a:bodyPr/>
          <a:lstStyle/>
          <a:p>
            <a:fld id="{5A8E92CA-46EA-422A-B496-7857E5A98BFD}" type="datetime1">
              <a:rPr lang="en-US" smtClean="0"/>
              <a:t>6/30/2024</a:t>
            </a:fld>
            <a:endParaRPr lang="en-US"/>
          </a:p>
        </p:txBody>
      </p:sp>
      <p:sp>
        <p:nvSpPr>
          <p:cNvPr id="5" name="Footer Placeholder 4">
            <a:extLst>
              <a:ext uri="{FF2B5EF4-FFF2-40B4-BE49-F238E27FC236}">
                <a16:creationId xmlns:a16="http://schemas.microsoft.com/office/drawing/2014/main" xmlns="" id="{83C256EE-22BA-42E3-8FAF-C3967EECB38E}"/>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8614A139-14B3-48E4-A701-174344F9A473}"/>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4144604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BDF9133-DFD4-4B97-883E-96E006215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0638A4CE-E194-4E91-8D6B-A11E57D99C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FB29E12-331B-4838-909F-92B1FEC9DFE0}"/>
              </a:ext>
            </a:extLst>
          </p:cNvPr>
          <p:cNvSpPr>
            <a:spLocks noGrp="1"/>
          </p:cNvSpPr>
          <p:nvPr>
            <p:ph type="dt" sz="half" idx="10"/>
          </p:nvPr>
        </p:nvSpPr>
        <p:spPr/>
        <p:txBody>
          <a:bodyPr/>
          <a:lstStyle/>
          <a:p>
            <a:fld id="{F3426638-082C-4D98-8350-03DB30970200}" type="datetime1">
              <a:rPr lang="en-US" smtClean="0"/>
              <a:t>6/30/2024</a:t>
            </a:fld>
            <a:endParaRPr lang="en-US"/>
          </a:p>
        </p:txBody>
      </p:sp>
      <p:sp>
        <p:nvSpPr>
          <p:cNvPr id="5" name="Footer Placeholder 4">
            <a:extLst>
              <a:ext uri="{FF2B5EF4-FFF2-40B4-BE49-F238E27FC236}">
                <a16:creationId xmlns:a16="http://schemas.microsoft.com/office/drawing/2014/main" xmlns="" id="{911D211C-6D0E-40EB-A078-AFB517FAF7FB}"/>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752A1D05-D98E-4003-B960-A18AD8FEFAF4}"/>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766623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7956DD6-8119-4110-977A-A1262AD1ED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A37088E-0754-4B97-993B-29E86543E4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22E2844-50C7-485E-AD88-0D2BDFA186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6F028A-488A-4CC0-9448-2594B083C7B9}" type="datetime1">
              <a:rPr lang="en-US" smtClean="0"/>
              <a:t>6/30/2024</a:t>
            </a:fld>
            <a:endParaRPr lang="en-US"/>
          </a:p>
        </p:txBody>
      </p:sp>
      <p:sp>
        <p:nvSpPr>
          <p:cNvPr id="5" name="Footer Placeholder 4">
            <a:extLst>
              <a:ext uri="{FF2B5EF4-FFF2-40B4-BE49-F238E27FC236}">
                <a16:creationId xmlns:a16="http://schemas.microsoft.com/office/drawing/2014/main" xmlns="" id="{25DE8A42-D820-4ED8-A8C7-EED432F8E6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6AEC3527-1D83-438C-8619-B4764FE0B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79A216-6713-4607-98FC-E026344EDDE7}" type="slidenum">
              <a:rPr lang="en-US" smtClean="0"/>
              <a:t>‹#›</a:t>
            </a:fld>
            <a:endParaRPr lang="en-US"/>
          </a:p>
        </p:txBody>
      </p:sp>
    </p:spTree>
    <p:extLst>
      <p:ext uri="{BB962C8B-B14F-4D97-AF65-F5344CB8AC3E}">
        <p14:creationId xmlns:p14="http://schemas.microsoft.com/office/powerpoint/2010/main" val="4238718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8AD75F42-C3F3-4B49-8466-DC1AD845D2AC}"/>
              </a:ext>
            </a:extLst>
          </p:cNvPr>
          <p:cNvSpPr>
            <a:spLocks noGrp="1"/>
          </p:cNvSpPr>
          <p:nvPr>
            <p:ph type="subTitle" idx="1"/>
          </p:nvPr>
        </p:nvSpPr>
        <p:spPr>
          <a:xfrm>
            <a:off x="1524000" y="1828800"/>
            <a:ext cx="9144000" cy="3429000"/>
          </a:xfrm>
        </p:spPr>
        <p:txBody>
          <a:bodyPr>
            <a:normAutofit/>
          </a:bodyPr>
          <a:lstStyle/>
          <a:p>
            <a:r>
              <a:rPr lang="en-US" sz="4800" b="1" dirty="0" smtClean="0">
                <a:solidFill>
                  <a:srgbClr val="FF0000"/>
                </a:solidFill>
                <a:latin typeface="Times New Roman" panose="02020603050405020304" pitchFamily="18" charset="0"/>
                <a:cs typeface="Times New Roman" panose="02020603050405020304" pitchFamily="18" charset="0"/>
              </a:rPr>
              <a:t>Advanced operating </a:t>
            </a:r>
            <a:r>
              <a:rPr lang="en-US" sz="4800" b="1" dirty="0">
                <a:solidFill>
                  <a:srgbClr val="FF0000"/>
                </a:solidFill>
                <a:latin typeface="Times New Roman" panose="02020603050405020304" pitchFamily="18" charset="0"/>
                <a:cs typeface="Times New Roman" panose="02020603050405020304" pitchFamily="18" charset="0"/>
              </a:rPr>
              <a:t>System</a:t>
            </a:r>
          </a:p>
          <a:p>
            <a:r>
              <a:rPr lang="en-US" sz="4800" b="1" dirty="0">
                <a:solidFill>
                  <a:srgbClr val="FF0000"/>
                </a:solidFill>
                <a:latin typeface="Times New Roman" panose="02020603050405020304" pitchFamily="18" charset="0"/>
                <a:cs typeface="Times New Roman" panose="02020603050405020304" pitchFamily="18" charset="0"/>
              </a:rPr>
              <a:t>Unit-1</a:t>
            </a:r>
          </a:p>
          <a:p>
            <a:r>
              <a:rPr lang="en-US" sz="4800" b="1" dirty="0">
                <a:solidFill>
                  <a:srgbClr val="FF0000"/>
                </a:solidFill>
                <a:latin typeface="Times New Roman" panose="02020603050405020304" pitchFamily="18" charset="0"/>
                <a:cs typeface="Times New Roman" panose="02020603050405020304" pitchFamily="18" charset="0"/>
              </a:rPr>
              <a:t>Introduction to operating System</a:t>
            </a:r>
          </a:p>
          <a:p>
            <a:endParaRPr lang="en-US" sz="4800" b="1" dirty="0">
              <a:solidFill>
                <a:srgbClr val="FF0000"/>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a:t>
            </a:fld>
            <a:endParaRPr lang="en-US"/>
          </a:p>
        </p:txBody>
      </p:sp>
    </p:spTree>
    <p:extLst>
      <p:ext uri="{BB962C8B-B14F-4D97-AF65-F5344CB8AC3E}">
        <p14:creationId xmlns:p14="http://schemas.microsoft.com/office/powerpoint/2010/main" val="50505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D1A387-8052-451E-BA63-C31F95E0AB75}"/>
              </a:ext>
            </a:extLst>
          </p:cNvPr>
          <p:cNvSpPr>
            <a:spLocks noGrp="1"/>
          </p:cNvSpPr>
          <p:nvPr>
            <p:ph type="title"/>
          </p:nvPr>
        </p:nvSpPr>
        <p:spPr>
          <a:xfrm>
            <a:off x="838200" y="365125"/>
            <a:ext cx="10515600" cy="562527"/>
          </a:xfrm>
        </p:spPr>
        <p:txBody>
          <a:bodyPr>
            <a:noAutofit/>
          </a:bodyPr>
          <a:lstStyle/>
          <a:p>
            <a:pPr algn="ctr"/>
            <a:r>
              <a:rPr lang="en-US" sz="3600" b="0" i="0" u="none" strike="noStrike" baseline="0" dirty="0">
                <a:solidFill>
                  <a:srgbClr val="FF0000"/>
                </a:solidFill>
                <a:latin typeface="Times New Roman" panose="02020603050405020304" pitchFamily="18" charset="0"/>
                <a:cs typeface="Times New Roman" panose="02020603050405020304" pitchFamily="18" charset="0"/>
              </a:rPr>
              <a:t>Computer System Structure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6DF7059-118A-43CE-9CF7-1A34E38818FA}"/>
              </a:ext>
            </a:extLst>
          </p:cNvPr>
          <p:cNvSpPr>
            <a:spLocks noGrp="1"/>
          </p:cNvSpPr>
          <p:nvPr>
            <p:ph idx="1"/>
          </p:nvPr>
        </p:nvSpPr>
        <p:spPr>
          <a:xfrm>
            <a:off x="838200" y="927652"/>
            <a:ext cx="10515600" cy="5565223"/>
          </a:xfrm>
        </p:spPr>
        <p:txBody>
          <a:bodyPr>
            <a:normAutofit/>
          </a:bodyPr>
          <a:lstStyle/>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Computer system can be divided into four components:</a:t>
            </a:r>
          </a:p>
          <a:p>
            <a:pPr marL="457200" lvl="1" indent="0" algn="just">
              <a:lnSpc>
                <a:spcPct val="150000"/>
              </a:lnSpc>
              <a:buNone/>
            </a:pPr>
            <a:r>
              <a:rPr lang="en-US" sz="2000" b="0" i="0" u="none" strike="noStrike" baseline="0" dirty="0">
                <a:latin typeface="Times New Roman" panose="02020603050405020304" pitchFamily="18" charset="0"/>
                <a:cs typeface="Times New Roman" panose="02020603050405020304" pitchFamily="18" charset="0"/>
              </a:rPr>
              <a:t>– </a:t>
            </a:r>
            <a:r>
              <a:rPr lang="en-US" sz="2000" b="1" i="0" u="none" strike="noStrike" baseline="0" dirty="0">
                <a:latin typeface="Times New Roman" panose="02020603050405020304" pitchFamily="18" charset="0"/>
                <a:cs typeface="Times New Roman" panose="02020603050405020304" pitchFamily="18" charset="0"/>
              </a:rPr>
              <a:t>Hardware</a:t>
            </a:r>
            <a:r>
              <a:rPr lang="en-US" sz="2000" b="0" i="0" u="none" strike="noStrike" baseline="0" dirty="0">
                <a:latin typeface="Times New Roman" panose="02020603050405020304" pitchFamily="18" charset="0"/>
                <a:cs typeface="Times New Roman" panose="02020603050405020304" pitchFamily="18" charset="0"/>
              </a:rPr>
              <a:t> – provides basic computing resources</a:t>
            </a:r>
          </a:p>
          <a:p>
            <a:pPr marL="914400" lvl="2" indent="0" algn="just">
              <a:lnSpc>
                <a:spcPct val="150000"/>
              </a:lnSpc>
              <a:buNone/>
            </a:pPr>
            <a:r>
              <a:rPr lang="pt-BR" b="0" i="0" u="none" strike="noStrike" baseline="0" dirty="0">
                <a:latin typeface="Times New Roman" panose="02020603050405020304" pitchFamily="18" charset="0"/>
                <a:cs typeface="Times New Roman" panose="02020603050405020304" pitchFamily="18" charset="0"/>
              </a:rPr>
              <a:t>• CPU, memory, I/O devices</a:t>
            </a:r>
          </a:p>
          <a:p>
            <a:pPr marL="457200" lvl="1" indent="0" algn="just">
              <a:lnSpc>
                <a:spcPct val="150000"/>
              </a:lnSpc>
              <a:buNone/>
            </a:pPr>
            <a:r>
              <a:rPr lang="en-US" sz="2000" b="1" i="0" u="none" strike="noStrike" baseline="0" dirty="0">
                <a:latin typeface="Times New Roman" panose="02020603050405020304" pitchFamily="18" charset="0"/>
                <a:cs typeface="Times New Roman" panose="02020603050405020304" pitchFamily="18" charset="0"/>
              </a:rPr>
              <a:t>– Operating system</a:t>
            </a:r>
          </a:p>
          <a:p>
            <a:pPr marL="914400" lvl="2" indent="0" algn="just">
              <a:lnSpc>
                <a:spcPct val="150000"/>
              </a:lnSpc>
              <a:buNone/>
            </a:pPr>
            <a:r>
              <a:rPr lang="en-US" b="0" i="0" u="none" strike="noStrike" baseline="0" dirty="0">
                <a:latin typeface="Times New Roman" panose="02020603050405020304" pitchFamily="18" charset="0"/>
                <a:cs typeface="Times New Roman" panose="02020603050405020304" pitchFamily="18" charset="0"/>
              </a:rPr>
              <a:t>• Controls and coordinates use of hardware among various applications and users</a:t>
            </a:r>
          </a:p>
          <a:p>
            <a:pPr marL="457200" lvl="1" indent="0" algn="just">
              <a:lnSpc>
                <a:spcPct val="150000"/>
              </a:lnSpc>
              <a:buNone/>
            </a:pPr>
            <a:r>
              <a:rPr lang="en-US" sz="2000" b="0" i="0" u="none" strike="noStrike" baseline="0" dirty="0">
                <a:latin typeface="Times New Roman" panose="02020603050405020304" pitchFamily="18" charset="0"/>
                <a:cs typeface="Times New Roman" panose="02020603050405020304" pitchFamily="18" charset="0"/>
              </a:rPr>
              <a:t>– </a:t>
            </a:r>
            <a:r>
              <a:rPr lang="en-US" sz="2000" b="1" i="0" u="none" strike="noStrike" baseline="0" dirty="0">
                <a:latin typeface="Times New Roman" panose="02020603050405020304" pitchFamily="18" charset="0"/>
                <a:cs typeface="Times New Roman" panose="02020603050405020304" pitchFamily="18" charset="0"/>
              </a:rPr>
              <a:t>Application programs</a:t>
            </a:r>
            <a:r>
              <a:rPr lang="en-US" sz="2000" b="0" i="0" u="none" strike="noStrike" baseline="0" dirty="0">
                <a:latin typeface="Times New Roman" panose="02020603050405020304" pitchFamily="18" charset="0"/>
                <a:cs typeface="Times New Roman" panose="02020603050405020304" pitchFamily="18" charset="0"/>
              </a:rPr>
              <a:t> – define the ways in which the system resources are used to solve the computing problems of the users</a:t>
            </a:r>
          </a:p>
          <a:p>
            <a:pPr marL="914400" lvl="2" indent="0" algn="just">
              <a:lnSpc>
                <a:spcPct val="150000"/>
              </a:lnSpc>
              <a:buNone/>
            </a:pPr>
            <a:r>
              <a:rPr lang="en-US" b="0" i="0" u="none" strike="noStrike" baseline="0" dirty="0">
                <a:latin typeface="Times New Roman" panose="02020603050405020304" pitchFamily="18" charset="0"/>
                <a:cs typeface="Times New Roman" panose="02020603050405020304" pitchFamily="18" charset="0"/>
              </a:rPr>
              <a:t>• Word processors, compilers, web browsers, database systems, video games</a:t>
            </a:r>
          </a:p>
          <a:p>
            <a:pPr marL="457200" lvl="1" indent="0" algn="just">
              <a:lnSpc>
                <a:spcPct val="150000"/>
              </a:lnSpc>
              <a:buNone/>
            </a:pPr>
            <a:r>
              <a:rPr lang="en-US" sz="2000" b="0" i="0" u="none" strike="noStrike" baseline="0" dirty="0">
                <a:latin typeface="Times New Roman" panose="02020603050405020304" pitchFamily="18" charset="0"/>
                <a:cs typeface="Times New Roman" panose="02020603050405020304" pitchFamily="18" charset="0"/>
              </a:rPr>
              <a:t>– </a:t>
            </a:r>
            <a:r>
              <a:rPr lang="en-US" sz="2000" b="1" i="0" u="none" strike="noStrike" baseline="0" dirty="0">
                <a:latin typeface="Times New Roman" panose="02020603050405020304" pitchFamily="18" charset="0"/>
                <a:cs typeface="Times New Roman" panose="02020603050405020304" pitchFamily="18" charset="0"/>
              </a:rPr>
              <a:t>Users</a:t>
            </a:r>
          </a:p>
          <a:p>
            <a:pPr marL="914400" lvl="2" indent="0" algn="just">
              <a:lnSpc>
                <a:spcPct val="150000"/>
              </a:lnSpc>
              <a:buNone/>
            </a:pPr>
            <a:r>
              <a:rPr lang="en-US" b="0" i="0" u="none" strike="noStrike" baseline="0" dirty="0">
                <a:latin typeface="Times New Roman" panose="02020603050405020304" pitchFamily="18" charset="0"/>
                <a:cs typeface="Times New Roman" panose="02020603050405020304" pitchFamily="18" charset="0"/>
              </a:rPr>
              <a:t>• People, machines, other computers</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a:t>
            </a:fld>
            <a:endParaRPr lang="en-US"/>
          </a:p>
        </p:txBody>
      </p:sp>
    </p:spTree>
    <p:extLst>
      <p:ext uri="{BB962C8B-B14F-4D97-AF65-F5344CB8AC3E}">
        <p14:creationId xmlns:p14="http://schemas.microsoft.com/office/powerpoint/2010/main" val="176766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C7C866-3CDF-42EF-9870-3FA28A705788}"/>
              </a:ext>
            </a:extLst>
          </p:cNvPr>
          <p:cNvSpPr>
            <a:spLocks noGrp="1"/>
          </p:cNvSpPr>
          <p:nvPr>
            <p:ph type="title"/>
          </p:nvPr>
        </p:nvSpPr>
        <p:spPr>
          <a:xfrm>
            <a:off x="838200" y="245856"/>
            <a:ext cx="10515600" cy="628788"/>
          </a:xfrm>
        </p:spPr>
        <p:txBody>
          <a:bodyPr>
            <a:normAutofit/>
          </a:bodyPr>
          <a:lstStyle/>
          <a:p>
            <a:pPr algn="ctr"/>
            <a:r>
              <a:rPr lang="en-US" sz="3600" b="1" i="0" u="none" strike="noStrike" baseline="0" dirty="0">
                <a:solidFill>
                  <a:srgbClr val="FF0000"/>
                </a:solidFill>
                <a:latin typeface="Times New Roman" panose="02020603050405020304" pitchFamily="18" charset="0"/>
                <a:cs typeface="Times New Roman" panose="02020603050405020304" pitchFamily="18" charset="0"/>
              </a:rPr>
              <a:t>Computer System Structure</a:t>
            </a:r>
            <a:endParaRPr lang="en-US" sz="36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xmlns="" id="{55012F2A-5E85-410D-BEC9-661E6F79F9FD}"/>
              </a:ext>
            </a:extLst>
          </p:cNvPr>
          <p:cNvPicPr>
            <a:picLocks noGrp="1" noChangeAspect="1"/>
          </p:cNvPicPr>
          <p:nvPr>
            <p:ph idx="1"/>
          </p:nvPr>
        </p:nvPicPr>
        <p:blipFill>
          <a:blip r:embed="rId2"/>
          <a:stretch>
            <a:fillRect/>
          </a:stretch>
        </p:blipFill>
        <p:spPr>
          <a:xfrm>
            <a:off x="1086677" y="993774"/>
            <a:ext cx="9647583" cy="5499099"/>
          </a:xfrm>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a:t>
            </a:fld>
            <a:endParaRPr lang="en-US"/>
          </a:p>
        </p:txBody>
      </p:sp>
    </p:spTree>
    <p:extLst>
      <p:ext uri="{BB962C8B-B14F-4D97-AF65-F5344CB8AC3E}">
        <p14:creationId xmlns:p14="http://schemas.microsoft.com/office/powerpoint/2010/main" val="328019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DF4BF3-BACF-4001-AC09-063B41B74682}"/>
              </a:ext>
            </a:extLst>
          </p:cNvPr>
          <p:cNvSpPr>
            <a:spLocks noGrp="1"/>
          </p:cNvSpPr>
          <p:nvPr>
            <p:ph type="title"/>
          </p:nvPr>
        </p:nvSpPr>
        <p:spPr>
          <a:xfrm>
            <a:off x="838200" y="365126"/>
            <a:ext cx="10515600" cy="496266"/>
          </a:xfrm>
        </p:spPr>
        <p:txBody>
          <a:bodyPr>
            <a:noAutofit/>
          </a:bodyPr>
          <a:lstStyle/>
          <a:p>
            <a:pPr algn="ctr"/>
            <a:r>
              <a:rPr lang="en-US" sz="3600" b="0" i="0" u="none" strike="noStrike" baseline="0" dirty="0">
                <a:solidFill>
                  <a:srgbClr val="FF0000"/>
                </a:solidFill>
                <a:latin typeface="Times New Roman" panose="02020603050405020304" pitchFamily="18" charset="0"/>
                <a:cs typeface="Times New Roman" panose="02020603050405020304" pitchFamily="18" charset="0"/>
              </a:rPr>
              <a:t>What is an operating system?</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079A792-E0E8-456E-AEB5-532E2C5F8BC9}"/>
              </a:ext>
            </a:extLst>
          </p:cNvPr>
          <p:cNvSpPr>
            <a:spLocks noGrp="1"/>
          </p:cNvSpPr>
          <p:nvPr>
            <p:ph idx="1"/>
          </p:nvPr>
        </p:nvSpPr>
        <p:spPr>
          <a:xfrm>
            <a:off x="838200" y="980660"/>
            <a:ext cx="10515600" cy="5512213"/>
          </a:xfrm>
        </p:spPr>
        <p:txBody>
          <a:bodyPr>
            <a:normAutofit/>
          </a:bodyPr>
          <a:lstStyle/>
          <a:p>
            <a:pPr algn="just">
              <a:lnSpc>
                <a:spcPct val="150000"/>
              </a:lnSpc>
            </a:pPr>
            <a:r>
              <a:rPr lang="en-US" sz="2400" b="0" u="none" strike="noStrike" baseline="0" dirty="0">
                <a:latin typeface="Times New Roman" panose="02020603050405020304" pitchFamily="18" charset="0"/>
                <a:cs typeface="Times New Roman" panose="02020603050405020304" pitchFamily="18" charset="0"/>
              </a:rPr>
              <a:t>An operating system (OS) is a collection of system programs that together control the operation of a computer system.</a:t>
            </a:r>
          </a:p>
          <a:p>
            <a:pPr algn="just">
              <a:lnSpc>
                <a:spcPct val="150000"/>
              </a:lnSpc>
            </a:pPr>
            <a:r>
              <a:rPr lang="en-US" sz="2400" dirty="0">
                <a:latin typeface="Times New Roman" panose="02020603050405020304" pitchFamily="18" charset="0"/>
                <a:cs typeface="Times New Roman" panose="02020603050405020304" pitchFamily="18" charset="0"/>
              </a:rPr>
              <a:t>An operating system is a program that act as interface between the user and computer hardware and controls the execution of all kinds of program</a:t>
            </a:r>
          </a:p>
          <a:p>
            <a:pPr algn="just">
              <a:lnSpc>
                <a:spcPct val="150000"/>
              </a:lnSpc>
            </a:pPr>
            <a:r>
              <a:rPr lang="en-US" sz="2400" dirty="0">
                <a:latin typeface="Times New Roman" panose="02020603050405020304" pitchFamily="18" charset="0"/>
                <a:cs typeface="Times New Roman" panose="02020603050405020304" pitchFamily="18" charset="0"/>
              </a:rPr>
              <a:t>An operating system is a software which performs all the basic task like process management, memory management, file management, handling input and output and controlling peripheral devices.</a:t>
            </a:r>
          </a:p>
          <a:p>
            <a:pPr algn="just">
              <a:lnSpc>
                <a:spcPct val="150000"/>
              </a:lnSpc>
            </a:pPr>
            <a:r>
              <a:rPr lang="en-US" sz="2400" dirty="0">
                <a:latin typeface="Times New Roman" panose="02020603050405020304" pitchFamily="18" charset="0"/>
                <a:cs typeface="Times New Roman" panose="02020603050405020304" pitchFamily="18" charset="0"/>
              </a:rPr>
              <a:t>Some popular operating system include Linux, </a:t>
            </a:r>
            <a:r>
              <a:rPr lang="en-US" sz="2400" dirty="0" smtClean="0">
                <a:latin typeface="Times New Roman" panose="02020603050405020304" pitchFamily="18" charset="0"/>
                <a:cs typeface="Times New Roman" panose="02020603050405020304" pitchFamily="18" charset="0"/>
              </a:rPr>
              <a:t>windows, </a:t>
            </a:r>
            <a:r>
              <a:rPr lang="en-US" sz="2400" dirty="0" err="1">
                <a:latin typeface="Times New Roman" panose="02020603050405020304" pitchFamily="18" charset="0"/>
                <a:cs typeface="Times New Roman" panose="02020603050405020304" pitchFamily="18" charset="0"/>
              </a:rPr>
              <a:t>unix</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os</a:t>
            </a:r>
            <a:r>
              <a:rPr lang="en-US" sz="2400" dirty="0">
                <a:latin typeface="Times New Roman" panose="02020603050405020304" pitchFamily="18" charset="0"/>
                <a:cs typeface="Times New Roman" panose="02020603050405020304" pitchFamily="18" charset="0"/>
              </a:rPr>
              <a:t>/400 etc.</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a:t>
            </a:fld>
            <a:endParaRPr lang="en-US"/>
          </a:p>
        </p:txBody>
      </p:sp>
    </p:spTree>
    <p:extLst>
      <p:ext uri="{BB962C8B-B14F-4D97-AF65-F5344CB8AC3E}">
        <p14:creationId xmlns:p14="http://schemas.microsoft.com/office/powerpoint/2010/main" val="3650415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17C4D2C-134B-4760-9927-79B959C93957}"/>
              </a:ext>
            </a:extLst>
          </p:cNvPr>
          <p:cNvSpPr>
            <a:spLocks noGrp="1"/>
          </p:cNvSpPr>
          <p:nvPr>
            <p:ph idx="1"/>
          </p:nvPr>
        </p:nvSpPr>
        <p:spPr>
          <a:xfrm>
            <a:off x="838200" y="530087"/>
            <a:ext cx="10515600" cy="5976730"/>
          </a:xfrm>
        </p:spPr>
        <p:txBody>
          <a:bodyPr>
            <a:normAutofit fontScale="92500" lnSpcReduction="10000"/>
          </a:bodyPr>
          <a:lstStyle/>
          <a:p>
            <a:pPr marL="0" indent="0" algn="just">
              <a:lnSpc>
                <a:spcPct val="150000"/>
              </a:lnSpc>
              <a:buNone/>
            </a:pPr>
            <a:r>
              <a:rPr lang="en-US" sz="2400" b="1" i="0" u="sng" strike="noStrike" baseline="0" dirty="0">
                <a:solidFill>
                  <a:srgbClr val="FF0000"/>
                </a:solidFill>
                <a:latin typeface="Times New Roman" panose="02020603050405020304" pitchFamily="18" charset="0"/>
                <a:cs typeface="Times New Roman" panose="02020603050405020304" pitchFamily="18" charset="0"/>
              </a:rPr>
              <a:t>Operating system goals:</a:t>
            </a:r>
          </a:p>
          <a:p>
            <a:pPr algn="just">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To make a computer user friendly.</a:t>
            </a:r>
          </a:p>
          <a:p>
            <a:pPr algn="just">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Proper utilization of computer resources.</a:t>
            </a:r>
          </a:p>
          <a:p>
            <a:pPr algn="just">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To hide the details of the hardware resources from the users.</a:t>
            </a:r>
          </a:p>
          <a:p>
            <a:pPr algn="just">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To provide users a convenient interface to use the computer system</a:t>
            </a:r>
            <a:r>
              <a:rPr lang="en-US" sz="2400" b="0" i="0" dirty="0">
                <a:solidFill>
                  <a:srgbClr val="222222"/>
                </a:solidFill>
                <a:effectLst/>
                <a:latin typeface="times new roman" panose="02020603050405020304" pitchFamily="18" charset="0"/>
              </a:rPr>
              <a:t>.</a:t>
            </a:r>
            <a:endParaRPr lang="en-US" sz="2400" b="0" i="0" dirty="0">
              <a:solidFill>
                <a:srgbClr val="222222"/>
              </a:solidFill>
              <a:effectLst/>
              <a:latin typeface="Arial" panose="020B0604020202020204" pitchFamily="34" charset="0"/>
            </a:endParaRPr>
          </a:p>
          <a:p>
            <a:pPr marL="0" indent="0" algn="just">
              <a:lnSpc>
                <a:spcPct val="150000"/>
              </a:lnSpc>
              <a:buNone/>
            </a:pPr>
            <a:r>
              <a:rPr lang="en-US" sz="2400" b="0" i="1" u="none" strike="noStrike" baseline="0" dirty="0">
                <a:solidFill>
                  <a:srgbClr val="33339A"/>
                </a:solidFill>
                <a:latin typeface="Times New Roman" panose="02020603050405020304" pitchFamily="18" charset="0"/>
                <a:cs typeface="Times New Roman" panose="02020603050405020304" pitchFamily="18" charset="0"/>
              </a:rPr>
              <a:t>Provides an environment within which other programs can do useful work.</a:t>
            </a:r>
          </a:p>
          <a:p>
            <a:pPr marL="0" indent="0" algn="just">
              <a:lnSpc>
                <a:spcPct val="150000"/>
              </a:lnSpc>
              <a:buNone/>
            </a:pPr>
            <a:r>
              <a:rPr lang="en-US" sz="2400" b="1" i="1" u="sng" dirty="0">
                <a:solidFill>
                  <a:srgbClr val="FF0000"/>
                </a:solidFill>
                <a:latin typeface="Times New Roman" panose="02020603050405020304" pitchFamily="18" charset="0"/>
                <a:cs typeface="Times New Roman" panose="02020603050405020304" pitchFamily="18" charset="0"/>
              </a:rPr>
              <a:t>Objective of OS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Tow main objective of operating system use are:</a:t>
            </a:r>
          </a:p>
          <a:p>
            <a:pPr lvl="1" algn="just">
              <a:lnSpc>
                <a:spcPct val="150000"/>
              </a:lnSpc>
            </a:pPr>
            <a:r>
              <a:rPr lang="en-US" b="0" i="0" u="none" strike="noStrike" baseline="0" dirty="0">
                <a:latin typeface="Times New Roman" panose="02020603050405020304" pitchFamily="18" charset="0"/>
                <a:cs typeface="Times New Roman" panose="02020603050405020304" pitchFamily="18" charset="0"/>
              </a:rPr>
              <a:t>OS as an Extended Machine</a:t>
            </a:r>
          </a:p>
          <a:p>
            <a:pPr lvl="1" algn="just">
              <a:lnSpc>
                <a:spcPct val="150000"/>
              </a:lnSpc>
            </a:pPr>
            <a:r>
              <a:rPr lang="en-US" b="0" i="0" u="none" strike="noStrike" baseline="0" dirty="0">
                <a:latin typeface="Times New Roman" panose="02020603050405020304" pitchFamily="18" charset="0"/>
                <a:cs typeface="Times New Roman" panose="02020603050405020304" pitchFamily="18" charset="0"/>
              </a:rPr>
              <a:t>OS as a Resource Manager</a:t>
            </a: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5</a:t>
            </a:fld>
            <a:endParaRPr lang="en-US"/>
          </a:p>
        </p:txBody>
      </p:sp>
    </p:spTree>
    <p:extLst>
      <p:ext uri="{BB962C8B-B14F-4D97-AF65-F5344CB8AC3E}">
        <p14:creationId xmlns:p14="http://schemas.microsoft.com/office/powerpoint/2010/main" val="3953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2F0856-31D3-4141-B089-BD2EBFCCB1D8}"/>
              </a:ext>
            </a:extLst>
          </p:cNvPr>
          <p:cNvSpPr>
            <a:spLocks noGrp="1"/>
          </p:cNvSpPr>
          <p:nvPr>
            <p:ph type="title"/>
          </p:nvPr>
        </p:nvSpPr>
        <p:spPr>
          <a:xfrm>
            <a:off x="838200" y="365125"/>
            <a:ext cx="10515600" cy="522771"/>
          </a:xfrm>
        </p:spPr>
        <p:txBody>
          <a:bodyPr>
            <a:normAutofit fontScale="90000"/>
          </a:bodyPr>
          <a:lstStyle/>
          <a:p>
            <a:pPr algn="ctr"/>
            <a:r>
              <a:rPr lang="en-US" b="1" i="0" u="none" strike="noStrike" baseline="0" dirty="0">
                <a:solidFill>
                  <a:srgbClr val="FF0000"/>
                </a:solidFill>
                <a:latin typeface="Times New Roman" panose="02020603050405020304" pitchFamily="18" charset="0"/>
                <a:cs typeface="Times New Roman" panose="02020603050405020304" pitchFamily="18" charset="0"/>
              </a:rPr>
              <a:t/>
            </a:r>
            <a:br>
              <a:rPr lang="en-US" b="1" i="0" u="none" strike="noStrike" baseline="0" dirty="0">
                <a:solidFill>
                  <a:srgbClr val="FF0000"/>
                </a:solidFill>
                <a:latin typeface="Times New Roman" panose="02020603050405020304" pitchFamily="18" charset="0"/>
                <a:cs typeface="Times New Roman" panose="02020603050405020304" pitchFamily="18" charset="0"/>
              </a:rPr>
            </a:br>
            <a:r>
              <a:rPr lang="en-US" b="1" i="0" u="none" strike="noStrike" baseline="0" dirty="0">
                <a:solidFill>
                  <a:srgbClr val="FF0000"/>
                </a:solidFill>
                <a:latin typeface="Times New Roman" panose="02020603050405020304" pitchFamily="18" charset="0"/>
                <a:cs typeface="Times New Roman" panose="02020603050405020304" pitchFamily="18" charset="0"/>
              </a:rPr>
              <a:t>OS as an Extended Machine</a:t>
            </a:r>
            <a:br>
              <a:rPr lang="en-US" b="1" i="0" u="none" strike="noStrike" baseline="0"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endParaRPr>
          </a:p>
        </p:txBody>
      </p:sp>
      <p:sp>
        <p:nvSpPr>
          <p:cNvPr id="3" name="Content Placeholder 2">
            <a:extLst>
              <a:ext uri="{FF2B5EF4-FFF2-40B4-BE49-F238E27FC236}">
                <a16:creationId xmlns:a16="http://schemas.microsoft.com/office/drawing/2014/main" xmlns="" id="{CEDC250D-B0BA-4AB0-8968-AE0019F64A0E}"/>
              </a:ext>
            </a:extLst>
          </p:cNvPr>
          <p:cNvSpPr>
            <a:spLocks noGrp="1"/>
          </p:cNvSpPr>
          <p:nvPr>
            <p:ph idx="1"/>
          </p:nvPr>
        </p:nvSpPr>
        <p:spPr>
          <a:xfrm>
            <a:off x="838200" y="887896"/>
            <a:ext cx="10515600" cy="5604979"/>
          </a:xfrm>
        </p:spPr>
        <p:txBody>
          <a:bodyPr>
            <a:normAutofit fontScale="92500" lnSpcReduction="10000"/>
          </a:bodyPr>
          <a:lstStyle/>
          <a:p>
            <a:pPr algn="just">
              <a:lnSpc>
                <a:spcPct val="150000"/>
              </a:lnSpc>
            </a:pPr>
            <a:r>
              <a:rPr lang="en-US" sz="2000" b="0" i="0" dirty="0">
                <a:effectLst/>
                <a:latin typeface="Times New Roman" panose="02020603050405020304" pitchFamily="18" charset="0"/>
                <a:cs typeface="Times New Roman" panose="02020603050405020304" pitchFamily="18" charset="0"/>
              </a:rPr>
              <a:t>The computer system is composed of hardware and application software interacting with each other to perform any computation</a:t>
            </a:r>
          </a:p>
          <a:p>
            <a:pPr algn="just">
              <a:lnSpc>
                <a:spcPct val="150000"/>
              </a:lnSpc>
            </a:pPr>
            <a:r>
              <a:rPr lang="en-US" sz="2000" b="0" i="0" dirty="0">
                <a:effectLst/>
                <a:latin typeface="Times New Roman" panose="02020603050405020304" pitchFamily="18" charset="0"/>
                <a:cs typeface="Times New Roman" panose="02020603050405020304" pitchFamily="18" charset="0"/>
              </a:rPr>
              <a:t>For any application to perform its task, it must deal with hardware for memory management, process control, storage and so on</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b="0" i="0" dirty="0">
                <a:effectLst/>
                <a:latin typeface="Times New Roman" panose="02020603050405020304" pitchFamily="18" charset="0"/>
                <a:cs typeface="Times New Roman" panose="02020603050405020304" pitchFamily="18" charset="0"/>
              </a:rPr>
              <a:t>But for a programmer, it would be tedious to consider the hardware level machine language programming for each application development.</a:t>
            </a:r>
          </a:p>
          <a:p>
            <a:pPr algn="just">
              <a:lnSpc>
                <a:spcPct val="150000"/>
              </a:lnSpc>
            </a:pPr>
            <a:r>
              <a:rPr lang="en-US" sz="2000" b="0" i="0" dirty="0">
                <a:effectLst/>
                <a:latin typeface="Times New Roman" panose="02020603050405020304" pitchFamily="18" charset="0"/>
                <a:cs typeface="Times New Roman" panose="02020603050405020304" pitchFamily="18" charset="0"/>
              </a:rPr>
              <a:t>Operating system provides the high-level abstraction to deal with such issues.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0" i="0" dirty="0">
                <a:effectLst/>
                <a:latin typeface="Times New Roman" panose="02020603050405020304" pitchFamily="18" charset="0"/>
                <a:cs typeface="Times New Roman" panose="02020603050405020304" pitchFamily="18" charset="0"/>
              </a:rPr>
              <a:t>Operating system provides a set of programs that handles the complex hardware level programming and provides the programmer an easy interface to develop application without hardware consideration.</a:t>
            </a:r>
          </a:p>
          <a:p>
            <a:pPr algn="just">
              <a:lnSpc>
                <a:spcPct val="150000"/>
              </a:lnSpc>
            </a:pPr>
            <a:r>
              <a:rPr lang="en-US" sz="2000" b="0" i="0" dirty="0">
                <a:effectLst/>
                <a:latin typeface="Times New Roman" panose="02020603050405020304" pitchFamily="18" charset="0"/>
                <a:cs typeface="Times New Roman" panose="02020603050405020304" pitchFamily="18" charset="0"/>
              </a:rPr>
              <a:t>For </a:t>
            </a:r>
            <a:r>
              <a:rPr lang="en-US" sz="2000" b="0" i="0" dirty="0" err="1">
                <a:effectLst/>
                <a:latin typeface="Times New Roman" panose="02020603050405020304" pitchFamily="18" charset="0"/>
                <a:cs typeface="Times New Roman" panose="02020603050405020304" pitchFamily="18" charset="0"/>
              </a:rPr>
              <a:t>eg</a:t>
            </a:r>
            <a:r>
              <a:rPr lang="en-US" sz="2000" b="0" i="0" dirty="0">
                <a:effectLst/>
                <a:latin typeface="Times New Roman" panose="02020603050405020304" pitchFamily="18" charset="0"/>
                <a:cs typeface="Times New Roman" panose="02020603050405020304" pitchFamily="18" charset="0"/>
              </a:rPr>
              <a:t>: consider the case of disks. A disk contains collection of files. Each file can be opened, read, written and closed. The hardware details like if recording should use modified FM or the current state of motor, etc. are masked by OS and also handled effectively.</a:t>
            </a: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a:t>
            </a:fld>
            <a:endParaRPr lang="en-US"/>
          </a:p>
        </p:txBody>
      </p:sp>
    </p:spTree>
    <p:extLst>
      <p:ext uri="{BB962C8B-B14F-4D97-AF65-F5344CB8AC3E}">
        <p14:creationId xmlns:p14="http://schemas.microsoft.com/office/powerpoint/2010/main" val="4237773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D1F3E-057F-4879-886D-9A0E8F7DC5C2}"/>
              </a:ext>
            </a:extLst>
          </p:cNvPr>
          <p:cNvSpPr>
            <a:spLocks noGrp="1"/>
          </p:cNvSpPr>
          <p:nvPr>
            <p:ph type="title"/>
          </p:nvPr>
        </p:nvSpPr>
        <p:spPr>
          <a:xfrm>
            <a:off x="838200" y="365126"/>
            <a:ext cx="10515600" cy="443258"/>
          </a:xfrm>
        </p:spPr>
        <p:txBody>
          <a:bodyPr>
            <a:normAutofit fontScale="90000"/>
          </a:bodyPr>
          <a:lstStyle/>
          <a:p>
            <a:pPr algn="ctr"/>
            <a:r>
              <a:rPr lang="en-US" b="1" i="0" u="none" strike="noStrike" baseline="0" dirty="0">
                <a:solidFill>
                  <a:srgbClr val="FF0000"/>
                </a:solidFill>
                <a:latin typeface="Times New Roman" panose="02020603050405020304" pitchFamily="18" charset="0"/>
                <a:cs typeface="Times New Roman" panose="02020603050405020304" pitchFamily="18" charset="0"/>
              </a:rPr>
              <a:t/>
            </a:r>
            <a:br>
              <a:rPr lang="en-US" b="1" i="0" u="none" strike="noStrike" baseline="0" dirty="0">
                <a:solidFill>
                  <a:srgbClr val="FF0000"/>
                </a:solidFill>
                <a:latin typeface="Times New Roman" panose="02020603050405020304" pitchFamily="18" charset="0"/>
                <a:cs typeface="Times New Roman" panose="02020603050405020304" pitchFamily="18" charset="0"/>
              </a:rPr>
            </a:br>
            <a:r>
              <a:rPr lang="en-US" b="1" i="0" u="none" strike="noStrike" baseline="0" dirty="0">
                <a:solidFill>
                  <a:srgbClr val="FF0000"/>
                </a:solidFill>
                <a:latin typeface="Times New Roman" panose="02020603050405020304" pitchFamily="18" charset="0"/>
                <a:cs typeface="Times New Roman" panose="02020603050405020304" pitchFamily="18" charset="0"/>
              </a:rPr>
              <a:t>OS as a Resource Manager</a:t>
            </a:r>
            <a:r>
              <a:rPr lang="en-US" b="1" dirty="0">
                <a:solidFill>
                  <a:srgbClr val="FF0000"/>
                </a:solidFill>
                <a:latin typeface="Times New Roman" panose="02020603050405020304" pitchFamily="18" charset="0"/>
                <a:cs typeface="Times New Roman" panose="02020603050405020304" pitchFamily="18" charset="0"/>
              </a:rPr>
              <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endParaRPr>
          </a:p>
        </p:txBody>
      </p:sp>
      <p:sp>
        <p:nvSpPr>
          <p:cNvPr id="3" name="Content Placeholder 2">
            <a:extLst>
              <a:ext uri="{FF2B5EF4-FFF2-40B4-BE49-F238E27FC236}">
                <a16:creationId xmlns:a16="http://schemas.microsoft.com/office/drawing/2014/main" xmlns="" id="{7495BB8C-EF2E-469E-9B8D-DEF055F89F1C}"/>
              </a:ext>
            </a:extLst>
          </p:cNvPr>
          <p:cNvSpPr>
            <a:spLocks noGrp="1"/>
          </p:cNvSpPr>
          <p:nvPr>
            <p:ph idx="1"/>
          </p:nvPr>
        </p:nvSpPr>
        <p:spPr>
          <a:xfrm>
            <a:off x="838200" y="914400"/>
            <a:ext cx="10515600" cy="5578474"/>
          </a:xfrm>
        </p:spPr>
        <p:txBody>
          <a:bodyPr>
            <a:noAutofit/>
          </a:bodyPr>
          <a:lstStyle/>
          <a:p>
            <a:pPr algn="just">
              <a:lnSpc>
                <a:spcPct val="150000"/>
              </a:lnSpc>
            </a:pPr>
            <a:r>
              <a:rPr lang="en-US" sz="2200" b="0" i="0" dirty="0">
                <a:effectLst/>
                <a:latin typeface="Times New Roman" panose="02020603050405020304" pitchFamily="18" charset="0"/>
                <a:cs typeface="Times New Roman" panose="02020603050405020304" pitchFamily="18" charset="0"/>
              </a:rPr>
              <a:t>A computer system is a system with various resources like memory processor, disk, printer, etc.</a:t>
            </a:r>
          </a:p>
          <a:p>
            <a:pPr algn="just">
              <a:lnSpc>
                <a:spcPct val="150000"/>
              </a:lnSpc>
            </a:pPr>
            <a:r>
              <a:rPr lang="en-US" sz="2200" b="0" i="0" dirty="0">
                <a:effectLst/>
                <a:latin typeface="Times New Roman" panose="02020603050405020304" pitchFamily="18" charset="0"/>
                <a:cs typeface="Times New Roman" panose="02020603050405020304" pitchFamily="18" charset="0"/>
              </a:rPr>
              <a:t>It is necessary to keep track of the resource allocation and usage in order to resolve conflict between two or more processes for allocation of same resources</a:t>
            </a:r>
            <a:r>
              <a:rPr lang="en-US" sz="2200" dirty="0">
                <a:latin typeface="Times New Roman" panose="02020603050405020304" pitchFamily="18" charset="0"/>
                <a:cs typeface="Times New Roman" panose="02020603050405020304" pitchFamily="18" charset="0"/>
              </a:rPr>
              <a:t>.</a:t>
            </a:r>
          </a:p>
          <a:p>
            <a:pPr algn="just">
              <a:lnSpc>
                <a:spcPct val="150000"/>
              </a:lnSpc>
            </a:pPr>
            <a:r>
              <a:rPr lang="en-US" sz="2200" b="0" i="0" dirty="0">
                <a:effectLst/>
                <a:latin typeface="Times New Roman" panose="02020603050405020304" pitchFamily="18" charset="0"/>
                <a:cs typeface="Times New Roman" panose="02020603050405020304" pitchFamily="18" charset="0"/>
              </a:rPr>
              <a:t>So, the need of managing memory and resources among the processes or the users is necessary.</a:t>
            </a:r>
          </a:p>
          <a:p>
            <a:pPr algn="just">
              <a:lnSpc>
                <a:spcPct val="150000"/>
              </a:lnSpc>
            </a:pPr>
            <a:r>
              <a:rPr lang="en-US" sz="2200" b="0" i="0" dirty="0">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OS </a:t>
            </a:r>
            <a:r>
              <a:rPr lang="en-US" sz="2200" b="0" i="0" dirty="0">
                <a:effectLst/>
                <a:latin typeface="Times New Roman" panose="02020603050405020304" pitchFamily="18" charset="0"/>
                <a:cs typeface="Times New Roman" panose="02020603050405020304" pitchFamily="18" charset="0"/>
              </a:rPr>
              <a:t>keeps track of current usages status of resources, who is using resource, to grant resource request if available and so on.</a:t>
            </a:r>
          </a:p>
          <a:p>
            <a:pPr algn="just">
              <a:lnSpc>
                <a:spcPct val="150000"/>
              </a:lnSpc>
            </a:pPr>
            <a:r>
              <a:rPr lang="en-US" sz="2200" b="0" i="0" dirty="0" err="1">
                <a:effectLst/>
                <a:latin typeface="Times New Roman" panose="02020603050405020304" pitchFamily="18" charset="0"/>
                <a:cs typeface="Times New Roman" panose="02020603050405020304" pitchFamily="18" charset="0"/>
              </a:rPr>
              <a:t>Eg.</a:t>
            </a:r>
            <a:r>
              <a:rPr lang="en-US" sz="2200" b="0" i="0" dirty="0">
                <a:effectLst/>
                <a:latin typeface="Times New Roman" panose="02020603050405020304" pitchFamily="18" charset="0"/>
                <a:cs typeface="Times New Roman" panose="02020603050405020304" pitchFamily="18" charset="0"/>
              </a:rPr>
              <a:t> If 3 programs are requesting for a printer service the OS schedule the tasks based on priority. It can be managed by buffering all the output destined for the printer on disk</a:t>
            </a:r>
            <a:endParaRPr 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7</a:t>
            </a:fld>
            <a:endParaRPr lang="en-US"/>
          </a:p>
        </p:txBody>
      </p:sp>
    </p:spTree>
    <p:extLst>
      <p:ext uri="{BB962C8B-B14F-4D97-AF65-F5344CB8AC3E}">
        <p14:creationId xmlns:p14="http://schemas.microsoft.com/office/powerpoint/2010/main" val="640451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8FBB1C-BB64-46E0-B6D7-78A9C65B640A}"/>
              </a:ext>
            </a:extLst>
          </p:cNvPr>
          <p:cNvSpPr>
            <a:spLocks noGrp="1"/>
          </p:cNvSpPr>
          <p:nvPr>
            <p:ph type="title"/>
          </p:nvPr>
        </p:nvSpPr>
        <p:spPr>
          <a:xfrm>
            <a:off x="838200" y="365126"/>
            <a:ext cx="10515600" cy="496266"/>
          </a:xfrm>
        </p:spPr>
        <p:txBody>
          <a:bodyPr>
            <a:noAutofit/>
          </a:bodyPr>
          <a:lstStyle/>
          <a:p>
            <a:pPr algn="ctr"/>
            <a:r>
              <a:rPr lang="en-US" sz="4000" b="1" i="0" u="none" strike="noStrike" baseline="0" dirty="0">
                <a:solidFill>
                  <a:srgbClr val="FF0000"/>
                </a:solidFill>
                <a:latin typeface="Times New Roman" panose="02020603050405020304" pitchFamily="18" charset="0"/>
                <a:cs typeface="Times New Roman" panose="02020603050405020304" pitchFamily="18" charset="0"/>
              </a:rPr>
              <a:t>OS evolution</a:t>
            </a: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DAD5F2D-5A41-42EE-8421-382DAED434EC}"/>
              </a:ext>
            </a:extLst>
          </p:cNvPr>
          <p:cNvSpPr>
            <a:spLocks noGrp="1"/>
          </p:cNvSpPr>
          <p:nvPr>
            <p:ph idx="1"/>
          </p:nvPr>
        </p:nvSpPr>
        <p:spPr>
          <a:xfrm>
            <a:off x="424071" y="1086678"/>
            <a:ext cx="11211338" cy="5090285"/>
          </a:xfrm>
        </p:spPr>
        <p:txBody>
          <a:bodyPr>
            <a:normAutofit/>
          </a:bodyPr>
          <a:lstStyle/>
          <a:p>
            <a:pPr marL="0" indent="0" algn="l">
              <a:buNone/>
            </a:pPr>
            <a:r>
              <a:rPr lang="en-US" sz="3200" b="0" i="0" u="none" strike="noStrike" baseline="0" dirty="0">
                <a:solidFill>
                  <a:srgbClr val="FF3300"/>
                </a:solidFill>
                <a:latin typeface="Times New Roman" panose="02020603050405020304" pitchFamily="18" charset="0"/>
                <a:cs typeface="Times New Roman" panose="02020603050405020304" pitchFamily="18" charset="0"/>
              </a:rPr>
              <a:t>Computer Generation, Component and OS Types</a:t>
            </a:r>
          </a:p>
          <a:p>
            <a:pPr marL="0" indent="0" algn="l">
              <a:lnSpc>
                <a:spcPct val="150000"/>
              </a:lnSpc>
              <a:buNone/>
            </a:pPr>
            <a:r>
              <a:rPr lang="en-US" sz="3200" b="0" i="0" u="none" strike="noStrike" baseline="0" dirty="0">
                <a:solidFill>
                  <a:srgbClr val="000000"/>
                </a:solidFill>
                <a:latin typeface="Times New Roman" panose="02020603050405020304" pitchFamily="18" charset="0"/>
                <a:cs typeface="Times New Roman" panose="02020603050405020304" pitchFamily="18" charset="0"/>
              </a:rPr>
              <a:t>1st (1945-55) 		Vacuum Tubes 	</a:t>
            </a:r>
            <a:r>
              <a:rPr lang="en-US" sz="3200" dirty="0">
                <a:solidFill>
                  <a:srgbClr val="000000"/>
                </a:solidFill>
                <a:latin typeface="Times New Roman" panose="02020603050405020304" pitchFamily="18" charset="0"/>
                <a:cs typeface="Times New Roman" panose="02020603050405020304" pitchFamily="18" charset="0"/>
              </a:rPr>
              <a:t>  </a:t>
            </a:r>
            <a:r>
              <a:rPr lang="en-US" sz="3200" b="0" i="0" u="none" strike="noStrike" baseline="0" dirty="0">
                <a:solidFill>
                  <a:srgbClr val="000000"/>
                </a:solidFill>
                <a:latin typeface="Times New Roman" panose="02020603050405020304" pitchFamily="18" charset="0"/>
                <a:cs typeface="Times New Roman" panose="02020603050405020304" pitchFamily="18" charset="0"/>
              </a:rPr>
              <a:t>User Driven</a:t>
            </a:r>
          </a:p>
          <a:p>
            <a:pPr marL="0" indent="0" algn="l">
              <a:lnSpc>
                <a:spcPct val="150000"/>
              </a:lnSpc>
              <a:buNone/>
            </a:pPr>
            <a:r>
              <a:rPr lang="en-US" sz="3200" b="0" i="0" u="none" strike="noStrike" baseline="0" dirty="0">
                <a:solidFill>
                  <a:srgbClr val="000000"/>
                </a:solidFill>
                <a:latin typeface="Times New Roman" panose="02020603050405020304" pitchFamily="18" charset="0"/>
                <a:cs typeface="Times New Roman" panose="02020603050405020304" pitchFamily="18" charset="0"/>
              </a:rPr>
              <a:t>2nd (1955-65) 		Transistor 		</a:t>
            </a:r>
            <a:r>
              <a:rPr lang="en-US" sz="3200" dirty="0">
                <a:solidFill>
                  <a:srgbClr val="000000"/>
                </a:solidFill>
                <a:latin typeface="Times New Roman" panose="02020603050405020304" pitchFamily="18" charset="0"/>
                <a:cs typeface="Times New Roman" panose="02020603050405020304" pitchFamily="18" charset="0"/>
              </a:rPr>
              <a:t>  </a:t>
            </a:r>
            <a:r>
              <a:rPr lang="en-US" sz="3200" b="0" i="0" u="none" strike="noStrike" baseline="0" dirty="0">
                <a:solidFill>
                  <a:srgbClr val="000000"/>
                </a:solidFill>
                <a:latin typeface="Times New Roman" panose="02020603050405020304" pitchFamily="18" charset="0"/>
                <a:cs typeface="Times New Roman" panose="02020603050405020304" pitchFamily="18" charset="0"/>
              </a:rPr>
              <a:t>Batch</a:t>
            </a:r>
          </a:p>
          <a:p>
            <a:pPr marL="0" indent="0" algn="l">
              <a:lnSpc>
                <a:spcPct val="150000"/>
              </a:lnSpc>
              <a:buNone/>
            </a:pPr>
            <a:r>
              <a:rPr lang="en-US" sz="3200" b="0" i="0" u="none" strike="noStrike" baseline="0" dirty="0">
                <a:solidFill>
                  <a:srgbClr val="000000"/>
                </a:solidFill>
                <a:latin typeface="Times New Roman" panose="02020603050405020304" pitchFamily="18" charset="0"/>
                <a:cs typeface="Times New Roman" panose="02020603050405020304" pitchFamily="18" charset="0"/>
              </a:rPr>
              <a:t>3rd (1965-80) 		IC 			  Multiprogramming</a:t>
            </a:r>
          </a:p>
          <a:p>
            <a:pPr marL="0" indent="0" algn="l">
              <a:lnSpc>
                <a:spcPct val="150000"/>
              </a:lnSpc>
              <a:buNone/>
            </a:pPr>
            <a:r>
              <a:rPr lang="en-US" sz="3200" b="0" i="0" u="none" strike="noStrike" baseline="0" dirty="0">
                <a:solidFill>
                  <a:srgbClr val="000000"/>
                </a:solidFill>
                <a:latin typeface="Times New Roman" panose="02020603050405020304" pitchFamily="18" charset="0"/>
                <a:cs typeface="Times New Roman" panose="02020603050405020304" pitchFamily="18" charset="0"/>
              </a:rPr>
              <a:t>4th (1980-present) 	PC 		           Client Server/Distributed</a:t>
            </a:r>
            <a:endParaRPr lang="en-US" sz="3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8</a:t>
            </a:fld>
            <a:endParaRPr lang="en-US"/>
          </a:p>
        </p:txBody>
      </p:sp>
    </p:spTree>
    <p:extLst>
      <p:ext uri="{BB962C8B-B14F-4D97-AF65-F5344CB8AC3E}">
        <p14:creationId xmlns:p14="http://schemas.microsoft.com/office/powerpoint/2010/main" val="3206542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0299"/>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Operating-System Operations</a:t>
            </a:r>
          </a:p>
        </p:txBody>
      </p:sp>
      <p:sp>
        <p:nvSpPr>
          <p:cNvPr id="3" name="Content Placeholder 2"/>
          <p:cNvSpPr>
            <a:spLocks noGrp="1"/>
          </p:cNvSpPr>
          <p:nvPr>
            <p:ph idx="1"/>
          </p:nvPr>
        </p:nvSpPr>
        <p:spPr>
          <a:xfrm>
            <a:off x="838200" y="1035424"/>
            <a:ext cx="10515600" cy="5141539"/>
          </a:xfrm>
        </p:spPr>
        <p:txBody>
          <a:bodyPr>
            <a:normAutofit fontScale="77500" lnSpcReduction="20000"/>
          </a:bodyPr>
          <a:lstStyle/>
          <a:p>
            <a:pPr>
              <a:lnSpc>
                <a:spcPct val="150000"/>
              </a:lnSpc>
            </a:pPr>
            <a:r>
              <a:rPr lang="en-US" dirty="0">
                <a:latin typeface="Times New Roman" panose="02020603050405020304" pitchFamily="18" charset="0"/>
                <a:cs typeface="Times New Roman" panose="02020603050405020304" pitchFamily="18" charset="0"/>
              </a:rPr>
              <a:t>OS must </a:t>
            </a:r>
            <a:r>
              <a:rPr lang="en-US" dirty="0" smtClean="0">
                <a:latin typeface="Times New Roman" panose="02020603050405020304" pitchFamily="18" charset="0"/>
                <a:cs typeface="Times New Roman" panose="02020603050405020304" pitchFamily="18" charset="0"/>
              </a:rPr>
              <a:t>ensure </a:t>
            </a:r>
            <a:r>
              <a:rPr lang="en-US" dirty="0">
                <a:latin typeface="Times New Roman" panose="02020603050405020304" pitchFamily="18" charset="0"/>
                <a:cs typeface="Times New Roman" panose="02020603050405020304" pitchFamily="18" charset="0"/>
              </a:rPr>
              <a:t>that an incorrect program can not cause other programs to execute incorrectly, and must terminate the such erroneous </a:t>
            </a:r>
            <a:r>
              <a:rPr lang="en-US" dirty="0" smtClean="0">
                <a:latin typeface="Times New Roman" panose="02020603050405020304" pitchFamily="18" charset="0"/>
                <a:cs typeface="Times New Roman" panose="02020603050405020304" pitchFamily="18" charset="0"/>
              </a:rPr>
              <a:t>program</a:t>
            </a:r>
          </a:p>
          <a:p>
            <a:pPr>
              <a:lnSpc>
                <a:spcPct val="150000"/>
              </a:lnSpc>
            </a:pPr>
            <a:r>
              <a:rPr lang="en-US" dirty="0">
                <a:latin typeface="Times New Roman" panose="02020603050405020304" pitchFamily="18" charset="0"/>
                <a:cs typeface="Times New Roman" panose="02020603050405020304" pitchFamily="18" charset="0"/>
              </a:rPr>
              <a:t>Provide hardware support to differentiate between at least two modes of </a:t>
            </a:r>
            <a:r>
              <a:rPr lang="en-US" dirty="0" smtClean="0">
                <a:latin typeface="Times New Roman" panose="02020603050405020304" pitchFamily="18" charset="0"/>
                <a:cs typeface="Times New Roman" panose="02020603050405020304" pitchFamily="18" charset="0"/>
              </a:rPr>
              <a:t>operations</a:t>
            </a:r>
          </a:p>
          <a:p>
            <a:pPr>
              <a:lnSpc>
                <a:spcPct val="150000"/>
              </a:lnSpc>
            </a:pPr>
            <a:r>
              <a:rPr lang="en-US" b="1" dirty="0">
                <a:latin typeface="Times New Roman" panose="02020603050405020304" pitchFamily="18" charset="0"/>
                <a:cs typeface="Times New Roman" panose="02020603050405020304" pitchFamily="18" charset="0"/>
              </a:rPr>
              <a:t>User mode </a:t>
            </a:r>
            <a:r>
              <a:rPr lang="en-US"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execution done on behalf of a user. User programs runs in user mode, which permits only the subset of instructions to be executed and subset of features to be accessed. </a:t>
            </a:r>
            <a:endParaRPr lang="en-US" dirty="0" smtClean="0">
              <a:latin typeface="Times New Roman" panose="02020603050405020304" pitchFamily="18" charset="0"/>
              <a:cs typeface="Times New Roman" panose="02020603050405020304" pitchFamily="18" charset="0"/>
            </a:endParaRPr>
          </a:p>
          <a:p>
            <a:pPr>
              <a:lnSpc>
                <a:spcPct val="150000"/>
              </a:lnSpc>
            </a:pPr>
            <a:r>
              <a:rPr lang="en-US" b="1" dirty="0" smtClean="0">
                <a:latin typeface="Times New Roman" panose="02020603050405020304" pitchFamily="18" charset="0"/>
                <a:cs typeface="Times New Roman" panose="02020603050405020304" pitchFamily="18" charset="0"/>
              </a:rPr>
              <a:t>Kernel </a:t>
            </a:r>
            <a:r>
              <a:rPr lang="en-US" b="1" dirty="0">
                <a:latin typeface="Times New Roman" panose="02020603050405020304" pitchFamily="18" charset="0"/>
                <a:cs typeface="Times New Roman" panose="02020603050405020304" pitchFamily="18" charset="0"/>
              </a:rPr>
              <a:t>mode (or supervisor mode)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execution done on behalf of operating system</a:t>
            </a:r>
            <a:r>
              <a:rPr lang="en-US" dirty="0" smtClean="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OS runs in kernel mode, giving it access to the complete hardware. </a:t>
            </a:r>
            <a:endParaRPr lang="en-US" dirty="0" smtClean="0">
              <a:latin typeface="Times New Roman" panose="02020603050405020304" pitchFamily="18" charset="0"/>
              <a:cs typeface="Times New Roman" panose="02020603050405020304" pitchFamily="18" charset="0"/>
            </a:endParaRPr>
          </a:p>
          <a:p>
            <a:pPr>
              <a:lnSpc>
                <a:spcPct val="15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Mode bit is added to the hardware of the computer to indicate the current mode: kernel(0) and user(1).</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9</a:t>
            </a:fld>
            <a:endParaRPr lang="en-US"/>
          </a:p>
        </p:txBody>
      </p:sp>
    </p:spTree>
    <p:extLst>
      <p:ext uri="{BB962C8B-B14F-4D97-AF65-F5344CB8AC3E}">
        <p14:creationId xmlns:p14="http://schemas.microsoft.com/office/powerpoint/2010/main" val="67764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838200" y="2191871"/>
            <a:ext cx="10515600" cy="2917746"/>
          </a:xfrm>
          <a:prstGeom prst="rect">
            <a:avLst/>
          </a:prstGeom>
          <a:noFill/>
          <a:ln w="9525">
            <a:noFill/>
            <a:miter lim="800000"/>
            <a:headEnd/>
            <a:tailEnd/>
          </a:ln>
          <a:effectLst/>
        </p:spPr>
      </p:pic>
      <p:sp>
        <p:nvSpPr>
          <p:cNvPr id="5" name="TextBox 4"/>
          <p:cNvSpPr txBox="1"/>
          <p:nvPr/>
        </p:nvSpPr>
        <p:spPr>
          <a:xfrm>
            <a:off x="1606731" y="5512526"/>
            <a:ext cx="8451669" cy="461665"/>
          </a:xfrm>
          <a:prstGeom prst="rect">
            <a:avLst/>
          </a:prstGeom>
          <a:noFill/>
        </p:spPr>
        <p:txBody>
          <a:bodyPr wrap="square" rtlCol="0">
            <a:spAutoFit/>
          </a:bodyPr>
          <a:lstStyle/>
          <a:p>
            <a:r>
              <a:rPr lang="en-US" sz="2400" b="1" i="1" dirty="0" smtClean="0">
                <a:latin typeface="Times New Roman" pitchFamily="18" charset="0"/>
                <a:cs typeface="Times New Roman" pitchFamily="18" charset="0"/>
              </a:rPr>
              <a:t>Privileged instructions can be issued only in kernel mode.</a:t>
            </a:r>
            <a:endParaRPr lang="en-US" sz="2400" b="1" dirty="0">
              <a:latin typeface="Times New Roman" pitchFamily="18" charset="0"/>
              <a:cs typeface="Times New Roman" pitchFamily="18" charset="0"/>
            </a:endParaRPr>
          </a:p>
        </p:txBody>
      </p:sp>
      <p:sp>
        <p:nvSpPr>
          <p:cNvPr id="2" name="TextBox 1"/>
          <p:cNvSpPr txBox="1"/>
          <p:nvPr/>
        </p:nvSpPr>
        <p:spPr>
          <a:xfrm>
            <a:off x="1021977" y="568425"/>
            <a:ext cx="9130553" cy="1421992"/>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When an trap or interrupt occurs hardware switches from user mode to the kernel mode. Thus, whenever the OS gains control of computer, it is in kernel mode. The system always switches to user mode before passing control to the user program.</a:t>
            </a:r>
          </a:p>
        </p:txBody>
      </p:sp>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10</a:t>
            </a:fld>
            <a:endParaRPr lang="en-US"/>
          </a:p>
        </p:txBody>
      </p:sp>
    </p:spTree>
    <p:extLst>
      <p:ext uri="{BB962C8B-B14F-4D97-AF65-F5344CB8AC3E}">
        <p14:creationId xmlns:p14="http://schemas.microsoft.com/office/powerpoint/2010/main" val="37497714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System Call</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45029"/>
            <a:ext cx="10515600" cy="5131934"/>
          </a:xfrm>
        </p:spPr>
        <p:txBody>
          <a:bodyPr>
            <a:normAutofit/>
          </a:bodyPr>
          <a:lstStyle/>
          <a:p>
            <a:pPr algn="just">
              <a:lnSpc>
                <a:spcPct val="150000"/>
              </a:lnSpc>
            </a:pPr>
            <a:r>
              <a:rPr lang="en-US" sz="2000" dirty="0" smtClean="0">
                <a:latin typeface="Times New Roman" pitchFamily="18" charset="0"/>
                <a:cs typeface="Times New Roman" pitchFamily="18" charset="0"/>
              </a:rPr>
              <a:t>System call provide an interface to the services made available by an operating system.</a:t>
            </a:r>
          </a:p>
          <a:p>
            <a:pPr algn="just">
              <a:lnSpc>
                <a:spcPct val="150000"/>
              </a:lnSpc>
            </a:pPr>
            <a:r>
              <a:rPr lang="en-US" sz="2000" dirty="0" smtClean="0">
                <a:latin typeface="Times New Roman" pitchFamily="18" charset="0"/>
                <a:cs typeface="Times New Roman" pitchFamily="18" charset="0"/>
              </a:rPr>
              <a:t>System call is the programmatic way in which a computer program request a services from the kernel of operating system</a:t>
            </a:r>
          </a:p>
          <a:p>
            <a:pPr algn="just">
              <a:lnSpc>
                <a:spcPct val="150000"/>
              </a:lnSpc>
            </a:pPr>
            <a:r>
              <a:rPr lang="en-US" sz="2000" dirty="0" smtClean="0">
                <a:latin typeface="Times New Roman" pitchFamily="18" charset="0"/>
                <a:cs typeface="Times New Roman" pitchFamily="18" charset="0"/>
              </a:rPr>
              <a:t>These calls are basically available as routines written in c and </a:t>
            </a:r>
            <a:r>
              <a:rPr lang="en-US" sz="2000" dirty="0" err="1" smtClean="0">
                <a:latin typeface="Times New Roman" pitchFamily="18" charset="0"/>
                <a:cs typeface="Times New Roman" pitchFamily="18" charset="0"/>
              </a:rPr>
              <a:t>c++</a:t>
            </a:r>
            <a:r>
              <a:rPr lang="en-US" sz="2000" dirty="0" smtClean="0">
                <a:latin typeface="Times New Roman" pitchFamily="18" charset="0"/>
                <a:cs typeface="Times New Roman" pitchFamily="18" charset="0"/>
              </a:rPr>
              <a:t>.</a:t>
            </a:r>
          </a:p>
          <a:p>
            <a:pPr algn="just">
              <a:lnSpc>
                <a:spcPct val="150000"/>
              </a:lnSpc>
            </a:pPr>
            <a:r>
              <a:rPr lang="en-US" sz="2000" dirty="0" smtClean="0">
                <a:latin typeface="Times New Roman" pitchFamily="18" charset="0"/>
                <a:cs typeface="Times New Roman" pitchFamily="18" charset="0"/>
              </a:rPr>
              <a:t>System calls are the only entry points for the kernel system.</a:t>
            </a:r>
          </a:p>
          <a:p>
            <a:pPr algn="just">
              <a:lnSpc>
                <a:spcPct val="150000"/>
              </a:lnSpc>
            </a:pPr>
            <a:endParaRPr lang="en-US" sz="2000" dirty="0">
              <a:latin typeface="Times New Roman" pitchFamily="18" charset="0"/>
              <a:cs typeface="Times New Roman" pitchFamily="18" charset="0"/>
            </a:endParaRPr>
          </a:p>
        </p:txBody>
      </p:sp>
      <p:pic>
        <p:nvPicPr>
          <p:cNvPr id="4" name="Picture 3" descr="os.PNG"/>
          <p:cNvPicPr>
            <a:picLocks noChangeAspect="1"/>
          </p:cNvPicPr>
          <p:nvPr/>
        </p:nvPicPr>
        <p:blipFill>
          <a:blip r:embed="rId2"/>
          <a:stretch>
            <a:fillRect/>
          </a:stretch>
        </p:blipFill>
        <p:spPr>
          <a:xfrm>
            <a:off x="2887411" y="3950813"/>
            <a:ext cx="4248743" cy="2248214"/>
          </a:xfrm>
          <a:prstGeom prst="rect">
            <a:avLst/>
          </a:prstGeom>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11</a:t>
            </a:fld>
            <a:endParaRPr lang="en-US"/>
          </a:p>
        </p:txBody>
      </p:sp>
    </p:spTree>
    <p:extLst>
      <p:ext uri="{BB962C8B-B14F-4D97-AF65-F5344CB8AC3E}">
        <p14:creationId xmlns:p14="http://schemas.microsoft.com/office/powerpoint/2010/main" val="2220920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4435"/>
            <a:ext cx="10515600" cy="565252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Mostly accessed by programs via a high-level Application Program Interface (API) rather than direct system call use </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Three most common APIs are Win32 API for Windows, POSIX API for </a:t>
            </a:r>
            <a:r>
              <a:rPr lang="en-US" sz="2000" dirty="0" smtClean="0">
                <a:latin typeface="Times New Roman" panose="02020603050405020304" pitchFamily="18" charset="0"/>
                <a:cs typeface="Times New Roman" panose="02020603050405020304" pitchFamily="18" charset="0"/>
              </a:rPr>
              <a:t>POSIX-based </a:t>
            </a:r>
            <a:r>
              <a:rPr lang="en-US" sz="2000" dirty="0">
                <a:latin typeface="Times New Roman" panose="02020603050405020304" pitchFamily="18" charset="0"/>
                <a:cs typeface="Times New Roman" panose="02020603050405020304" pitchFamily="18" charset="0"/>
              </a:rPr>
              <a:t>systems (including virtually all versions of UNIX, Linux, and Mac OS X), and Java API for the Java virtual machine (JVM)</a:t>
            </a:r>
          </a:p>
        </p:txBody>
      </p:sp>
      <p:pic>
        <p:nvPicPr>
          <p:cNvPr id="4" name="Picture 3"/>
          <p:cNvPicPr>
            <a:picLocks noChangeAspect="1"/>
          </p:cNvPicPr>
          <p:nvPr/>
        </p:nvPicPr>
        <p:blipFill>
          <a:blip r:embed="rId2"/>
          <a:stretch>
            <a:fillRect/>
          </a:stretch>
        </p:blipFill>
        <p:spPr>
          <a:xfrm>
            <a:off x="1187824" y="3106272"/>
            <a:ext cx="10058400" cy="3070692"/>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12</a:t>
            </a:fld>
            <a:endParaRPr lang="en-US"/>
          </a:p>
        </p:txBody>
      </p:sp>
    </p:spTree>
    <p:extLst>
      <p:ext uri="{BB962C8B-B14F-4D97-AF65-F5344CB8AC3E}">
        <p14:creationId xmlns:p14="http://schemas.microsoft.com/office/powerpoint/2010/main" val="2161164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8593"/>
          </a:xfrm>
        </p:spPr>
        <p:txBody>
          <a:bodyPr>
            <a:normAutofit fontScale="90000"/>
          </a:bodyPr>
          <a:lstStyle/>
          <a:p>
            <a:pPr algn="ctr"/>
            <a:r>
              <a:rPr lang="en-US" b="1" dirty="0" smtClean="0">
                <a:solidFill>
                  <a:srgbClr val="FF0000"/>
                </a:solidFill>
                <a:latin typeface="Times New Roman" panose="02020603050405020304" pitchFamily="18" charset="0"/>
                <a:cs typeface="Times New Roman" panose="02020603050405020304" pitchFamily="18" charset="0"/>
              </a:rPr>
              <a:t>Example of  Windows and UNIX System Call</a:t>
            </a: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srcRect/>
          <a:stretch>
            <a:fillRect/>
          </a:stretch>
        </p:blipFill>
        <p:spPr bwMode="auto">
          <a:xfrm>
            <a:off x="1175657" y="1102659"/>
            <a:ext cx="9864378" cy="515445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13</a:t>
            </a:fld>
            <a:endParaRPr lang="en-US"/>
          </a:p>
        </p:txBody>
      </p:sp>
    </p:spTree>
    <p:extLst>
      <p:ext uri="{BB962C8B-B14F-4D97-AF65-F5344CB8AC3E}">
        <p14:creationId xmlns:p14="http://schemas.microsoft.com/office/powerpoint/2010/main" val="1039471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6851"/>
          </a:xfrm>
        </p:spPr>
        <p:txBody>
          <a:bodyPr>
            <a:normAutofit fontScale="90000"/>
          </a:bodyPr>
          <a:lstStyle/>
          <a:p>
            <a:pPr algn="ctr"/>
            <a:r>
              <a:rPr lang="en-US" b="1" dirty="0" smtClean="0">
                <a:solidFill>
                  <a:srgbClr val="FF0000"/>
                </a:solidFill>
                <a:latin typeface="Times New Roman" panose="02020603050405020304" pitchFamily="18" charset="0"/>
                <a:cs typeface="Times New Roman" panose="02020603050405020304" pitchFamily="18" charset="0"/>
              </a:rPr>
              <a:t>Operating System Services</a:t>
            </a: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68188" y="1021976"/>
            <a:ext cx="10385611" cy="5459505"/>
          </a:xfrm>
          <a:prstGeom prst="rect">
            <a:avLst/>
          </a:prstGeom>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14</a:t>
            </a:fld>
            <a:endParaRPr lang="en-US"/>
          </a:p>
        </p:txBody>
      </p:sp>
    </p:spTree>
    <p:extLst>
      <p:ext uri="{BB962C8B-B14F-4D97-AF65-F5344CB8AC3E}">
        <p14:creationId xmlns:p14="http://schemas.microsoft.com/office/powerpoint/2010/main" val="473973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1692"/>
            <a:ext cx="10515600" cy="5825271"/>
          </a:xfrm>
        </p:spPr>
        <p:txBody>
          <a:bodyPr>
            <a:normAutofit fontScale="70000" lnSpcReduction="20000"/>
          </a:bodyPr>
          <a:lstStyle/>
          <a:p>
            <a:pPr>
              <a:lnSpc>
                <a:spcPct val="120000"/>
              </a:lnSpc>
            </a:pPr>
            <a:r>
              <a:rPr lang="en-US" b="1" dirty="0" smtClean="0">
                <a:latin typeface="Times New Roman" panose="02020603050405020304" pitchFamily="18" charset="0"/>
                <a:cs typeface="Times New Roman" panose="02020603050405020304" pitchFamily="18" charset="0"/>
              </a:rPr>
              <a:t>User Interfaces</a:t>
            </a:r>
            <a:r>
              <a:rPr lang="en-US" dirty="0" smtClean="0">
                <a:latin typeface="Times New Roman" panose="02020603050405020304" pitchFamily="18" charset="0"/>
                <a:cs typeface="Times New Roman" panose="02020603050405020304" pitchFamily="18" charset="0"/>
              </a:rPr>
              <a:t>: Means by Which user can issues command  to the system. Depending on the system these may be a command-line interface, GUI interface, or a batch command systems.</a:t>
            </a:r>
          </a:p>
          <a:p>
            <a:pPr>
              <a:lnSpc>
                <a:spcPct val="120000"/>
              </a:lnSpc>
            </a:pPr>
            <a:r>
              <a:rPr lang="en-US" b="1" dirty="0" smtClean="0">
                <a:latin typeface="Times New Roman" panose="02020603050405020304" pitchFamily="18" charset="0"/>
                <a:cs typeface="Times New Roman" panose="02020603050405020304" pitchFamily="18" charset="0"/>
              </a:rPr>
              <a:t>Program Execution: </a:t>
            </a:r>
            <a:r>
              <a:rPr lang="en-US" dirty="0" smtClean="0">
                <a:latin typeface="Times New Roman" panose="02020603050405020304" pitchFamily="18" charset="0"/>
                <a:cs typeface="Times New Roman" panose="02020603050405020304" pitchFamily="18" charset="0"/>
              </a:rPr>
              <a:t>The OS must be able to load program into RAM, run the program, and terminate the program, either normally or abnormally.</a:t>
            </a:r>
          </a:p>
          <a:p>
            <a:pPr>
              <a:lnSpc>
                <a:spcPct val="120000"/>
              </a:lnSpc>
            </a:pPr>
            <a:r>
              <a:rPr lang="en-US" b="1" dirty="0" smtClean="0">
                <a:latin typeface="Times New Roman" panose="02020603050405020304" pitchFamily="18" charset="0"/>
                <a:cs typeface="Times New Roman" panose="02020603050405020304" pitchFamily="18" charset="0"/>
              </a:rPr>
              <a:t>I/O Operations</a:t>
            </a:r>
            <a:r>
              <a:rPr lang="en-US" dirty="0" smtClean="0">
                <a:latin typeface="Times New Roman" panose="02020603050405020304" pitchFamily="18" charset="0"/>
                <a:cs typeface="Times New Roman" panose="02020603050405020304" pitchFamily="18" charset="0"/>
              </a:rPr>
              <a:t>: The operating system is responsible for transferring data to and from I/O devices, including keyboards, terminal, printers and storage devices.</a:t>
            </a:r>
          </a:p>
          <a:p>
            <a:pPr>
              <a:lnSpc>
                <a:spcPct val="120000"/>
              </a:lnSpc>
            </a:pPr>
            <a:r>
              <a:rPr lang="en-US" b="1" dirty="0" smtClean="0">
                <a:latin typeface="Times New Roman" panose="02020603050405020304" pitchFamily="18" charset="0"/>
                <a:cs typeface="Times New Roman" panose="02020603050405020304" pitchFamily="18" charset="0"/>
              </a:rPr>
              <a:t>File-System Manipulation: </a:t>
            </a:r>
            <a:r>
              <a:rPr lang="en-US" dirty="0" smtClean="0">
                <a:latin typeface="Times New Roman" panose="02020603050405020304" pitchFamily="18" charset="0"/>
                <a:cs typeface="Times New Roman" panose="02020603050405020304" pitchFamily="18" charset="0"/>
              </a:rPr>
              <a:t>In addition to row data storage, The operating system is also responsible for maintaining directory and sub directory structures.</a:t>
            </a:r>
          </a:p>
          <a:p>
            <a:pPr>
              <a:lnSpc>
                <a:spcPct val="120000"/>
              </a:lnSpc>
            </a:pPr>
            <a:r>
              <a:rPr lang="en-US" b="1" dirty="0" smtClean="0">
                <a:latin typeface="Times New Roman" panose="02020603050405020304" pitchFamily="18" charset="0"/>
                <a:cs typeface="Times New Roman" panose="02020603050405020304" pitchFamily="18" charset="0"/>
              </a:rPr>
              <a:t>Communications: </a:t>
            </a:r>
            <a:r>
              <a:rPr lang="en-US" dirty="0" smtClean="0">
                <a:latin typeface="Times New Roman" panose="02020603050405020304" pitchFamily="18" charset="0"/>
                <a:cs typeface="Times New Roman" panose="02020603050405020304" pitchFamily="18" charset="0"/>
              </a:rPr>
              <a:t>Inter-Process communications, IPC either between processes running on the same processor, or between processes running on separate processors or separate Machines.</a:t>
            </a:r>
          </a:p>
          <a:p>
            <a:pPr>
              <a:lnSpc>
                <a:spcPct val="120000"/>
              </a:lnSpc>
            </a:pPr>
            <a:r>
              <a:rPr lang="en-US" b="1" dirty="0" smtClean="0">
                <a:latin typeface="Times New Roman" panose="02020603050405020304" pitchFamily="18" charset="0"/>
                <a:cs typeface="Times New Roman" panose="02020603050405020304" pitchFamily="18" charset="0"/>
              </a:rPr>
              <a:t>Error Detection</a:t>
            </a:r>
            <a:r>
              <a:rPr lang="en-US" dirty="0" smtClean="0">
                <a:latin typeface="Times New Roman" panose="02020603050405020304" pitchFamily="18" charset="0"/>
                <a:cs typeface="Times New Roman" panose="02020603050405020304" pitchFamily="18" charset="0"/>
              </a:rPr>
              <a:t>: Both hardware and software errors must be detected and handled appropriately.</a:t>
            </a:r>
          </a:p>
          <a:p>
            <a:pPr>
              <a:lnSpc>
                <a:spcPct val="120000"/>
              </a:lnSpc>
            </a:pPr>
            <a:r>
              <a:rPr lang="en-US" b="1" dirty="0" smtClean="0">
                <a:latin typeface="Times New Roman" panose="02020603050405020304" pitchFamily="18" charset="0"/>
                <a:cs typeface="Times New Roman" panose="02020603050405020304" pitchFamily="18" charset="0"/>
              </a:rPr>
              <a:t>Resource Allocation: </a:t>
            </a:r>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 CPU cycles, main memory, storage spaces and peripheral devices.</a:t>
            </a:r>
          </a:p>
          <a:p>
            <a:pPr>
              <a:lnSpc>
                <a:spcPct val="120000"/>
              </a:lnSpc>
            </a:pPr>
            <a:r>
              <a:rPr lang="en-US" b="1" dirty="0" smtClean="0">
                <a:latin typeface="Times New Roman" panose="02020603050405020304" pitchFamily="18" charset="0"/>
                <a:cs typeface="Times New Roman" panose="02020603050405020304" pitchFamily="18" charset="0"/>
              </a:rPr>
              <a:t>Accounting</a:t>
            </a:r>
            <a:r>
              <a:rPr lang="en-US" dirty="0" smtClean="0">
                <a:latin typeface="Times New Roman" panose="02020603050405020304" pitchFamily="18" charset="0"/>
                <a:cs typeface="Times New Roman" panose="02020603050405020304" pitchFamily="18" charset="0"/>
              </a:rPr>
              <a:t>: Keeping track of system activity and resources usage.</a:t>
            </a:r>
          </a:p>
          <a:p>
            <a:pPr>
              <a:lnSpc>
                <a:spcPct val="120000"/>
              </a:lnSpc>
            </a:pPr>
            <a:r>
              <a:rPr lang="en-US" b="1" dirty="0" smtClean="0">
                <a:latin typeface="Times New Roman" panose="02020603050405020304" pitchFamily="18" charset="0"/>
                <a:cs typeface="Times New Roman" panose="02020603050405020304" pitchFamily="18" charset="0"/>
              </a:rPr>
              <a:t>Protection and security: </a:t>
            </a:r>
            <a:r>
              <a:rPr lang="en-US" dirty="0" smtClean="0">
                <a:latin typeface="Times New Roman" panose="02020603050405020304" pitchFamily="18" charset="0"/>
                <a:cs typeface="Times New Roman" panose="02020603050405020304" pitchFamily="18" charset="0"/>
              </a:rPr>
              <a:t>Preventing harm to the system and to resources, either through wayward internal processes or malicious outsiders.</a:t>
            </a: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15</a:t>
            </a:fld>
            <a:endParaRPr lang="en-US"/>
          </a:p>
        </p:txBody>
      </p:sp>
    </p:spTree>
    <p:extLst>
      <p:ext uri="{BB962C8B-B14F-4D97-AF65-F5344CB8AC3E}">
        <p14:creationId xmlns:p14="http://schemas.microsoft.com/office/powerpoint/2010/main" val="2957313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833498-D619-406E-B2C1-429B0C3CAFA4}"/>
              </a:ext>
            </a:extLst>
          </p:cNvPr>
          <p:cNvSpPr>
            <a:spLocks noGrp="1"/>
          </p:cNvSpPr>
          <p:nvPr>
            <p:ph type="title"/>
          </p:nvPr>
        </p:nvSpPr>
        <p:spPr>
          <a:xfrm>
            <a:off x="838200" y="365126"/>
            <a:ext cx="10515600" cy="496265"/>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Types of Operating System</a:t>
            </a:r>
          </a:p>
        </p:txBody>
      </p:sp>
      <p:sp>
        <p:nvSpPr>
          <p:cNvPr id="3" name="Content Placeholder 2">
            <a:extLst>
              <a:ext uri="{FF2B5EF4-FFF2-40B4-BE49-F238E27FC236}">
                <a16:creationId xmlns:a16="http://schemas.microsoft.com/office/drawing/2014/main" xmlns="" id="{2B8EB3AC-824A-4850-8C5B-1A2FD58A6A3B}"/>
              </a:ext>
            </a:extLst>
          </p:cNvPr>
          <p:cNvSpPr>
            <a:spLocks noGrp="1"/>
          </p:cNvSpPr>
          <p:nvPr>
            <p:ph idx="1"/>
          </p:nvPr>
        </p:nvSpPr>
        <p:spPr>
          <a:xfrm>
            <a:off x="838200" y="870605"/>
            <a:ext cx="11062252" cy="5366199"/>
          </a:xfrm>
        </p:spPr>
        <p:txBody>
          <a:bodyPr>
            <a:normAutofit/>
          </a:body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Batch OS:</a:t>
            </a:r>
          </a:p>
          <a:p>
            <a:pPr algn="just">
              <a:lnSpc>
                <a:spcPct val="150000"/>
              </a:lnSpc>
            </a:pPr>
            <a:r>
              <a:rPr lang="en-US" sz="2000" dirty="0">
                <a:latin typeface="Times New Roman" panose="02020603050405020304" pitchFamily="18" charset="0"/>
                <a:cs typeface="Times New Roman" panose="02020603050405020304" pitchFamily="18" charset="0"/>
              </a:rPr>
              <a:t>The users of a batch operating system do not interact with the computer directly.</a:t>
            </a:r>
          </a:p>
          <a:p>
            <a:pPr algn="just">
              <a:lnSpc>
                <a:spcPct val="150000"/>
              </a:lnSpc>
            </a:pPr>
            <a:r>
              <a:rPr lang="en-US" sz="2000" dirty="0">
                <a:latin typeface="Times New Roman" panose="02020603050405020304" pitchFamily="18" charset="0"/>
                <a:cs typeface="Times New Roman" panose="02020603050405020304" pitchFamily="18" charset="0"/>
              </a:rPr>
              <a:t>Each user prepares his job on an off-line device like punch cards and submits it to the computer operator.</a:t>
            </a:r>
          </a:p>
          <a:p>
            <a:pPr algn="just">
              <a:lnSpc>
                <a:spcPct val="150000"/>
              </a:lnSpc>
            </a:pPr>
            <a:r>
              <a:rPr lang="en-US" sz="2000" dirty="0">
                <a:latin typeface="Times New Roman" panose="02020603050405020304" pitchFamily="18" charset="0"/>
                <a:cs typeface="Times New Roman" panose="02020603050405020304" pitchFamily="18" charset="0"/>
              </a:rPr>
              <a:t>To speed up processing, jobs with similar needs are batched together and run as a group.</a:t>
            </a:r>
          </a:p>
          <a:p>
            <a:pPr algn="just">
              <a:lnSpc>
                <a:spcPct val="150000"/>
              </a:lnSpc>
            </a:pPr>
            <a:r>
              <a:rPr lang="en-US" sz="2000" b="0" i="0" dirty="0">
                <a:effectLst/>
                <a:latin typeface="Times New Roman" panose="02020603050405020304" pitchFamily="18" charset="0"/>
                <a:cs typeface="Times New Roman" panose="02020603050405020304" pitchFamily="18" charset="0"/>
              </a:rPr>
              <a:t>A job gets assigned to the CPU, only when the execution of the previous job completes.</a:t>
            </a:r>
          </a:p>
          <a:p>
            <a:pPr algn="just">
              <a:lnSpc>
                <a:spcPct val="150000"/>
              </a:lnSpc>
            </a:pPr>
            <a:r>
              <a:rPr lang="en-US" sz="2000" b="0" i="0" dirty="0">
                <a:effectLst/>
                <a:latin typeface="Times New Roman" panose="02020603050405020304" pitchFamily="18" charset="0"/>
                <a:cs typeface="Times New Roman" panose="02020603050405020304" pitchFamily="18" charset="0"/>
              </a:rPr>
              <a:t>E.g. Payroll System, Bank Statements etc.</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70862650-37DC-4BC1-906C-BFF6EEBCBFE7}"/>
              </a:ext>
            </a:extLst>
          </p:cNvPr>
          <p:cNvPicPr>
            <a:picLocks noChangeAspect="1"/>
          </p:cNvPicPr>
          <p:nvPr/>
        </p:nvPicPr>
        <p:blipFill>
          <a:blip r:embed="rId2"/>
          <a:stretch>
            <a:fillRect/>
          </a:stretch>
        </p:blipFill>
        <p:spPr>
          <a:xfrm>
            <a:off x="5943599" y="3731418"/>
            <a:ext cx="5181600" cy="2514600"/>
          </a:xfrm>
          <a:prstGeom prst="rect">
            <a:avLst/>
          </a:prstGeom>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16</a:t>
            </a:fld>
            <a:endParaRPr lang="en-US"/>
          </a:p>
        </p:txBody>
      </p:sp>
    </p:spTree>
    <p:extLst>
      <p:ext uri="{BB962C8B-B14F-4D97-AF65-F5344CB8AC3E}">
        <p14:creationId xmlns:p14="http://schemas.microsoft.com/office/powerpoint/2010/main" val="3355025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1001574-B13C-4DF7-9D6D-7109B8B046BC}"/>
              </a:ext>
            </a:extLst>
          </p:cNvPr>
          <p:cNvSpPr>
            <a:spLocks noGrp="1"/>
          </p:cNvSpPr>
          <p:nvPr>
            <p:ph idx="1"/>
          </p:nvPr>
        </p:nvSpPr>
        <p:spPr>
          <a:xfrm>
            <a:off x="838200" y="344557"/>
            <a:ext cx="10515600" cy="5832406"/>
          </a:xfrm>
        </p:spPr>
        <p:txBody>
          <a:bodyPr>
            <a:normAutofit fontScale="62500" lnSpcReduction="20000"/>
          </a:bodyPr>
          <a:lstStyle/>
          <a:p>
            <a:pPr marL="0" indent="0" algn="just">
              <a:lnSpc>
                <a:spcPct val="150000"/>
              </a:lnSpc>
              <a:buNone/>
            </a:pPr>
            <a:r>
              <a:rPr lang="en-US" b="1" i="0" dirty="0">
                <a:solidFill>
                  <a:srgbClr val="333333"/>
                </a:solidFill>
                <a:effectLst/>
                <a:latin typeface="Times New Roman" panose="02020603050405020304" pitchFamily="18" charset="0"/>
                <a:cs typeface="Times New Roman" panose="02020603050405020304" pitchFamily="18" charset="0"/>
              </a:rPr>
              <a:t>Interactive System:</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The user can interact directly with OS to supply commands and data as applications program executes.</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The user receives the output immediately.</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 There is direct too way communication between user and computer.</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 A user interface is provided which may be command line or GUI.</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Example : </a:t>
            </a:r>
            <a:r>
              <a:rPr lang="en-US" b="0" i="0" dirty="0">
                <a:solidFill>
                  <a:srgbClr val="222222"/>
                </a:solidFill>
                <a:effectLst/>
                <a:latin typeface="Times New Roman" panose="02020603050405020304" pitchFamily="18" charset="0"/>
                <a:cs typeface="Times New Roman" panose="02020603050405020304" pitchFamily="18" charset="0"/>
              </a:rPr>
              <a:t>Mac and Windows </a:t>
            </a:r>
            <a:r>
              <a:rPr lang="en-US" b="0" i="0" dirty="0" err="1">
                <a:solidFill>
                  <a:srgbClr val="222222"/>
                </a:solidFill>
                <a:effectLst/>
                <a:latin typeface="Times New Roman" panose="02020603050405020304" pitchFamily="18" charset="0"/>
                <a:cs typeface="Times New Roman" panose="02020603050405020304" pitchFamily="18" charset="0"/>
              </a:rPr>
              <a:t>etc</a:t>
            </a:r>
            <a:endParaRPr lang="en-US" b="0" i="0" dirty="0">
              <a:solidFill>
                <a:srgbClr val="333333"/>
              </a:solidFill>
              <a:effectLst/>
              <a:latin typeface="Times New Roman" panose="02020603050405020304" pitchFamily="18" charset="0"/>
              <a:cs typeface="Times New Roman" panose="02020603050405020304" pitchFamily="18" charset="0"/>
            </a:endParaRPr>
          </a:p>
          <a:p>
            <a:pPr marL="0" indent="0" algn="just">
              <a:lnSpc>
                <a:spcPct val="150000"/>
              </a:lnSpc>
              <a:buNone/>
            </a:pPr>
            <a:r>
              <a:rPr lang="en-US" b="1" i="0" dirty="0">
                <a:solidFill>
                  <a:srgbClr val="333333"/>
                </a:solidFill>
                <a:effectLst/>
                <a:latin typeface="Times New Roman" panose="02020603050405020304" pitchFamily="18" charset="0"/>
                <a:cs typeface="Times New Roman" panose="02020603050405020304" pitchFamily="18" charset="0"/>
              </a:rPr>
              <a:t>Time- Sharing System(Multitasking)</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The processor’s time is shared among multiple users simultaneously.</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The main objective is to tasks by switching.</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 It reduces CPU idle time.</a:t>
            </a:r>
          </a:p>
          <a:p>
            <a:pPr algn="just">
              <a:lnSpc>
                <a:spcPct val="150000"/>
              </a:lnSpc>
            </a:pPr>
            <a:r>
              <a:rPr lang="en-US" b="0" i="0" dirty="0">
                <a:solidFill>
                  <a:srgbClr val="333333"/>
                </a:solidFill>
                <a:effectLst/>
                <a:latin typeface="Times New Roman" panose="02020603050405020304" pitchFamily="18" charset="0"/>
                <a:cs typeface="Times New Roman" panose="02020603050405020304" pitchFamily="18" charset="0"/>
              </a:rPr>
              <a:t>Example : </a:t>
            </a:r>
            <a:r>
              <a:rPr lang="en-US" b="0" i="0" dirty="0">
                <a:effectLst/>
                <a:latin typeface="Times New Roman" panose="02020603050405020304" pitchFamily="18" charset="0"/>
                <a:cs typeface="Times New Roman" panose="02020603050405020304" pitchFamily="18" charset="0"/>
              </a:rPr>
              <a:t>Multics, Unix etc.</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lnSpc>
                <a:spcPct val="150000"/>
              </a:lnSpc>
            </a:pPr>
            <a:endParaRPr lang="en-US" b="1" i="0" dirty="0">
              <a:solidFill>
                <a:srgbClr val="333333"/>
              </a:solidFill>
              <a:effectLst/>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17</a:t>
            </a:fld>
            <a:endParaRPr lang="en-US"/>
          </a:p>
        </p:txBody>
      </p:sp>
    </p:spTree>
    <p:extLst>
      <p:ext uri="{BB962C8B-B14F-4D97-AF65-F5344CB8AC3E}">
        <p14:creationId xmlns:p14="http://schemas.microsoft.com/office/powerpoint/2010/main" val="4012993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4D0CF85-B785-47C0-8546-C4321A14E15B}"/>
              </a:ext>
            </a:extLst>
          </p:cNvPr>
          <p:cNvSpPr>
            <a:spLocks noGrp="1"/>
          </p:cNvSpPr>
          <p:nvPr>
            <p:ph idx="1"/>
          </p:nvPr>
        </p:nvSpPr>
        <p:spPr>
          <a:xfrm>
            <a:off x="838200" y="397565"/>
            <a:ext cx="10515600" cy="5779398"/>
          </a:xfrm>
        </p:spPr>
        <p:txBody>
          <a:bodyPr>
            <a:noAutofit/>
          </a:bodyPr>
          <a:lstStyle/>
          <a:p>
            <a:pPr marL="0" indent="0">
              <a:buNone/>
            </a:pPr>
            <a:r>
              <a:rPr lang="en-US" sz="2000" b="1" u="none" strike="noStrike" baseline="0" dirty="0">
                <a:latin typeface="Times New Roman" panose="02020603050405020304" pitchFamily="18" charset="0"/>
                <a:cs typeface="Times New Roman" panose="02020603050405020304" pitchFamily="18" charset="0"/>
              </a:rPr>
              <a:t>Multiprogramming OS</a:t>
            </a:r>
          </a:p>
          <a:p>
            <a:r>
              <a:rPr lang="en-US" sz="2000" b="0" u="none" strike="noStrike" baseline="0" dirty="0">
                <a:latin typeface="Times New Roman" panose="02020603050405020304" pitchFamily="18" charset="0"/>
                <a:cs typeface="Times New Roman" panose="02020603050405020304" pitchFamily="18" charset="0"/>
              </a:rPr>
              <a:t>Multiple jobs in memory at the same time</a:t>
            </a:r>
          </a:p>
          <a:p>
            <a:pPr algn="l"/>
            <a:r>
              <a:rPr lang="en-US" sz="2000" b="0" u="none" strike="noStrike" baseline="0" dirty="0">
                <a:latin typeface="Times New Roman" panose="02020603050405020304" pitchFamily="18" charset="0"/>
                <a:cs typeface="Times New Roman" panose="02020603050405020304" pitchFamily="18" charset="0"/>
              </a:rPr>
              <a:t>Each </a:t>
            </a:r>
            <a:r>
              <a:rPr lang="en-US" sz="2000" b="0" u="none" strike="noStrike" baseline="0" dirty="0" smtClean="0">
                <a:latin typeface="Times New Roman" panose="02020603050405020304" pitchFamily="18" charset="0"/>
                <a:cs typeface="Times New Roman" panose="02020603050405020304" pitchFamily="18" charset="0"/>
              </a:rPr>
              <a:t>memory space </a:t>
            </a:r>
            <a:r>
              <a:rPr lang="en-US" sz="2000" b="0" u="none" strike="noStrike" baseline="0" dirty="0">
                <a:latin typeface="Times New Roman" panose="02020603050405020304" pitchFamily="18" charset="0"/>
                <a:cs typeface="Times New Roman" panose="02020603050405020304" pitchFamily="18" charset="0"/>
              </a:rPr>
              <a:t>protected from each other. OS picks one, execute it for a while, stops (</a:t>
            </a:r>
            <a:r>
              <a:rPr lang="en-US" sz="2000" b="0" u="none" strike="noStrike" baseline="0" dirty="0" err="1" smtClean="0">
                <a:latin typeface="Times New Roman" panose="02020603050405020304" pitchFamily="18" charset="0"/>
                <a:cs typeface="Times New Roman" panose="02020603050405020304" pitchFamily="18" charset="0"/>
              </a:rPr>
              <a:t>e.g.when</a:t>
            </a:r>
            <a:r>
              <a:rPr lang="en-US" sz="2000" b="0" u="none" strike="noStrike" baseline="0" dirty="0" smtClean="0">
                <a:latin typeface="Times New Roman" panose="02020603050405020304" pitchFamily="18" charset="0"/>
                <a:cs typeface="Times New Roman" panose="02020603050405020304" pitchFamily="18" charset="0"/>
              </a:rPr>
              <a:t> </a:t>
            </a:r>
            <a:r>
              <a:rPr lang="en-US" sz="2000" b="0" u="none" strike="noStrike" baseline="0" dirty="0">
                <a:latin typeface="Times New Roman" panose="02020603050405020304" pitchFamily="18" charset="0"/>
                <a:cs typeface="Times New Roman" panose="02020603050405020304" pitchFamily="18" charset="0"/>
              </a:rPr>
              <a:t>programs reads for input or randomly), picks other to run..</a:t>
            </a:r>
          </a:p>
          <a:p>
            <a:pPr algn="l"/>
            <a:r>
              <a:rPr lang="en-US" sz="2000" b="0" u="none" strike="noStrike" baseline="0" dirty="0">
                <a:latin typeface="Times New Roman" panose="02020603050405020304" pitchFamily="18" charset="0"/>
                <a:cs typeface="Times New Roman" panose="02020603050405020304" pitchFamily="18" charset="0"/>
              </a:rPr>
              <a:t> Single user cannot keep CPU and I/O devices busy at all times</a:t>
            </a:r>
          </a:p>
          <a:p>
            <a:pPr algn="l"/>
            <a:r>
              <a:rPr lang="en-US" sz="2000" b="0" u="none" strike="noStrike" baseline="0" dirty="0">
                <a:latin typeface="Times New Roman" panose="02020603050405020304" pitchFamily="18" charset="0"/>
                <a:cs typeface="Times New Roman" panose="02020603050405020304" pitchFamily="18" charset="0"/>
              </a:rPr>
              <a:t> One job selected and run via </a:t>
            </a:r>
            <a:r>
              <a:rPr lang="en-US" sz="2000" b="1" u="none" strike="noStrike" baseline="0" dirty="0">
                <a:latin typeface="Times New Roman" panose="02020603050405020304" pitchFamily="18" charset="0"/>
                <a:cs typeface="Times New Roman" panose="02020603050405020304" pitchFamily="18" charset="0"/>
              </a:rPr>
              <a:t>job scheduling</a:t>
            </a:r>
          </a:p>
          <a:p>
            <a:pPr algn="l"/>
            <a:r>
              <a:rPr lang="en-US" sz="2000" b="0" u="none" strike="noStrike" baseline="0" dirty="0">
                <a:latin typeface="Times New Roman" panose="02020603050405020304" pitchFamily="18" charset="0"/>
                <a:cs typeface="Times New Roman" panose="02020603050405020304" pitchFamily="18" charset="0"/>
              </a:rPr>
              <a:t> When it has to wait (for I/O for example), OS switches to another job</a:t>
            </a:r>
            <a:endParaRPr lang="en-US" sz="2000"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Distributed OS</a:t>
            </a:r>
          </a:p>
          <a:p>
            <a:pPr algn="just">
              <a:lnSpc>
                <a:spcPct val="100000"/>
              </a:lnSpc>
            </a:pPr>
            <a:r>
              <a:rPr lang="en-US" sz="2000" dirty="0">
                <a:latin typeface="Times New Roman" panose="02020603050405020304" pitchFamily="18" charset="0"/>
                <a:cs typeface="Times New Roman" panose="02020603050405020304" pitchFamily="18" charset="0"/>
              </a:rPr>
              <a:t>This type of OS is designed to share its work load over multiple servers.</a:t>
            </a:r>
          </a:p>
          <a:p>
            <a:pPr algn="just">
              <a:lnSpc>
                <a:spcPct val="100000"/>
              </a:lnSpc>
            </a:pPr>
            <a:r>
              <a:rPr lang="en-US" sz="2000" dirty="0">
                <a:latin typeface="Times New Roman" panose="02020603050405020304" pitchFamily="18" charset="0"/>
                <a:cs typeface="Times New Roman" panose="02020603050405020304" pitchFamily="18" charset="0"/>
              </a:rPr>
              <a:t>Thus it has a decentralized architecture.</a:t>
            </a:r>
          </a:p>
          <a:p>
            <a:pPr algn="just">
              <a:lnSpc>
                <a:spcPct val="100000"/>
              </a:lnSpc>
            </a:pPr>
            <a:r>
              <a:rPr lang="en-US" sz="2000" dirty="0">
                <a:latin typeface="Times New Roman" panose="02020603050405020304" pitchFamily="18" charset="0"/>
                <a:cs typeface="Times New Roman" panose="02020603050405020304" pitchFamily="18" charset="0"/>
              </a:rPr>
              <a:t>It shares data and resources among its multiple server to get maximum efficiency</a:t>
            </a:r>
          </a:p>
          <a:p>
            <a:pPr algn="just">
              <a:lnSpc>
                <a:spcPct val="100000"/>
              </a:lnSpc>
            </a:pPr>
            <a:r>
              <a:rPr lang="en-US" sz="2000" dirty="0">
                <a:latin typeface="Times New Roman" panose="02020603050405020304" pitchFamily="18" charset="0"/>
                <a:cs typeface="Times New Roman" panose="02020603050405020304" pitchFamily="18" charset="0"/>
              </a:rPr>
              <a:t>Example: </a:t>
            </a:r>
            <a:r>
              <a:rPr lang="en-US" sz="2000" dirty="0" err="1">
                <a:latin typeface="Times New Roman" panose="02020603050405020304" pitchFamily="18" charset="0"/>
                <a:cs typeface="Times New Roman" panose="02020603050405020304" pitchFamily="18" charset="0"/>
              </a:rPr>
              <a:t>unix</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Linux,X</a:t>
            </a:r>
            <a:r>
              <a:rPr lang="en-US" sz="2000" dirty="0">
                <a:latin typeface="Times New Roman" panose="02020603050405020304" pitchFamily="18" charset="0"/>
                <a:cs typeface="Times New Roman" panose="02020603050405020304" pitchFamily="18" charset="0"/>
              </a:rPr>
              <a:t>/open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18</a:t>
            </a:fld>
            <a:endParaRPr lang="en-US"/>
          </a:p>
        </p:txBody>
      </p:sp>
    </p:spTree>
    <p:extLst>
      <p:ext uri="{BB962C8B-B14F-4D97-AF65-F5344CB8AC3E}">
        <p14:creationId xmlns:p14="http://schemas.microsoft.com/office/powerpoint/2010/main" val="252158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8010AB5-F611-4148-9617-F5132A47598C}"/>
              </a:ext>
            </a:extLst>
          </p:cNvPr>
          <p:cNvSpPr>
            <a:spLocks noGrp="1"/>
          </p:cNvSpPr>
          <p:nvPr>
            <p:ph idx="1"/>
          </p:nvPr>
        </p:nvSpPr>
        <p:spPr>
          <a:xfrm>
            <a:off x="838200" y="145774"/>
            <a:ext cx="10515600" cy="6031189"/>
          </a:xfrm>
        </p:spPr>
        <p:txBody>
          <a:bodyPr>
            <a:normAutofit fontScale="85000" lnSpcReduction="20000"/>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Real time OS</a:t>
            </a:r>
          </a:p>
          <a:p>
            <a:pPr algn="just">
              <a:lnSpc>
                <a:spcPct val="150000"/>
              </a:lnSpc>
            </a:pPr>
            <a:r>
              <a:rPr lang="en-US" b="0" i="0" dirty="0">
                <a:effectLst/>
                <a:latin typeface="Times New Roman" panose="02020603050405020304" pitchFamily="18" charset="0"/>
                <a:cs typeface="Times New Roman" panose="02020603050405020304" pitchFamily="18" charset="0"/>
              </a:rPr>
              <a:t>Real-Time OS are usually built for dedicated systems to accomplish a specific set of tasks within deadlines.</a:t>
            </a:r>
          </a:p>
          <a:p>
            <a:pPr algn="just">
              <a:lnSpc>
                <a:spcPct val="150000"/>
              </a:lnSpc>
            </a:pPr>
            <a:r>
              <a:rPr lang="en-US" b="1" i="0" dirty="0">
                <a:solidFill>
                  <a:srgbClr val="222222"/>
                </a:solidFill>
                <a:effectLst/>
                <a:latin typeface="Times New Roman" panose="02020603050405020304" pitchFamily="18" charset="0"/>
                <a:cs typeface="Times New Roman" panose="02020603050405020304" pitchFamily="18" charset="0"/>
              </a:rPr>
              <a:t>Hard Real Time :</a:t>
            </a:r>
          </a:p>
          <a:p>
            <a:pPr lvl="1" algn="just">
              <a:lnSpc>
                <a:spcPct val="150000"/>
              </a:lnSpc>
            </a:pPr>
            <a:r>
              <a:rPr lang="en-US" b="0" i="0" dirty="0">
                <a:solidFill>
                  <a:srgbClr val="222222"/>
                </a:solidFill>
                <a:effectLst/>
                <a:latin typeface="Times New Roman" panose="02020603050405020304" pitchFamily="18" charset="0"/>
                <a:cs typeface="Times New Roman" panose="02020603050405020304" pitchFamily="18" charset="0"/>
              </a:rPr>
              <a:t>In Hard RTOS, the deadline is handled very strictly which means that given task must start executing on specified scheduled time, and must be completed within the assigned time duration.</a:t>
            </a:r>
          </a:p>
          <a:p>
            <a:pPr lvl="1" algn="just">
              <a:lnSpc>
                <a:spcPct val="150000"/>
              </a:lnSpc>
            </a:pPr>
            <a:r>
              <a:rPr lang="en-US" b="0" i="0" dirty="0">
                <a:solidFill>
                  <a:srgbClr val="222222"/>
                </a:solidFill>
                <a:effectLst/>
                <a:latin typeface="Times New Roman" panose="02020603050405020304" pitchFamily="18" charset="0"/>
                <a:cs typeface="Times New Roman" panose="02020603050405020304" pitchFamily="18" charset="0"/>
              </a:rPr>
              <a:t>Example: Medical critical care system, Aircraft systems, etc.</a:t>
            </a:r>
            <a:endParaRPr lang="en-US" dirty="0">
              <a:solidFill>
                <a:srgbClr val="222222"/>
              </a:solidFill>
              <a:latin typeface="Times New Roman" panose="02020603050405020304" pitchFamily="18" charset="0"/>
              <a:cs typeface="Times New Roman" panose="02020603050405020304" pitchFamily="18" charset="0"/>
            </a:endParaRPr>
          </a:p>
          <a:p>
            <a:pPr algn="just">
              <a:lnSpc>
                <a:spcPct val="150000"/>
              </a:lnSpc>
            </a:pPr>
            <a:r>
              <a:rPr lang="en-US" b="1" i="0" dirty="0">
                <a:solidFill>
                  <a:srgbClr val="222222"/>
                </a:solidFill>
                <a:effectLst/>
                <a:latin typeface="Times New Roman" panose="02020603050405020304" pitchFamily="18" charset="0"/>
                <a:cs typeface="Times New Roman" panose="02020603050405020304" pitchFamily="18" charset="0"/>
              </a:rPr>
              <a:t>Soft Real Time:</a:t>
            </a:r>
          </a:p>
          <a:p>
            <a:pPr lvl="1" algn="just">
              <a:lnSpc>
                <a:spcPct val="150000"/>
              </a:lnSpc>
            </a:pPr>
            <a:r>
              <a:rPr lang="en-US" b="0" i="0" dirty="0">
                <a:solidFill>
                  <a:srgbClr val="222222"/>
                </a:solidFill>
                <a:effectLst/>
                <a:latin typeface="Times New Roman" panose="02020603050405020304" pitchFamily="18" charset="0"/>
                <a:cs typeface="Times New Roman" panose="02020603050405020304" pitchFamily="18" charset="0"/>
              </a:rPr>
              <a:t>In this type of RTOS, there is a deadline assigned for a specific job, but a delay for a small amount of time is acceptable. So, deadlines are handled softly by this type of RTOS.</a:t>
            </a:r>
          </a:p>
          <a:p>
            <a:pPr lvl="1" algn="just">
              <a:lnSpc>
                <a:spcPct val="150000"/>
              </a:lnSpc>
            </a:pPr>
            <a:r>
              <a:rPr lang="en-US" b="0" i="0" dirty="0">
                <a:solidFill>
                  <a:srgbClr val="222222"/>
                </a:solidFill>
                <a:effectLst/>
                <a:latin typeface="Times New Roman" panose="02020603050405020304" pitchFamily="18" charset="0"/>
                <a:cs typeface="Times New Roman" panose="02020603050405020304" pitchFamily="18" charset="0"/>
              </a:rPr>
              <a:t>Example Online Transaction system and Livestock price quotation System.</a:t>
            </a:r>
            <a:endParaRPr lang="en-US" b="1" i="0" dirty="0">
              <a:solidFill>
                <a:srgbClr val="222222"/>
              </a:solidFill>
              <a:effectLst/>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19</a:t>
            </a:fld>
            <a:endParaRPr lang="en-US"/>
          </a:p>
        </p:txBody>
      </p:sp>
    </p:spTree>
    <p:extLst>
      <p:ext uri="{BB962C8B-B14F-4D97-AF65-F5344CB8AC3E}">
        <p14:creationId xmlns:p14="http://schemas.microsoft.com/office/powerpoint/2010/main" val="1668634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0EE336-BC1E-4CBE-B53F-DC4B63B0D24B}"/>
              </a:ext>
            </a:extLst>
          </p:cNvPr>
          <p:cNvSpPr>
            <a:spLocks noGrp="1"/>
          </p:cNvSpPr>
          <p:nvPr>
            <p:ph type="title"/>
          </p:nvPr>
        </p:nvSpPr>
        <p:spPr>
          <a:xfrm>
            <a:off x="838200" y="365125"/>
            <a:ext cx="10515600" cy="575779"/>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Introduction to Operating System Structure</a:t>
            </a:r>
          </a:p>
        </p:txBody>
      </p:sp>
      <p:sp>
        <p:nvSpPr>
          <p:cNvPr id="3" name="Content Placeholder 2">
            <a:extLst>
              <a:ext uri="{FF2B5EF4-FFF2-40B4-BE49-F238E27FC236}">
                <a16:creationId xmlns="" xmlns:a16="http://schemas.microsoft.com/office/drawing/2014/main" id="{601166DA-5E6C-4B99-A5D7-E9498120684B}"/>
              </a:ext>
            </a:extLst>
          </p:cNvPr>
          <p:cNvSpPr>
            <a:spLocks noGrp="1"/>
          </p:cNvSpPr>
          <p:nvPr>
            <p:ph idx="1"/>
          </p:nvPr>
        </p:nvSpPr>
        <p:spPr>
          <a:xfrm>
            <a:off x="543339" y="1033670"/>
            <a:ext cx="11092069" cy="5459205"/>
          </a:xfrm>
        </p:spPr>
        <p:txBody>
          <a:bodyPr>
            <a:normAutofit fontScale="77500" lnSpcReduction="20000"/>
          </a:bodyPr>
          <a:lstStyle/>
          <a:p>
            <a:pPr algn="just">
              <a:lnSpc>
                <a:spcPct val="160000"/>
              </a:lnSpc>
            </a:pPr>
            <a:r>
              <a:rPr lang="en-US" b="0" i="0" dirty="0">
                <a:effectLst/>
                <a:latin typeface="Times New Roman" panose="02020603050405020304" pitchFamily="18" charset="0"/>
                <a:cs typeface="Times New Roman" panose="02020603050405020304" pitchFamily="18" charset="0"/>
              </a:rPr>
              <a:t>A structure of an Operating System determines how it has been designed and how it functions. </a:t>
            </a:r>
          </a:p>
          <a:p>
            <a:pPr algn="just">
              <a:lnSpc>
                <a:spcPct val="160000"/>
              </a:lnSpc>
            </a:pPr>
            <a:r>
              <a:rPr lang="en-US" b="0" i="0" dirty="0">
                <a:effectLst/>
                <a:latin typeface="Times New Roman" panose="02020603050405020304" pitchFamily="18" charset="0"/>
                <a:cs typeface="Times New Roman" panose="02020603050405020304" pitchFamily="18" charset="0"/>
              </a:rPr>
              <a:t>The structure of the OS depends mainly on how the various common components of the operating system are interconnected and melded into the kernel</a:t>
            </a:r>
          </a:p>
          <a:p>
            <a:pPr algn="just">
              <a:lnSpc>
                <a:spcPct val="160000"/>
              </a:lnSpc>
            </a:pPr>
            <a:r>
              <a:rPr lang="en-US" b="0" i="0" dirty="0">
                <a:effectLst/>
                <a:latin typeface="Times New Roman" panose="02020603050405020304" pitchFamily="18" charset="0"/>
                <a:cs typeface="Times New Roman" panose="02020603050405020304" pitchFamily="18" charset="0"/>
              </a:rPr>
              <a:t>There are numerous ways of designing a new structure of an Operating system</a:t>
            </a:r>
          </a:p>
          <a:p>
            <a:pPr algn="just">
              <a:lnSpc>
                <a:spcPct val="160000"/>
              </a:lnSpc>
            </a:pPr>
            <a:r>
              <a:rPr lang="en-US" dirty="0">
                <a:latin typeface="Times New Roman" panose="02020603050405020304" pitchFamily="18" charset="0"/>
                <a:cs typeface="Times New Roman" panose="02020603050405020304" pitchFamily="18" charset="0"/>
              </a:rPr>
              <a:t>The most common structures of operating System are</a:t>
            </a:r>
          </a:p>
          <a:p>
            <a:pPr lvl="1" algn="just">
              <a:lnSpc>
                <a:spcPct val="160000"/>
              </a:lnSpc>
            </a:pPr>
            <a:r>
              <a:rPr lang="en-US" b="1" dirty="0">
                <a:latin typeface="Times New Roman" panose="02020603050405020304" pitchFamily="18" charset="0"/>
                <a:cs typeface="Times New Roman" panose="02020603050405020304" pitchFamily="18" charset="0"/>
              </a:rPr>
              <a:t>Layered system</a:t>
            </a:r>
          </a:p>
          <a:p>
            <a:pPr lvl="1" algn="just">
              <a:lnSpc>
                <a:spcPct val="160000"/>
              </a:lnSpc>
            </a:pPr>
            <a:r>
              <a:rPr lang="en-US" b="1" dirty="0">
                <a:latin typeface="Times New Roman" panose="02020603050405020304" pitchFamily="18" charset="0"/>
                <a:cs typeface="Times New Roman" panose="02020603050405020304" pitchFamily="18" charset="0"/>
              </a:rPr>
              <a:t>Kernel system</a:t>
            </a:r>
          </a:p>
          <a:p>
            <a:pPr lvl="1" algn="just">
              <a:lnSpc>
                <a:spcPct val="160000"/>
              </a:lnSpc>
            </a:pPr>
            <a:r>
              <a:rPr lang="en-US" b="1" dirty="0">
                <a:latin typeface="Times New Roman" panose="02020603050405020304" pitchFamily="18" charset="0"/>
                <a:cs typeface="Times New Roman" panose="02020603050405020304" pitchFamily="18" charset="0"/>
              </a:rPr>
              <a:t>Client-server model</a:t>
            </a:r>
          </a:p>
          <a:p>
            <a:pPr lvl="1" algn="just">
              <a:lnSpc>
                <a:spcPct val="160000"/>
              </a:lnSpc>
            </a:pPr>
            <a:r>
              <a:rPr lang="en-US" b="1" dirty="0">
                <a:latin typeface="Times New Roman" panose="02020603050405020304" pitchFamily="18" charset="0"/>
                <a:cs typeface="Times New Roman" panose="02020603050405020304" pitchFamily="18" charset="0"/>
              </a:rPr>
              <a:t>Virtual machine</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20</a:t>
            </a:fld>
            <a:endParaRPr lang="en-US"/>
          </a:p>
        </p:txBody>
      </p:sp>
    </p:spTree>
    <p:extLst>
      <p:ext uri="{BB962C8B-B14F-4D97-AF65-F5344CB8AC3E}">
        <p14:creationId xmlns:p14="http://schemas.microsoft.com/office/powerpoint/2010/main" val="606262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0EB57A-2BB1-4624-A574-017A93B0E7BA}"/>
              </a:ext>
            </a:extLst>
          </p:cNvPr>
          <p:cNvSpPr>
            <a:spLocks noGrp="1"/>
          </p:cNvSpPr>
          <p:nvPr>
            <p:ph type="title"/>
          </p:nvPr>
        </p:nvSpPr>
        <p:spPr>
          <a:xfrm>
            <a:off x="838200" y="365126"/>
            <a:ext cx="10515600" cy="628788"/>
          </a:xfrm>
        </p:spPr>
        <p:txBody>
          <a:bodyPr>
            <a:normAutofit fontScale="90000"/>
          </a:bodyPr>
          <a:lstStyle/>
          <a:p>
            <a:pPr algn="ctr"/>
            <a:r>
              <a:rPr lang="en-US" dirty="0">
                <a:solidFill>
                  <a:srgbClr val="FF0000"/>
                </a:solidFill>
                <a:latin typeface="Times New Roman" panose="02020603050405020304" pitchFamily="18" charset="0"/>
                <a:cs typeface="Times New Roman" panose="02020603050405020304" pitchFamily="18" charset="0"/>
              </a:rPr>
              <a:t>Layered System</a:t>
            </a:r>
          </a:p>
        </p:txBody>
      </p:sp>
      <p:sp>
        <p:nvSpPr>
          <p:cNvPr id="3" name="Content Placeholder 2">
            <a:extLst>
              <a:ext uri="{FF2B5EF4-FFF2-40B4-BE49-F238E27FC236}">
                <a16:creationId xmlns="" xmlns:a16="http://schemas.microsoft.com/office/drawing/2014/main" id="{AB1FE4F7-26EA-42D5-A341-6DCB6FA38F4E}"/>
              </a:ext>
            </a:extLst>
          </p:cNvPr>
          <p:cNvSpPr>
            <a:spLocks noGrp="1"/>
          </p:cNvSpPr>
          <p:nvPr>
            <p:ph idx="1"/>
          </p:nvPr>
        </p:nvSpPr>
        <p:spPr>
          <a:xfrm>
            <a:off x="838200" y="993914"/>
            <a:ext cx="10515600" cy="5498960"/>
          </a:xfrm>
        </p:spPr>
        <p:txBody>
          <a:bodyPr>
            <a:normAutofit/>
          </a:bodyPr>
          <a:lstStyle/>
          <a:p>
            <a:pPr algn="l">
              <a:lnSpc>
                <a:spcPct val="150000"/>
              </a:lnSpc>
            </a:pPr>
            <a:r>
              <a:rPr lang="en-US" sz="2000" b="0" i="0" u="none" strike="noStrike" baseline="0" dirty="0">
                <a:latin typeface="Times New Roman" panose="02020603050405020304" pitchFamily="18" charset="0"/>
                <a:cs typeface="Times New Roman" panose="02020603050405020304" pitchFamily="18" charset="0"/>
              </a:rPr>
              <a:t>The operating system is divided into a number of layers (levels), each built on top of lower layers.</a:t>
            </a:r>
          </a:p>
          <a:p>
            <a:pPr algn="l">
              <a:lnSpc>
                <a:spcPct val="150000"/>
              </a:lnSpc>
            </a:pPr>
            <a:r>
              <a:rPr lang="en-US" sz="2000" b="0" i="0" u="none" strike="noStrike" baseline="0" dirty="0">
                <a:latin typeface="Times New Roman" panose="02020603050405020304" pitchFamily="18" charset="0"/>
                <a:cs typeface="Times New Roman" panose="02020603050405020304" pitchFamily="18" charset="0"/>
              </a:rPr>
              <a:t>The bottom layer (layer 0), is the hardware; the highest (layer N) is the user interface</a:t>
            </a:r>
          </a:p>
          <a:p>
            <a:pPr algn="l">
              <a:lnSpc>
                <a:spcPct val="150000"/>
              </a:lnSpc>
            </a:pPr>
            <a:r>
              <a:rPr lang="en-US" sz="2000" b="0" i="0" u="none" strike="noStrike" baseline="0" dirty="0">
                <a:latin typeface="Times New Roman" panose="02020603050405020304" pitchFamily="18" charset="0"/>
                <a:cs typeface="Times New Roman" panose="02020603050405020304" pitchFamily="18" charset="0"/>
              </a:rPr>
              <a:t>With modularity, layers are selected such that each uses functions (operations) and services of only lower-level layers.</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D48639DF-B346-40E3-8879-CC59D7454685}"/>
              </a:ext>
            </a:extLst>
          </p:cNvPr>
          <p:cNvPicPr>
            <a:picLocks noChangeAspect="1"/>
          </p:cNvPicPr>
          <p:nvPr/>
        </p:nvPicPr>
        <p:blipFill>
          <a:blip r:embed="rId2"/>
          <a:stretch>
            <a:fillRect/>
          </a:stretch>
        </p:blipFill>
        <p:spPr>
          <a:xfrm>
            <a:off x="3419060" y="3180522"/>
            <a:ext cx="6408669" cy="3312352"/>
          </a:xfrm>
          <a:prstGeom prst="rect">
            <a:avLst/>
          </a:prstGeom>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21</a:t>
            </a:fld>
            <a:endParaRPr lang="en-US"/>
          </a:p>
        </p:txBody>
      </p:sp>
    </p:spTree>
    <p:extLst>
      <p:ext uri="{BB962C8B-B14F-4D97-AF65-F5344CB8AC3E}">
        <p14:creationId xmlns:p14="http://schemas.microsoft.com/office/powerpoint/2010/main" val="569164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02FB855-BE87-4407-8E9C-D607F112DC14}"/>
              </a:ext>
            </a:extLst>
          </p:cNvPr>
          <p:cNvSpPr>
            <a:spLocks noGrp="1"/>
          </p:cNvSpPr>
          <p:nvPr>
            <p:ph idx="1"/>
          </p:nvPr>
        </p:nvSpPr>
        <p:spPr>
          <a:xfrm>
            <a:off x="838200" y="291548"/>
            <a:ext cx="10515600" cy="6109252"/>
          </a:xfrm>
        </p:spPr>
        <p:txBody>
          <a:bodyPr>
            <a:normAutofit lnSpcReduction="10000"/>
          </a:bodyPr>
          <a:lstStyle/>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A layered design was first used in THE operating system. Its six layers are as follows</a:t>
            </a: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b="1" dirty="0">
                <a:latin typeface="Times New Roman" panose="02020603050405020304" pitchFamily="18" charset="0"/>
                <a:cs typeface="Times New Roman" panose="02020603050405020304" pitchFamily="18" charset="0"/>
              </a:rPr>
              <a:t>Layer 0</a:t>
            </a:r>
            <a:r>
              <a:rPr lang="en-US" sz="1800" dirty="0">
                <a:latin typeface="Times New Roman" panose="02020603050405020304" pitchFamily="18" charset="0"/>
                <a:cs typeface="Times New Roman" panose="02020603050405020304" pitchFamily="18" charset="0"/>
              </a:rPr>
              <a:t> was responsible for the multiprogramming aspect of operating system. It decided which process was allocated to CPU. </a:t>
            </a:r>
          </a:p>
          <a:p>
            <a:pPr algn="just">
              <a:lnSpc>
                <a:spcPct val="150000"/>
              </a:lnSpc>
            </a:pPr>
            <a:r>
              <a:rPr lang="en-US" sz="1800" dirty="0">
                <a:latin typeface="Times New Roman" panose="02020603050405020304" pitchFamily="18" charset="0"/>
                <a:cs typeface="Times New Roman" panose="02020603050405020304" pitchFamily="18" charset="0"/>
              </a:rPr>
              <a:t>It dealt with interrupts and performed the context switch when process change was required.</a:t>
            </a:r>
          </a:p>
          <a:p>
            <a:pPr algn="just">
              <a:lnSpc>
                <a:spcPct val="150000"/>
              </a:lnSpc>
            </a:pPr>
            <a:r>
              <a:rPr lang="en-US" sz="1800" b="1" dirty="0">
                <a:latin typeface="Times New Roman" panose="02020603050405020304" pitchFamily="18" charset="0"/>
                <a:cs typeface="Times New Roman" panose="02020603050405020304" pitchFamily="18" charset="0"/>
              </a:rPr>
              <a:t>Layer 1</a:t>
            </a:r>
            <a:r>
              <a:rPr lang="en-US" sz="1800" dirty="0">
                <a:latin typeface="Times New Roman" panose="02020603050405020304" pitchFamily="18" charset="0"/>
                <a:cs typeface="Times New Roman" panose="02020603050405020304" pitchFamily="18" charset="0"/>
              </a:rPr>
              <a:t> was concerned with allocating memory to process.</a:t>
            </a:r>
          </a:p>
          <a:p>
            <a:pPr algn="just">
              <a:lnSpc>
                <a:spcPct val="150000"/>
              </a:lnSpc>
            </a:pPr>
            <a:r>
              <a:rPr lang="en-US" sz="1800" b="1" dirty="0">
                <a:latin typeface="Times New Roman" panose="02020603050405020304" pitchFamily="18" charset="0"/>
                <a:cs typeface="Times New Roman" panose="02020603050405020304" pitchFamily="18" charset="0"/>
              </a:rPr>
              <a:t>Layer 2</a:t>
            </a:r>
            <a:r>
              <a:rPr lang="en-US" sz="1800" dirty="0">
                <a:latin typeface="Times New Roman" panose="02020603050405020304" pitchFamily="18" charset="0"/>
                <a:cs typeface="Times New Roman" panose="02020603050405020304" pitchFamily="18" charset="0"/>
              </a:rPr>
              <a:t> deals with inter-process communication and communication between operating system and the console.</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 xmlns:a16="http://schemas.microsoft.com/office/drawing/2014/main" id="{F6A8C2C3-6439-4D05-9864-4A586C62862D}"/>
              </a:ext>
            </a:extLst>
          </p:cNvPr>
          <p:cNvPicPr>
            <a:picLocks noChangeAspect="1"/>
          </p:cNvPicPr>
          <p:nvPr/>
        </p:nvPicPr>
        <p:blipFill>
          <a:blip r:embed="rId2"/>
          <a:stretch>
            <a:fillRect/>
          </a:stretch>
        </p:blipFill>
        <p:spPr>
          <a:xfrm>
            <a:off x="2778608" y="804034"/>
            <a:ext cx="5013670" cy="2230714"/>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22</a:t>
            </a:fld>
            <a:endParaRPr lang="en-US"/>
          </a:p>
        </p:txBody>
      </p:sp>
    </p:spTree>
    <p:extLst>
      <p:ext uri="{BB962C8B-B14F-4D97-AF65-F5344CB8AC3E}">
        <p14:creationId xmlns:p14="http://schemas.microsoft.com/office/powerpoint/2010/main" val="1320620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2B59776-4F9B-417C-880E-E4F8ECB83ADB}"/>
              </a:ext>
            </a:extLst>
          </p:cNvPr>
          <p:cNvSpPr>
            <a:spLocks noGrp="1"/>
          </p:cNvSpPr>
          <p:nvPr>
            <p:ph idx="1"/>
          </p:nvPr>
        </p:nvSpPr>
        <p:spPr>
          <a:xfrm>
            <a:off x="838200" y="463826"/>
            <a:ext cx="10515600" cy="5713137"/>
          </a:xfrm>
        </p:spPr>
        <p:txBody>
          <a:bodyPr/>
          <a:lstStyle/>
          <a:p>
            <a:pPr algn="just">
              <a:lnSpc>
                <a:spcPct val="150000"/>
              </a:lnSpc>
            </a:pPr>
            <a:r>
              <a:rPr lang="en-US" sz="2800" b="1" dirty="0">
                <a:latin typeface="Times New Roman" panose="02020603050405020304" pitchFamily="18" charset="0"/>
                <a:cs typeface="Times New Roman" panose="02020603050405020304" pitchFamily="18" charset="0"/>
              </a:rPr>
              <a:t>Layer 3 </a:t>
            </a:r>
            <a:r>
              <a:rPr lang="en-US" sz="2800" dirty="0">
                <a:latin typeface="Times New Roman" panose="02020603050405020304" pitchFamily="18" charset="0"/>
                <a:cs typeface="Times New Roman" panose="02020603050405020304" pitchFamily="18" charset="0"/>
              </a:rPr>
              <a:t>manages all I/O between device attached to the computer. This included buffering information from the various devices.</a:t>
            </a:r>
          </a:p>
          <a:p>
            <a:pPr algn="just">
              <a:lnSpc>
                <a:spcPct val="150000"/>
              </a:lnSpc>
            </a:pPr>
            <a:r>
              <a:rPr lang="en-US" b="1" dirty="0">
                <a:latin typeface="Times New Roman" panose="02020603050405020304" pitchFamily="18" charset="0"/>
                <a:cs typeface="Times New Roman" panose="02020603050405020304" pitchFamily="18" charset="0"/>
              </a:rPr>
              <a:t>Layer 4</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The programs used by the user are operated in this layer, and they don’t have to worry about I/O management, operator/processes communication, memory management, or the processor allocation.</a:t>
            </a:r>
          </a:p>
          <a:p>
            <a:pPr algn="just">
              <a:lnSpc>
                <a:spcPct val="150000"/>
              </a:lnSpc>
            </a:pPr>
            <a:r>
              <a:rPr lang="en-US" sz="2800" b="1" dirty="0">
                <a:latin typeface="Times New Roman" panose="02020603050405020304" pitchFamily="18" charset="0"/>
                <a:cs typeface="Times New Roman" panose="02020603050405020304" pitchFamily="18" charset="0"/>
              </a:rPr>
              <a:t>Layer 5 </a:t>
            </a:r>
            <a:r>
              <a:rPr lang="en-US" b="0" i="0" dirty="0">
                <a:effectLst/>
                <a:latin typeface="Times New Roman" panose="02020603050405020304" pitchFamily="18" charset="0"/>
                <a:cs typeface="Times New Roman" panose="02020603050405020304" pitchFamily="18" charset="0"/>
              </a:rPr>
              <a:t>The system operator process is located in the outer most layer.</a:t>
            </a:r>
            <a:endParaRPr lang="en-US" dirty="0">
              <a:latin typeface="Times New Roman" panose="02020603050405020304" pitchFamily="18" charset="0"/>
              <a:cs typeface="Times New Roman" panose="02020603050405020304" pitchFamily="18" charset="0"/>
            </a:endParaRPr>
          </a:p>
          <a:p>
            <a:pPr algn="just">
              <a:lnSpc>
                <a:spcPct val="150000"/>
              </a:lnSpc>
            </a:pPr>
            <a:r>
              <a:rPr lang="en-US" sz="2800" dirty="0">
                <a:latin typeface="Times New Roman" panose="02020603050405020304" pitchFamily="18" charset="0"/>
                <a:cs typeface="Times New Roman" panose="02020603050405020304" pitchFamily="18" charset="0"/>
              </a:rPr>
              <a:t>This system operator controls overall of the system.</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23</a:t>
            </a:fld>
            <a:endParaRPr lang="en-US"/>
          </a:p>
        </p:txBody>
      </p:sp>
    </p:spTree>
    <p:extLst>
      <p:ext uri="{BB962C8B-B14F-4D97-AF65-F5344CB8AC3E}">
        <p14:creationId xmlns:p14="http://schemas.microsoft.com/office/powerpoint/2010/main" val="1823290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A74493-8C1A-4988-B771-F8C56D69C138}"/>
              </a:ext>
            </a:extLst>
          </p:cNvPr>
          <p:cNvSpPr>
            <a:spLocks noGrp="1"/>
          </p:cNvSpPr>
          <p:nvPr>
            <p:ph type="title"/>
          </p:nvPr>
        </p:nvSpPr>
        <p:spPr>
          <a:xfrm>
            <a:off x="838200" y="365126"/>
            <a:ext cx="10515600" cy="496266"/>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Kernel System</a:t>
            </a:r>
          </a:p>
        </p:txBody>
      </p:sp>
      <p:sp>
        <p:nvSpPr>
          <p:cNvPr id="3" name="Content Placeholder 2">
            <a:extLst>
              <a:ext uri="{FF2B5EF4-FFF2-40B4-BE49-F238E27FC236}">
                <a16:creationId xmlns="" xmlns:a16="http://schemas.microsoft.com/office/drawing/2014/main" id="{67762EA3-053C-476E-A165-461488F03E08}"/>
              </a:ext>
            </a:extLst>
          </p:cNvPr>
          <p:cNvSpPr>
            <a:spLocks noGrp="1"/>
          </p:cNvSpPr>
          <p:nvPr>
            <p:ph idx="1"/>
          </p:nvPr>
        </p:nvSpPr>
        <p:spPr>
          <a:xfrm>
            <a:off x="838200" y="861392"/>
            <a:ext cx="10515600" cy="5315571"/>
          </a:xfrm>
        </p:spPr>
        <p:txBody>
          <a:bodyPr>
            <a:normAutofit fontScale="85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Kernel is core component of Operating system without which OS can not work.</a:t>
            </a:r>
          </a:p>
          <a:p>
            <a:pPr algn="just">
              <a:lnSpc>
                <a:spcPct val="150000"/>
              </a:lnSpc>
            </a:pPr>
            <a:r>
              <a:rPr lang="en-US" dirty="0">
                <a:latin typeface="Times New Roman" panose="02020603050405020304" pitchFamily="18" charset="0"/>
                <a:cs typeface="Times New Roman" panose="02020603050405020304" pitchFamily="18" charset="0"/>
              </a:rPr>
              <a:t>Kernel is nervous system of OS</a:t>
            </a:r>
          </a:p>
          <a:p>
            <a:pPr algn="just">
              <a:lnSpc>
                <a:spcPct val="150000"/>
              </a:lnSpc>
            </a:pPr>
            <a:r>
              <a:rPr lang="en-US" dirty="0">
                <a:latin typeface="Times New Roman" panose="02020603050405020304" pitchFamily="18" charset="0"/>
                <a:cs typeface="Times New Roman" panose="02020603050405020304" pitchFamily="18" charset="0"/>
              </a:rPr>
              <a:t>It is central component of operating system that manages operation of computer and hardware.</a:t>
            </a:r>
          </a:p>
          <a:p>
            <a:pPr algn="just">
              <a:lnSpc>
                <a:spcPct val="150000"/>
              </a:lnSpc>
            </a:pPr>
            <a:r>
              <a:rPr lang="en-US" dirty="0">
                <a:latin typeface="Times New Roman" panose="02020603050405020304" pitchFamily="18" charset="0"/>
                <a:cs typeface="Times New Roman" panose="02020603050405020304" pitchFamily="18" charset="0"/>
              </a:rPr>
              <a:t>It basically manages operation of memory and CPU time.</a:t>
            </a:r>
          </a:p>
          <a:p>
            <a:pPr algn="just">
              <a:lnSpc>
                <a:spcPct val="150000"/>
              </a:lnSpc>
            </a:pPr>
            <a:r>
              <a:rPr lang="en-US" b="0" i="0" dirty="0">
                <a:effectLst/>
                <a:latin typeface="Times New Roman" panose="02020603050405020304" pitchFamily="18" charset="0"/>
                <a:cs typeface="Times New Roman" panose="02020603050405020304" pitchFamily="18" charset="0"/>
              </a:rPr>
              <a:t> Kernel acts as a bridge between applications and data processing performed at hardware level using inter-process communication and system calls.</a:t>
            </a:r>
          </a:p>
          <a:p>
            <a:pPr algn="just">
              <a:lnSpc>
                <a:spcPct val="150000"/>
              </a:lnSpc>
            </a:pPr>
            <a:r>
              <a:rPr lang="en-US" dirty="0">
                <a:latin typeface="Times New Roman" panose="02020603050405020304" pitchFamily="18" charset="0"/>
                <a:cs typeface="Times New Roman" panose="02020603050405020304" pitchFamily="18" charset="0"/>
              </a:rPr>
              <a:t>Kernel uses the system call to prepare all its function like CPU scheduling, memory management etc.</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24</a:t>
            </a:fld>
            <a:endParaRPr lang="en-US"/>
          </a:p>
        </p:txBody>
      </p:sp>
    </p:spTree>
    <p:extLst>
      <p:ext uri="{BB962C8B-B14F-4D97-AF65-F5344CB8AC3E}">
        <p14:creationId xmlns:p14="http://schemas.microsoft.com/office/powerpoint/2010/main" val="4045622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9531F49-74D6-48A9-918C-C967A1B0E1EA}"/>
              </a:ext>
            </a:extLst>
          </p:cNvPr>
          <p:cNvSpPr>
            <a:spLocks noGrp="1"/>
          </p:cNvSpPr>
          <p:nvPr>
            <p:ph idx="1"/>
          </p:nvPr>
        </p:nvSpPr>
        <p:spPr>
          <a:xfrm>
            <a:off x="838200" y="318052"/>
            <a:ext cx="10515600" cy="5858911"/>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main function of kernel are:</a:t>
            </a:r>
          </a:p>
          <a:p>
            <a:pPr lvl="1" algn="just">
              <a:lnSpc>
                <a:spcPct val="150000"/>
              </a:lnSpc>
            </a:pPr>
            <a:r>
              <a:rPr lang="en-US" sz="2000" dirty="0">
                <a:latin typeface="Times New Roman" panose="02020603050405020304" pitchFamily="18" charset="0"/>
                <a:cs typeface="Times New Roman" panose="02020603050405020304" pitchFamily="18" charset="0"/>
              </a:rPr>
              <a:t>It provides mechanism for creation and deletion of processes.</a:t>
            </a:r>
          </a:p>
          <a:p>
            <a:pPr lvl="1" algn="just">
              <a:lnSpc>
                <a:spcPct val="150000"/>
              </a:lnSpc>
            </a:pPr>
            <a:r>
              <a:rPr lang="en-US" sz="2000" dirty="0">
                <a:latin typeface="Times New Roman" panose="02020603050405020304" pitchFamily="18" charset="0"/>
                <a:cs typeface="Times New Roman" panose="02020603050405020304" pitchFamily="18" charset="0"/>
              </a:rPr>
              <a:t>It provides CPU scheduling, memory management and I/O management.</a:t>
            </a:r>
          </a:p>
          <a:p>
            <a:pPr lvl="1" algn="just">
              <a:lnSpc>
                <a:spcPct val="150000"/>
              </a:lnSpc>
            </a:pPr>
            <a:r>
              <a:rPr lang="en-US" sz="2000" dirty="0">
                <a:latin typeface="Times New Roman" panose="02020603050405020304" pitchFamily="18" charset="0"/>
                <a:cs typeface="Times New Roman" panose="02020603050405020304" pitchFamily="18" charset="0"/>
              </a:rPr>
              <a:t>It provides mechanism for inter-process communications</a:t>
            </a:r>
          </a:p>
        </p:txBody>
      </p:sp>
      <p:pic>
        <p:nvPicPr>
          <p:cNvPr id="5" name="Picture 4">
            <a:extLst>
              <a:ext uri="{FF2B5EF4-FFF2-40B4-BE49-F238E27FC236}">
                <a16:creationId xmlns="" xmlns:a16="http://schemas.microsoft.com/office/drawing/2014/main" id="{DF071DF1-1A59-43CC-8E7F-13AEE8D1013F}"/>
              </a:ext>
            </a:extLst>
          </p:cNvPr>
          <p:cNvPicPr>
            <a:picLocks noChangeAspect="1"/>
          </p:cNvPicPr>
          <p:nvPr/>
        </p:nvPicPr>
        <p:blipFill>
          <a:blip r:embed="rId2"/>
          <a:stretch>
            <a:fillRect/>
          </a:stretch>
        </p:blipFill>
        <p:spPr>
          <a:xfrm>
            <a:off x="1205948" y="2584175"/>
            <a:ext cx="8666921" cy="3206508"/>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25</a:t>
            </a:fld>
            <a:endParaRPr lang="en-US"/>
          </a:p>
        </p:txBody>
      </p:sp>
    </p:spTree>
    <p:extLst>
      <p:ext uri="{BB962C8B-B14F-4D97-AF65-F5344CB8AC3E}">
        <p14:creationId xmlns:p14="http://schemas.microsoft.com/office/powerpoint/2010/main" val="3703873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BF04A5-BD5E-445B-B9B2-DB4F84EEEA0D}"/>
              </a:ext>
            </a:extLst>
          </p:cNvPr>
          <p:cNvSpPr>
            <a:spLocks noGrp="1"/>
          </p:cNvSpPr>
          <p:nvPr>
            <p:ph type="title"/>
          </p:nvPr>
        </p:nvSpPr>
        <p:spPr>
          <a:xfrm>
            <a:off x="838200" y="365126"/>
            <a:ext cx="10515600" cy="310735"/>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Types of kernel</a:t>
            </a:r>
          </a:p>
        </p:txBody>
      </p:sp>
      <p:sp>
        <p:nvSpPr>
          <p:cNvPr id="3" name="Content Placeholder 2">
            <a:extLst>
              <a:ext uri="{FF2B5EF4-FFF2-40B4-BE49-F238E27FC236}">
                <a16:creationId xmlns="" xmlns:a16="http://schemas.microsoft.com/office/drawing/2014/main" id="{D90AEC76-4E8C-4E66-8BE4-3F2A746AED9D}"/>
              </a:ext>
            </a:extLst>
          </p:cNvPr>
          <p:cNvSpPr>
            <a:spLocks noGrp="1"/>
          </p:cNvSpPr>
          <p:nvPr>
            <p:ph idx="1"/>
          </p:nvPr>
        </p:nvSpPr>
        <p:spPr>
          <a:xfrm>
            <a:off x="569843" y="768626"/>
            <a:ext cx="10999305" cy="5724247"/>
          </a:xfrm>
        </p:spPr>
        <p:txBody>
          <a:bodyPr>
            <a:normAutofit fontScale="62500" lnSpcReduction="20000"/>
          </a:bodyPr>
          <a:lstStyle/>
          <a:p>
            <a:pPr algn="just">
              <a:lnSpc>
                <a:spcPct val="160000"/>
              </a:lnSpc>
            </a:pPr>
            <a:r>
              <a:rPr lang="en-US" dirty="0">
                <a:latin typeface="Times New Roman" panose="02020603050405020304" pitchFamily="18" charset="0"/>
                <a:cs typeface="Times New Roman" panose="02020603050405020304" pitchFamily="18" charset="0"/>
              </a:rPr>
              <a:t>There are mainly two types of kernel.</a:t>
            </a:r>
          </a:p>
          <a:p>
            <a:pPr lvl="1" algn="just">
              <a:lnSpc>
                <a:spcPct val="160000"/>
              </a:lnSpc>
            </a:pPr>
            <a:r>
              <a:rPr lang="en-US" sz="2900" b="1" dirty="0">
                <a:latin typeface="Times New Roman" panose="02020603050405020304" pitchFamily="18" charset="0"/>
                <a:cs typeface="Times New Roman" panose="02020603050405020304" pitchFamily="18" charset="0"/>
              </a:rPr>
              <a:t>Monolithic/Macro kernel</a:t>
            </a:r>
          </a:p>
          <a:p>
            <a:pPr lvl="1" algn="just">
              <a:lnSpc>
                <a:spcPct val="160000"/>
              </a:lnSpc>
            </a:pPr>
            <a:r>
              <a:rPr lang="en-US" sz="2900" b="1" dirty="0">
                <a:latin typeface="Times New Roman" panose="02020603050405020304" pitchFamily="18" charset="0"/>
                <a:cs typeface="Times New Roman" panose="02020603050405020304" pitchFamily="18" charset="0"/>
              </a:rPr>
              <a:t>Micro / Exo-kernel</a:t>
            </a:r>
          </a:p>
          <a:p>
            <a:pPr marL="0" indent="0" algn="just">
              <a:lnSpc>
                <a:spcPct val="160000"/>
              </a:lnSpc>
              <a:buNone/>
            </a:pPr>
            <a:r>
              <a:rPr lang="en-US" b="1" u="sng" dirty="0">
                <a:latin typeface="Times New Roman" panose="02020603050405020304" pitchFamily="18" charset="0"/>
                <a:cs typeface="Times New Roman" panose="02020603050405020304" pitchFamily="18" charset="0"/>
              </a:rPr>
              <a:t>Monolithic/Macro kernel</a:t>
            </a:r>
            <a:r>
              <a:rPr lang="en-US" b="1" dirty="0">
                <a:latin typeface="Times New Roman" panose="02020603050405020304" pitchFamily="18" charset="0"/>
                <a:cs typeface="Times New Roman" panose="02020603050405020304" pitchFamily="18" charset="0"/>
              </a:rPr>
              <a:t>:</a:t>
            </a:r>
          </a:p>
          <a:p>
            <a:pPr algn="just">
              <a:lnSpc>
                <a:spcPct val="160000"/>
              </a:lnSpc>
            </a:pPr>
            <a:r>
              <a:rPr lang="en-US" dirty="0">
                <a:latin typeface="Times New Roman" panose="02020603050405020304" pitchFamily="18" charset="0"/>
                <a:cs typeface="Times New Roman" panose="02020603050405020304" pitchFamily="18" charset="0"/>
              </a:rPr>
              <a:t>It is traditional or older approach of kernel deign.</a:t>
            </a:r>
          </a:p>
          <a:p>
            <a:pPr algn="just">
              <a:lnSpc>
                <a:spcPct val="160000"/>
              </a:lnSpc>
            </a:pPr>
            <a:r>
              <a:rPr lang="en-US" dirty="0">
                <a:latin typeface="Times New Roman" panose="02020603050405020304" pitchFamily="18" charset="0"/>
                <a:cs typeface="Times New Roman" panose="02020603050405020304" pitchFamily="18" charset="0"/>
              </a:rPr>
              <a:t>In monolithic kernel every basic system series like process and memory management, interrupt handling  and  I/O communication, file system run in kernel space.</a:t>
            </a:r>
          </a:p>
          <a:p>
            <a:pPr algn="just">
              <a:lnSpc>
                <a:spcPct val="160000"/>
              </a:lnSpc>
            </a:pPr>
            <a:r>
              <a:rPr lang="en-US" dirty="0">
                <a:latin typeface="Times New Roman" panose="02020603050405020304" pitchFamily="18" charset="0"/>
                <a:cs typeface="Times New Roman" panose="02020603050405020304" pitchFamily="18" charset="0"/>
              </a:rPr>
              <a:t>Every component of operating system is contained in the kernel and can directly communicate with each other by using function call.</a:t>
            </a:r>
          </a:p>
          <a:p>
            <a:pPr algn="just">
              <a:lnSpc>
                <a:spcPct val="160000"/>
              </a:lnSpc>
            </a:pPr>
            <a:r>
              <a:rPr lang="en-US" dirty="0">
                <a:latin typeface="Times New Roman" panose="02020603050405020304" pitchFamily="18" charset="0"/>
                <a:cs typeface="Times New Roman" panose="02020603050405020304" pitchFamily="18" charset="0"/>
              </a:rPr>
              <a:t>Kernel typically executes with unrestricted access to the computer system</a:t>
            </a:r>
          </a:p>
          <a:p>
            <a:pPr algn="just">
              <a:lnSpc>
                <a:spcPct val="160000"/>
              </a:lnSpc>
            </a:pPr>
            <a:r>
              <a:rPr lang="en-US" dirty="0">
                <a:latin typeface="Times New Roman" panose="02020603050405020304" pitchFamily="18" charset="0"/>
                <a:cs typeface="Times New Roman" panose="02020603050405020304" pitchFamily="18" charset="0"/>
              </a:rPr>
              <a:t>This approach provides rich and powerful hardware access.</a:t>
            </a:r>
          </a:p>
          <a:p>
            <a:pPr algn="just">
              <a:lnSpc>
                <a:spcPct val="160000"/>
              </a:lnSpc>
            </a:pPr>
            <a:r>
              <a:rPr lang="en-US" dirty="0">
                <a:latin typeface="Times New Roman" panose="02020603050405020304" pitchFamily="18" charset="0"/>
                <a:cs typeface="Times New Roman" panose="02020603050405020304" pitchFamily="18" charset="0"/>
              </a:rPr>
              <a:t>Ex: Linux, UNIX, open VMS etc.</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26</a:t>
            </a:fld>
            <a:endParaRPr lang="en-US"/>
          </a:p>
        </p:txBody>
      </p:sp>
    </p:spTree>
    <p:extLst>
      <p:ext uri="{BB962C8B-B14F-4D97-AF65-F5344CB8AC3E}">
        <p14:creationId xmlns:p14="http://schemas.microsoft.com/office/powerpoint/2010/main" val="1699840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5147451-9D77-47A9-B529-1853BA4D6CBE}"/>
              </a:ext>
            </a:extLst>
          </p:cNvPr>
          <p:cNvSpPr>
            <a:spLocks noGrp="1"/>
          </p:cNvSpPr>
          <p:nvPr>
            <p:ph idx="1"/>
          </p:nvPr>
        </p:nvSpPr>
        <p:spPr>
          <a:xfrm>
            <a:off x="838199" y="304800"/>
            <a:ext cx="10833651" cy="5872163"/>
          </a:xfrm>
        </p:spPr>
        <p:txBody>
          <a:bodyPr>
            <a:normAutofit/>
          </a:body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Advantage:</a:t>
            </a:r>
          </a:p>
          <a:p>
            <a:pPr algn="just">
              <a:lnSpc>
                <a:spcPct val="150000"/>
              </a:lnSpc>
            </a:pPr>
            <a:r>
              <a:rPr lang="en-US" sz="2000" dirty="0">
                <a:latin typeface="Times New Roman" panose="02020603050405020304" pitchFamily="18" charset="0"/>
                <a:cs typeface="Times New Roman" panose="02020603050405020304" pitchFamily="18" charset="0"/>
              </a:rPr>
              <a:t>The execution of monolithic kernel is quite fast.</a:t>
            </a:r>
          </a:p>
          <a:p>
            <a:pPr algn="just">
              <a:lnSpc>
                <a:spcPct val="150000"/>
              </a:lnSpc>
            </a:pPr>
            <a:r>
              <a:rPr lang="en-US" sz="2000" dirty="0">
                <a:latin typeface="Times New Roman" panose="02020603050405020304" pitchFamily="18" charset="0"/>
                <a:cs typeface="Times New Roman" panose="02020603050405020304" pitchFamily="18" charset="0"/>
              </a:rPr>
              <a:t>Smaller in source and compile forms.</a:t>
            </a:r>
          </a:p>
          <a:p>
            <a:pPr algn="just">
              <a:lnSpc>
                <a:spcPct val="150000"/>
              </a:lnSpc>
            </a:pPr>
            <a:r>
              <a:rPr lang="en-US" sz="2000" dirty="0">
                <a:latin typeface="Times New Roman" panose="02020603050405020304" pitchFamily="18" charset="0"/>
                <a:cs typeface="Times New Roman" panose="02020603050405020304" pitchFamily="18" charset="0"/>
              </a:rPr>
              <a:t>System call are used to do operation</a:t>
            </a:r>
          </a:p>
          <a:p>
            <a:pPr algn="just">
              <a:lnSpc>
                <a:spcPct val="150000"/>
              </a:lnSpc>
            </a:pPr>
            <a:r>
              <a:rPr lang="en-US" sz="2000" dirty="0">
                <a:latin typeface="Times New Roman" panose="02020603050405020304" pitchFamily="18" charset="0"/>
                <a:cs typeface="Times New Roman" panose="02020603050405020304" pitchFamily="18" charset="0"/>
              </a:rPr>
              <a:t>Less code generally means fewer bugs and security problem is also less.</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Disadvantage:</a:t>
            </a:r>
          </a:p>
          <a:p>
            <a:pPr algn="just">
              <a:lnSpc>
                <a:spcPct val="150000"/>
              </a:lnSpc>
            </a:pPr>
            <a:r>
              <a:rPr lang="en-US" sz="2000" dirty="0">
                <a:latin typeface="Times New Roman" panose="02020603050405020304" pitchFamily="18" charset="0"/>
                <a:cs typeface="Times New Roman" panose="02020603050405020304" pitchFamily="18" charset="0"/>
              </a:rPr>
              <a:t>Coding in kernel space is hard.</a:t>
            </a:r>
          </a:p>
          <a:p>
            <a:pPr algn="just">
              <a:lnSpc>
                <a:spcPct val="150000"/>
              </a:lnSpc>
            </a:pPr>
            <a:r>
              <a:rPr lang="en-US" sz="2000" dirty="0">
                <a:latin typeface="Times New Roman" panose="02020603050405020304" pitchFamily="18" charset="0"/>
                <a:cs typeface="Times New Roman" panose="02020603050405020304" pitchFamily="18" charset="0"/>
              </a:rPr>
              <a:t>Debugging is harder.</a:t>
            </a:r>
          </a:p>
          <a:p>
            <a:pPr algn="just">
              <a:lnSpc>
                <a:spcPct val="150000"/>
              </a:lnSpc>
            </a:pPr>
            <a:r>
              <a:rPr lang="en-US" sz="2000" dirty="0">
                <a:latin typeface="Times New Roman" panose="02020603050405020304" pitchFamily="18" charset="0"/>
                <a:cs typeface="Times New Roman" panose="02020603050405020304" pitchFamily="18" charset="0"/>
              </a:rPr>
              <a:t>Monolithic kernel must be written for each new architecture that the OS to be used.</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5F6654D2-EE3B-4745-9D7A-590B18F301C7}"/>
              </a:ext>
            </a:extLst>
          </p:cNvPr>
          <p:cNvPicPr>
            <a:picLocks noChangeAspect="1"/>
          </p:cNvPicPr>
          <p:nvPr/>
        </p:nvPicPr>
        <p:blipFill>
          <a:blip r:embed="rId2"/>
          <a:stretch>
            <a:fillRect/>
          </a:stretch>
        </p:blipFill>
        <p:spPr>
          <a:xfrm>
            <a:off x="8640415" y="516836"/>
            <a:ext cx="3031435" cy="4438650"/>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27</a:t>
            </a:fld>
            <a:endParaRPr lang="en-US"/>
          </a:p>
        </p:txBody>
      </p:sp>
    </p:spTree>
    <p:extLst>
      <p:ext uri="{BB962C8B-B14F-4D97-AF65-F5344CB8AC3E}">
        <p14:creationId xmlns:p14="http://schemas.microsoft.com/office/powerpoint/2010/main" val="1210115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065AFF4-6591-4181-92D0-B2FAF60C4ED0}"/>
              </a:ext>
            </a:extLst>
          </p:cNvPr>
          <p:cNvSpPr>
            <a:spLocks noGrp="1"/>
          </p:cNvSpPr>
          <p:nvPr>
            <p:ph idx="1"/>
          </p:nvPr>
        </p:nvSpPr>
        <p:spPr>
          <a:xfrm>
            <a:off x="838200" y="278296"/>
            <a:ext cx="10515600" cy="5898667"/>
          </a:xfrm>
        </p:spPr>
        <p:txBody>
          <a:bodyPr>
            <a:normAutofit fontScale="92500" lnSpcReduction="20000"/>
          </a:bodyPr>
          <a:lstStyle/>
          <a:p>
            <a:pPr marL="0" indent="0" algn="just">
              <a:lnSpc>
                <a:spcPct val="150000"/>
              </a:lnSpc>
              <a:buNone/>
            </a:pPr>
            <a:r>
              <a:rPr lang="en-US" sz="2800" b="1" u="sng" dirty="0">
                <a:latin typeface="Times New Roman" panose="02020603050405020304" pitchFamily="18" charset="0"/>
                <a:cs typeface="Times New Roman" panose="02020603050405020304" pitchFamily="18" charset="0"/>
              </a:rPr>
              <a:t>Micro / Exo-kernel</a:t>
            </a:r>
          </a:p>
          <a:p>
            <a:pPr algn="just">
              <a:lnSpc>
                <a:spcPct val="150000"/>
              </a:lnSpc>
            </a:pPr>
            <a:r>
              <a:rPr lang="en-US" sz="2800" dirty="0">
                <a:latin typeface="Times New Roman" panose="02020603050405020304" pitchFamily="18" charset="0"/>
                <a:cs typeface="Times New Roman" panose="02020603050405020304" pitchFamily="18" charset="0"/>
              </a:rPr>
              <a:t>In a microkernel, the kernel provides basic functionality such as IPC, memory management and scheduling </a:t>
            </a:r>
            <a:r>
              <a:rPr lang="en-US" sz="2800" dirty="0" err="1">
                <a:latin typeface="Times New Roman" panose="02020603050405020304" pitchFamily="18" charset="0"/>
                <a:cs typeface="Times New Roman" panose="02020603050405020304" pitchFamily="18" charset="0"/>
              </a:rPr>
              <a:t>etc</a:t>
            </a:r>
            <a:r>
              <a:rPr lang="en-US" sz="2800" dirty="0">
                <a:latin typeface="Times New Roman" panose="02020603050405020304" pitchFamily="18" charset="0"/>
                <a:cs typeface="Times New Roman" panose="02020603050405020304" pitchFamily="18" charset="0"/>
              </a:rPr>
              <a:t> that allows execution of server and separate program.</a:t>
            </a:r>
          </a:p>
          <a:p>
            <a:pPr algn="just">
              <a:lnSpc>
                <a:spcPct val="150000"/>
              </a:lnSpc>
            </a:pPr>
            <a:r>
              <a:rPr lang="en-US" dirty="0">
                <a:latin typeface="Times New Roman" panose="02020603050405020304" pitchFamily="18" charset="0"/>
                <a:cs typeface="Times New Roman" panose="02020603050405020304" pitchFamily="18" charset="0"/>
              </a:rPr>
              <a:t>The kernel is broken into separate processes known as server. Some of server run in user space and some in kernel space.</a:t>
            </a:r>
          </a:p>
          <a:p>
            <a:pPr algn="just">
              <a:lnSpc>
                <a:spcPct val="150000"/>
              </a:lnSpc>
            </a:pPr>
            <a:r>
              <a:rPr lang="en-US" sz="2800" dirty="0">
                <a:latin typeface="Times New Roman" panose="02020603050405020304" pitchFamily="18" charset="0"/>
                <a:cs typeface="Times New Roman" panose="02020603050405020304" pitchFamily="18" charset="0"/>
              </a:rPr>
              <a:t>The communication in microkernel is done via message passing. The server communicate through </a:t>
            </a:r>
            <a:r>
              <a:rPr lang="en-US"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nterprocess communication.</a:t>
            </a:r>
          </a:p>
          <a:p>
            <a:pPr algn="just">
              <a:lnSpc>
                <a:spcPct val="150000"/>
              </a:lnSpc>
            </a:pPr>
            <a:r>
              <a:rPr lang="en-US" dirty="0">
                <a:latin typeface="Times New Roman" panose="02020603050405020304" pitchFamily="18" charset="0"/>
                <a:cs typeface="Times New Roman" panose="02020603050405020304" pitchFamily="18" charset="0"/>
              </a:rPr>
              <a:t>Server invoke “services” from each other by sending message.</a:t>
            </a:r>
          </a:p>
          <a:p>
            <a:pPr algn="just">
              <a:lnSpc>
                <a:spcPct val="150000"/>
              </a:lnSpc>
            </a:pPr>
            <a:r>
              <a:rPr lang="en-US" sz="2800" dirty="0">
                <a:latin typeface="Times New Roman" panose="02020603050405020304" pitchFamily="18" charset="0"/>
                <a:cs typeface="Times New Roman" panose="02020603050405020304" pitchFamily="18" charset="0"/>
              </a:rPr>
              <a:t>If a service fails , the rest of OS work fine.</a:t>
            </a:r>
          </a:p>
          <a:p>
            <a:pPr marL="0" indent="0" algn="just">
              <a:lnSpc>
                <a:spcPct val="150000"/>
              </a:lnSpc>
              <a:buNone/>
            </a:pPr>
            <a:endParaRPr lang="en-US" dirty="0"/>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28</a:t>
            </a:fld>
            <a:endParaRPr lang="en-US"/>
          </a:p>
        </p:txBody>
      </p:sp>
    </p:spTree>
    <p:extLst>
      <p:ext uri="{BB962C8B-B14F-4D97-AF65-F5344CB8AC3E}">
        <p14:creationId xmlns:p14="http://schemas.microsoft.com/office/powerpoint/2010/main" val="3148910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58FDEBC-C365-4DF6-A9D5-B3ADE11B4A59}"/>
              </a:ext>
            </a:extLst>
          </p:cNvPr>
          <p:cNvSpPr>
            <a:spLocks noGrp="1"/>
          </p:cNvSpPr>
          <p:nvPr>
            <p:ph idx="1"/>
          </p:nvPr>
        </p:nvSpPr>
        <p:spPr>
          <a:xfrm>
            <a:off x="838200" y="410817"/>
            <a:ext cx="10515600" cy="5766146"/>
          </a:xfrm>
        </p:spPr>
        <p:txBody>
          <a:bodyPr/>
          <a:lstStyle/>
          <a:p>
            <a:pPr marL="0" indent="0">
              <a:buNone/>
            </a:pPr>
            <a:r>
              <a:rPr lang="en-US" b="1" dirty="0">
                <a:latin typeface="Times New Roman" panose="02020603050405020304" pitchFamily="18" charset="0"/>
                <a:cs typeface="Times New Roman" panose="02020603050405020304" pitchFamily="18" charset="0"/>
              </a:rPr>
              <a:t>Advantage:</a:t>
            </a:r>
          </a:p>
          <a:p>
            <a:r>
              <a:rPr lang="en-US" dirty="0">
                <a:latin typeface="Times New Roman" panose="02020603050405020304" pitchFamily="18" charset="0"/>
                <a:cs typeface="Times New Roman" panose="02020603050405020304" pitchFamily="18" charset="0"/>
              </a:rPr>
              <a:t>Smaller in size.</a:t>
            </a:r>
          </a:p>
          <a:p>
            <a:r>
              <a:rPr lang="en-US" dirty="0">
                <a:latin typeface="Times New Roman" panose="02020603050405020304" pitchFamily="18" charset="0"/>
                <a:cs typeface="Times New Roman" panose="02020603050405020304" pitchFamily="18" charset="0"/>
              </a:rPr>
              <a:t>Easy to maintain</a:t>
            </a:r>
          </a:p>
          <a:p>
            <a:r>
              <a:rPr lang="en-US" dirty="0">
                <a:latin typeface="Times New Roman" panose="02020603050405020304" pitchFamily="18" charset="0"/>
                <a:cs typeface="Times New Roman" panose="02020603050405020304" pitchFamily="18" charset="0"/>
              </a:rPr>
              <a:t>New services can be added easily.</a:t>
            </a:r>
          </a:p>
          <a:p>
            <a:r>
              <a:rPr lang="en-US" dirty="0">
                <a:latin typeface="Times New Roman" panose="02020603050405020304" pitchFamily="18" charset="0"/>
                <a:cs typeface="Times New Roman" panose="02020603050405020304" pitchFamily="18" charset="0"/>
              </a:rPr>
              <a:t>Portable.</a:t>
            </a:r>
          </a:p>
          <a:p>
            <a:r>
              <a:rPr lang="en-US" dirty="0">
                <a:latin typeface="Times New Roman" panose="02020603050405020304" pitchFamily="18" charset="0"/>
                <a:cs typeface="Times New Roman" panose="02020603050405020304" pitchFamily="18" charset="0"/>
              </a:rPr>
              <a:t>Crash resistant.</a:t>
            </a:r>
          </a:p>
          <a:p>
            <a:pPr marL="0" indent="0">
              <a:buNone/>
            </a:pPr>
            <a:r>
              <a:rPr lang="en-US" b="1" dirty="0">
                <a:latin typeface="Times New Roman" panose="02020603050405020304" pitchFamily="18" charset="0"/>
                <a:cs typeface="Times New Roman" panose="02020603050405020304" pitchFamily="18" charset="0"/>
              </a:rPr>
              <a:t>Disadvantage</a:t>
            </a:r>
          </a:p>
          <a:p>
            <a:r>
              <a:rPr lang="en-US" dirty="0">
                <a:latin typeface="Times New Roman" panose="02020603050405020304" pitchFamily="18" charset="0"/>
                <a:cs typeface="Times New Roman" panose="02020603050405020304" pitchFamily="18" charset="0"/>
              </a:rPr>
              <a:t>Service provided by microkernel is expensive.</a:t>
            </a:r>
          </a:p>
          <a:p>
            <a:r>
              <a:rPr lang="en-US" dirty="0">
                <a:latin typeface="Times New Roman" panose="02020603050405020304" pitchFamily="18" charset="0"/>
                <a:cs typeface="Times New Roman" panose="02020603050405020304" pitchFamily="18" charset="0"/>
              </a:rPr>
              <a:t>Execution is slow.</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C93EDB8D-7085-4810-B976-3C58BA499606}"/>
              </a:ext>
            </a:extLst>
          </p:cNvPr>
          <p:cNvPicPr>
            <a:picLocks noChangeAspect="1"/>
          </p:cNvPicPr>
          <p:nvPr/>
        </p:nvPicPr>
        <p:blipFill>
          <a:blip r:embed="rId2"/>
          <a:stretch>
            <a:fillRect/>
          </a:stretch>
        </p:blipFill>
        <p:spPr>
          <a:xfrm>
            <a:off x="7832035" y="341242"/>
            <a:ext cx="3405809" cy="5171661"/>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29</a:t>
            </a:fld>
            <a:endParaRPr lang="en-US"/>
          </a:p>
        </p:txBody>
      </p:sp>
    </p:spTree>
    <p:extLst>
      <p:ext uri="{BB962C8B-B14F-4D97-AF65-F5344CB8AC3E}">
        <p14:creationId xmlns:p14="http://schemas.microsoft.com/office/powerpoint/2010/main" val="1003090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C5803-3814-4AFF-A2A1-95703475AC2A}"/>
              </a:ext>
            </a:extLst>
          </p:cNvPr>
          <p:cNvSpPr>
            <a:spLocks noGrp="1"/>
          </p:cNvSpPr>
          <p:nvPr>
            <p:ph type="title"/>
          </p:nvPr>
        </p:nvSpPr>
        <p:spPr>
          <a:xfrm>
            <a:off x="838200" y="365126"/>
            <a:ext cx="10515600" cy="496266"/>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Client server Model</a:t>
            </a:r>
          </a:p>
        </p:txBody>
      </p:sp>
      <p:sp>
        <p:nvSpPr>
          <p:cNvPr id="3" name="Content Placeholder 2">
            <a:extLst>
              <a:ext uri="{FF2B5EF4-FFF2-40B4-BE49-F238E27FC236}">
                <a16:creationId xmlns="" xmlns:a16="http://schemas.microsoft.com/office/drawing/2014/main" id="{8B71C754-D97E-4BED-9C55-24C1D5FD6AEB}"/>
              </a:ext>
            </a:extLst>
          </p:cNvPr>
          <p:cNvSpPr>
            <a:spLocks noGrp="1"/>
          </p:cNvSpPr>
          <p:nvPr>
            <p:ph idx="1"/>
          </p:nvPr>
        </p:nvSpPr>
        <p:spPr>
          <a:xfrm>
            <a:off x="397565" y="861392"/>
            <a:ext cx="11290851" cy="5631482"/>
          </a:xfrm>
        </p:spPr>
        <p:txBody>
          <a:bodyPr>
            <a:normAutofit/>
          </a:bodyPr>
          <a:lstStyle/>
          <a:p>
            <a:pPr>
              <a:lnSpc>
                <a:spcPct val="150000"/>
              </a:lnSpc>
            </a:pPr>
            <a:r>
              <a:rPr lang="en-US" sz="2400" b="0" i="0" u="none" strike="noStrike" baseline="0" dirty="0">
                <a:latin typeface="Times New Roman" panose="02020603050405020304" pitchFamily="18" charset="0"/>
                <a:cs typeface="Times New Roman" panose="02020603050405020304" pitchFamily="18" charset="0"/>
              </a:rPr>
              <a:t>One of the recent advances in computing is the idea of a client/server model .</a:t>
            </a:r>
          </a:p>
          <a:p>
            <a:pPr>
              <a:lnSpc>
                <a:spcPct val="150000"/>
              </a:lnSpc>
            </a:pPr>
            <a:r>
              <a:rPr lang="en-US" sz="2400" b="0" i="0" u="none" strike="noStrike" baseline="0" dirty="0">
                <a:latin typeface="Times New Roman" panose="02020603050405020304" pitchFamily="18" charset="0"/>
                <a:cs typeface="Times New Roman" panose="02020603050405020304" pitchFamily="18" charset="0"/>
              </a:rPr>
              <a:t>A server provides services to any client that requests it. </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0" i="0" u="none" strike="noStrike" baseline="0" dirty="0">
                <a:latin typeface="Times New Roman" panose="02020603050405020304" pitchFamily="18" charset="0"/>
                <a:cs typeface="Times New Roman" panose="02020603050405020304" pitchFamily="18" charset="0"/>
              </a:rPr>
              <a:t>This model is heavily used in distributed systems where a central computer acts as a server to many other computers. </a:t>
            </a:r>
          </a:p>
          <a:p>
            <a:pPr>
              <a:lnSpc>
                <a:spcPct val="150000"/>
              </a:lnSpc>
            </a:pPr>
            <a:r>
              <a:rPr lang="en-US" sz="2400" dirty="0">
                <a:latin typeface="Times New Roman" panose="02020603050405020304" pitchFamily="18" charset="0"/>
                <a:cs typeface="Times New Roman" panose="02020603050405020304" pitchFamily="18" charset="0"/>
              </a:rPr>
              <a:t>In this model, kernel handles the communication between the client and servers.</a:t>
            </a:r>
          </a:p>
          <a:p>
            <a:pPr>
              <a:lnSpc>
                <a:spcPct val="150000"/>
              </a:lnSpc>
            </a:pPr>
            <a:r>
              <a:rPr lang="en-US" sz="2400" b="0" i="0" dirty="0">
                <a:effectLst/>
                <a:latin typeface="Times New Roman" panose="02020603050405020304" pitchFamily="18" charset="0"/>
                <a:cs typeface="Times New Roman" panose="02020603050405020304" pitchFamily="18" charset="0"/>
              </a:rPr>
              <a:t>operating system (OS)  is splitting up into parts, each of which only handles one fact of the system, such as file service, terminal service, process service, or memory service, each part becomes small and manageable.</a:t>
            </a:r>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30</a:t>
            </a:fld>
            <a:endParaRPr lang="en-US"/>
          </a:p>
        </p:txBody>
      </p:sp>
    </p:spTree>
    <p:extLst>
      <p:ext uri="{BB962C8B-B14F-4D97-AF65-F5344CB8AC3E}">
        <p14:creationId xmlns:p14="http://schemas.microsoft.com/office/powerpoint/2010/main" val="2115098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4B527F0-189A-453D-9899-0774A3D93171}"/>
              </a:ext>
            </a:extLst>
          </p:cNvPr>
          <p:cNvSpPr>
            <a:spLocks noGrp="1"/>
          </p:cNvSpPr>
          <p:nvPr>
            <p:ph idx="1"/>
          </p:nvPr>
        </p:nvSpPr>
        <p:spPr>
          <a:xfrm>
            <a:off x="838200" y="397565"/>
            <a:ext cx="10515600" cy="5779398"/>
          </a:xfrm>
        </p:spPr>
        <p:txBody>
          <a:bodyPr>
            <a:normAutofit/>
          </a:bodyPr>
          <a:lstStyle/>
          <a:p>
            <a:pPr marL="0" indent="0" algn="just">
              <a:lnSpc>
                <a:spcPct val="150000"/>
              </a:lnSpc>
              <a:buNone/>
            </a:pPr>
            <a:r>
              <a:rPr lang="en-US" sz="2400" b="1" u="sng" dirty="0">
                <a:latin typeface="Times New Roman" panose="02020603050405020304" pitchFamily="18" charset="0"/>
                <a:cs typeface="Times New Roman" panose="02020603050405020304" pitchFamily="18" charset="0"/>
              </a:rPr>
              <a:t>Advantage:</a:t>
            </a:r>
          </a:p>
          <a:p>
            <a:pPr algn="just">
              <a:lnSpc>
                <a:spcPct val="15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It can result in a minimal kernel.</a:t>
            </a: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it’s adaptability to user in distributed system</a:t>
            </a:r>
          </a:p>
          <a:p>
            <a:pPr algn="just">
              <a:lnSpc>
                <a:spcPct val="150000"/>
              </a:lnSpc>
            </a:pPr>
            <a:r>
              <a:rPr lang="en-US" sz="2400" dirty="0">
                <a:latin typeface="Times New Roman" panose="02020603050405020304" pitchFamily="18" charset="0"/>
                <a:cs typeface="Times New Roman" panose="02020603050405020304" pitchFamily="18" charset="0"/>
              </a:rPr>
              <a:t>Crash resistant.</a:t>
            </a:r>
          </a:p>
          <a:p>
            <a:pPr marL="0" indent="0" algn="just">
              <a:lnSpc>
                <a:spcPct val="150000"/>
              </a:lnSpc>
              <a:buNone/>
            </a:pPr>
            <a:r>
              <a:rPr lang="en-US" sz="2400" b="1" u="sng" dirty="0">
                <a:solidFill>
                  <a:srgbClr val="000000"/>
                </a:solidFill>
                <a:latin typeface="Times New Roman" panose="02020603050405020304" pitchFamily="18" charset="0"/>
                <a:cs typeface="Times New Roman" panose="02020603050405020304" pitchFamily="18" charset="0"/>
              </a:rPr>
              <a:t>Disadvantage:</a:t>
            </a: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Security problem</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overloading</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0" indent="0" algn="just">
              <a:lnSpc>
                <a:spcPct val="150000"/>
              </a:lnSpc>
              <a:buNone/>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4FA2B64F-B2E5-4F03-A0CE-F31D3309C3FF}"/>
              </a:ext>
            </a:extLst>
          </p:cNvPr>
          <p:cNvPicPr>
            <a:picLocks noChangeAspect="1"/>
          </p:cNvPicPr>
          <p:nvPr/>
        </p:nvPicPr>
        <p:blipFill>
          <a:blip r:embed="rId2"/>
          <a:stretch>
            <a:fillRect/>
          </a:stretch>
        </p:blipFill>
        <p:spPr>
          <a:xfrm>
            <a:off x="4386469" y="2372140"/>
            <a:ext cx="6967331" cy="3804824"/>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31</a:t>
            </a:fld>
            <a:endParaRPr lang="en-US"/>
          </a:p>
        </p:txBody>
      </p:sp>
    </p:spTree>
    <p:extLst>
      <p:ext uri="{BB962C8B-B14F-4D97-AF65-F5344CB8AC3E}">
        <p14:creationId xmlns:p14="http://schemas.microsoft.com/office/powerpoint/2010/main" val="3406957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31DEB9-C4D9-48B3-BD73-FE434CAC08DA}"/>
              </a:ext>
            </a:extLst>
          </p:cNvPr>
          <p:cNvSpPr>
            <a:spLocks noGrp="1"/>
          </p:cNvSpPr>
          <p:nvPr>
            <p:ph type="title"/>
          </p:nvPr>
        </p:nvSpPr>
        <p:spPr>
          <a:xfrm>
            <a:off x="838200" y="365126"/>
            <a:ext cx="10515600" cy="456509"/>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
            </a:r>
            <a:br>
              <a:rPr lang="en-US" b="1" dirty="0">
                <a:solidFill>
                  <a:srgbClr val="FF0000"/>
                </a:solidFill>
                <a:latin typeface="Times New Roman" panose="02020603050405020304" pitchFamily="18" charset="0"/>
                <a:cs typeface="Times New Roman" panose="02020603050405020304" pitchFamily="18" charset="0"/>
              </a:rPr>
            </a:br>
            <a:r>
              <a:rPr lang="en-US" b="1" dirty="0">
                <a:solidFill>
                  <a:srgbClr val="FF0000"/>
                </a:solidFill>
                <a:latin typeface="Times New Roman" panose="02020603050405020304" pitchFamily="18" charset="0"/>
                <a:cs typeface="Times New Roman" panose="02020603050405020304" pitchFamily="18" charset="0"/>
              </a:rPr>
              <a:t>Virtual machine</a:t>
            </a:r>
            <a:br>
              <a:rPr lang="en-US" b="1" dirty="0">
                <a:solidFill>
                  <a:srgbClr val="FF0000"/>
                </a:solidFill>
                <a:latin typeface="Times New Roman" panose="02020603050405020304" pitchFamily="18" charset="0"/>
                <a:cs typeface="Times New Roman" panose="02020603050405020304" pitchFamily="18" charset="0"/>
              </a:rPr>
            </a:br>
            <a:endParaRPr lang="en-US" dirty="0">
              <a:solidFill>
                <a:srgbClr val="FF0000"/>
              </a:solidFill>
            </a:endParaRPr>
          </a:p>
        </p:txBody>
      </p:sp>
      <p:sp>
        <p:nvSpPr>
          <p:cNvPr id="3" name="Content Placeholder 2">
            <a:extLst>
              <a:ext uri="{FF2B5EF4-FFF2-40B4-BE49-F238E27FC236}">
                <a16:creationId xmlns="" xmlns:a16="http://schemas.microsoft.com/office/drawing/2014/main" id="{45C1F187-5FAB-4320-9650-7DCD9022B0DC}"/>
              </a:ext>
            </a:extLst>
          </p:cNvPr>
          <p:cNvSpPr>
            <a:spLocks noGrp="1"/>
          </p:cNvSpPr>
          <p:nvPr>
            <p:ph idx="1"/>
          </p:nvPr>
        </p:nvSpPr>
        <p:spPr>
          <a:xfrm>
            <a:off x="838200" y="940904"/>
            <a:ext cx="10515600" cy="5236059"/>
          </a:xfrm>
        </p:spPr>
        <p:txBody>
          <a:bodyPr>
            <a:normAutofit fontScale="85000" lnSpcReduction="20000"/>
          </a:bodyPr>
          <a:lstStyle/>
          <a:p>
            <a:pPr algn="just">
              <a:lnSpc>
                <a:spcPct val="150000"/>
              </a:lnSpc>
            </a:pPr>
            <a:r>
              <a:rPr lang="en-US" b="0" i="0" dirty="0">
                <a:effectLst/>
                <a:latin typeface="Times New Roman" panose="02020603050405020304" pitchFamily="18" charset="0"/>
                <a:cs typeface="Times New Roman" panose="02020603050405020304" pitchFamily="18" charset="0"/>
              </a:rPr>
              <a:t>Virtual machine is an illusion of a real machine.</a:t>
            </a:r>
          </a:p>
          <a:p>
            <a:pPr algn="just">
              <a:lnSpc>
                <a:spcPct val="150000"/>
              </a:lnSpc>
            </a:pPr>
            <a:r>
              <a:rPr lang="en-US" b="0" i="0" dirty="0">
                <a:effectLst/>
                <a:latin typeface="Times New Roman" panose="02020603050405020304" pitchFamily="18" charset="0"/>
                <a:cs typeface="Times New Roman" panose="02020603050405020304" pitchFamily="18" charset="0"/>
              </a:rPr>
              <a:t>It is created by a real machine operating system, which make a single real machine appears to be several real machine.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0" i="0" dirty="0">
                <a:effectLst/>
                <a:latin typeface="Times New Roman" panose="02020603050405020304" pitchFamily="18" charset="0"/>
                <a:cs typeface="Times New Roman" panose="02020603050405020304" pitchFamily="18" charset="0"/>
              </a:rPr>
              <a:t> Actually, virtual machine can run several operating systems at once, each of them on its virtual machine.</a:t>
            </a:r>
          </a:p>
          <a:p>
            <a:pPr algn="just">
              <a:lnSpc>
                <a:spcPct val="150000"/>
              </a:lnSpc>
            </a:pPr>
            <a:r>
              <a:rPr lang="en-US" dirty="0">
                <a:latin typeface="Times New Roman" panose="02020603050405020304" pitchFamily="18" charset="0"/>
                <a:cs typeface="Times New Roman" panose="02020603050405020304" pitchFamily="18" charset="0"/>
              </a:rPr>
              <a:t>A virtual machine provides an interface identical to underlying bare hardware.</a:t>
            </a:r>
          </a:p>
          <a:p>
            <a:pPr algn="just">
              <a:lnSpc>
                <a:spcPct val="150000"/>
              </a:lnSpc>
            </a:pPr>
            <a:r>
              <a:rPr lang="en-US" dirty="0">
                <a:latin typeface="Times New Roman" panose="02020603050405020304" pitchFamily="18" charset="0"/>
                <a:cs typeface="Times New Roman" panose="02020603050405020304" pitchFamily="18" charset="0"/>
              </a:rPr>
              <a:t>The operating system creates illusion of multiple processes, each executing on its own processor with its own memory.</a:t>
            </a:r>
          </a:p>
          <a:p>
            <a:pPr algn="just">
              <a:lnSpc>
                <a:spcPct val="150000"/>
              </a:lnSpc>
            </a:pPr>
            <a:r>
              <a:rPr lang="en-US" dirty="0">
                <a:latin typeface="Times New Roman" panose="02020603050405020304" pitchFamily="18" charset="0"/>
                <a:cs typeface="Times New Roman" panose="02020603050405020304" pitchFamily="18" charset="0"/>
              </a:rPr>
              <a:t>The resource of the physical computer are shared to create virtual machine.</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32</a:t>
            </a:fld>
            <a:endParaRPr lang="en-US"/>
          </a:p>
        </p:txBody>
      </p:sp>
    </p:spTree>
    <p:extLst>
      <p:ext uri="{BB962C8B-B14F-4D97-AF65-F5344CB8AC3E}">
        <p14:creationId xmlns:p14="http://schemas.microsoft.com/office/powerpoint/2010/main" val="3403352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67B51B8-0402-4F81-A5BB-928CFC1651D7}"/>
              </a:ext>
            </a:extLst>
          </p:cNvPr>
          <p:cNvSpPr>
            <a:spLocks noGrp="1"/>
          </p:cNvSpPr>
          <p:nvPr>
            <p:ph idx="1"/>
          </p:nvPr>
        </p:nvSpPr>
        <p:spPr>
          <a:xfrm>
            <a:off x="838200" y="304800"/>
            <a:ext cx="10515600" cy="5872163"/>
          </a:xfrm>
        </p:spPr>
        <p:txBody>
          <a:bodyPr>
            <a:normAutofit fontScale="77500" lnSpcReduction="20000"/>
          </a:bodyPr>
          <a:lstStyle/>
          <a:p>
            <a:pPr marL="0" indent="0">
              <a:lnSpc>
                <a:spcPct val="150000"/>
              </a:lnSpc>
              <a:buNone/>
            </a:pPr>
            <a:r>
              <a:rPr lang="en-US" b="1" dirty="0">
                <a:latin typeface="Times New Roman" panose="02020603050405020304" pitchFamily="18" charset="0"/>
                <a:cs typeface="Times New Roman" panose="02020603050405020304" pitchFamily="18" charset="0"/>
              </a:rPr>
              <a:t>Advantage: </a:t>
            </a:r>
          </a:p>
          <a:p>
            <a:pPr>
              <a:lnSpc>
                <a:spcPct val="150000"/>
              </a:lnSpc>
            </a:pPr>
            <a:r>
              <a:rPr lang="en-US" dirty="0">
                <a:latin typeface="Times New Roman" panose="02020603050405020304" pitchFamily="18" charset="0"/>
                <a:cs typeface="Times New Roman" panose="02020603050405020304" pitchFamily="18" charset="0"/>
              </a:rPr>
              <a:t>Provides a robust level of </a:t>
            </a:r>
          </a:p>
          <a:p>
            <a:pPr marL="0" indent="0">
              <a:lnSpc>
                <a:spcPct val="150000"/>
              </a:lnSpc>
              <a:buNone/>
            </a:pPr>
            <a:r>
              <a:rPr lang="en-US" dirty="0">
                <a:latin typeface="Times New Roman" panose="02020603050405020304" pitchFamily="18" charset="0"/>
                <a:cs typeface="Times New Roman" panose="02020603050405020304" pitchFamily="18" charset="0"/>
              </a:rPr>
              <a:t>   Security.</a:t>
            </a:r>
          </a:p>
          <a:p>
            <a:pPr>
              <a:lnSpc>
                <a:spcPct val="150000"/>
              </a:lnSpc>
            </a:pPr>
            <a:r>
              <a:rPr lang="en-US" dirty="0">
                <a:latin typeface="Times New Roman" panose="02020603050405020304" pitchFamily="18" charset="0"/>
                <a:cs typeface="Times New Roman" panose="02020603050405020304" pitchFamily="18" charset="0"/>
              </a:rPr>
              <a:t>Allows multiple OS to run</a:t>
            </a:r>
          </a:p>
          <a:p>
            <a:pPr marL="0" indent="0">
              <a:lnSpc>
                <a:spcPct val="150000"/>
              </a:lnSpc>
              <a:buNone/>
            </a:pPr>
            <a:r>
              <a:rPr lang="en-US" dirty="0">
                <a:latin typeface="Times New Roman" panose="02020603050405020304" pitchFamily="18" charset="0"/>
                <a:cs typeface="Times New Roman" panose="02020603050405020304" pitchFamily="18" charset="0"/>
              </a:rPr>
              <a:t>   On same machine at same</a:t>
            </a:r>
          </a:p>
          <a:p>
            <a:pPr marL="0" indent="0">
              <a:lnSpc>
                <a:spcPct val="150000"/>
              </a:lnSpc>
              <a:buNone/>
            </a:pPr>
            <a:r>
              <a:rPr lang="en-US" dirty="0">
                <a:latin typeface="Times New Roman" panose="02020603050405020304" pitchFamily="18" charset="0"/>
                <a:cs typeface="Times New Roman" panose="02020603050405020304" pitchFamily="18" charset="0"/>
              </a:rPr>
              <a:t>    Time</a:t>
            </a:r>
          </a:p>
          <a:p>
            <a:pPr>
              <a:lnSpc>
                <a:spcPct val="150000"/>
              </a:lnSpc>
            </a:pPr>
            <a:r>
              <a:rPr lang="en-US" dirty="0">
                <a:latin typeface="Times New Roman" panose="02020603050405020304" pitchFamily="18" charset="0"/>
                <a:cs typeface="Times New Roman" panose="02020603050405020304" pitchFamily="18" charset="0"/>
              </a:rPr>
              <a:t>Easier to system upgrade.</a:t>
            </a:r>
          </a:p>
          <a:p>
            <a:pPr marL="0" indent="0">
              <a:lnSpc>
                <a:spcPct val="150000"/>
              </a:lnSpc>
              <a:buNone/>
            </a:pPr>
            <a:r>
              <a:rPr lang="en-US" b="1" dirty="0">
                <a:latin typeface="Times New Roman" panose="02020603050405020304" pitchFamily="18" charset="0"/>
                <a:cs typeface="Times New Roman" panose="02020603050405020304" pitchFamily="18" charset="0"/>
              </a:rPr>
              <a:t>Disadvantage:</a:t>
            </a:r>
          </a:p>
          <a:p>
            <a:pPr>
              <a:lnSpc>
                <a:spcPct val="150000"/>
              </a:lnSpc>
            </a:pPr>
            <a:r>
              <a:rPr lang="en-US" dirty="0">
                <a:latin typeface="Times New Roman" panose="02020603050405020304" pitchFamily="18" charset="0"/>
                <a:cs typeface="Times New Roman" panose="02020603050405020304" pitchFamily="18" charset="0"/>
              </a:rPr>
              <a:t>Less efficient.</a:t>
            </a:r>
          </a:p>
          <a:p>
            <a:pPr>
              <a:lnSpc>
                <a:spcPct val="150000"/>
              </a:lnSpc>
            </a:pPr>
            <a:r>
              <a:rPr lang="en-US" dirty="0">
                <a:latin typeface="Times New Roman" panose="02020603050405020304" pitchFamily="18" charset="0"/>
                <a:cs typeface="Times New Roman" panose="02020603050405020304" pitchFamily="18" charset="0"/>
              </a:rPr>
              <a:t>Difficult in sharing of hard drives</a:t>
            </a:r>
          </a:p>
        </p:txBody>
      </p:sp>
      <p:pic>
        <p:nvPicPr>
          <p:cNvPr id="6" name="Picture 5">
            <a:extLst>
              <a:ext uri="{FF2B5EF4-FFF2-40B4-BE49-F238E27FC236}">
                <a16:creationId xmlns="" xmlns:a16="http://schemas.microsoft.com/office/drawing/2014/main" id="{E59E0331-7941-4385-AAE7-F2B6F65CA350}"/>
              </a:ext>
            </a:extLst>
          </p:cNvPr>
          <p:cNvPicPr>
            <a:picLocks noChangeAspect="1"/>
          </p:cNvPicPr>
          <p:nvPr/>
        </p:nvPicPr>
        <p:blipFill>
          <a:blip r:embed="rId2"/>
          <a:stretch>
            <a:fillRect/>
          </a:stretch>
        </p:blipFill>
        <p:spPr>
          <a:xfrm>
            <a:off x="5308945" y="497577"/>
            <a:ext cx="6238875" cy="4219575"/>
          </a:xfrm>
          <a:prstGeom prst="rect">
            <a:avLst/>
          </a:prstGeom>
        </p:spPr>
      </p:pic>
      <p:sp>
        <p:nvSpPr>
          <p:cNvPr id="8" name="TextBox 7">
            <a:extLst>
              <a:ext uri="{FF2B5EF4-FFF2-40B4-BE49-F238E27FC236}">
                <a16:creationId xmlns="" xmlns:a16="http://schemas.microsoft.com/office/drawing/2014/main" id="{5AC6F5E5-34F1-4643-B1EA-899B659214C5}"/>
              </a:ext>
            </a:extLst>
          </p:cNvPr>
          <p:cNvSpPr txBox="1"/>
          <p:nvPr/>
        </p:nvSpPr>
        <p:spPr>
          <a:xfrm>
            <a:off x="5308945" y="4717152"/>
            <a:ext cx="2112272" cy="369332"/>
          </a:xfrm>
          <a:prstGeom prst="rect">
            <a:avLst/>
          </a:prstGeom>
          <a:noFill/>
        </p:spPr>
        <p:txBody>
          <a:bodyPr wrap="square" rtlCol="0">
            <a:spAutoFit/>
          </a:bodyPr>
          <a:lstStyle/>
          <a:p>
            <a:r>
              <a:rPr lang="en-US" dirty="0"/>
              <a:t>Non Virtual machine</a:t>
            </a:r>
          </a:p>
        </p:txBody>
      </p:sp>
      <p:sp>
        <p:nvSpPr>
          <p:cNvPr id="12" name="TextBox 11">
            <a:extLst>
              <a:ext uri="{FF2B5EF4-FFF2-40B4-BE49-F238E27FC236}">
                <a16:creationId xmlns="" xmlns:a16="http://schemas.microsoft.com/office/drawing/2014/main" id="{09E027C3-6B85-4AAE-B549-63E89B8A3D4E}"/>
              </a:ext>
            </a:extLst>
          </p:cNvPr>
          <p:cNvSpPr txBox="1"/>
          <p:nvPr/>
        </p:nvSpPr>
        <p:spPr>
          <a:xfrm>
            <a:off x="8984975" y="4717152"/>
            <a:ext cx="2014330" cy="369332"/>
          </a:xfrm>
          <a:prstGeom prst="rect">
            <a:avLst/>
          </a:prstGeom>
          <a:noFill/>
        </p:spPr>
        <p:txBody>
          <a:bodyPr wrap="square" rtlCol="0">
            <a:spAutoFit/>
          </a:bodyPr>
          <a:lstStyle/>
          <a:p>
            <a:r>
              <a:rPr lang="en-US" dirty="0"/>
              <a:t>Virtual machine</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33</a:t>
            </a:fld>
            <a:endParaRPr lang="en-US"/>
          </a:p>
        </p:txBody>
      </p:sp>
    </p:spTree>
    <p:extLst>
      <p:ext uri="{BB962C8B-B14F-4D97-AF65-F5344CB8AC3E}">
        <p14:creationId xmlns:p14="http://schemas.microsoft.com/office/powerpoint/2010/main" val="869580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2381"/>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Distributed Systems</a:t>
            </a:r>
          </a:p>
        </p:txBody>
      </p:sp>
      <p:sp>
        <p:nvSpPr>
          <p:cNvPr id="3" name="Content Placeholder 2"/>
          <p:cNvSpPr>
            <a:spLocks noGrp="1"/>
          </p:cNvSpPr>
          <p:nvPr>
            <p:ph idx="1"/>
          </p:nvPr>
        </p:nvSpPr>
        <p:spPr>
          <a:xfrm>
            <a:off x="838200" y="1008529"/>
            <a:ext cx="10515600" cy="5168434"/>
          </a:xfrm>
        </p:spPr>
        <p:txBody>
          <a:bodyPr>
            <a:normAutofit fontScale="850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 distributed system is a collection of physically separate, possibly heterogeneous, computer systems that are networked to provide the users with access to the various resources that the system maintains.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Access </a:t>
            </a:r>
            <a:r>
              <a:rPr lang="en-US" dirty="0">
                <a:latin typeface="Times New Roman" panose="02020603050405020304" pitchFamily="18" charset="0"/>
                <a:cs typeface="Times New Roman" panose="02020603050405020304" pitchFamily="18" charset="0"/>
              </a:rPr>
              <a:t>to a shared resource increases computation speed, functionality, data availability, and </a:t>
            </a:r>
            <a:r>
              <a:rPr lang="en-US" dirty="0" smtClean="0">
                <a:latin typeface="Times New Roman" panose="02020603050405020304" pitchFamily="18" charset="0"/>
                <a:cs typeface="Times New Roman" panose="02020603050405020304" pitchFamily="18" charset="0"/>
              </a:rPr>
              <a:t>reliability</a:t>
            </a:r>
          </a:p>
          <a:p>
            <a:pPr algn="just">
              <a:lnSpc>
                <a:spcPct val="150000"/>
              </a:lnSpc>
            </a:pPr>
            <a:r>
              <a:rPr lang="en-US" dirty="0" smtClean="0">
                <a:latin typeface="Times New Roman" panose="02020603050405020304" pitchFamily="18" charset="0"/>
                <a:cs typeface="Times New Roman" panose="02020603050405020304" pitchFamily="18" charset="0"/>
              </a:rPr>
              <a:t>Network </a:t>
            </a:r>
            <a:r>
              <a:rPr lang="en-US" dirty="0">
                <a:latin typeface="Times New Roman" panose="02020603050405020304" pitchFamily="18" charset="0"/>
                <a:cs typeface="Times New Roman" panose="02020603050405020304" pitchFamily="18" charset="0"/>
              </a:rPr>
              <a:t>Operating System provides features between systems across </a:t>
            </a:r>
            <a:r>
              <a:rPr lang="en-US" dirty="0" smtClean="0">
                <a:latin typeface="Times New Roman" panose="02020603050405020304" pitchFamily="18" charset="0"/>
                <a:cs typeface="Times New Roman" panose="02020603050405020304" pitchFamily="18" charset="0"/>
              </a:rPr>
              <a:t>network</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Communication scheme allows systems to exchange </a:t>
            </a:r>
            <a:r>
              <a:rPr lang="en-US" dirty="0" smtClean="0">
                <a:latin typeface="Times New Roman" panose="02020603050405020304" pitchFamily="18" charset="0"/>
                <a:cs typeface="Times New Roman" panose="02020603050405020304" pitchFamily="18" charset="0"/>
              </a:rPr>
              <a:t>messages</a:t>
            </a:r>
          </a:p>
          <a:p>
            <a:pPr marL="0" indent="0" algn="just">
              <a:lnSpc>
                <a:spcPct val="150000"/>
              </a:lnSpc>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Illusion of a single system</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34</a:t>
            </a:fld>
            <a:endParaRPr lang="en-US"/>
          </a:p>
        </p:txBody>
      </p:sp>
    </p:spTree>
    <p:extLst>
      <p:ext uri="{BB962C8B-B14F-4D97-AF65-F5344CB8AC3E}">
        <p14:creationId xmlns:p14="http://schemas.microsoft.com/office/powerpoint/2010/main" val="1176076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828"/>
          </a:xfrm>
        </p:spPr>
        <p:txBody>
          <a:bodyPr>
            <a:normAutofit fontScale="90000"/>
          </a:bodyPr>
          <a:lstStyle/>
          <a:p>
            <a:pPr algn="ctr"/>
            <a:r>
              <a:rPr lang="en-US" b="1" dirty="0" smtClean="0">
                <a:solidFill>
                  <a:srgbClr val="FF0000"/>
                </a:solidFill>
                <a:latin typeface="Times New Roman" panose="02020603050405020304" pitchFamily="18" charset="0"/>
                <a:cs typeface="Times New Roman" panose="02020603050405020304" pitchFamily="18" charset="0"/>
              </a:rPr>
              <a:t>Concurrency</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00954"/>
            <a:ext cx="10515600" cy="5392270"/>
          </a:xfrm>
        </p:spPr>
        <p:txBody>
          <a:bodyPr>
            <a:normAutofit fontScale="70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Concurrency in operating systems refers to the ability of an operating system to handle multiple tasks or processes at the same time</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With the increasing demand for high performance computing, concurrency has become a critical aspect of modern computing systems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 Operating systems that support concurrency can execute multiple tasks simultaneously, leading to better resource utilization, improved responsiveness, and enhanced user </a:t>
            </a:r>
            <a:r>
              <a:rPr lang="en-US" dirty="0" smtClean="0">
                <a:latin typeface="Times New Roman" panose="02020603050405020304" pitchFamily="18" charset="0"/>
                <a:cs typeface="Times New Roman" panose="02020603050405020304" pitchFamily="18" charset="0"/>
              </a:rPr>
              <a:t>experience</a:t>
            </a:r>
          </a:p>
          <a:p>
            <a:pPr algn="just">
              <a:lnSpc>
                <a:spcPct val="150000"/>
              </a:lnSpc>
            </a:pPr>
            <a:r>
              <a:rPr lang="en-US" dirty="0">
                <a:latin typeface="Times New Roman" panose="02020603050405020304" pitchFamily="18" charset="0"/>
                <a:cs typeface="Times New Roman" panose="02020603050405020304" pitchFamily="18" charset="0"/>
              </a:rPr>
              <a:t>It is used in a wide range of applications, including web servers, databases, scientific simulations, and multimedia processing</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concurrency also introduces new challenges such as race conditions, deadlocks, and priority inversion, which need to be managed effectively to ensure the stability and reliability of the system.</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35</a:t>
            </a:fld>
            <a:endParaRPr lang="en-US"/>
          </a:p>
        </p:txBody>
      </p:sp>
    </p:spTree>
    <p:extLst>
      <p:ext uri="{BB962C8B-B14F-4D97-AF65-F5344CB8AC3E}">
        <p14:creationId xmlns:p14="http://schemas.microsoft.com/office/powerpoint/2010/main" val="3952207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2609</Words>
  <Application>Microsoft Office PowerPoint</Application>
  <PresentationFormat>Widescreen</PresentationFormat>
  <Paragraphs>302</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Times New Roman</vt:lpstr>
      <vt:lpstr>Times New Roman</vt:lpstr>
      <vt:lpstr>Office Theme</vt:lpstr>
      <vt:lpstr>PowerPoint Presentation</vt:lpstr>
      <vt:lpstr>Computer System Structure</vt:lpstr>
      <vt:lpstr>Computer System Structure</vt:lpstr>
      <vt:lpstr>What is an operating system?</vt:lpstr>
      <vt:lpstr>PowerPoint Presentation</vt:lpstr>
      <vt:lpstr> OS as an Extended Machine </vt:lpstr>
      <vt:lpstr> OS as a Resource Manager </vt:lpstr>
      <vt:lpstr>OS evolution</vt:lpstr>
      <vt:lpstr>Operating-System Operations</vt:lpstr>
      <vt:lpstr>PowerPoint Presentation</vt:lpstr>
      <vt:lpstr>System Call</vt:lpstr>
      <vt:lpstr>PowerPoint Presentation</vt:lpstr>
      <vt:lpstr>Example of  Windows and UNIX System Call</vt:lpstr>
      <vt:lpstr>Operating System Services</vt:lpstr>
      <vt:lpstr>PowerPoint Presentation</vt:lpstr>
      <vt:lpstr>Types of Operating System</vt:lpstr>
      <vt:lpstr>PowerPoint Presentation</vt:lpstr>
      <vt:lpstr>PowerPoint Presentation</vt:lpstr>
      <vt:lpstr>PowerPoint Presentation</vt:lpstr>
      <vt:lpstr>Introduction to Operating System Structure</vt:lpstr>
      <vt:lpstr>Layered System</vt:lpstr>
      <vt:lpstr>PowerPoint Presentation</vt:lpstr>
      <vt:lpstr>PowerPoint Presentation</vt:lpstr>
      <vt:lpstr>Kernel System</vt:lpstr>
      <vt:lpstr>PowerPoint Presentation</vt:lpstr>
      <vt:lpstr>Types of kernel</vt:lpstr>
      <vt:lpstr>PowerPoint Presentation</vt:lpstr>
      <vt:lpstr>PowerPoint Presentation</vt:lpstr>
      <vt:lpstr>PowerPoint Presentation</vt:lpstr>
      <vt:lpstr>Client server Model</vt:lpstr>
      <vt:lpstr>PowerPoint Presentation</vt:lpstr>
      <vt:lpstr> Virtual machine </vt:lpstr>
      <vt:lpstr>PowerPoint Presentation</vt:lpstr>
      <vt:lpstr>Distributed Systems</vt:lpstr>
      <vt:lpstr>Concurrency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Bhupendra Lohar</dc:creator>
  <cp:lastModifiedBy>Acer</cp:lastModifiedBy>
  <cp:revision>36</cp:revision>
  <dcterms:created xsi:type="dcterms:W3CDTF">2020-09-09T11:21:59Z</dcterms:created>
  <dcterms:modified xsi:type="dcterms:W3CDTF">2024-06-30T11:27:14Z</dcterms:modified>
</cp:coreProperties>
</file>