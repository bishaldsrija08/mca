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256" r:id="rId2"/>
    <p:sldId id="257" r:id="rId3"/>
    <p:sldId id="305" r:id="rId4"/>
    <p:sldId id="306" r:id="rId5"/>
    <p:sldId id="258" r:id="rId6"/>
    <p:sldId id="259" r:id="rId7"/>
    <p:sldId id="260" r:id="rId8"/>
    <p:sldId id="261" r:id="rId9"/>
    <p:sldId id="262" r:id="rId10"/>
    <p:sldId id="263" r:id="rId11"/>
    <p:sldId id="264" r:id="rId12"/>
    <p:sldId id="265" r:id="rId13"/>
    <p:sldId id="266" r:id="rId14"/>
    <p:sldId id="267" r:id="rId15"/>
    <p:sldId id="268" r:id="rId16"/>
    <p:sldId id="269" r:id="rId17"/>
    <p:sldId id="307"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27" r:id="rId54"/>
    <p:sldId id="324" r:id="rId55"/>
    <p:sldId id="326" r:id="rId56"/>
    <p:sldId id="325" r:id="rId57"/>
    <p:sldId id="328"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9" r:id="rId75"/>
    <p:sldId id="331" r:id="rId76"/>
    <p:sldId id="332" r:id="rId77"/>
    <p:sldId id="330" r:id="rId78"/>
    <p:sldId id="333"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D78D69-E34E-4C8B-A933-ADBBEC7E42DE}" type="datetimeFigureOut">
              <a:rPr lang="en-US" smtClean="0"/>
              <a:t>9/3/2024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6007C8-3687-4F9B-88BF-1C3E6E65B959}" type="slidenum">
              <a:rPr lang="en-US" smtClean="0"/>
              <a:t>‹#›</a:t>
            </a:fld>
            <a:endParaRPr lang="en-US"/>
          </a:p>
        </p:txBody>
      </p:sp>
    </p:spTree>
    <p:extLst>
      <p:ext uri="{BB962C8B-B14F-4D97-AF65-F5344CB8AC3E}">
        <p14:creationId xmlns:p14="http://schemas.microsoft.com/office/powerpoint/2010/main" val="3617529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16007C8-3687-4F9B-88BF-1C3E6E65B959}" type="slidenum">
              <a:rPr lang="en-US" smtClean="0"/>
              <a:t>1</a:t>
            </a:fld>
            <a:endParaRPr lang="en-US"/>
          </a:p>
        </p:txBody>
      </p:sp>
    </p:spTree>
    <p:extLst>
      <p:ext uri="{BB962C8B-B14F-4D97-AF65-F5344CB8AC3E}">
        <p14:creationId xmlns:p14="http://schemas.microsoft.com/office/powerpoint/2010/main" val="1132495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228579-78AF-49C1-97AE-EBB1DFBEBD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47444F66-A070-4380-911F-C23D35B8D8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6A850801-962E-443F-8527-B12527DF9027}"/>
              </a:ext>
            </a:extLst>
          </p:cNvPr>
          <p:cNvSpPr>
            <a:spLocks noGrp="1"/>
          </p:cNvSpPr>
          <p:nvPr>
            <p:ph type="dt" sz="half" idx="10"/>
          </p:nvPr>
        </p:nvSpPr>
        <p:spPr/>
        <p:txBody>
          <a:bodyPr/>
          <a:lstStyle/>
          <a:p>
            <a:fld id="{86D49FB5-CD3B-4EEB-BB1A-D600FE8074F5}" type="datetime1">
              <a:rPr lang="en-US" smtClean="0"/>
              <a:t>9/3/2024</a:t>
            </a:fld>
            <a:endParaRPr lang="en-US"/>
          </a:p>
        </p:txBody>
      </p:sp>
      <p:sp>
        <p:nvSpPr>
          <p:cNvPr id="5" name="Footer Placeholder 4">
            <a:extLst>
              <a:ext uri="{FF2B5EF4-FFF2-40B4-BE49-F238E27FC236}">
                <a16:creationId xmlns:a16="http://schemas.microsoft.com/office/drawing/2014/main" xmlns="" id="{6A1AD4DA-0786-48DD-9452-215BBDCD1CDE}"/>
              </a:ext>
            </a:extLst>
          </p:cNvPr>
          <p:cNvSpPr>
            <a:spLocks noGrp="1"/>
          </p:cNvSpPr>
          <p:nvPr>
            <p:ph type="ftr" sz="quarter" idx="11"/>
          </p:nvPr>
        </p:nvSpPr>
        <p:spPr/>
        <p:txBody>
          <a:bodyPr/>
          <a:lstStyle/>
          <a:p>
            <a:r>
              <a:rPr lang="en-US" smtClean="0"/>
              <a:t>Bhupendra Ram Luhar</a:t>
            </a:r>
            <a:endParaRPr lang="en-US"/>
          </a:p>
        </p:txBody>
      </p:sp>
      <p:sp>
        <p:nvSpPr>
          <p:cNvPr id="6" name="Slide Number Placeholder 5">
            <a:extLst>
              <a:ext uri="{FF2B5EF4-FFF2-40B4-BE49-F238E27FC236}">
                <a16:creationId xmlns:a16="http://schemas.microsoft.com/office/drawing/2014/main" xmlns="" id="{A2715B47-B02F-4CEC-BF47-C60B00215082}"/>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2462409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93C583-938A-46B7-B1BC-74AC45C050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E33FF09B-0517-42FB-A888-D71BC1F6B2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320CD08-BF8B-4E95-BBB2-8B1F66FFBC85}"/>
              </a:ext>
            </a:extLst>
          </p:cNvPr>
          <p:cNvSpPr>
            <a:spLocks noGrp="1"/>
          </p:cNvSpPr>
          <p:nvPr>
            <p:ph type="dt" sz="half" idx="10"/>
          </p:nvPr>
        </p:nvSpPr>
        <p:spPr/>
        <p:txBody>
          <a:bodyPr/>
          <a:lstStyle/>
          <a:p>
            <a:fld id="{6D3DDCC7-2D0B-467E-A445-F6FF904EE9DF}" type="datetime1">
              <a:rPr lang="en-US" smtClean="0"/>
              <a:t>9/3/2024</a:t>
            </a:fld>
            <a:endParaRPr lang="en-US"/>
          </a:p>
        </p:txBody>
      </p:sp>
      <p:sp>
        <p:nvSpPr>
          <p:cNvPr id="5" name="Footer Placeholder 4">
            <a:extLst>
              <a:ext uri="{FF2B5EF4-FFF2-40B4-BE49-F238E27FC236}">
                <a16:creationId xmlns:a16="http://schemas.microsoft.com/office/drawing/2014/main" xmlns="" id="{9CAB124C-FEB2-49BF-BC75-762C2C14B3F4}"/>
              </a:ext>
            </a:extLst>
          </p:cNvPr>
          <p:cNvSpPr>
            <a:spLocks noGrp="1"/>
          </p:cNvSpPr>
          <p:nvPr>
            <p:ph type="ftr" sz="quarter" idx="11"/>
          </p:nvPr>
        </p:nvSpPr>
        <p:spPr/>
        <p:txBody>
          <a:bodyPr/>
          <a:lstStyle/>
          <a:p>
            <a:r>
              <a:rPr lang="en-US" smtClean="0"/>
              <a:t>Bhupendra Ram Luhar</a:t>
            </a:r>
            <a:endParaRPr lang="en-US"/>
          </a:p>
        </p:txBody>
      </p:sp>
      <p:sp>
        <p:nvSpPr>
          <p:cNvPr id="6" name="Slide Number Placeholder 5">
            <a:extLst>
              <a:ext uri="{FF2B5EF4-FFF2-40B4-BE49-F238E27FC236}">
                <a16:creationId xmlns:a16="http://schemas.microsoft.com/office/drawing/2014/main" xmlns="" id="{52356A3D-035B-4714-B6E9-D9B66F714AA0}"/>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385828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D2CC90-ACDC-4097-8CD4-699493A394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D3606AD3-B3F7-4EDA-9CA3-901D18035D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803A0F57-CC3D-4DEA-80FD-1F4E6002C535}"/>
              </a:ext>
            </a:extLst>
          </p:cNvPr>
          <p:cNvSpPr>
            <a:spLocks noGrp="1"/>
          </p:cNvSpPr>
          <p:nvPr>
            <p:ph type="dt" sz="half" idx="10"/>
          </p:nvPr>
        </p:nvSpPr>
        <p:spPr/>
        <p:txBody>
          <a:bodyPr/>
          <a:lstStyle/>
          <a:p>
            <a:fld id="{1A74AB7E-33F9-4974-993D-D7BAB7198827}" type="datetime1">
              <a:rPr lang="en-US" smtClean="0"/>
              <a:t>9/3/2024</a:t>
            </a:fld>
            <a:endParaRPr lang="en-US"/>
          </a:p>
        </p:txBody>
      </p:sp>
      <p:sp>
        <p:nvSpPr>
          <p:cNvPr id="5" name="Footer Placeholder 4">
            <a:extLst>
              <a:ext uri="{FF2B5EF4-FFF2-40B4-BE49-F238E27FC236}">
                <a16:creationId xmlns:a16="http://schemas.microsoft.com/office/drawing/2014/main" xmlns="" id="{1A1CEF9A-64DE-49AD-8F35-4A22AE09C983}"/>
              </a:ext>
            </a:extLst>
          </p:cNvPr>
          <p:cNvSpPr>
            <a:spLocks noGrp="1"/>
          </p:cNvSpPr>
          <p:nvPr>
            <p:ph type="ftr" sz="quarter" idx="11"/>
          </p:nvPr>
        </p:nvSpPr>
        <p:spPr/>
        <p:txBody>
          <a:bodyPr/>
          <a:lstStyle/>
          <a:p>
            <a:r>
              <a:rPr lang="en-US" smtClean="0"/>
              <a:t>Bhupendra Ram Luhar</a:t>
            </a:r>
            <a:endParaRPr lang="en-US"/>
          </a:p>
        </p:txBody>
      </p:sp>
      <p:sp>
        <p:nvSpPr>
          <p:cNvPr id="6" name="Slide Number Placeholder 5">
            <a:extLst>
              <a:ext uri="{FF2B5EF4-FFF2-40B4-BE49-F238E27FC236}">
                <a16:creationId xmlns:a16="http://schemas.microsoft.com/office/drawing/2014/main" xmlns="" id="{62AFFCFD-7F9E-4DBF-8E22-D479DB6E97D9}"/>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1564980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F6D692-192F-4ED8-A041-E138E5E5D9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013D4C00-2066-469C-A564-6A6C8C7082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70AC5364-EA96-45A4-8873-2E37C515E0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616382FF-3DF5-4CC0-B76E-CFE529B0D11D}"/>
              </a:ext>
            </a:extLst>
          </p:cNvPr>
          <p:cNvSpPr>
            <a:spLocks noGrp="1"/>
          </p:cNvSpPr>
          <p:nvPr>
            <p:ph type="dt" sz="half" idx="10"/>
          </p:nvPr>
        </p:nvSpPr>
        <p:spPr/>
        <p:txBody>
          <a:bodyPr/>
          <a:lstStyle/>
          <a:p>
            <a:fld id="{AC192278-5EFB-4A97-BF11-8D935A423164}" type="datetime1">
              <a:rPr lang="en-US" smtClean="0"/>
              <a:t>9/3/2024</a:t>
            </a:fld>
            <a:endParaRPr lang="en-US"/>
          </a:p>
        </p:txBody>
      </p:sp>
      <p:sp>
        <p:nvSpPr>
          <p:cNvPr id="6" name="Footer Placeholder 5">
            <a:extLst>
              <a:ext uri="{FF2B5EF4-FFF2-40B4-BE49-F238E27FC236}">
                <a16:creationId xmlns:a16="http://schemas.microsoft.com/office/drawing/2014/main" xmlns="" id="{FE9EB9CB-AD04-43DD-B333-CFB7714C156F}"/>
              </a:ext>
            </a:extLst>
          </p:cNvPr>
          <p:cNvSpPr>
            <a:spLocks noGrp="1"/>
          </p:cNvSpPr>
          <p:nvPr>
            <p:ph type="ftr" sz="quarter" idx="11"/>
          </p:nvPr>
        </p:nvSpPr>
        <p:spPr/>
        <p:txBody>
          <a:bodyPr/>
          <a:lstStyle/>
          <a:p>
            <a:r>
              <a:rPr lang="en-US" smtClean="0"/>
              <a:t>Bhupendra Ram Luhar</a:t>
            </a:r>
            <a:endParaRPr lang="en-US"/>
          </a:p>
        </p:txBody>
      </p:sp>
      <p:sp>
        <p:nvSpPr>
          <p:cNvPr id="7" name="Slide Number Placeholder 6">
            <a:extLst>
              <a:ext uri="{FF2B5EF4-FFF2-40B4-BE49-F238E27FC236}">
                <a16:creationId xmlns:a16="http://schemas.microsoft.com/office/drawing/2014/main" xmlns="" id="{E153B090-33D7-427E-BC58-4790D404EB6F}"/>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1555431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9ADE98-CFD0-45D6-8B68-FC717B2EE6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BE26A639-CF5B-4553-B77E-4A254F3E0B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65E54C55-3941-40CD-8FC7-1038E4BE5A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BE24BDD7-2BD5-494D-AAF0-1EEB3558A9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564A173-E83E-44D2-94CF-ACDF2E3E69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7F709A28-1B34-42BD-918D-961DBAFF26F3}"/>
              </a:ext>
            </a:extLst>
          </p:cNvPr>
          <p:cNvSpPr>
            <a:spLocks noGrp="1"/>
          </p:cNvSpPr>
          <p:nvPr>
            <p:ph type="dt" sz="half" idx="10"/>
          </p:nvPr>
        </p:nvSpPr>
        <p:spPr/>
        <p:txBody>
          <a:bodyPr/>
          <a:lstStyle/>
          <a:p>
            <a:fld id="{94C0C449-E809-4644-A675-06A15B74B0E5}" type="datetime1">
              <a:rPr lang="en-US" smtClean="0"/>
              <a:t>9/3/2024</a:t>
            </a:fld>
            <a:endParaRPr lang="en-US"/>
          </a:p>
        </p:txBody>
      </p:sp>
      <p:sp>
        <p:nvSpPr>
          <p:cNvPr id="8" name="Footer Placeholder 7">
            <a:extLst>
              <a:ext uri="{FF2B5EF4-FFF2-40B4-BE49-F238E27FC236}">
                <a16:creationId xmlns:a16="http://schemas.microsoft.com/office/drawing/2014/main" xmlns="" id="{9AF48806-B8BC-46D4-AD83-EABDEB6A78E4}"/>
              </a:ext>
            </a:extLst>
          </p:cNvPr>
          <p:cNvSpPr>
            <a:spLocks noGrp="1"/>
          </p:cNvSpPr>
          <p:nvPr>
            <p:ph type="ftr" sz="quarter" idx="11"/>
          </p:nvPr>
        </p:nvSpPr>
        <p:spPr/>
        <p:txBody>
          <a:bodyPr/>
          <a:lstStyle/>
          <a:p>
            <a:r>
              <a:rPr lang="en-US" smtClean="0"/>
              <a:t>Bhupendra Ram Luhar</a:t>
            </a:r>
            <a:endParaRPr lang="en-US"/>
          </a:p>
        </p:txBody>
      </p:sp>
      <p:sp>
        <p:nvSpPr>
          <p:cNvPr id="9" name="Slide Number Placeholder 8">
            <a:extLst>
              <a:ext uri="{FF2B5EF4-FFF2-40B4-BE49-F238E27FC236}">
                <a16:creationId xmlns:a16="http://schemas.microsoft.com/office/drawing/2014/main" xmlns="" id="{F5F02BA7-7F8C-4E81-B9EA-BCBF62906BF1}"/>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1700875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AA9A65-705D-4377-A562-5BF4951C8C4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BD7C2890-E5D8-4396-839C-F873DA5BD332}"/>
              </a:ext>
            </a:extLst>
          </p:cNvPr>
          <p:cNvSpPr>
            <a:spLocks noGrp="1"/>
          </p:cNvSpPr>
          <p:nvPr>
            <p:ph type="dt" sz="half" idx="10"/>
          </p:nvPr>
        </p:nvSpPr>
        <p:spPr/>
        <p:txBody>
          <a:bodyPr/>
          <a:lstStyle/>
          <a:p>
            <a:fld id="{82E3FA24-4AC7-4BA8-9A1B-41D2F6A2E4D4}" type="datetime1">
              <a:rPr lang="en-US" smtClean="0"/>
              <a:t>9/3/2024</a:t>
            </a:fld>
            <a:endParaRPr lang="en-US"/>
          </a:p>
        </p:txBody>
      </p:sp>
      <p:sp>
        <p:nvSpPr>
          <p:cNvPr id="4" name="Footer Placeholder 3">
            <a:extLst>
              <a:ext uri="{FF2B5EF4-FFF2-40B4-BE49-F238E27FC236}">
                <a16:creationId xmlns:a16="http://schemas.microsoft.com/office/drawing/2014/main" xmlns="" id="{C2A915D3-CBAA-401D-8AB6-2A593618E473}"/>
              </a:ext>
            </a:extLst>
          </p:cNvPr>
          <p:cNvSpPr>
            <a:spLocks noGrp="1"/>
          </p:cNvSpPr>
          <p:nvPr>
            <p:ph type="ftr" sz="quarter" idx="11"/>
          </p:nvPr>
        </p:nvSpPr>
        <p:spPr/>
        <p:txBody>
          <a:bodyPr/>
          <a:lstStyle/>
          <a:p>
            <a:r>
              <a:rPr lang="en-US" smtClean="0"/>
              <a:t>Bhupendra Ram Luhar</a:t>
            </a:r>
            <a:endParaRPr lang="en-US"/>
          </a:p>
        </p:txBody>
      </p:sp>
      <p:sp>
        <p:nvSpPr>
          <p:cNvPr id="5" name="Slide Number Placeholder 4">
            <a:extLst>
              <a:ext uri="{FF2B5EF4-FFF2-40B4-BE49-F238E27FC236}">
                <a16:creationId xmlns:a16="http://schemas.microsoft.com/office/drawing/2014/main" xmlns="" id="{F0D70446-2B29-4C0B-9184-5AB4941DDBD6}"/>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3631675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75374F9-0523-4523-8D75-FC17D854F6B3}"/>
              </a:ext>
            </a:extLst>
          </p:cNvPr>
          <p:cNvSpPr>
            <a:spLocks noGrp="1"/>
          </p:cNvSpPr>
          <p:nvPr>
            <p:ph type="dt" sz="half" idx="10"/>
          </p:nvPr>
        </p:nvSpPr>
        <p:spPr/>
        <p:txBody>
          <a:bodyPr/>
          <a:lstStyle/>
          <a:p>
            <a:fld id="{33C276BF-157D-4FFF-964A-5C54D096625B}" type="datetime1">
              <a:rPr lang="en-US" smtClean="0"/>
              <a:t>9/3/2024</a:t>
            </a:fld>
            <a:endParaRPr lang="en-US"/>
          </a:p>
        </p:txBody>
      </p:sp>
      <p:sp>
        <p:nvSpPr>
          <p:cNvPr id="3" name="Footer Placeholder 2">
            <a:extLst>
              <a:ext uri="{FF2B5EF4-FFF2-40B4-BE49-F238E27FC236}">
                <a16:creationId xmlns:a16="http://schemas.microsoft.com/office/drawing/2014/main" xmlns="" id="{E6F2BF33-8F10-49B8-A4FF-E0D6660F977E}"/>
              </a:ext>
            </a:extLst>
          </p:cNvPr>
          <p:cNvSpPr>
            <a:spLocks noGrp="1"/>
          </p:cNvSpPr>
          <p:nvPr>
            <p:ph type="ftr" sz="quarter" idx="11"/>
          </p:nvPr>
        </p:nvSpPr>
        <p:spPr/>
        <p:txBody>
          <a:bodyPr/>
          <a:lstStyle/>
          <a:p>
            <a:r>
              <a:rPr lang="en-US" smtClean="0"/>
              <a:t>Bhupendra Ram Luhar</a:t>
            </a:r>
            <a:endParaRPr lang="en-US"/>
          </a:p>
        </p:txBody>
      </p:sp>
      <p:sp>
        <p:nvSpPr>
          <p:cNvPr id="4" name="Slide Number Placeholder 3">
            <a:extLst>
              <a:ext uri="{FF2B5EF4-FFF2-40B4-BE49-F238E27FC236}">
                <a16:creationId xmlns:a16="http://schemas.microsoft.com/office/drawing/2014/main" xmlns="" id="{45CE0E93-C083-42F9-8D1C-D1F823CA2176}"/>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2562358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C2CD2E-2E33-4A66-B5E8-0C46A6323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698536A8-1616-481E-AFE0-FB53134426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C279803F-7F31-4F27-9E4A-BF43DB6834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A895017-18FB-4439-9D3C-6678EF722588}"/>
              </a:ext>
            </a:extLst>
          </p:cNvPr>
          <p:cNvSpPr>
            <a:spLocks noGrp="1"/>
          </p:cNvSpPr>
          <p:nvPr>
            <p:ph type="dt" sz="half" idx="10"/>
          </p:nvPr>
        </p:nvSpPr>
        <p:spPr/>
        <p:txBody>
          <a:bodyPr/>
          <a:lstStyle/>
          <a:p>
            <a:fld id="{4BEA397A-F281-4225-9406-29B47B9B4F05}" type="datetime1">
              <a:rPr lang="en-US" smtClean="0"/>
              <a:t>9/3/2024</a:t>
            </a:fld>
            <a:endParaRPr lang="en-US"/>
          </a:p>
        </p:txBody>
      </p:sp>
      <p:sp>
        <p:nvSpPr>
          <p:cNvPr id="6" name="Footer Placeholder 5">
            <a:extLst>
              <a:ext uri="{FF2B5EF4-FFF2-40B4-BE49-F238E27FC236}">
                <a16:creationId xmlns:a16="http://schemas.microsoft.com/office/drawing/2014/main" xmlns="" id="{7E5E46FE-5C60-4364-B09B-1B8E9CDCC510}"/>
              </a:ext>
            </a:extLst>
          </p:cNvPr>
          <p:cNvSpPr>
            <a:spLocks noGrp="1"/>
          </p:cNvSpPr>
          <p:nvPr>
            <p:ph type="ftr" sz="quarter" idx="11"/>
          </p:nvPr>
        </p:nvSpPr>
        <p:spPr/>
        <p:txBody>
          <a:bodyPr/>
          <a:lstStyle/>
          <a:p>
            <a:r>
              <a:rPr lang="en-US" smtClean="0"/>
              <a:t>Bhupendra Ram Luhar</a:t>
            </a:r>
            <a:endParaRPr lang="en-US"/>
          </a:p>
        </p:txBody>
      </p:sp>
      <p:sp>
        <p:nvSpPr>
          <p:cNvPr id="7" name="Slide Number Placeholder 6">
            <a:extLst>
              <a:ext uri="{FF2B5EF4-FFF2-40B4-BE49-F238E27FC236}">
                <a16:creationId xmlns:a16="http://schemas.microsoft.com/office/drawing/2014/main" xmlns="" id="{8FE9C14A-2B64-407B-9678-2DB959A3136C}"/>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1092478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1CE9EC-BAB5-4D64-8CC4-8E80BF93B1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BDFB8580-E5FB-4D75-A218-0D3FF70FDC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110BC0A2-DB29-4433-B9AB-3BCAC1C7D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8FCFDD7-1819-468A-BA4C-ED4496659422}"/>
              </a:ext>
            </a:extLst>
          </p:cNvPr>
          <p:cNvSpPr>
            <a:spLocks noGrp="1"/>
          </p:cNvSpPr>
          <p:nvPr>
            <p:ph type="dt" sz="half" idx="10"/>
          </p:nvPr>
        </p:nvSpPr>
        <p:spPr/>
        <p:txBody>
          <a:bodyPr/>
          <a:lstStyle/>
          <a:p>
            <a:fld id="{7C0DBE0D-EB0D-49BB-A641-C2A8A3825320}" type="datetime1">
              <a:rPr lang="en-US" smtClean="0"/>
              <a:t>9/3/2024</a:t>
            </a:fld>
            <a:endParaRPr lang="en-US"/>
          </a:p>
        </p:txBody>
      </p:sp>
      <p:sp>
        <p:nvSpPr>
          <p:cNvPr id="6" name="Footer Placeholder 5">
            <a:extLst>
              <a:ext uri="{FF2B5EF4-FFF2-40B4-BE49-F238E27FC236}">
                <a16:creationId xmlns:a16="http://schemas.microsoft.com/office/drawing/2014/main" xmlns="" id="{7B597457-E3AF-41F4-B0A9-9E516DC8CAA0}"/>
              </a:ext>
            </a:extLst>
          </p:cNvPr>
          <p:cNvSpPr>
            <a:spLocks noGrp="1"/>
          </p:cNvSpPr>
          <p:nvPr>
            <p:ph type="ftr" sz="quarter" idx="11"/>
          </p:nvPr>
        </p:nvSpPr>
        <p:spPr/>
        <p:txBody>
          <a:bodyPr/>
          <a:lstStyle/>
          <a:p>
            <a:r>
              <a:rPr lang="en-US" smtClean="0"/>
              <a:t>Bhupendra Ram Luhar</a:t>
            </a:r>
            <a:endParaRPr lang="en-US"/>
          </a:p>
        </p:txBody>
      </p:sp>
      <p:sp>
        <p:nvSpPr>
          <p:cNvPr id="7" name="Slide Number Placeholder 6">
            <a:extLst>
              <a:ext uri="{FF2B5EF4-FFF2-40B4-BE49-F238E27FC236}">
                <a16:creationId xmlns:a16="http://schemas.microsoft.com/office/drawing/2014/main" xmlns="" id="{09B13BCA-D41F-4137-B2DC-F85AA2F51F45}"/>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3782095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0309FE-8F13-45BB-B1BB-5271BD74C4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7A2510A5-A177-49E6-BF13-C71D287D63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F83F0DF-7AE5-4EC8-A163-FB4DE979F885}"/>
              </a:ext>
            </a:extLst>
          </p:cNvPr>
          <p:cNvSpPr>
            <a:spLocks noGrp="1"/>
          </p:cNvSpPr>
          <p:nvPr>
            <p:ph type="dt" sz="half" idx="10"/>
          </p:nvPr>
        </p:nvSpPr>
        <p:spPr/>
        <p:txBody>
          <a:bodyPr/>
          <a:lstStyle/>
          <a:p>
            <a:fld id="{A207DB04-377C-457A-BBAD-B53F09223F1F}" type="datetime1">
              <a:rPr lang="en-US" smtClean="0"/>
              <a:t>9/3/2024</a:t>
            </a:fld>
            <a:endParaRPr lang="en-US"/>
          </a:p>
        </p:txBody>
      </p:sp>
      <p:sp>
        <p:nvSpPr>
          <p:cNvPr id="5" name="Footer Placeholder 4">
            <a:extLst>
              <a:ext uri="{FF2B5EF4-FFF2-40B4-BE49-F238E27FC236}">
                <a16:creationId xmlns:a16="http://schemas.microsoft.com/office/drawing/2014/main" xmlns="" id="{83C256EE-22BA-42E3-8FAF-C3967EECB38E}"/>
              </a:ext>
            </a:extLst>
          </p:cNvPr>
          <p:cNvSpPr>
            <a:spLocks noGrp="1"/>
          </p:cNvSpPr>
          <p:nvPr>
            <p:ph type="ftr" sz="quarter" idx="11"/>
          </p:nvPr>
        </p:nvSpPr>
        <p:spPr/>
        <p:txBody>
          <a:bodyPr/>
          <a:lstStyle/>
          <a:p>
            <a:r>
              <a:rPr lang="en-US" smtClean="0"/>
              <a:t>Bhupendra Ram Luhar</a:t>
            </a:r>
            <a:endParaRPr lang="en-US"/>
          </a:p>
        </p:txBody>
      </p:sp>
      <p:sp>
        <p:nvSpPr>
          <p:cNvPr id="6" name="Slide Number Placeholder 5">
            <a:extLst>
              <a:ext uri="{FF2B5EF4-FFF2-40B4-BE49-F238E27FC236}">
                <a16:creationId xmlns:a16="http://schemas.microsoft.com/office/drawing/2014/main" xmlns="" id="{8614A139-14B3-48E4-A701-174344F9A473}"/>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4144604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BDF9133-DFD4-4B97-883E-96E0062159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0638A4CE-E194-4E91-8D6B-A11E57D99C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FB29E12-331B-4838-909F-92B1FEC9DFE0}"/>
              </a:ext>
            </a:extLst>
          </p:cNvPr>
          <p:cNvSpPr>
            <a:spLocks noGrp="1"/>
          </p:cNvSpPr>
          <p:nvPr>
            <p:ph type="dt" sz="half" idx="10"/>
          </p:nvPr>
        </p:nvSpPr>
        <p:spPr/>
        <p:txBody>
          <a:bodyPr/>
          <a:lstStyle/>
          <a:p>
            <a:fld id="{F037362F-1C43-4032-9E00-E6CED338FD5A}" type="datetime1">
              <a:rPr lang="en-US" smtClean="0"/>
              <a:t>9/3/2024</a:t>
            </a:fld>
            <a:endParaRPr lang="en-US"/>
          </a:p>
        </p:txBody>
      </p:sp>
      <p:sp>
        <p:nvSpPr>
          <p:cNvPr id="5" name="Footer Placeholder 4">
            <a:extLst>
              <a:ext uri="{FF2B5EF4-FFF2-40B4-BE49-F238E27FC236}">
                <a16:creationId xmlns:a16="http://schemas.microsoft.com/office/drawing/2014/main" xmlns="" id="{911D211C-6D0E-40EB-A078-AFB517FAF7FB}"/>
              </a:ext>
            </a:extLst>
          </p:cNvPr>
          <p:cNvSpPr>
            <a:spLocks noGrp="1"/>
          </p:cNvSpPr>
          <p:nvPr>
            <p:ph type="ftr" sz="quarter" idx="11"/>
          </p:nvPr>
        </p:nvSpPr>
        <p:spPr/>
        <p:txBody>
          <a:bodyPr/>
          <a:lstStyle/>
          <a:p>
            <a:r>
              <a:rPr lang="en-US" smtClean="0"/>
              <a:t>Bhupendra Ram Luhar</a:t>
            </a:r>
            <a:endParaRPr lang="en-US"/>
          </a:p>
        </p:txBody>
      </p:sp>
      <p:sp>
        <p:nvSpPr>
          <p:cNvPr id="6" name="Slide Number Placeholder 5">
            <a:extLst>
              <a:ext uri="{FF2B5EF4-FFF2-40B4-BE49-F238E27FC236}">
                <a16:creationId xmlns:a16="http://schemas.microsoft.com/office/drawing/2014/main" xmlns="" id="{752A1D05-D98E-4003-B960-A18AD8FEFAF4}"/>
              </a:ext>
            </a:extLst>
          </p:cNvPr>
          <p:cNvSpPr>
            <a:spLocks noGrp="1"/>
          </p:cNvSpPr>
          <p:nvPr>
            <p:ph type="sldNum" sz="quarter" idx="12"/>
          </p:nvPr>
        </p:nvSpPr>
        <p:spPr/>
        <p:txBody>
          <a:bodyPr/>
          <a:lstStyle/>
          <a:p>
            <a:fld id="{7B79A216-6713-4607-98FC-E026344EDDE7}" type="slidenum">
              <a:rPr lang="en-US" smtClean="0"/>
              <a:t>‹#›</a:t>
            </a:fld>
            <a:endParaRPr lang="en-US"/>
          </a:p>
        </p:txBody>
      </p:sp>
    </p:spTree>
    <p:extLst>
      <p:ext uri="{BB962C8B-B14F-4D97-AF65-F5344CB8AC3E}">
        <p14:creationId xmlns:p14="http://schemas.microsoft.com/office/powerpoint/2010/main" val="2766623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7956DD6-8119-4110-977A-A1262AD1ED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6A37088E-0754-4B97-993B-29E86543E4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22E2844-50C7-485E-AD88-0D2BDFA186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647A3E-5B16-4A75-A5D7-B4FDF335D9F1}" type="datetime1">
              <a:rPr lang="en-US" smtClean="0"/>
              <a:t>9/3/2024</a:t>
            </a:fld>
            <a:endParaRPr lang="en-US"/>
          </a:p>
        </p:txBody>
      </p:sp>
      <p:sp>
        <p:nvSpPr>
          <p:cNvPr id="5" name="Footer Placeholder 4">
            <a:extLst>
              <a:ext uri="{FF2B5EF4-FFF2-40B4-BE49-F238E27FC236}">
                <a16:creationId xmlns:a16="http://schemas.microsoft.com/office/drawing/2014/main" xmlns="" id="{25DE8A42-D820-4ED8-A8C7-EED432F8E6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Bhupendra Ram Luhar</a:t>
            </a:r>
            <a:endParaRPr lang="en-US"/>
          </a:p>
        </p:txBody>
      </p:sp>
      <p:sp>
        <p:nvSpPr>
          <p:cNvPr id="6" name="Slide Number Placeholder 5">
            <a:extLst>
              <a:ext uri="{FF2B5EF4-FFF2-40B4-BE49-F238E27FC236}">
                <a16:creationId xmlns:a16="http://schemas.microsoft.com/office/drawing/2014/main" xmlns="" id="{6AEC3527-1D83-438C-8619-B4764FE0B4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79A216-6713-4607-98FC-E026344EDDE7}" type="slidenum">
              <a:rPr lang="en-US" smtClean="0"/>
              <a:t>‹#›</a:t>
            </a:fld>
            <a:endParaRPr lang="en-US"/>
          </a:p>
        </p:txBody>
      </p:sp>
    </p:spTree>
    <p:extLst>
      <p:ext uri="{BB962C8B-B14F-4D97-AF65-F5344CB8AC3E}">
        <p14:creationId xmlns:p14="http://schemas.microsoft.com/office/powerpoint/2010/main" val="4238718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8AD75F42-C3F3-4B49-8466-DC1AD845D2AC}"/>
              </a:ext>
            </a:extLst>
          </p:cNvPr>
          <p:cNvSpPr>
            <a:spLocks noGrp="1"/>
          </p:cNvSpPr>
          <p:nvPr>
            <p:ph type="subTitle" idx="1"/>
          </p:nvPr>
        </p:nvSpPr>
        <p:spPr>
          <a:xfrm>
            <a:off x="1524000" y="1828800"/>
            <a:ext cx="9144000" cy="3429000"/>
          </a:xfrm>
        </p:spPr>
        <p:txBody>
          <a:bodyPr>
            <a:normAutofit lnSpcReduction="10000"/>
          </a:bodyPr>
          <a:lstStyle/>
          <a:p>
            <a:pPr>
              <a:lnSpc>
                <a:spcPct val="150000"/>
              </a:lnSpc>
            </a:pPr>
            <a:r>
              <a:rPr lang="en-US" sz="4800" b="1" dirty="0" smtClean="0">
                <a:solidFill>
                  <a:srgbClr val="FF0000"/>
                </a:solidFill>
                <a:latin typeface="Times New Roman" panose="02020603050405020304" pitchFamily="18" charset="0"/>
                <a:cs typeface="Times New Roman" panose="02020603050405020304" pitchFamily="18" charset="0"/>
              </a:rPr>
              <a:t>Advanced operating </a:t>
            </a:r>
            <a:r>
              <a:rPr lang="en-US" sz="4800" b="1" dirty="0">
                <a:solidFill>
                  <a:srgbClr val="FF0000"/>
                </a:solidFill>
                <a:latin typeface="Times New Roman" panose="02020603050405020304" pitchFamily="18" charset="0"/>
                <a:cs typeface="Times New Roman" panose="02020603050405020304" pitchFamily="18" charset="0"/>
              </a:rPr>
              <a:t>System</a:t>
            </a:r>
          </a:p>
          <a:p>
            <a:pPr>
              <a:lnSpc>
                <a:spcPct val="150000"/>
              </a:lnSpc>
            </a:pPr>
            <a:r>
              <a:rPr lang="en-US" sz="4800" b="1" dirty="0" smtClean="0">
                <a:solidFill>
                  <a:srgbClr val="FF0000"/>
                </a:solidFill>
                <a:latin typeface="Times New Roman" panose="02020603050405020304" pitchFamily="18" charset="0"/>
                <a:cs typeface="Times New Roman" panose="02020603050405020304" pitchFamily="18" charset="0"/>
              </a:rPr>
              <a:t>Unit-3</a:t>
            </a:r>
            <a:endParaRPr lang="en-US" sz="4800" b="1" dirty="0">
              <a:solidFill>
                <a:srgbClr val="FF0000"/>
              </a:solidFill>
              <a:latin typeface="Times New Roman" panose="02020603050405020304" pitchFamily="18" charset="0"/>
              <a:cs typeface="Times New Roman" panose="02020603050405020304" pitchFamily="18" charset="0"/>
            </a:endParaRPr>
          </a:p>
          <a:p>
            <a:pPr algn="just">
              <a:lnSpc>
                <a:spcPct val="150000"/>
              </a:lnSpc>
            </a:pPr>
            <a:r>
              <a:rPr lang="en-US" sz="4000" b="1" dirty="0">
                <a:solidFill>
                  <a:srgbClr val="FF0000"/>
                </a:solidFill>
                <a:latin typeface="Times New Roman" panose="02020603050405020304" pitchFamily="18" charset="0"/>
                <a:cs typeface="Times New Roman" panose="02020603050405020304" pitchFamily="18" charset="0"/>
              </a:rPr>
              <a:t>Memory and </a:t>
            </a:r>
            <a:r>
              <a:rPr lang="en-US" sz="4000" b="1" dirty="0" err="1" smtClean="0">
                <a:solidFill>
                  <a:srgbClr val="FF0000"/>
                </a:solidFill>
                <a:latin typeface="Times New Roman" panose="02020603050405020304" pitchFamily="18" charset="0"/>
                <a:cs typeface="Times New Roman" panose="02020603050405020304" pitchFamily="18" charset="0"/>
              </a:rPr>
              <a:t>Input/Output</a:t>
            </a:r>
            <a:r>
              <a:rPr lang="en-US" sz="4000" b="1" dirty="0" smtClean="0">
                <a:solidFill>
                  <a:srgbClr val="FF0000"/>
                </a:solidFill>
                <a:latin typeface="Times New Roman" panose="02020603050405020304" pitchFamily="18" charset="0"/>
                <a:cs typeface="Times New Roman" panose="02020603050405020304" pitchFamily="18" charset="0"/>
              </a:rPr>
              <a:t> </a:t>
            </a:r>
            <a:r>
              <a:rPr lang="en-US" sz="4000" b="1" dirty="0">
                <a:solidFill>
                  <a:srgbClr val="FF0000"/>
                </a:solidFill>
                <a:latin typeface="Times New Roman" panose="02020603050405020304" pitchFamily="18" charset="0"/>
                <a:cs typeface="Times New Roman" panose="02020603050405020304" pitchFamily="18" charset="0"/>
              </a:rPr>
              <a:t>Management </a:t>
            </a: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1</a:t>
            </a:fld>
            <a:endParaRPr lang="en-US"/>
          </a:p>
        </p:txBody>
      </p:sp>
    </p:spTree>
    <p:extLst>
      <p:ext uri="{BB962C8B-B14F-4D97-AF65-F5344CB8AC3E}">
        <p14:creationId xmlns:p14="http://schemas.microsoft.com/office/powerpoint/2010/main" val="505055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8909"/>
          </a:xfrm>
        </p:spPr>
        <p:txBody>
          <a:bodyPr/>
          <a:lstStyle/>
          <a:p>
            <a:pPr algn="ctr"/>
            <a:r>
              <a:rPr lang="en-US" b="1" dirty="0" smtClean="0">
                <a:latin typeface="Times New Roman" pitchFamily="18" charset="0"/>
                <a:cs typeface="Times New Roman" pitchFamily="18" charset="0"/>
              </a:rPr>
              <a:t>Memory Management</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319349"/>
            <a:ext cx="10515600" cy="4857614"/>
          </a:xfrm>
        </p:spPr>
        <p:txBody>
          <a:bodyPr>
            <a:normAutofit fontScale="92500" lnSpcReduction="20000"/>
          </a:bodyPr>
          <a:lstStyle/>
          <a:p>
            <a:pPr algn="just">
              <a:lnSpc>
                <a:spcPct val="150000"/>
              </a:lnSpc>
              <a:buNone/>
            </a:pPr>
            <a:r>
              <a:rPr lang="en-US" dirty="0" smtClean="0">
                <a:latin typeface="Times New Roman" pitchFamily="18" charset="0"/>
                <a:cs typeface="Times New Roman" pitchFamily="18" charset="0"/>
              </a:rPr>
              <a:t>The program and data of a process must be in main memory for the process to execute.</a:t>
            </a:r>
          </a:p>
          <a:p>
            <a:pPr algn="just">
              <a:lnSpc>
                <a:spcPct val="150000"/>
              </a:lnSpc>
            </a:pPr>
            <a:r>
              <a:rPr lang="en-US" dirty="0" smtClean="0">
                <a:latin typeface="Times New Roman" pitchFamily="18" charset="0"/>
                <a:cs typeface="Times New Roman" pitchFamily="18" charset="0"/>
              </a:rPr>
              <a:t> How to keep the track of processes currently being executed? </a:t>
            </a:r>
          </a:p>
          <a:p>
            <a:pPr algn="just">
              <a:lnSpc>
                <a:spcPct val="150000"/>
              </a:lnSpc>
            </a:pPr>
            <a:r>
              <a:rPr lang="en-US" dirty="0" smtClean="0">
                <a:latin typeface="Times New Roman" pitchFamily="18" charset="0"/>
                <a:cs typeface="Times New Roman" pitchFamily="18" charset="0"/>
              </a:rPr>
              <a:t>Which processes to load when memory space is available? </a:t>
            </a:r>
          </a:p>
          <a:p>
            <a:pPr algn="just">
              <a:lnSpc>
                <a:spcPct val="150000"/>
              </a:lnSpc>
            </a:pPr>
            <a:r>
              <a:rPr lang="en-US" dirty="0" smtClean="0">
                <a:latin typeface="Times New Roman" pitchFamily="18" charset="0"/>
                <a:cs typeface="Times New Roman" pitchFamily="18" charset="0"/>
              </a:rPr>
              <a:t>How to load the processes that are larger than main memory? </a:t>
            </a:r>
          </a:p>
          <a:p>
            <a:pPr algn="just">
              <a:lnSpc>
                <a:spcPct val="150000"/>
              </a:lnSpc>
            </a:pPr>
            <a:r>
              <a:rPr lang="en-US" dirty="0" smtClean="0">
                <a:latin typeface="Times New Roman" pitchFamily="18" charset="0"/>
                <a:cs typeface="Times New Roman" pitchFamily="18" charset="0"/>
              </a:rPr>
              <a:t>How do processes share the main memory? </a:t>
            </a:r>
          </a:p>
          <a:p>
            <a:pPr algn="just">
              <a:lnSpc>
                <a:spcPct val="150000"/>
              </a:lnSpc>
              <a:buNone/>
            </a:pPr>
            <a:r>
              <a:rPr lang="en-US" dirty="0" smtClean="0">
                <a:latin typeface="Times New Roman" pitchFamily="18" charset="0"/>
                <a:cs typeface="Times New Roman" pitchFamily="18" charset="0"/>
              </a:rPr>
              <a:t>OS component that is responsible for handling these issues is a memory manager.</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2</a:t>
            </a:fld>
            <a:endParaRPr lang="en-US"/>
          </a:p>
        </p:txBody>
      </p:sp>
    </p:spTree>
    <p:extLst>
      <p:ext uri="{BB962C8B-B14F-4D97-AF65-F5344CB8AC3E}">
        <p14:creationId xmlns:p14="http://schemas.microsoft.com/office/powerpoint/2010/main" val="89731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0640"/>
          </a:xfrm>
        </p:spPr>
        <p:txBody>
          <a:bodyPr/>
          <a:lstStyle/>
          <a:p>
            <a:pPr algn="ctr"/>
            <a:r>
              <a:rPr lang="en-US" b="1" dirty="0" smtClean="0">
                <a:solidFill>
                  <a:srgbClr val="FF0000"/>
                </a:solidFill>
                <a:latin typeface="Times New Roman" panose="02020603050405020304" pitchFamily="18" charset="0"/>
                <a:cs typeface="Times New Roman" panose="02020603050405020304" pitchFamily="18" charset="0"/>
              </a:rPr>
              <a:t>Memory Hierarchy</a:t>
            </a:r>
            <a:endParaRPr lang="en-US" b="1"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2030506" y="1111206"/>
            <a:ext cx="7947212" cy="3686175"/>
          </a:xfrm>
          <a:prstGeom prst="rect">
            <a:avLst/>
          </a:prstGeom>
        </p:spPr>
      </p:pic>
      <p:sp>
        <p:nvSpPr>
          <p:cNvPr id="5" name="TextBox 4"/>
          <p:cNvSpPr txBox="1"/>
          <p:nvPr/>
        </p:nvSpPr>
        <p:spPr>
          <a:xfrm>
            <a:off x="1613647" y="4908176"/>
            <a:ext cx="9740153" cy="147732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Computer memory hierarchy looks like a pyramid structure which is used to describe the differences among memory types.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Memory Hierarchy the cost of memory, capacity is inversely proportional to speed.</a:t>
            </a:r>
          </a:p>
        </p:txBody>
      </p:sp>
      <p:sp>
        <p:nvSpPr>
          <p:cNvPr id="3" name="Footer Placeholder 2"/>
          <p:cNvSpPr>
            <a:spLocks noGrp="1"/>
          </p:cNvSpPr>
          <p:nvPr>
            <p:ph type="ftr" sz="quarter" idx="11"/>
          </p:nvPr>
        </p:nvSpPr>
        <p:spPr/>
        <p:txBody>
          <a:bodyPr/>
          <a:lstStyle/>
          <a:p>
            <a:r>
              <a:rPr lang="en-US" smtClean="0"/>
              <a:t>Bhupendra Ram Luhar</a:t>
            </a:r>
            <a:endParaRPr lang="en-US"/>
          </a:p>
        </p:txBody>
      </p:sp>
      <p:sp>
        <p:nvSpPr>
          <p:cNvPr id="6" name="Slide Number Placeholder 5"/>
          <p:cNvSpPr>
            <a:spLocks noGrp="1"/>
          </p:cNvSpPr>
          <p:nvPr>
            <p:ph type="sldNum" sz="quarter" idx="12"/>
          </p:nvPr>
        </p:nvSpPr>
        <p:spPr/>
        <p:txBody>
          <a:bodyPr/>
          <a:lstStyle/>
          <a:p>
            <a:fld id="{7B79A216-6713-4607-98FC-E026344EDDE7}" type="slidenum">
              <a:rPr lang="en-US" smtClean="0"/>
              <a:t>3</a:t>
            </a:fld>
            <a:endParaRPr lang="en-US"/>
          </a:p>
        </p:txBody>
      </p:sp>
    </p:spTree>
    <p:extLst>
      <p:ext uri="{BB962C8B-B14F-4D97-AF65-F5344CB8AC3E}">
        <p14:creationId xmlns:p14="http://schemas.microsoft.com/office/powerpoint/2010/main" val="1507067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8224"/>
            <a:ext cx="10515600" cy="5598739"/>
          </a:xfrm>
        </p:spPr>
        <p:txBody>
          <a:bodyPr>
            <a:normAutofit fontScale="62500" lnSpcReduction="20000"/>
          </a:bodyPr>
          <a:lstStyle/>
          <a:p>
            <a:pPr marL="0" indent="0" algn="just">
              <a:lnSpc>
                <a:spcPct val="120000"/>
              </a:lnSpc>
              <a:buNone/>
            </a:pP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Registers</a:t>
            </a:r>
            <a:endParaRPr lang="en-US" b="1" dirty="0">
              <a:latin typeface="Times New Roman" panose="02020603050405020304" pitchFamily="18" charset="0"/>
              <a:cs typeface="Times New Roman" panose="02020603050405020304" pitchFamily="18" charset="0"/>
            </a:endParaRPr>
          </a:p>
          <a:p>
            <a:pPr algn="just">
              <a:lnSpc>
                <a:spcPct val="120000"/>
              </a:lnSpc>
            </a:pPr>
            <a:r>
              <a:rPr lang="en-US" dirty="0">
                <a:latin typeface="Times New Roman" panose="02020603050405020304" pitchFamily="18" charset="0"/>
                <a:cs typeface="Times New Roman" panose="02020603050405020304" pitchFamily="18" charset="0"/>
              </a:rPr>
              <a:t>The registers are present inside the CPU. As they are present inside the CPU, they have least access time. Registers are most expensive and smallest in size generally in </a:t>
            </a:r>
            <a:r>
              <a:rPr lang="en-US" dirty="0" smtClean="0">
                <a:latin typeface="Times New Roman" panose="02020603050405020304" pitchFamily="18" charset="0"/>
                <a:cs typeface="Times New Roman" panose="02020603050405020304" pitchFamily="18" charset="0"/>
              </a:rPr>
              <a:t>kilobytes</a:t>
            </a:r>
          </a:p>
          <a:p>
            <a:pPr marL="0" indent="0" algn="just">
              <a:lnSpc>
                <a:spcPct val="120000"/>
              </a:lnSpc>
              <a:buNone/>
            </a:pPr>
            <a:r>
              <a:rPr lang="en-US" b="1" dirty="0">
                <a:latin typeface="Times New Roman" panose="02020603050405020304" pitchFamily="18" charset="0"/>
                <a:cs typeface="Times New Roman" panose="02020603050405020304" pitchFamily="18" charset="0"/>
              </a:rPr>
              <a:t>Cache memory </a:t>
            </a:r>
            <a:endParaRPr lang="en-US" b="1" dirty="0" smtClean="0">
              <a:latin typeface="Times New Roman" panose="02020603050405020304" pitchFamily="18" charset="0"/>
              <a:cs typeface="Times New Roman" panose="02020603050405020304" pitchFamily="18" charset="0"/>
            </a:endParaRPr>
          </a:p>
          <a:p>
            <a:pPr algn="just">
              <a:lnSpc>
                <a:spcPct val="120000"/>
              </a:lnSpc>
            </a:pPr>
            <a:r>
              <a:rPr lang="en-US" dirty="0" smtClean="0">
                <a:latin typeface="Times New Roman" panose="02020603050405020304" pitchFamily="18" charset="0"/>
                <a:cs typeface="Times New Roman" panose="02020603050405020304" pitchFamily="18" charset="0"/>
              </a:rPr>
              <a:t>It is </a:t>
            </a:r>
            <a:r>
              <a:rPr lang="en-US" dirty="0">
                <a:latin typeface="Times New Roman" panose="02020603050405020304" pitchFamily="18" charset="0"/>
                <a:cs typeface="Times New Roman" panose="02020603050405020304" pitchFamily="18" charset="0"/>
              </a:rPr>
              <a:t>a very high speed semiconductor memory which can speed up </a:t>
            </a:r>
            <a:r>
              <a:rPr lang="en-US" dirty="0" smtClean="0">
                <a:latin typeface="Times New Roman" panose="02020603050405020304" pitchFamily="18" charset="0"/>
                <a:cs typeface="Times New Roman" panose="02020603050405020304" pitchFamily="18" charset="0"/>
              </a:rPr>
              <a:t>the CPU</a:t>
            </a:r>
            <a:r>
              <a:rPr lang="en-US" dirty="0">
                <a:latin typeface="Times New Roman" panose="02020603050405020304" pitchFamily="18" charset="0"/>
                <a:cs typeface="Times New Roman" panose="02020603050405020304" pitchFamily="18" charset="0"/>
              </a:rPr>
              <a:t>. It acts as a buffer between the CPU and the main memory</a:t>
            </a:r>
          </a:p>
          <a:p>
            <a:pPr algn="just">
              <a:lnSpc>
                <a:spcPct val="120000"/>
              </a:lnSpc>
            </a:pPr>
            <a:r>
              <a:rPr lang="en-US" dirty="0">
                <a:latin typeface="Times New Roman" panose="02020603050405020304" pitchFamily="18" charset="0"/>
                <a:cs typeface="Times New Roman" panose="02020603050405020304" pitchFamily="18" charset="0"/>
              </a:rPr>
              <a:t>It is expensive and smaller in size generally in </a:t>
            </a:r>
            <a:r>
              <a:rPr lang="en-US" dirty="0" smtClean="0">
                <a:latin typeface="Times New Roman" panose="02020603050405020304" pitchFamily="18" charset="0"/>
                <a:cs typeface="Times New Roman" panose="02020603050405020304" pitchFamily="18" charset="0"/>
              </a:rPr>
              <a:t>Megabytes</a:t>
            </a:r>
          </a:p>
          <a:p>
            <a:pPr marL="0" indent="0" algn="just">
              <a:lnSpc>
                <a:spcPct val="120000"/>
              </a:lnSpc>
              <a:buNone/>
            </a:pPr>
            <a:r>
              <a:rPr lang="en-US" b="1" dirty="0" smtClean="0">
                <a:latin typeface="Times New Roman" panose="02020603050405020304" pitchFamily="18" charset="0"/>
                <a:cs typeface="Times New Roman" panose="02020603050405020304" pitchFamily="18" charset="0"/>
              </a:rPr>
              <a:t>Main Memory</a:t>
            </a:r>
          </a:p>
          <a:p>
            <a:pPr algn="just">
              <a:lnSpc>
                <a:spcPct val="120000"/>
              </a:lnSpc>
            </a:pPr>
            <a:r>
              <a:rPr lang="en-US" dirty="0">
                <a:latin typeface="Times New Roman" panose="02020603050405020304" pitchFamily="18" charset="0"/>
                <a:cs typeface="Times New Roman" panose="02020603050405020304" pitchFamily="18" charset="0"/>
              </a:rPr>
              <a:t>It directly communicates with the CPU and with auxiliary memory devices through an I/O processor. Main memory is less expensive than cache memory and larger in size generally in Gigabytes. </a:t>
            </a:r>
            <a:endParaRPr lang="en-US" dirty="0" smtClean="0">
              <a:latin typeface="Times New Roman" panose="02020603050405020304" pitchFamily="18" charset="0"/>
              <a:cs typeface="Times New Roman" panose="02020603050405020304" pitchFamily="18" charset="0"/>
            </a:endParaRPr>
          </a:p>
          <a:p>
            <a:pPr marL="0" indent="0" algn="just">
              <a:lnSpc>
                <a:spcPct val="120000"/>
              </a:lnSpc>
              <a:buNone/>
            </a:pPr>
            <a:r>
              <a:rPr lang="en-US" b="1" dirty="0" smtClean="0">
                <a:latin typeface="Times New Roman" panose="02020603050405020304" pitchFamily="18" charset="0"/>
                <a:cs typeface="Times New Roman" panose="02020603050405020304" pitchFamily="18" charset="0"/>
              </a:rPr>
              <a:t>Hard Disk</a:t>
            </a:r>
          </a:p>
          <a:p>
            <a:pPr algn="just">
              <a:lnSpc>
                <a:spcPct val="120000"/>
              </a:lnSpc>
            </a:pPr>
            <a:r>
              <a:rPr lang="en-US" dirty="0">
                <a:latin typeface="Times New Roman" panose="02020603050405020304" pitchFamily="18" charset="0"/>
                <a:cs typeface="Times New Roman" panose="02020603050405020304" pitchFamily="18" charset="0"/>
              </a:rPr>
              <a:t>They are used as backup storage. They are cheaper than main memory and larger in size generally in a few TB</a:t>
            </a:r>
            <a:r>
              <a:rPr lang="en-US" dirty="0" smtClean="0">
                <a:latin typeface="Times New Roman" panose="02020603050405020304" pitchFamily="18" charset="0"/>
                <a:cs typeface="Times New Roman" panose="02020603050405020304" pitchFamily="18" charset="0"/>
              </a:rPr>
              <a:t>.</a:t>
            </a:r>
          </a:p>
          <a:p>
            <a:pPr marL="0" indent="0" algn="just">
              <a:lnSpc>
                <a:spcPct val="120000"/>
              </a:lnSpc>
              <a:buNone/>
            </a:pPr>
            <a:r>
              <a:rPr lang="en-US" b="1" dirty="0" smtClean="0">
                <a:latin typeface="Times New Roman" panose="02020603050405020304" pitchFamily="18" charset="0"/>
                <a:cs typeface="Times New Roman" panose="02020603050405020304" pitchFamily="18" charset="0"/>
              </a:rPr>
              <a:t>Magnetic Tape</a:t>
            </a:r>
          </a:p>
          <a:p>
            <a:pPr algn="just">
              <a:lnSpc>
                <a:spcPct val="120000"/>
              </a:lnSpc>
            </a:pPr>
            <a:r>
              <a:rPr lang="en-US" dirty="0">
                <a:latin typeface="Times New Roman" panose="02020603050405020304" pitchFamily="18" charset="0"/>
                <a:cs typeface="Times New Roman" panose="02020603050405020304" pitchFamily="18" charset="0"/>
              </a:rPr>
              <a:t>They are used to store removable files and are the cheapest and largest in size </a:t>
            </a: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4</a:t>
            </a:fld>
            <a:endParaRPr lang="en-US"/>
          </a:p>
        </p:txBody>
      </p:sp>
    </p:spTree>
    <p:extLst>
      <p:ext uri="{BB962C8B-B14F-4D97-AF65-F5344CB8AC3E}">
        <p14:creationId xmlns:p14="http://schemas.microsoft.com/office/powerpoint/2010/main" val="1839489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10085"/>
          </a:xfrm>
        </p:spPr>
        <p:txBody>
          <a:bodyPr>
            <a:normAutofit fontScale="90000"/>
          </a:bodyPr>
          <a:lstStyle/>
          <a:p>
            <a:pPr algn="ctr"/>
            <a:r>
              <a:rPr lang="en-US" b="1" dirty="0" smtClean="0">
                <a:latin typeface="Times New Roman" pitchFamily="18" charset="0"/>
                <a:cs typeface="Times New Roman" pitchFamily="18" charset="0"/>
              </a:rPr>
              <a:t>Memory Management Requirements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888274"/>
            <a:ext cx="10515600" cy="5617029"/>
          </a:xfrm>
        </p:spPr>
        <p:txBody>
          <a:bodyPr>
            <a:normAutofit/>
          </a:bodyPr>
          <a:lstStyle/>
          <a:p>
            <a:pPr>
              <a:buNone/>
            </a:pPr>
            <a:r>
              <a:rPr lang="en-US" b="1" dirty="0" smtClean="0">
                <a:latin typeface="Times New Roman" pitchFamily="18" charset="0"/>
                <a:cs typeface="Times New Roman" pitchFamily="18" charset="0"/>
              </a:rPr>
              <a:t>Relocation</a:t>
            </a:r>
            <a:r>
              <a:rPr lang="en-US" sz="2000" dirty="0" smtClean="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Programmer does not know where the program will be placed in memory when it is executed </a:t>
            </a:r>
          </a:p>
          <a:p>
            <a:r>
              <a:rPr lang="en-US" sz="2000" dirty="0" smtClean="0">
                <a:latin typeface="Times New Roman" pitchFamily="18" charset="0"/>
                <a:cs typeface="Times New Roman" pitchFamily="18" charset="0"/>
              </a:rPr>
              <a:t>While the program is executing, it may be swapped to disk and returned to main memory at a different location (relocated)</a:t>
            </a:r>
          </a:p>
          <a:p>
            <a:r>
              <a:rPr lang="en-US" sz="2000" dirty="0" smtClean="0">
                <a:latin typeface="Times New Roman" pitchFamily="18" charset="0"/>
                <a:cs typeface="Times New Roman" pitchFamily="18" charset="0"/>
              </a:rPr>
              <a:t>Memory addresses must be translated in the code to actual physical memory address.</a:t>
            </a:r>
          </a:p>
          <a:p>
            <a:r>
              <a:rPr lang="en-US" sz="2000" dirty="0" smtClean="0">
                <a:latin typeface="Times New Roman" pitchFamily="18" charset="0"/>
                <a:cs typeface="Times New Roman" pitchFamily="18" charset="0"/>
              </a:rPr>
              <a:t> Hardware used - Base register, limit register</a:t>
            </a:r>
            <a:endParaRPr lang="en-US"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6727372" y="2852058"/>
            <a:ext cx="4251688" cy="3505200"/>
          </a:xfrm>
          <a:prstGeom prst="rect">
            <a:avLst/>
          </a:prstGeom>
          <a:noFill/>
          <a:ln w="9525">
            <a:noFill/>
            <a:miter lim="800000"/>
            <a:headEnd/>
            <a:tailEnd/>
          </a:ln>
          <a:effectLst/>
        </p:spPr>
      </p:pic>
      <p:sp>
        <p:nvSpPr>
          <p:cNvPr id="5" name="TextBox 4"/>
          <p:cNvSpPr txBox="1"/>
          <p:nvPr/>
        </p:nvSpPr>
        <p:spPr>
          <a:xfrm>
            <a:off x="953589" y="3448594"/>
            <a:ext cx="5303520" cy="2677656"/>
          </a:xfrm>
          <a:prstGeom prst="rect">
            <a:avLst/>
          </a:prstGeom>
          <a:noFill/>
        </p:spPr>
        <p:txBody>
          <a:bodyPr wrap="square" rtlCol="0">
            <a:spAutoFit/>
          </a:bodyPr>
          <a:lstStyle/>
          <a:p>
            <a:r>
              <a:rPr lang="en-US" sz="2400" dirty="0" smtClean="0">
                <a:latin typeface="Times New Roman" pitchFamily="18" charset="0"/>
                <a:cs typeface="Times New Roman" pitchFamily="18" charset="0"/>
              </a:rPr>
              <a:t>Base register: Holds smallest legal physical memory address. </a:t>
            </a:r>
          </a:p>
          <a:p>
            <a:r>
              <a:rPr lang="en-US" sz="2400" dirty="0" smtClean="0">
                <a:latin typeface="Times New Roman" pitchFamily="18" charset="0"/>
                <a:cs typeface="Times New Roman" pitchFamily="18" charset="0"/>
              </a:rPr>
              <a:t>Limit register: contain the size of range.</a:t>
            </a:r>
          </a:p>
          <a:p>
            <a:r>
              <a:rPr lang="en-US" sz="2400" dirty="0" smtClean="0">
                <a:latin typeface="Times New Roman" pitchFamily="18" charset="0"/>
                <a:cs typeface="Times New Roman" pitchFamily="18" charset="0"/>
              </a:rPr>
              <a:t> Example: </a:t>
            </a:r>
          </a:p>
          <a:p>
            <a:r>
              <a:rPr lang="en-US" sz="2400" dirty="0" smtClean="0">
                <a:latin typeface="Times New Roman" pitchFamily="18" charset="0"/>
                <a:cs typeface="Times New Roman" pitchFamily="18" charset="0"/>
              </a:rPr>
              <a:t>logical address = 300</a:t>
            </a:r>
          </a:p>
          <a:p>
            <a:r>
              <a:rPr lang="en-US" sz="2400" dirty="0" smtClean="0">
                <a:latin typeface="Times New Roman" pitchFamily="18" charset="0"/>
                <a:cs typeface="Times New Roman" pitchFamily="18" charset="0"/>
              </a:rPr>
              <a:t> if Base = 1500</a:t>
            </a:r>
          </a:p>
          <a:p>
            <a:r>
              <a:rPr lang="en-US" sz="2400" dirty="0" smtClean="0">
                <a:latin typeface="Times New Roman" pitchFamily="18" charset="0"/>
                <a:cs typeface="Times New Roman" pitchFamily="18" charset="0"/>
              </a:rPr>
              <a:t> physical address = 1500 + 300 = 1800.</a:t>
            </a:r>
            <a:endParaRPr lang="en-US"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6" name="Slide Number Placeholder 5"/>
          <p:cNvSpPr>
            <a:spLocks noGrp="1"/>
          </p:cNvSpPr>
          <p:nvPr>
            <p:ph type="sldNum" sz="quarter" idx="12"/>
          </p:nvPr>
        </p:nvSpPr>
        <p:spPr/>
        <p:txBody>
          <a:bodyPr/>
          <a:lstStyle/>
          <a:p>
            <a:fld id="{7B79A216-6713-4607-98FC-E026344EDDE7}" type="slidenum">
              <a:rPr lang="en-US" smtClean="0"/>
              <a:t>5</a:t>
            </a:fld>
            <a:endParaRPr lang="en-US"/>
          </a:p>
        </p:txBody>
      </p:sp>
    </p:spTree>
    <p:extLst>
      <p:ext uri="{BB962C8B-B14F-4D97-AF65-F5344CB8AC3E}">
        <p14:creationId xmlns:p14="http://schemas.microsoft.com/office/powerpoint/2010/main" val="2107834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2514"/>
            <a:ext cx="10515600" cy="5654449"/>
          </a:xfrm>
        </p:spPr>
        <p:txBody>
          <a:bodyPr>
            <a:normAutofit/>
          </a:bodyPr>
          <a:lstStyle/>
          <a:p>
            <a:pPr algn="just">
              <a:lnSpc>
                <a:spcPct val="160000"/>
              </a:lnSpc>
              <a:buNone/>
            </a:pPr>
            <a:r>
              <a:rPr lang="en-US" sz="2400" b="1" dirty="0" smtClean="0">
                <a:latin typeface="Times New Roman" pitchFamily="18" charset="0"/>
                <a:cs typeface="Times New Roman" pitchFamily="18" charset="0"/>
              </a:rPr>
              <a:t>Protection</a:t>
            </a:r>
          </a:p>
          <a:p>
            <a:pPr algn="just">
              <a:lnSpc>
                <a:spcPct val="160000"/>
              </a:lnSpc>
            </a:pPr>
            <a:r>
              <a:rPr lang="en-US" sz="2000" dirty="0" smtClean="0">
                <a:latin typeface="Times New Roman" pitchFamily="18" charset="0"/>
                <a:cs typeface="Times New Roman" pitchFamily="18" charset="0"/>
              </a:rPr>
              <a:t>Prevent processes from interfering with the OS or other processes.</a:t>
            </a:r>
          </a:p>
          <a:p>
            <a:pPr algn="just">
              <a:lnSpc>
                <a:spcPct val="160000"/>
              </a:lnSpc>
            </a:pPr>
            <a:r>
              <a:rPr lang="en-US" sz="2000" dirty="0" smtClean="0">
                <a:latin typeface="Times New Roman" pitchFamily="18" charset="0"/>
                <a:cs typeface="Times New Roman" pitchFamily="18" charset="0"/>
              </a:rPr>
              <a:t>Processes should not be able to reference memory locations in another process without permission. </a:t>
            </a:r>
          </a:p>
          <a:p>
            <a:pPr algn="just">
              <a:lnSpc>
                <a:spcPct val="160000"/>
              </a:lnSpc>
            </a:pPr>
            <a:r>
              <a:rPr lang="en-US" sz="2000" dirty="0" smtClean="0">
                <a:latin typeface="Times New Roman" pitchFamily="18" charset="0"/>
                <a:cs typeface="Times New Roman" pitchFamily="18" charset="0"/>
              </a:rPr>
              <a:t>Impossible to check absolute addresses in programs since the program could be relocated.</a:t>
            </a:r>
          </a:p>
          <a:p>
            <a:pPr algn="just">
              <a:lnSpc>
                <a:spcPct val="160000"/>
              </a:lnSpc>
            </a:pPr>
            <a:r>
              <a:rPr lang="en-US" sz="2000" dirty="0" smtClean="0">
                <a:latin typeface="Times New Roman" pitchFamily="18" charset="0"/>
                <a:cs typeface="Times New Roman" pitchFamily="18" charset="0"/>
              </a:rPr>
              <a:t>Often integrated with relocation. </a:t>
            </a:r>
          </a:p>
          <a:p>
            <a:pPr algn="just">
              <a:lnSpc>
                <a:spcPct val="160000"/>
              </a:lnSpc>
              <a:buNone/>
            </a:pPr>
            <a:r>
              <a:rPr lang="en-US" sz="2400" b="1" dirty="0" smtClean="0">
                <a:latin typeface="Times New Roman" pitchFamily="18" charset="0"/>
                <a:cs typeface="Times New Roman" pitchFamily="18" charset="0"/>
              </a:rPr>
              <a:t>Sharing</a:t>
            </a:r>
          </a:p>
          <a:p>
            <a:pPr algn="just">
              <a:lnSpc>
                <a:spcPct val="160000"/>
              </a:lnSpc>
              <a:buNone/>
            </a:pPr>
            <a:r>
              <a:rPr lang="en-US" sz="2000" dirty="0" smtClean="0">
                <a:latin typeface="Times New Roman" pitchFamily="18" charset="0"/>
                <a:cs typeface="Times New Roman" pitchFamily="18" charset="0"/>
              </a:rPr>
              <a:t>• Allow several processes to access the same portion of memory (allow to share data). </a:t>
            </a:r>
          </a:p>
          <a:p>
            <a:pPr algn="just">
              <a:lnSpc>
                <a:spcPct val="160000"/>
              </a:lnSpc>
              <a:buNone/>
            </a:pPr>
            <a:r>
              <a:rPr lang="en-US" sz="2000" dirty="0" smtClean="0">
                <a:latin typeface="Times New Roman" pitchFamily="18" charset="0"/>
                <a:cs typeface="Times New Roman" pitchFamily="18" charset="0"/>
              </a:rPr>
              <a:t>• Better to allow each process (person) access to the same copy of the program rather than have their own separate copy.</a:t>
            </a:r>
            <a:endParaRPr lang="en-US" sz="2000" dirty="0">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6</a:t>
            </a:fld>
            <a:endParaRPr lang="en-US"/>
          </a:p>
        </p:txBody>
      </p:sp>
    </p:spTree>
    <p:extLst>
      <p:ext uri="{BB962C8B-B14F-4D97-AF65-F5344CB8AC3E}">
        <p14:creationId xmlns:p14="http://schemas.microsoft.com/office/powerpoint/2010/main" val="107726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3"/>
          </a:xfrm>
        </p:spPr>
        <p:txBody>
          <a:bodyPr>
            <a:normAutofit/>
          </a:bodyPr>
          <a:lstStyle/>
          <a:p>
            <a:pPr algn="ctr"/>
            <a:r>
              <a:rPr lang="en-US" sz="3600" b="1" dirty="0" smtClean="0">
                <a:latin typeface="Times New Roman" pitchFamily="18" charset="0"/>
                <a:cs typeface="Times New Roman" pitchFamily="18" charset="0"/>
              </a:rPr>
              <a:t>Address Protection with Base and Limit Registers</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23406"/>
            <a:ext cx="10515600" cy="5053557"/>
          </a:xfrm>
        </p:spPr>
        <p:txBody>
          <a:bodyPr>
            <a:normAutofit/>
          </a:bodyPr>
          <a:lstStyle/>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  </a:t>
            </a: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CPU compare every address generated in user mode with the base registers. Any attempt by a program executing in user mode to access operating-system memory or other users' memory results in a trap to the operating system, which treats the attempt as a fatal error</a:t>
            </a:r>
            <a:endParaRPr lang="en-US" sz="20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1018903" y="1254035"/>
            <a:ext cx="9757954" cy="3644536"/>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7</a:t>
            </a:fld>
            <a:endParaRPr lang="en-US"/>
          </a:p>
        </p:txBody>
      </p:sp>
    </p:spTree>
    <p:extLst>
      <p:ext uri="{BB962C8B-B14F-4D97-AF65-F5344CB8AC3E}">
        <p14:creationId xmlns:p14="http://schemas.microsoft.com/office/powerpoint/2010/main" val="4116488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5035"/>
          </a:xfrm>
        </p:spPr>
        <p:txBody>
          <a:bodyPr/>
          <a:lstStyle/>
          <a:p>
            <a:r>
              <a:rPr lang="en-US" dirty="0" smtClean="0">
                <a:latin typeface="Times New Roman" pitchFamily="18" charset="0"/>
                <a:cs typeface="Times New Roman" pitchFamily="18" charset="0"/>
              </a:rPr>
              <a:t>Logical vs. Physical Memory Address Space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280160"/>
            <a:ext cx="10515600" cy="4896803"/>
          </a:xfrm>
        </p:spPr>
        <p:txBody>
          <a:bodyPr>
            <a:normAutofit fontScale="92500" lnSpcReduction="20000"/>
          </a:bodyPr>
          <a:lstStyle/>
          <a:p>
            <a:pPr algn="just">
              <a:lnSpc>
                <a:spcPct val="150000"/>
              </a:lnSpc>
              <a:buNone/>
            </a:pPr>
            <a:r>
              <a:rPr lang="en-US" sz="2400" b="1" dirty="0" smtClean="0">
                <a:latin typeface="Times New Roman" pitchFamily="18" charset="0"/>
                <a:cs typeface="Times New Roman" pitchFamily="18" charset="0"/>
              </a:rPr>
              <a:t>Logical Address: </a:t>
            </a:r>
            <a:r>
              <a:rPr lang="en-US" sz="2400" dirty="0" smtClean="0">
                <a:latin typeface="Times New Roman" pitchFamily="18" charset="0"/>
                <a:cs typeface="Times New Roman" pitchFamily="18" charset="0"/>
              </a:rPr>
              <a:t>The address generated by CPU. Also known as virtual address. </a:t>
            </a:r>
          </a:p>
          <a:p>
            <a:pPr algn="just">
              <a:lnSpc>
                <a:spcPct val="150000"/>
              </a:lnSpc>
              <a:buNone/>
            </a:pPr>
            <a:r>
              <a:rPr lang="en-US" sz="2400" b="1" dirty="0" smtClean="0">
                <a:latin typeface="Times New Roman" pitchFamily="18" charset="0"/>
                <a:cs typeface="Times New Roman" pitchFamily="18" charset="0"/>
              </a:rPr>
              <a:t>Physical Address: </a:t>
            </a:r>
            <a:r>
              <a:rPr lang="en-US" sz="2400" dirty="0" smtClean="0">
                <a:latin typeface="Times New Roman" pitchFamily="18" charset="0"/>
                <a:cs typeface="Times New Roman" pitchFamily="18" charset="0"/>
              </a:rPr>
              <a:t>Actual address loaded into the memory address register. </a:t>
            </a:r>
          </a:p>
          <a:p>
            <a:pPr algn="just">
              <a:lnSpc>
                <a:spcPct val="150000"/>
              </a:lnSpc>
            </a:pPr>
            <a:r>
              <a:rPr lang="en-US" sz="2400" dirty="0" smtClean="0">
                <a:latin typeface="Times New Roman" pitchFamily="18" charset="0"/>
                <a:cs typeface="Times New Roman" pitchFamily="18" charset="0"/>
              </a:rPr>
              <a:t>The set of all logical addresses generated by a program is a logical address space; the set of all physical addresses corresponding to these logical addresses is a physical address space. </a:t>
            </a:r>
          </a:p>
          <a:p>
            <a:pPr algn="just">
              <a:lnSpc>
                <a:spcPct val="150000"/>
              </a:lnSpc>
            </a:pPr>
            <a:r>
              <a:rPr lang="en-US" sz="2400" dirty="0" smtClean="0">
                <a:latin typeface="Times New Roman" pitchFamily="18" charset="0"/>
                <a:cs typeface="Times New Roman" pitchFamily="18" charset="0"/>
              </a:rPr>
              <a:t>Mapping from logical address to physical address is relocation.</a:t>
            </a:r>
          </a:p>
          <a:p>
            <a:pPr algn="just">
              <a:lnSpc>
                <a:spcPct val="150000"/>
              </a:lnSpc>
            </a:pPr>
            <a:r>
              <a:rPr lang="en-US" sz="2400" dirty="0" smtClean="0">
                <a:latin typeface="Times New Roman" pitchFamily="18" charset="0"/>
                <a:cs typeface="Times New Roman" pitchFamily="18" charset="0"/>
              </a:rPr>
              <a:t> Two registers: Base (relocation) and Limit are used in mapping.</a:t>
            </a:r>
          </a:p>
          <a:p>
            <a:pPr algn="just">
              <a:lnSpc>
                <a:spcPct val="150000"/>
              </a:lnSpc>
            </a:pPr>
            <a:r>
              <a:rPr lang="en-US" sz="2400" dirty="0" smtClean="0">
                <a:latin typeface="Times New Roman" pitchFamily="18" charset="0"/>
                <a:cs typeface="Times New Roman" pitchFamily="18" charset="0"/>
              </a:rPr>
              <a:t>Hardware device that maps virtual to physical address at run time is Memory Management Unit(MMU)</a:t>
            </a:r>
            <a:endParaRPr lang="en-US"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8</a:t>
            </a:fld>
            <a:endParaRPr lang="en-US"/>
          </a:p>
        </p:txBody>
      </p:sp>
    </p:spTree>
    <p:extLst>
      <p:ext uri="{BB962C8B-B14F-4D97-AF65-F5344CB8AC3E}">
        <p14:creationId xmlns:p14="http://schemas.microsoft.com/office/powerpoint/2010/main" val="2413185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23148"/>
          </a:xfrm>
        </p:spPr>
        <p:txBody>
          <a:bodyPr>
            <a:normAutofit fontScale="90000"/>
          </a:bodyPr>
          <a:lstStyle/>
          <a:p>
            <a:pPr algn="ctr"/>
            <a:r>
              <a:rPr lang="en-US" b="1" dirty="0" smtClean="0">
                <a:latin typeface="Times New Roman" pitchFamily="18" charset="0"/>
                <a:cs typeface="Times New Roman" pitchFamily="18" charset="0"/>
              </a:rPr>
              <a:t>Memory management with Swapping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62594"/>
            <a:ext cx="10800806" cy="5014369"/>
          </a:xfrm>
        </p:spPr>
        <p:txBody>
          <a:bodyPr>
            <a:normAutofit/>
          </a:bodyPr>
          <a:lstStyle/>
          <a:p>
            <a:pPr algn="just">
              <a:lnSpc>
                <a:spcPct val="150000"/>
              </a:lnSpc>
            </a:pPr>
            <a:r>
              <a:rPr lang="en-US" sz="2000" dirty="0" smtClean="0">
                <a:latin typeface="Times New Roman" pitchFamily="18" charset="0"/>
                <a:cs typeface="Times New Roman" pitchFamily="18" charset="0"/>
              </a:rPr>
              <a:t>Swapping is mechanism in which a process can be swapped temporarily out of main memory to secondary storage (disk) and make the that memory available to other processes. At some later time, the system swaps back the process from the secondary  storage to main memory</a:t>
            </a:r>
          </a:p>
        </p:txBody>
      </p:sp>
      <p:sp>
        <p:nvSpPr>
          <p:cNvPr id="4" name="TextBox 3"/>
          <p:cNvSpPr txBox="1"/>
          <p:nvPr/>
        </p:nvSpPr>
        <p:spPr>
          <a:xfrm>
            <a:off x="862148" y="2899954"/>
            <a:ext cx="5185955" cy="3373359"/>
          </a:xfrm>
          <a:prstGeom prst="rect">
            <a:avLst/>
          </a:prstGeom>
          <a:noFill/>
        </p:spPr>
        <p:txBody>
          <a:bodyPr wrap="square" rtlCol="0">
            <a:spAutoFit/>
          </a:bodyPr>
          <a:lstStyle/>
          <a:p>
            <a:pPr algn="just">
              <a:lnSpc>
                <a:spcPct val="150000"/>
              </a:lnSpc>
              <a:buFont typeface="Arial" pitchFamily="34" charset="0"/>
              <a:buChar char="•"/>
            </a:pPr>
            <a:r>
              <a:rPr lang="en-US" dirty="0" smtClean="0">
                <a:latin typeface="Times New Roman" pitchFamily="18" charset="0"/>
                <a:cs typeface="Times New Roman" pitchFamily="18" charset="0"/>
              </a:rPr>
              <a:t>In multiprogramming processes will be swapped in and out many times before its completion. In some swapping systems, one processes occupies the main memory at once; when process can no longer to continue it relinquishes</a:t>
            </a:r>
          </a:p>
          <a:p>
            <a:pPr algn="just">
              <a:lnSpc>
                <a:spcPct val="150000"/>
              </a:lnSpc>
              <a:buFont typeface="Arial" pitchFamily="34" charset="0"/>
              <a:buChar char="•"/>
            </a:pPr>
            <a:r>
              <a:rPr lang="en-US" dirty="0" smtClean="0">
                <a:latin typeface="Times New Roman" pitchFamily="18" charset="0"/>
                <a:cs typeface="Times New Roman" pitchFamily="18" charset="0"/>
              </a:rPr>
              <a:t>It is needed when there is no enough main memory to hold all the currently active in timesharing system.</a:t>
            </a:r>
          </a:p>
          <a:p>
            <a:pPr algn="just">
              <a:lnSpc>
                <a:spcPct val="150000"/>
              </a:lnSpc>
            </a:pPr>
            <a:endParaRPr lang="en-US" dirty="0">
              <a:latin typeface="Times New Roman" pitchFamily="18" charset="0"/>
              <a:cs typeface="Times New Roman" pitchFamily="18" charset="0"/>
            </a:endParaRPr>
          </a:p>
        </p:txBody>
      </p:sp>
      <p:pic>
        <p:nvPicPr>
          <p:cNvPr id="3075" name="Picture 3"/>
          <p:cNvPicPr>
            <a:picLocks noChangeAspect="1" noChangeArrowheads="1"/>
          </p:cNvPicPr>
          <p:nvPr/>
        </p:nvPicPr>
        <p:blipFill>
          <a:blip r:embed="rId2"/>
          <a:srcRect/>
          <a:stretch>
            <a:fillRect/>
          </a:stretch>
        </p:blipFill>
        <p:spPr bwMode="auto">
          <a:xfrm>
            <a:off x="6413863" y="2664823"/>
            <a:ext cx="5062810" cy="3344772"/>
          </a:xfrm>
          <a:prstGeom prst="rect">
            <a:avLst/>
          </a:prstGeom>
          <a:noFill/>
          <a:ln w="9525">
            <a:noFill/>
            <a:miter lim="800000"/>
            <a:headEnd/>
            <a:tailEnd/>
          </a:ln>
          <a:effectLst/>
        </p:spPr>
      </p:pic>
      <p:sp>
        <p:nvSpPr>
          <p:cNvPr id="5" name="Footer Placeholder 4"/>
          <p:cNvSpPr>
            <a:spLocks noGrp="1"/>
          </p:cNvSpPr>
          <p:nvPr>
            <p:ph type="ftr" sz="quarter" idx="11"/>
          </p:nvPr>
        </p:nvSpPr>
        <p:spPr/>
        <p:txBody>
          <a:bodyPr/>
          <a:lstStyle/>
          <a:p>
            <a:r>
              <a:rPr lang="en-US" smtClean="0"/>
              <a:t>Bhupendra Ram Luhar</a:t>
            </a:r>
            <a:endParaRPr lang="en-US"/>
          </a:p>
        </p:txBody>
      </p:sp>
      <p:sp>
        <p:nvSpPr>
          <p:cNvPr id="6" name="Slide Number Placeholder 5"/>
          <p:cNvSpPr>
            <a:spLocks noGrp="1"/>
          </p:cNvSpPr>
          <p:nvPr>
            <p:ph type="sldNum" sz="quarter" idx="12"/>
          </p:nvPr>
        </p:nvSpPr>
        <p:spPr/>
        <p:txBody>
          <a:bodyPr/>
          <a:lstStyle/>
          <a:p>
            <a:fld id="{7B79A216-6713-4607-98FC-E026344EDDE7}" type="slidenum">
              <a:rPr lang="en-US" smtClean="0"/>
              <a:t>9</a:t>
            </a:fld>
            <a:endParaRPr lang="en-US"/>
          </a:p>
        </p:txBody>
      </p:sp>
    </p:spTree>
    <p:extLst>
      <p:ext uri="{BB962C8B-B14F-4D97-AF65-F5344CB8AC3E}">
        <p14:creationId xmlns:p14="http://schemas.microsoft.com/office/powerpoint/2010/main" val="195620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1074"/>
            <a:ext cx="10515600" cy="5745889"/>
          </a:xfrm>
        </p:spPr>
        <p:txBody>
          <a:bodyPr>
            <a:normAutofit fontScale="62500" lnSpcReduction="20000"/>
          </a:bodyPr>
          <a:lstStyle/>
          <a:p>
            <a:pPr algn="just">
              <a:lnSpc>
                <a:spcPct val="150000"/>
              </a:lnSpc>
              <a:buNone/>
            </a:pPr>
            <a:r>
              <a:rPr lang="en-US" b="1" dirty="0" smtClean="0">
                <a:latin typeface="Times New Roman" pitchFamily="18" charset="0"/>
                <a:cs typeface="Times New Roman" pitchFamily="18" charset="0"/>
              </a:rPr>
              <a:t>Memory Management With Bitmaps</a:t>
            </a:r>
          </a:p>
          <a:p>
            <a:pPr algn="just">
              <a:lnSpc>
                <a:spcPct val="150000"/>
              </a:lnSpc>
            </a:pPr>
            <a:r>
              <a:rPr lang="en-US" dirty="0" smtClean="0">
                <a:latin typeface="Times New Roman" pitchFamily="18" charset="0"/>
                <a:cs typeface="Times New Roman" pitchFamily="18" charset="0"/>
              </a:rPr>
              <a:t>Memory is divided into allocation units and each allocation unit has a bit in the bitmap.</a:t>
            </a:r>
          </a:p>
          <a:p>
            <a:pPr algn="just">
              <a:lnSpc>
                <a:spcPct val="150000"/>
              </a:lnSpc>
            </a:pPr>
            <a:r>
              <a:rPr lang="en-US" dirty="0" smtClean="0">
                <a:latin typeface="Times New Roman" pitchFamily="18" charset="0"/>
                <a:cs typeface="Times New Roman" pitchFamily="18" charset="0"/>
              </a:rPr>
              <a:t> If the bit is 0, the unit is free.</a:t>
            </a:r>
          </a:p>
          <a:p>
            <a:pPr algn="just">
              <a:lnSpc>
                <a:spcPct val="150000"/>
              </a:lnSpc>
            </a:pPr>
            <a:r>
              <a:rPr lang="en-US" dirty="0" smtClean="0">
                <a:latin typeface="Times New Roman" pitchFamily="18" charset="0"/>
                <a:cs typeface="Times New Roman" pitchFamily="18" charset="0"/>
              </a:rPr>
              <a:t>It requires less memory to store bit maps.</a:t>
            </a:r>
          </a:p>
          <a:p>
            <a:pPr algn="just">
              <a:lnSpc>
                <a:spcPct val="150000"/>
              </a:lnSpc>
            </a:pPr>
            <a:r>
              <a:rPr lang="en-US" dirty="0" smtClean="0">
                <a:latin typeface="Times New Roman" pitchFamily="18" charset="0"/>
                <a:cs typeface="Times New Roman" pitchFamily="18" charset="0"/>
              </a:rPr>
              <a:t>The main problem is that when it has been decided to bring a k unit  process, the memory manager must search the bitmap to find a run of k consecutive 0 bits </a:t>
            </a:r>
            <a:r>
              <a:rPr lang="en-US" smtClean="0">
                <a:latin typeface="Times New Roman" pitchFamily="18" charset="0"/>
                <a:cs typeface="Times New Roman" pitchFamily="18" charset="0"/>
              </a:rPr>
              <a:t>in the map.</a:t>
            </a:r>
            <a:endParaRPr lang="en-US" dirty="0" smtClean="0">
              <a:latin typeface="Times New Roman" pitchFamily="18" charset="0"/>
              <a:cs typeface="Times New Roman" pitchFamily="18" charset="0"/>
            </a:endParaRPr>
          </a:p>
          <a:p>
            <a:pPr algn="just">
              <a:lnSpc>
                <a:spcPct val="150000"/>
              </a:lnSpc>
            </a:pPr>
            <a:r>
              <a:rPr lang="en-US" dirty="0" smtClean="0">
                <a:latin typeface="Times New Roman" pitchFamily="18" charset="0"/>
                <a:cs typeface="Times New Roman" pitchFamily="18" charset="0"/>
              </a:rPr>
              <a:t> Searching a bitmap for a run of a given length is a slow operation.</a:t>
            </a:r>
          </a:p>
          <a:p>
            <a:pPr algn="just">
              <a:lnSpc>
                <a:spcPct val="150000"/>
              </a:lnSpc>
              <a:buNone/>
            </a:pPr>
            <a:r>
              <a:rPr lang="en-US" b="1" dirty="0" smtClean="0">
                <a:latin typeface="Times New Roman" pitchFamily="18" charset="0"/>
                <a:cs typeface="Times New Roman" pitchFamily="18" charset="0"/>
              </a:rPr>
              <a:t>Memory Management With Linked List</a:t>
            </a:r>
          </a:p>
          <a:p>
            <a:pPr algn="just">
              <a:lnSpc>
                <a:spcPct val="150000"/>
              </a:lnSpc>
            </a:pPr>
            <a:r>
              <a:rPr lang="en-US" dirty="0" smtClean="0">
                <a:latin typeface="Times New Roman" pitchFamily="18" charset="0"/>
                <a:cs typeface="Times New Roman" pitchFamily="18" charset="0"/>
              </a:rPr>
              <a:t> A linked list of allocated and free memory segments is maintained.</a:t>
            </a:r>
          </a:p>
          <a:p>
            <a:pPr algn="just">
              <a:lnSpc>
                <a:spcPct val="150000"/>
              </a:lnSpc>
            </a:pPr>
            <a:r>
              <a:rPr lang="en-US" dirty="0" smtClean="0">
                <a:latin typeface="Times New Roman" pitchFamily="18" charset="0"/>
                <a:cs typeface="Times New Roman" pitchFamily="18" charset="0"/>
              </a:rPr>
              <a:t>Each entry in a list specifies a hole or process, address at which it starts, length and pointer to next entry.</a:t>
            </a:r>
          </a:p>
          <a:p>
            <a:pPr algn="just">
              <a:lnSpc>
                <a:spcPct val="150000"/>
              </a:lnSpc>
            </a:pPr>
            <a:r>
              <a:rPr lang="en-US" dirty="0" smtClean="0">
                <a:latin typeface="Times New Roman" pitchFamily="18" charset="0"/>
                <a:cs typeface="Times New Roman" pitchFamily="18" charset="0"/>
              </a:rPr>
              <a:t>Process and hole are on a list sorted by address.</a:t>
            </a:r>
            <a:endParaRPr lang="en-US" dirty="0">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10</a:t>
            </a:fld>
            <a:endParaRPr lang="en-US"/>
          </a:p>
        </p:txBody>
      </p:sp>
    </p:spTree>
    <p:extLst>
      <p:ext uri="{BB962C8B-B14F-4D97-AF65-F5344CB8AC3E}">
        <p14:creationId xmlns:p14="http://schemas.microsoft.com/office/powerpoint/2010/main" val="2237434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memspace_1597945240.jpg"/>
          <p:cNvPicPr>
            <a:picLocks noChangeAspect="1"/>
          </p:cNvPicPr>
          <p:nvPr/>
        </p:nvPicPr>
        <p:blipFill>
          <a:blip r:embed="rId2"/>
          <a:stretch>
            <a:fillRect/>
          </a:stretch>
        </p:blipFill>
        <p:spPr>
          <a:xfrm>
            <a:off x="705394" y="496389"/>
            <a:ext cx="10724606" cy="5656217"/>
          </a:xfrm>
          <a:prstGeom prst="rect">
            <a:avLst/>
          </a:prstGeom>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3" name="Slide Number Placeholder 2"/>
          <p:cNvSpPr>
            <a:spLocks noGrp="1"/>
          </p:cNvSpPr>
          <p:nvPr>
            <p:ph type="sldNum" sz="quarter" idx="12"/>
          </p:nvPr>
        </p:nvSpPr>
        <p:spPr/>
        <p:txBody>
          <a:bodyPr/>
          <a:lstStyle/>
          <a:p>
            <a:fld id="{7B79A216-6713-4607-98FC-E026344EDDE7}" type="slidenum">
              <a:rPr lang="en-US" smtClean="0"/>
              <a:t>11</a:t>
            </a:fld>
            <a:endParaRPr lang="en-US"/>
          </a:p>
        </p:txBody>
      </p:sp>
    </p:spTree>
    <p:extLst>
      <p:ext uri="{BB962C8B-B14F-4D97-AF65-F5344CB8AC3E}">
        <p14:creationId xmlns:p14="http://schemas.microsoft.com/office/powerpoint/2010/main" val="134272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3595"/>
          </a:xfrm>
        </p:spPr>
        <p:txBody>
          <a:bodyPr>
            <a:normAutofit/>
          </a:bodyPr>
          <a:lstStyle/>
          <a:p>
            <a:pPr algn="ctr"/>
            <a:r>
              <a:rPr lang="en-US" sz="4000" b="1" dirty="0" smtClean="0">
                <a:latin typeface="Times New Roman" pitchFamily="18" charset="0"/>
                <a:cs typeface="Times New Roman" pitchFamily="18" charset="0"/>
              </a:rPr>
              <a:t>Mono programming</a:t>
            </a:r>
            <a:endParaRPr lang="en-US" sz="40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097280"/>
            <a:ext cx="10515600" cy="5079683"/>
          </a:xfrm>
        </p:spPr>
        <p:txBody>
          <a:bodyPr>
            <a:normAutofit/>
          </a:bodyPr>
          <a:lstStyle/>
          <a:p>
            <a:pPr algn="just">
              <a:lnSpc>
                <a:spcPct val="150000"/>
              </a:lnSpc>
            </a:pPr>
            <a:r>
              <a:rPr lang="en-US" sz="2000" dirty="0" smtClean="0">
                <a:latin typeface="Times New Roman" pitchFamily="18" charset="0"/>
                <a:cs typeface="Times New Roman" pitchFamily="18" charset="0"/>
              </a:rPr>
              <a:t>In this scheme, it is allowed to run only one program at a time, sharing memory between program and OS.</a:t>
            </a:r>
          </a:p>
          <a:p>
            <a:pPr algn="just">
              <a:lnSpc>
                <a:spcPct val="150000"/>
              </a:lnSpc>
            </a:pPr>
            <a:r>
              <a:rPr lang="en-US" sz="2000" dirty="0" smtClean="0">
                <a:latin typeface="Times New Roman" pitchFamily="18" charset="0"/>
                <a:cs typeface="Times New Roman" pitchFamily="18" charset="0"/>
              </a:rPr>
              <a:t>When user provides command, the OS copies requested program to memory form disk and executes it. As the program completes, the OS displays prompt character and waits for next command. When next command is provided, it beds new program into memory overwriting the previous program</a:t>
            </a:r>
            <a:endParaRPr lang="en-US" sz="2000" dirty="0">
              <a:latin typeface="Times New Roman" pitchFamily="18" charset="0"/>
              <a:cs typeface="Times New Roman" pitchFamily="18" charset="0"/>
            </a:endParaRPr>
          </a:p>
        </p:txBody>
      </p:sp>
      <p:pic>
        <p:nvPicPr>
          <p:cNvPr id="25602" name="Picture 2"/>
          <p:cNvPicPr>
            <a:picLocks noChangeAspect="1" noChangeArrowheads="1"/>
          </p:cNvPicPr>
          <p:nvPr/>
        </p:nvPicPr>
        <p:blipFill>
          <a:blip r:embed="rId2"/>
          <a:srcRect/>
          <a:stretch>
            <a:fillRect/>
          </a:stretch>
        </p:blipFill>
        <p:spPr bwMode="auto">
          <a:xfrm>
            <a:off x="2947851" y="3703729"/>
            <a:ext cx="5817325" cy="2579505"/>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12</a:t>
            </a:fld>
            <a:endParaRPr lang="en-US"/>
          </a:p>
        </p:txBody>
      </p:sp>
    </p:spTree>
    <p:extLst>
      <p:ext uri="{BB962C8B-B14F-4D97-AF65-F5344CB8AC3E}">
        <p14:creationId xmlns:p14="http://schemas.microsoft.com/office/powerpoint/2010/main" val="1789441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5218"/>
          </a:xfrm>
        </p:spPr>
        <p:txBody>
          <a:bodyPr/>
          <a:lstStyle/>
          <a:p>
            <a:pPr algn="ctr"/>
            <a:r>
              <a:rPr lang="en-US" dirty="0" smtClean="0">
                <a:latin typeface="Times New Roman" pitchFamily="18" charset="0"/>
                <a:cs typeface="Times New Roman" pitchFamily="18" charset="0"/>
              </a:rPr>
              <a:t>Multiprogramming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36469"/>
            <a:ext cx="10515600" cy="5040494"/>
          </a:xfrm>
        </p:spPr>
        <p:txBody>
          <a:bodyPr>
            <a:normAutofit fontScale="77500" lnSpcReduction="20000"/>
          </a:bodyPr>
          <a:lstStyle/>
          <a:p>
            <a:pPr algn="just">
              <a:lnSpc>
                <a:spcPct val="200000"/>
              </a:lnSpc>
            </a:pPr>
            <a:r>
              <a:rPr lang="en-US" dirty="0" smtClean="0">
                <a:latin typeface="Times New Roman" pitchFamily="18" charset="0"/>
                <a:cs typeface="Times New Roman" pitchFamily="18" charset="0"/>
              </a:rPr>
              <a:t>In multiprogramming, multiple program reside in main memory at time.</a:t>
            </a:r>
          </a:p>
          <a:p>
            <a:pPr algn="just">
              <a:lnSpc>
                <a:spcPct val="200000"/>
              </a:lnSpc>
            </a:pPr>
            <a:r>
              <a:rPr lang="en-US" dirty="0" smtClean="0">
                <a:latin typeface="Times New Roman" pitchFamily="18" charset="0"/>
                <a:cs typeface="Times New Roman" pitchFamily="18" charset="0"/>
              </a:rPr>
              <a:t>There are two Memory Management Techniques: </a:t>
            </a:r>
            <a:r>
              <a:rPr lang="en-US" b="1" dirty="0" smtClean="0">
                <a:latin typeface="Times New Roman" pitchFamily="18" charset="0"/>
                <a:cs typeface="Times New Roman" pitchFamily="18" charset="0"/>
              </a:rPr>
              <a:t>Contiguous</a:t>
            </a:r>
            <a:r>
              <a:rPr lang="en-US" dirty="0" smtClean="0">
                <a:latin typeface="Times New Roman" pitchFamily="18" charset="0"/>
                <a:cs typeface="Times New Roman" pitchFamily="18" charset="0"/>
              </a:rPr>
              <a:t>, and </a:t>
            </a:r>
            <a:r>
              <a:rPr lang="en-US" b="1" dirty="0" smtClean="0">
                <a:latin typeface="Times New Roman" pitchFamily="18" charset="0"/>
                <a:cs typeface="Times New Roman" pitchFamily="18" charset="0"/>
              </a:rPr>
              <a:t>Non-Contiguous</a:t>
            </a:r>
            <a:r>
              <a:rPr lang="en-US" dirty="0" smtClean="0">
                <a:latin typeface="Times New Roman" pitchFamily="18" charset="0"/>
                <a:cs typeface="Times New Roman" pitchFamily="18" charset="0"/>
              </a:rPr>
              <a:t>.</a:t>
            </a:r>
          </a:p>
          <a:p>
            <a:pPr algn="just">
              <a:lnSpc>
                <a:spcPct val="200000"/>
              </a:lnSpc>
            </a:pPr>
            <a:r>
              <a:rPr lang="en-US" dirty="0" smtClean="0">
                <a:latin typeface="Times New Roman" pitchFamily="18" charset="0"/>
                <a:cs typeface="Times New Roman" pitchFamily="18" charset="0"/>
              </a:rPr>
              <a:t>In Contiguous Technique, executing process must be loaded entirely in main-memory.</a:t>
            </a:r>
          </a:p>
          <a:p>
            <a:pPr algn="just">
              <a:lnSpc>
                <a:spcPct val="200000"/>
              </a:lnSpc>
            </a:pPr>
            <a:r>
              <a:rPr lang="en-US" dirty="0" smtClean="0">
                <a:latin typeface="Times New Roman" pitchFamily="18" charset="0"/>
                <a:cs typeface="Times New Roman" pitchFamily="18" charset="0"/>
              </a:rPr>
              <a:t>Contiguous Technique can be divided into:</a:t>
            </a:r>
          </a:p>
          <a:p>
            <a:pPr lvl="1" algn="just">
              <a:lnSpc>
                <a:spcPct val="200000"/>
              </a:lnSpc>
            </a:pPr>
            <a:r>
              <a:rPr lang="en-US" sz="2800" b="1" dirty="0" smtClean="0">
                <a:latin typeface="Times New Roman" pitchFamily="18" charset="0"/>
                <a:cs typeface="Times New Roman" pitchFamily="18" charset="0"/>
              </a:rPr>
              <a:t>Fixed (or static) partitioning</a:t>
            </a:r>
          </a:p>
          <a:p>
            <a:pPr lvl="1" algn="just">
              <a:lnSpc>
                <a:spcPct val="200000"/>
              </a:lnSpc>
            </a:pPr>
            <a:r>
              <a:rPr lang="en-US" sz="2800" b="1" dirty="0" smtClean="0">
                <a:latin typeface="Times New Roman" pitchFamily="18" charset="0"/>
                <a:cs typeface="Times New Roman" pitchFamily="18" charset="0"/>
              </a:rPr>
              <a:t>Variable (or dynamic) partitioning</a:t>
            </a:r>
          </a:p>
          <a:p>
            <a:pPr algn="just">
              <a:lnSpc>
                <a:spcPct val="200000"/>
              </a:lnSpc>
              <a:buNone/>
            </a:pP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13</a:t>
            </a:fld>
            <a:endParaRPr lang="en-US"/>
          </a:p>
        </p:txBody>
      </p:sp>
    </p:spTree>
    <p:extLst>
      <p:ext uri="{BB962C8B-B14F-4D97-AF65-F5344CB8AC3E}">
        <p14:creationId xmlns:p14="http://schemas.microsoft.com/office/powerpoint/2010/main" val="2302625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6389"/>
            <a:ext cx="10515600" cy="5680574"/>
          </a:xfrm>
        </p:spPr>
        <p:txBody>
          <a:bodyPr>
            <a:normAutofit/>
          </a:bodyPr>
          <a:lstStyle/>
          <a:p>
            <a:pPr algn="just">
              <a:buNone/>
            </a:pPr>
            <a:r>
              <a:rPr lang="en-US" sz="2000" b="1" dirty="0" smtClean="0">
                <a:latin typeface="Times New Roman" pitchFamily="18" charset="0"/>
                <a:cs typeface="Times New Roman" pitchFamily="18" charset="0"/>
              </a:rPr>
              <a:t>Fixed Partitioning</a:t>
            </a:r>
          </a:p>
          <a:p>
            <a:pPr algn="just"/>
            <a:r>
              <a:rPr lang="en-US" sz="2000" dirty="0" smtClean="0">
                <a:latin typeface="Times New Roman" pitchFamily="18" charset="0"/>
                <a:cs typeface="Times New Roman" pitchFamily="18" charset="0"/>
              </a:rPr>
              <a:t>It is also called static partitioning scheme.</a:t>
            </a:r>
          </a:p>
          <a:p>
            <a:pPr algn="just" fontAlgn="base"/>
            <a:r>
              <a:rPr lang="en-US" sz="2000" dirty="0" smtClean="0">
                <a:latin typeface="Times New Roman" pitchFamily="18" charset="0"/>
                <a:cs typeface="Times New Roman" pitchFamily="18" charset="0"/>
              </a:rPr>
              <a:t>In this technique, main memory is pre-divided into fixed size partitions.</a:t>
            </a:r>
          </a:p>
          <a:p>
            <a:pPr algn="just" fontAlgn="base"/>
            <a:r>
              <a:rPr lang="en-US" sz="2000" dirty="0" smtClean="0">
                <a:latin typeface="Times New Roman" pitchFamily="18" charset="0"/>
                <a:cs typeface="Times New Roman" pitchFamily="18" charset="0"/>
              </a:rPr>
              <a:t>The size of each partition is fixed and can not be changed.</a:t>
            </a:r>
          </a:p>
          <a:p>
            <a:pPr algn="just" fontAlgn="base"/>
            <a:r>
              <a:rPr lang="en-US" sz="2000" dirty="0" smtClean="0">
                <a:latin typeface="Times New Roman" pitchFamily="18" charset="0"/>
                <a:cs typeface="Times New Roman" pitchFamily="18" charset="0"/>
              </a:rPr>
              <a:t>Each partition is allowed to store only one process.</a:t>
            </a:r>
          </a:p>
          <a:p>
            <a:pPr algn="just"/>
            <a:endParaRPr lang="en-US" sz="2000" dirty="0">
              <a:latin typeface="Times New Roman" pitchFamily="18" charset="0"/>
              <a:cs typeface="Times New Roman" pitchFamily="18" charset="0"/>
            </a:endParaRPr>
          </a:p>
        </p:txBody>
      </p:sp>
      <p:pic>
        <p:nvPicPr>
          <p:cNvPr id="26626" name="Picture 2"/>
          <p:cNvPicPr>
            <a:picLocks noChangeAspect="1" noChangeArrowheads="1"/>
          </p:cNvPicPr>
          <p:nvPr/>
        </p:nvPicPr>
        <p:blipFill>
          <a:blip r:embed="rId2"/>
          <a:srcRect/>
          <a:stretch>
            <a:fillRect/>
          </a:stretch>
        </p:blipFill>
        <p:spPr bwMode="auto">
          <a:xfrm>
            <a:off x="1240972" y="2880769"/>
            <a:ext cx="6244046" cy="3343275"/>
          </a:xfrm>
          <a:prstGeom prst="rect">
            <a:avLst/>
          </a:prstGeom>
          <a:noFill/>
          <a:ln w="9525">
            <a:noFill/>
            <a:miter lim="800000"/>
            <a:headEnd/>
            <a:tailEnd/>
          </a:ln>
          <a:effectLst/>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14</a:t>
            </a:fld>
            <a:endParaRPr lang="en-US"/>
          </a:p>
        </p:txBody>
      </p:sp>
    </p:spTree>
    <p:extLst>
      <p:ext uri="{BB962C8B-B14F-4D97-AF65-F5344CB8AC3E}">
        <p14:creationId xmlns:p14="http://schemas.microsoft.com/office/powerpoint/2010/main" val="3219035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13509"/>
            <a:ext cx="10515600" cy="6309360"/>
          </a:xfrm>
        </p:spPr>
        <p:txBody>
          <a:bodyPr>
            <a:normAutofit/>
          </a:bodyPr>
          <a:lstStyle/>
          <a:p>
            <a:pPr>
              <a:buNone/>
            </a:pPr>
            <a:r>
              <a:rPr lang="en-US" sz="2000" b="1" dirty="0" smtClean="0">
                <a:latin typeface="Times New Roman" pitchFamily="18" charset="0"/>
                <a:cs typeface="Times New Roman" pitchFamily="18" charset="0"/>
              </a:rPr>
              <a:t>Variable Partition:</a:t>
            </a:r>
          </a:p>
          <a:p>
            <a:r>
              <a:rPr lang="en-US" sz="2000" dirty="0" smtClean="0">
                <a:latin typeface="Times New Roman" pitchFamily="18" charset="0"/>
                <a:cs typeface="Times New Roman" pitchFamily="18" charset="0"/>
              </a:rPr>
              <a:t>It is also called dynamic partitioning scheme.</a:t>
            </a:r>
          </a:p>
          <a:p>
            <a:r>
              <a:rPr lang="en-US" sz="2000" dirty="0" smtClean="0">
                <a:latin typeface="Times New Roman" pitchFamily="18" charset="0"/>
                <a:cs typeface="Times New Roman" pitchFamily="18" charset="0"/>
              </a:rPr>
              <a:t>The memory is partitioned dynamically when process comes and goes.</a:t>
            </a:r>
          </a:p>
          <a:p>
            <a:r>
              <a:rPr lang="en-US" sz="2000" dirty="0" smtClean="0">
                <a:latin typeface="Times New Roman" pitchFamily="18" charset="0"/>
                <a:cs typeface="Times New Roman" pitchFamily="18" charset="0"/>
              </a:rPr>
              <a:t>Initially RAM is empty and partition are made during the Run Time according to process’s need instead of partitioning during the system configure.</a:t>
            </a:r>
          </a:p>
          <a:p>
            <a:r>
              <a:rPr lang="en-US" sz="2000" dirty="0" smtClean="0">
                <a:latin typeface="Times New Roman" pitchFamily="18" charset="0"/>
                <a:cs typeface="Times New Roman" pitchFamily="18" charset="0"/>
              </a:rPr>
              <a:t>The size of partition will be equal to incoming process.</a:t>
            </a:r>
          </a:p>
          <a:p>
            <a:r>
              <a:rPr lang="en-US" sz="2000" dirty="0" smtClean="0">
                <a:latin typeface="Times New Roman" pitchFamily="18" charset="0"/>
                <a:cs typeface="Times New Roman" pitchFamily="18" charset="0"/>
              </a:rPr>
              <a:t>The number of partition in RAM is not fixed and depends on the number of incoming process and main memory.</a:t>
            </a:r>
            <a:endParaRPr lang="en-US" sz="2000" dirty="0">
              <a:latin typeface="Times New Roman" pitchFamily="18" charset="0"/>
              <a:cs typeface="Times New Roman" pitchFamily="18" charset="0"/>
            </a:endParaRPr>
          </a:p>
        </p:txBody>
      </p:sp>
      <p:pic>
        <p:nvPicPr>
          <p:cNvPr id="27650" name="Picture 2" descr="https://tutorialspoint.dev/image/111-10.png"/>
          <p:cNvPicPr>
            <a:picLocks noChangeAspect="1" noChangeArrowheads="1"/>
          </p:cNvPicPr>
          <p:nvPr/>
        </p:nvPicPr>
        <p:blipFill>
          <a:blip r:embed="rId2"/>
          <a:srcRect/>
          <a:stretch>
            <a:fillRect/>
          </a:stretch>
        </p:blipFill>
        <p:spPr bwMode="auto">
          <a:xfrm>
            <a:off x="3369037" y="3058432"/>
            <a:ext cx="3802471" cy="3342368"/>
          </a:xfrm>
          <a:prstGeom prst="rect">
            <a:avLst/>
          </a:prstGeom>
          <a:noFill/>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15</a:t>
            </a:fld>
            <a:endParaRPr lang="en-US"/>
          </a:p>
        </p:txBody>
      </p:sp>
    </p:spTree>
    <p:extLst>
      <p:ext uri="{BB962C8B-B14F-4D97-AF65-F5344CB8AC3E}">
        <p14:creationId xmlns:p14="http://schemas.microsoft.com/office/powerpoint/2010/main" val="4223632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7652"/>
          </a:xfrm>
        </p:spPr>
        <p:txBody>
          <a:bodyPr>
            <a:normAutofit fontScale="90000"/>
          </a:bodyPr>
          <a:lstStyle/>
          <a:p>
            <a:pPr algn="ctr"/>
            <a:r>
              <a:rPr lang="en-US" b="1" dirty="0" smtClean="0">
                <a:latin typeface="Times New Roman" pitchFamily="18" charset="0"/>
                <a:cs typeface="Times New Roman" pitchFamily="18" charset="0"/>
              </a:rPr>
              <a:t>Partition Selection Algorithms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75657"/>
            <a:ext cx="10515600" cy="5001306"/>
          </a:xfrm>
        </p:spPr>
        <p:txBody>
          <a:bodyPr>
            <a:normAutofit fontScale="85000" lnSpcReduction="10000"/>
          </a:bodyPr>
          <a:lstStyle/>
          <a:p>
            <a:pPr algn="just">
              <a:lnSpc>
                <a:spcPct val="150000"/>
              </a:lnSpc>
              <a:buNone/>
            </a:pPr>
            <a:r>
              <a:rPr lang="en-US" sz="2400" b="1" dirty="0" smtClean="0">
                <a:latin typeface="Times New Roman" pitchFamily="18" charset="0"/>
                <a:cs typeface="Times New Roman" pitchFamily="18" charset="0"/>
              </a:rPr>
              <a:t>First Fit:</a:t>
            </a:r>
          </a:p>
          <a:p>
            <a:pPr algn="just">
              <a:lnSpc>
                <a:spcPct val="150000"/>
              </a:lnSpc>
            </a:pPr>
            <a:r>
              <a:rPr lang="en-US" sz="2400" dirty="0" smtClean="0">
                <a:latin typeface="Times New Roman" pitchFamily="18" charset="0"/>
                <a:cs typeface="Times New Roman" pitchFamily="18" charset="0"/>
              </a:rPr>
              <a:t>Allocate the first hole that is big enough. It stop the searching as soon as it find a free hole that is large enough</a:t>
            </a:r>
          </a:p>
          <a:p>
            <a:pPr algn="just">
              <a:lnSpc>
                <a:spcPct val="150000"/>
              </a:lnSpc>
              <a:buNone/>
            </a:pPr>
            <a:r>
              <a:rPr lang="en-US" sz="2400" b="1" dirty="0" smtClean="0">
                <a:latin typeface="Times New Roman" pitchFamily="18" charset="0"/>
                <a:cs typeface="Times New Roman" pitchFamily="18" charset="0"/>
              </a:rPr>
              <a:t>Best Fit:</a:t>
            </a:r>
          </a:p>
          <a:p>
            <a:pPr algn="just">
              <a:lnSpc>
                <a:spcPct val="150000"/>
              </a:lnSpc>
            </a:pPr>
            <a:r>
              <a:rPr lang="en-US" sz="2400" dirty="0" smtClean="0">
                <a:latin typeface="Times New Roman" pitchFamily="18" charset="0"/>
                <a:cs typeface="Times New Roman" pitchFamily="18" charset="0"/>
              </a:rPr>
              <a:t>This algorithm first scan the all empty partitions. Then allocate the smallest hole that is big enough</a:t>
            </a:r>
          </a:p>
          <a:p>
            <a:pPr algn="just">
              <a:lnSpc>
                <a:spcPct val="150000"/>
              </a:lnSpc>
              <a:buNone/>
            </a:pPr>
            <a:r>
              <a:rPr lang="en-US" sz="2400" b="1" dirty="0" smtClean="0">
                <a:latin typeface="Times New Roman" pitchFamily="18" charset="0"/>
                <a:cs typeface="Times New Roman" pitchFamily="18" charset="0"/>
              </a:rPr>
              <a:t>Worst Fit:</a:t>
            </a:r>
          </a:p>
          <a:p>
            <a:pPr algn="just">
              <a:lnSpc>
                <a:spcPct val="150000"/>
              </a:lnSpc>
            </a:pPr>
            <a:r>
              <a:rPr lang="en-US" sz="2400" dirty="0" smtClean="0">
                <a:latin typeface="Times New Roman" pitchFamily="18" charset="0"/>
                <a:cs typeface="Times New Roman" pitchFamily="18" charset="0"/>
              </a:rPr>
              <a:t>This algorithm first scan the all empty partitions. Then allocate the largest hole.</a:t>
            </a:r>
          </a:p>
          <a:p>
            <a:pPr algn="just">
              <a:lnSpc>
                <a:spcPct val="150000"/>
              </a:lnSpc>
              <a:buNone/>
            </a:pPr>
            <a:r>
              <a:rPr lang="en-US" sz="2400" b="1" dirty="0" smtClean="0">
                <a:latin typeface="Times New Roman" pitchFamily="18" charset="0"/>
                <a:cs typeface="Times New Roman" pitchFamily="18" charset="0"/>
              </a:rPr>
              <a:t>Next Fit:</a:t>
            </a:r>
          </a:p>
          <a:p>
            <a:pPr algn="just">
              <a:lnSpc>
                <a:spcPct val="150000"/>
              </a:lnSpc>
            </a:pPr>
            <a:r>
              <a:rPr lang="en-US" sz="2400" dirty="0" smtClean="0">
                <a:latin typeface="Times New Roman" pitchFamily="18" charset="0"/>
                <a:cs typeface="Times New Roman" pitchFamily="18" charset="0"/>
              </a:rPr>
              <a:t>Same as first fit but start search always from the last allocated hole</a:t>
            </a:r>
          </a:p>
          <a:p>
            <a:pPr algn="just">
              <a:lnSpc>
                <a:spcPct val="150000"/>
              </a:lnSpc>
            </a:pPr>
            <a:endParaRPr lang="en-US" sz="2400" dirty="0" smtClean="0">
              <a:latin typeface="Times New Roman" pitchFamily="18" charset="0"/>
              <a:cs typeface="Times New Roman" pitchFamily="18" charset="0"/>
            </a:endParaRPr>
          </a:p>
          <a:p>
            <a:pPr algn="just">
              <a:lnSpc>
                <a:spcPct val="150000"/>
              </a:lnSpc>
            </a:pPr>
            <a:endParaRPr lang="en-US"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16</a:t>
            </a:fld>
            <a:endParaRPr lang="en-US"/>
          </a:p>
        </p:txBody>
      </p:sp>
    </p:spTree>
    <p:extLst>
      <p:ext uri="{BB962C8B-B14F-4D97-AF65-F5344CB8AC3E}">
        <p14:creationId xmlns:p14="http://schemas.microsoft.com/office/powerpoint/2010/main" val="2958436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68593"/>
          </a:xfrm>
        </p:spPr>
        <p:txBody>
          <a:bodyPr>
            <a:normAutofit fontScale="90000"/>
          </a:bodyPr>
          <a:lstStyle/>
          <a:p>
            <a:pPr algn="ctr"/>
            <a:r>
              <a:rPr lang="en-US" b="1" dirty="0">
                <a:latin typeface="Times New Roman" pitchFamily="18" charset="0"/>
                <a:cs typeface="Times New Roman" pitchFamily="18" charset="0"/>
              </a:rPr>
              <a:t>Partition Selection Algorithms</a:t>
            </a:r>
            <a:endParaRPr lang="en-US" dirty="0"/>
          </a:p>
        </p:txBody>
      </p:sp>
      <p:sp>
        <p:nvSpPr>
          <p:cNvPr id="3" name="Content Placeholder 2"/>
          <p:cNvSpPr>
            <a:spLocks noGrp="1"/>
          </p:cNvSpPr>
          <p:nvPr>
            <p:ph idx="1"/>
          </p:nvPr>
        </p:nvSpPr>
        <p:spPr>
          <a:xfrm>
            <a:off x="838200" y="1021976"/>
            <a:ext cx="10515600" cy="5154987"/>
          </a:xfrm>
        </p:spPr>
        <p:txBody>
          <a:bodyPr>
            <a:normAutofit fontScale="77500" lnSpcReduction="20000"/>
          </a:bodyPr>
          <a:lstStyle/>
          <a:p>
            <a:pPr algn="just">
              <a:lnSpc>
                <a:spcPct val="150000"/>
              </a:lnSpc>
            </a:pPr>
            <a:r>
              <a:rPr lang="en-US" sz="3200" b="1" dirty="0" smtClean="0">
                <a:latin typeface="Times New Roman" panose="02020603050405020304" pitchFamily="18" charset="0"/>
                <a:cs typeface="Times New Roman" pitchFamily="18" charset="0"/>
              </a:rPr>
              <a:t>Example1: </a:t>
            </a:r>
            <a:r>
              <a:rPr lang="en-US" b="1" dirty="0">
                <a:latin typeface="Times New Roman" panose="02020603050405020304" pitchFamily="18" charset="0"/>
                <a:cs typeface="Times New Roman" panose="02020603050405020304" pitchFamily="18" charset="0"/>
              </a:rPr>
              <a:t>Given memory partitions of 100K, 500K, 200K, 300K, and 600K (in order), how would each of the First-fit, Best-fit, and Worst-fit algorithms place processes of 212K, 417K, 112K, and 426K (in order)? Which algorithm makes the most efficient use of </a:t>
            </a:r>
            <a:r>
              <a:rPr lang="en-US" b="1" dirty="0" smtClean="0">
                <a:latin typeface="Times New Roman" panose="02020603050405020304" pitchFamily="18" charset="0"/>
                <a:cs typeface="Times New Roman" panose="02020603050405020304" pitchFamily="18" charset="0"/>
              </a:rPr>
              <a:t>memory?</a:t>
            </a:r>
            <a:endParaRPr lang="en-US" sz="3200" b="1" dirty="0">
              <a:latin typeface="Times New Roman" pitchFamily="18" charset="0"/>
              <a:cs typeface="Times New Roman" pitchFamily="18" charset="0"/>
            </a:endParaRPr>
          </a:p>
          <a:p>
            <a:pPr marL="0" indent="0" algn="just">
              <a:lnSpc>
                <a:spcPct val="150000"/>
              </a:lnSpc>
              <a:buNone/>
            </a:pPr>
            <a:endParaRPr lang="en-US" dirty="0" smtClean="0">
              <a:latin typeface="Times New Roman" panose="02020603050405020304" pitchFamily="18" charset="0"/>
              <a:cs typeface="Times New Roman" panose="02020603050405020304" pitchFamily="18" charset="0"/>
            </a:endParaRPr>
          </a:p>
          <a:p>
            <a:pPr marL="0" indent="0" algn="just">
              <a:lnSpc>
                <a:spcPct val="150000"/>
              </a:lnSpc>
              <a:buNone/>
            </a:pP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b="1" dirty="0" smtClean="0">
                <a:latin typeface="Times New Roman" panose="02020603050405020304" pitchFamily="18" charset="0"/>
                <a:cs typeface="Times New Roman" panose="02020603050405020304" pitchFamily="18" charset="0"/>
              </a:rPr>
              <a:t>Example2: Given </a:t>
            </a:r>
            <a:r>
              <a:rPr lang="en-US" b="1" dirty="0">
                <a:latin typeface="Times New Roman" panose="02020603050405020304" pitchFamily="18" charset="0"/>
                <a:cs typeface="Times New Roman" panose="02020603050405020304" pitchFamily="18" charset="0"/>
              </a:rPr>
              <a:t>six memory partitions of 300 KB, 600 KB, 350 KB, 200 KB, 750 </a:t>
            </a:r>
            <a:r>
              <a:rPr lang="en-US" b="1" dirty="0" smtClean="0">
                <a:latin typeface="Times New Roman" panose="02020603050405020304" pitchFamily="18" charset="0"/>
                <a:cs typeface="Times New Roman" panose="02020603050405020304" pitchFamily="18" charset="0"/>
              </a:rPr>
              <a:t>KB, and </a:t>
            </a:r>
            <a:r>
              <a:rPr lang="en-US" b="1" dirty="0">
                <a:latin typeface="Times New Roman" panose="02020603050405020304" pitchFamily="18" charset="0"/>
                <a:cs typeface="Times New Roman" panose="02020603050405020304" pitchFamily="18" charset="0"/>
              </a:rPr>
              <a:t>125 KB (in order), how would the first-fit, best-fit, and </a:t>
            </a:r>
            <a:r>
              <a:rPr lang="en-US" b="1" dirty="0" smtClean="0">
                <a:latin typeface="Times New Roman" panose="02020603050405020304" pitchFamily="18" charset="0"/>
                <a:cs typeface="Times New Roman" panose="02020603050405020304" pitchFamily="18" charset="0"/>
              </a:rPr>
              <a:t>worst-fit algorithms </a:t>
            </a:r>
            <a:r>
              <a:rPr lang="en-US" b="1" dirty="0">
                <a:latin typeface="Times New Roman" panose="02020603050405020304" pitchFamily="18" charset="0"/>
                <a:cs typeface="Times New Roman" panose="02020603050405020304" pitchFamily="18" charset="0"/>
              </a:rPr>
              <a:t>place processes of size 115 KB, 500 KB, 358 KB, 200 KB, </a:t>
            </a:r>
            <a:r>
              <a:rPr lang="en-US" b="1" dirty="0" smtClean="0">
                <a:latin typeface="Times New Roman" panose="02020603050405020304" pitchFamily="18" charset="0"/>
                <a:cs typeface="Times New Roman" panose="02020603050405020304" pitchFamily="18" charset="0"/>
              </a:rPr>
              <a:t>and 375 </a:t>
            </a:r>
            <a:r>
              <a:rPr lang="en-US" b="1" dirty="0">
                <a:latin typeface="Times New Roman" panose="02020603050405020304" pitchFamily="18" charset="0"/>
                <a:cs typeface="Times New Roman" panose="02020603050405020304" pitchFamily="18" charset="0"/>
              </a:rPr>
              <a:t>KB (in order)?</a:t>
            </a: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17</a:t>
            </a:fld>
            <a:endParaRPr lang="en-US"/>
          </a:p>
        </p:txBody>
      </p:sp>
    </p:spTree>
    <p:extLst>
      <p:ext uri="{BB962C8B-B14F-4D97-AF65-F5344CB8AC3E}">
        <p14:creationId xmlns:p14="http://schemas.microsoft.com/office/powerpoint/2010/main" val="1284520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06028"/>
          </a:xfrm>
        </p:spPr>
        <p:txBody>
          <a:bodyPr/>
          <a:lstStyle/>
          <a:p>
            <a:pPr algn="ctr"/>
            <a:r>
              <a:rPr lang="en-US" b="1" dirty="0" smtClean="0">
                <a:latin typeface="Times New Roman" pitchFamily="18" charset="0"/>
                <a:cs typeface="Times New Roman" pitchFamily="18" charset="0"/>
              </a:rPr>
              <a:t>Memory Fragmentation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88720"/>
            <a:ext cx="10515600" cy="4988243"/>
          </a:xfrm>
        </p:spPr>
        <p:txBody>
          <a:bodyPr>
            <a:normAutofit/>
          </a:bodyPr>
          <a:lstStyle/>
          <a:p>
            <a:pPr algn="just">
              <a:lnSpc>
                <a:spcPct val="150000"/>
              </a:lnSpc>
            </a:pPr>
            <a:r>
              <a:rPr lang="en-US" sz="2000" dirty="0" smtClean="0">
                <a:latin typeface="Times New Roman" pitchFamily="18" charset="0"/>
                <a:cs typeface="Times New Roman" pitchFamily="18" charset="0"/>
              </a:rPr>
              <a:t>When holes given to other process they may again partitioned, the remaining holes gets smaller eventually becoming too small to hold new processes – waste of memory occur – memory fragmentation.</a:t>
            </a:r>
          </a:p>
        </p:txBody>
      </p:sp>
      <p:sp>
        <p:nvSpPr>
          <p:cNvPr id="4" name="TextBox 3"/>
          <p:cNvSpPr txBox="1"/>
          <p:nvPr/>
        </p:nvSpPr>
        <p:spPr>
          <a:xfrm>
            <a:off x="822958" y="2592429"/>
            <a:ext cx="6217921" cy="3631763"/>
          </a:xfrm>
          <a:prstGeom prst="rect">
            <a:avLst/>
          </a:prstGeom>
          <a:noFill/>
        </p:spPr>
        <p:txBody>
          <a:bodyPr wrap="square" rtlCol="0">
            <a:spAutoFit/>
          </a:bodyPr>
          <a:lstStyle/>
          <a:p>
            <a:pPr algn="just">
              <a:lnSpc>
                <a:spcPct val="150000"/>
              </a:lnSpc>
            </a:pPr>
            <a:r>
              <a:rPr lang="en-US" sz="2000" b="1" dirty="0" smtClean="0">
                <a:latin typeface="Times New Roman" pitchFamily="18" charset="0"/>
                <a:cs typeface="Times New Roman" pitchFamily="18" charset="0"/>
              </a:rPr>
              <a:t>External Fragmentation </a:t>
            </a:r>
            <a:r>
              <a:rPr lang="en-US" sz="2000" dirty="0" smtClean="0">
                <a:latin typeface="Times New Roman" pitchFamily="18" charset="0"/>
                <a:cs typeface="Times New Roman" pitchFamily="18" charset="0"/>
              </a:rPr>
              <a:t>– total memory space exists to satisfy a request, but it is not contiguous. Fist fit and Best Fit suffers from external fragmentation. External fragmentation can be reduced by memory compaction</a:t>
            </a:r>
          </a:p>
          <a:p>
            <a:pPr algn="just">
              <a:lnSpc>
                <a:spcPct val="150000"/>
              </a:lnSpc>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Internal Fragmentation </a:t>
            </a:r>
            <a:r>
              <a:rPr lang="en-US" sz="2000" dirty="0" smtClean="0">
                <a:latin typeface="Times New Roman" pitchFamily="18" charset="0"/>
                <a:cs typeface="Times New Roman" pitchFamily="18" charset="0"/>
              </a:rPr>
              <a:t>– allocated memory may be slightly larger than requested memory; this size difference is memory internal to a partition, but not being used</a:t>
            </a:r>
          </a:p>
          <a:p>
            <a:endParaRPr lang="en-US" sz="2000" dirty="0"/>
          </a:p>
        </p:txBody>
      </p:sp>
      <p:pic>
        <p:nvPicPr>
          <p:cNvPr id="4098" name="Picture 2" descr="Internal and external fragmentation - Stack Overflow"/>
          <p:cNvPicPr>
            <a:picLocks noChangeAspect="1" noChangeArrowheads="1"/>
          </p:cNvPicPr>
          <p:nvPr/>
        </p:nvPicPr>
        <p:blipFill>
          <a:blip r:embed="rId2"/>
          <a:srcRect/>
          <a:stretch>
            <a:fillRect/>
          </a:stretch>
        </p:blipFill>
        <p:spPr bwMode="auto">
          <a:xfrm>
            <a:off x="7366271" y="2511968"/>
            <a:ext cx="4076791" cy="3862705"/>
          </a:xfrm>
          <a:prstGeom prst="rect">
            <a:avLst/>
          </a:prstGeom>
          <a:noFill/>
        </p:spPr>
      </p:pic>
      <p:sp>
        <p:nvSpPr>
          <p:cNvPr id="5" name="Footer Placeholder 4"/>
          <p:cNvSpPr>
            <a:spLocks noGrp="1"/>
          </p:cNvSpPr>
          <p:nvPr>
            <p:ph type="ftr" sz="quarter" idx="11"/>
          </p:nvPr>
        </p:nvSpPr>
        <p:spPr/>
        <p:txBody>
          <a:bodyPr/>
          <a:lstStyle/>
          <a:p>
            <a:r>
              <a:rPr lang="en-US" smtClean="0"/>
              <a:t>Bhupendra Ram Luhar</a:t>
            </a:r>
            <a:endParaRPr lang="en-US"/>
          </a:p>
        </p:txBody>
      </p:sp>
      <p:sp>
        <p:nvSpPr>
          <p:cNvPr id="6" name="Slide Number Placeholder 5"/>
          <p:cNvSpPr>
            <a:spLocks noGrp="1"/>
          </p:cNvSpPr>
          <p:nvPr>
            <p:ph type="sldNum" sz="quarter" idx="12"/>
          </p:nvPr>
        </p:nvSpPr>
        <p:spPr/>
        <p:txBody>
          <a:bodyPr/>
          <a:lstStyle/>
          <a:p>
            <a:fld id="{7B79A216-6713-4607-98FC-E026344EDDE7}" type="slidenum">
              <a:rPr lang="en-US" smtClean="0"/>
              <a:t>18</a:t>
            </a:fld>
            <a:endParaRPr lang="en-US"/>
          </a:p>
        </p:txBody>
      </p:sp>
    </p:spTree>
    <p:extLst>
      <p:ext uri="{BB962C8B-B14F-4D97-AF65-F5344CB8AC3E}">
        <p14:creationId xmlns:p14="http://schemas.microsoft.com/office/powerpoint/2010/main" val="2296955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lstStyle/>
          <a:p>
            <a:pPr algn="ctr"/>
            <a:r>
              <a:rPr lang="en-US" b="1" dirty="0" smtClean="0">
                <a:latin typeface="Times New Roman" pitchFamily="18" charset="0"/>
                <a:cs typeface="Times New Roman" pitchFamily="18" charset="0"/>
              </a:rPr>
              <a:t>Coalescing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201783"/>
            <a:ext cx="10515600" cy="4975180"/>
          </a:xfrm>
        </p:spPr>
        <p:txBody>
          <a:bodyPr/>
          <a:lstStyle/>
          <a:p>
            <a:r>
              <a:rPr lang="en-US" dirty="0" smtClean="0"/>
              <a:t>The process of merging two adjacent holes to form a single larger hole is called coalescing.</a:t>
            </a:r>
            <a:endParaRPr lang="en-US" dirty="0"/>
          </a:p>
        </p:txBody>
      </p:sp>
      <p:pic>
        <p:nvPicPr>
          <p:cNvPr id="23554" name="Picture 2"/>
          <p:cNvPicPr>
            <a:picLocks noChangeAspect="1" noChangeArrowheads="1"/>
          </p:cNvPicPr>
          <p:nvPr/>
        </p:nvPicPr>
        <p:blipFill>
          <a:blip r:embed="rId2"/>
          <a:srcRect/>
          <a:stretch>
            <a:fillRect/>
          </a:stretch>
        </p:blipFill>
        <p:spPr bwMode="auto">
          <a:xfrm>
            <a:off x="1084217" y="2037806"/>
            <a:ext cx="8791303" cy="4271554"/>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19</a:t>
            </a:fld>
            <a:endParaRPr lang="en-US"/>
          </a:p>
        </p:txBody>
      </p:sp>
    </p:spTree>
    <p:extLst>
      <p:ext uri="{BB962C8B-B14F-4D97-AF65-F5344CB8AC3E}">
        <p14:creationId xmlns:p14="http://schemas.microsoft.com/office/powerpoint/2010/main" val="3298824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841"/>
          </a:xfrm>
        </p:spPr>
        <p:txBody>
          <a:bodyPr>
            <a:normAutofit fontScale="90000"/>
          </a:bodyPr>
          <a:lstStyle/>
          <a:p>
            <a:pPr algn="ctr"/>
            <a:r>
              <a:rPr lang="en-US" b="1" dirty="0" smtClean="0">
                <a:latin typeface="Times New Roman" pitchFamily="18" charset="0"/>
                <a:cs typeface="Times New Roman" pitchFamily="18" charset="0"/>
              </a:rPr>
              <a:t>Compaction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005840"/>
            <a:ext cx="10515600" cy="5473337"/>
          </a:xfrm>
        </p:spPr>
        <p:txBody>
          <a:bodyPr>
            <a:normAutofit/>
          </a:bodyPr>
          <a:lstStyle/>
          <a:p>
            <a:pPr algn="just">
              <a:lnSpc>
                <a:spcPct val="150000"/>
              </a:lnSpc>
            </a:pPr>
            <a:r>
              <a:rPr lang="en-US" sz="2400" dirty="0" smtClean="0">
                <a:latin typeface="Times New Roman" pitchFamily="18" charset="0"/>
                <a:cs typeface="Times New Roman" pitchFamily="18" charset="0"/>
              </a:rPr>
              <a:t>Even when holes are coalesced, no individual hole may be large enough to hold the job, although the sum of holes is larger than the storage required for a process. </a:t>
            </a:r>
          </a:p>
          <a:p>
            <a:pPr algn="just">
              <a:lnSpc>
                <a:spcPct val="150000"/>
              </a:lnSpc>
            </a:pPr>
            <a:r>
              <a:rPr lang="en-US" sz="2400" dirty="0" smtClean="0">
                <a:latin typeface="Times New Roman" pitchFamily="18" charset="0"/>
                <a:cs typeface="Times New Roman" pitchFamily="18" charset="0"/>
              </a:rPr>
              <a:t>It is possible to combine all the holes into one big one by moving all the processes downward as far as possible; this technique is called memory compaction.</a:t>
            </a:r>
            <a:endParaRPr lang="en-US" sz="2400" dirty="0">
              <a:latin typeface="Times New Roman" pitchFamily="18" charset="0"/>
              <a:cs typeface="Times New Roman" pitchFamily="18" charset="0"/>
            </a:endParaRPr>
          </a:p>
        </p:txBody>
      </p:sp>
      <p:pic>
        <p:nvPicPr>
          <p:cNvPr id="24578" name="Picture 2"/>
          <p:cNvPicPr>
            <a:picLocks noChangeAspect="1" noChangeArrowheads="1"/>
          </p:cNvPicPr>
          <p:nvPr/>
        </p:nvPicPr>
        <p:blipFill>
          <a:blip r:embed="rId2"/>
          <a:srcRect/>
          <a:stretch>
            <a:fillRect/>
          </a:stretch>
        </p:blipFill>
        <p:spPr bwMode="auto">
          <a:xfrm>
            <a:off x="2281238" y="3357154"/>
            <a:ext cx="6715125" cy="3108960"/>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20</a:t>
            </a:fld>
            <a:endParaRPr lang="en-US"/>
          </a:p>
        </p:txBody>
      </p:sp>
    </p:spTree>
    <p:extLst>
      <p:ext uri="{BB962C8B-B14F-4D97-AF65-F5344CB8AC3E}">
        <p14:creationId xmlns:p14="http://schemas.microsoft.com/office/powerpoint/2010/main" val="2902830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338"/>
          </a:xfrm>
        </p:spPr>
        <p:txBody>
          <a:bodyPr>
            <a:normAutofit fontScale="90000"/>
          </a:bodyPr>
          <a:lstStyle/>
          <a:p>
            <a:pPr algn="ctr"/>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Non-contiguous memory allocation</a:t>
            </a:r>
            <a:br>
              <a:rPr lang="en-US" b="1" dirty="0" smtClean="0">
                <a:latin typeface="Times New Roman" pitchFamily="18" charset="0"/>
                <a:cs typeface="Times New Roman" pitchFamily="18" charset="0"/>
              </a:rPr>
            </a:b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979714"/>
            <a:ext cx="10515600" cy="5197249"/>
          </a:xfrm>
        </p:spPr>
        <p:txBody>
          <a:bodyPr>
            <a:normAutofit fontScale="77500" lnSpcReduction="20000"/>
          </a:bodyPr>
          <a:lstStyle/>
          <a:p>
            <a:pPr algn="just">
              <a:lnSpc>
                <a:spcPct val="150000"/>
              </a:lnSpc>
            </a:pPr>
            <a:r>
              <a:rPr lang="en-US" dirty="0" smtClean="0">
                <a:latin typeface="Times New Roman" pitchFamily="18" charset="0"/>
                <a:cs typeface="Times New Roman" pitchFamily="18" charset="0"/>
              </a:rPr>
              <a:t>In the </a:t>
            </a:r>
            <a:r>
              <a:rPr lang="en-US" b="1" dirty="0" smtClean="0">
                <a:latin typeface="Times New Roman" pitchFamily="18" charset="0"/>
                <a:cs typeface="Times New Roman" pitchFamily="18" charset="0"/>
              </a:rPr>
              <a:t>non-contiguous memory allocation</a:t>
            </a:r>
            <a:r>
              <a:rPr lang="en-US" dirty="0" smtClean="0">
                <a:latin typeface="Times New Roman" pitchFamily="18" charset="0"/>
                <a:cs typeface="Times New Roman" pitchFamily="18" charset="0"/>
              </a:rPr>
              <a:t> the available free memory space are scattered here and there and all the free memory space is not at one place</a:t>
            </a:r>
          </a:p>
          <a:p>
            <a:pPr algn="just">
              <a:lnSpc>
                <a:spcPct val="150000"/>
              </a:lnSpc>
            </a:pPr>
            <a:r>
              <a:rPr lang="en-US" dirty="0" smtClean="0">
                <a:latin typeface="Times New Roman" pitchFamily="18" charset="0"/>
                <a:cs typeface="Times New Roman" pitchFamily="18" charset="0"/>
              </a:rPr>
              <a:t>In the </a:t>
            </a:r>
            <a:r>
              <a:rPr lang="en-US" b="1" dirty="0" smtClean="0">
                <a:latin typeface="Times New Roman" pitchFamily="18" charset="0"/>
                <a:cs typeface="Times New Roman" pitchFamily="18" charset="0"/>
              </a:rPr>
              <a:t>non-contiguous memory allocation</a:t>
            </a:r>
            <a:r>
              <a:rPr lang="en-US" dirty="0" smtClean="0">
                <a:latin typeface="Times New Roman" pitchFamily="18" charset="0"/>
                <a:cs typeface="Times New Roman" pitchFamily="18" charset="0"/>
              </a:rPr>
              <a:t>, a process will acquire the memory space but it is not at one place it is at the different locations according to the process requirement. </a:t>
            </a:r>
          </a:p>
          <a:p>
            <a:pPr algn="just">
              <a:lnSpc>
                <a:spcPct val="150000"/>
              </a:lnSpc>
            </a:pPr>
            <a:r>
              <a:rPr lang="en-US" dirty="0" smtClean="0">
                <a:latin typeface="Times New Roman" pitchFamily="18" charset="0"/>
                <a:cs typeface="Times New Roman" pitchFamily="18" charset="0"/>
              </a:rPr>
              <a:t>This technique of </a:t>
            </a:r>
            <a:r>
              <a:rPr lang="en-US" b="1" dirty="0" smtClean="0">
                <a:latin typeface="Times New Roman" pitchFamily="18" charset="0"/>
                <a:cs typeface="Times New Roman" pitchFamily="18" charset="0"/>
              </a:rPr>
              <a:t>non-contiguous memory allocation</a:t>
            </a:r>
            <a:r>
              <a:rPr lang="en-US" dirty="0" smtClean="0">
                <a:latin typeface="Times New Roman" pitchFamily="18" charset="0"/>
                <a:cs typeface="Times New Roman" pitchFamily="18" charset="0"/>
              </a:rPr>
              <a:t> reduces the wastage of memory which leads to internal and external fragmentation</a:t>
            </a:r>
          </a:p>
          <a:p>
            <a:pPr algn="just">
              <a:lnSpc>
                <a:spcPct val="150000"/>
              </a:lnSpc>
            </a:pPr>
            <a:r>
              <a:rPr lang="en-US" dirty="0" smtClean="0">
                <a:latin typeface="Times New Roman" pitchFamily="18" charset="0"/>
                <a:cs typeface="Times New Roman" pitchFamily="18" charset="0"/>
              </a:rPr>
              <a:t>Non-contiguous memory allocation techniques can be two types</a:t>
            </a:r>
          </a:p>
          <a:p>
            <a:pPr lvl="1" algn="just">
              <a:lnSpc>
                <a:spcPct val="150000"/>
              </a:lnSpc>
            </a:pPr>
            <a:r>
              <a:rPr lang="en-US" sz="2600" b="1" dirty="0" smtClean="0">
                <a:latin typeface="Times New Roman" pitchFamily="18" charset="0"/>
                <a:cs typeface="Times New Roman" pitchFamily="18" charset="0"/>
              </a:rPr>
              <a:t>Paging</a:t>
            </a:r>
          </a:p>
          <a:p>
            <a:pPr lvl="1" algn="just">
              <a:lnSpc>
                <a:spcPct val="150000"/>
              </a:lnSpc>
            </a:pPr>
            <a:r>
              <a:rPr lang="en-US" sz="2600" b="1" dirty="0" smtClean="0">
                <a:latin typeface="Times New Roman" pitchFamily="18" charset="0"/>
                <a:cs typeface="Times New Roman" pitchFamily="18" charset="0"/>
              </a:rPr>
              <a:t>Segmentation</a:t>
            </a:r>
            <a:endParaRPr lang="en-US" sz="2600" b="1"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21</a:t>
            </a:fld>
            <a:endParaRPr lang="en-US"/>
          </a:p>
        </p:txBody>
      </p:sp>
    </p:spTree>
    <p:extLst>
      <p:ext uri="{BB962C8B-B14F-4D97-AF65-F5344CB8AC3E}">
        <p14:creationId xmlns:p14="http://schemas.microsoft.com/office/powerpoint/2010/main" val="3202642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8464"/>
          </a:xfrm>
        </p:spPr>
        <p:txBody>
          <a:bodyPr>
            <a:normAutofit fontScale="90000"/>
          </a:bodyPr>
          <a:lstStyle/>
          <a:p>
            <a:pPr algn="ctr"/>
            <a:r>
              <a:rPr lang="en-US" b="1" dirty="0" smtClean="0">
                <a:latin typeface="Times New Roman" pitchFamily="18" charset="0"/>
                <a:cs typeface="Times New Roman" pitchFamily="18" charset="0"/>
              </a:rPr>
              <a:t>Paging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097280"/>
            <a:ext cx="10515600" cy="5079683"/>
          </a:xfrm>
        </p:spPr>
        <p:txBody>
          <a:bodyPr>
            <a:normAutofit/>
          </a:bodyPr>
          <a:lstStyle/>
          <a:p>
            <a:pPr fontAlgn="base"/>
            <a:r>
              <a:rPr lang="en-US" sz="2000" dirty="0" smtClean="0">
                <a:latin typeface="Times New Roman" pitchFamily="18" charset="0"/>
                <a:cs typeface="Times New Roman" pitchFamily="18" charset="0"/>
              </a:rPr>
              <a:t>Paging is a fixed size partitioning scheme.</a:t>
            </a:r>
          </a:p>
          <a:p>
            <a:pPr fontAlgn="base"/>
            <a:r>
              <a:rPr lang="en-US" sz="2000" dirty="0" smtClean="0">
                <a:latin typeface="Times New Roman" pitchFamily="18" charset="0"/>
                <a:cs typeface="Times New Roman" pitchFamily="18" charset="0"/>
              </a:rPr>
              <a:t>In paging, secondary memory and main memory are divided into equal fixed size partitions.</a:t>
            </a:r>
          </a:p>
          <a:p>
            <a:pPr fontAlgn="base"/>
            <a:r>
              <a:rPr lang="en-US" sz="2000" dirty="0" smtClean="0">
                <a:latin typeface="Times New Roman" pitchFamily="18" charset="0"/>
                <a:cs typeface="Times New Roman" pitchFamily="18" charset="0"/>
              </a:rPr>
              <a:t>The partitions of secondary memory are called as </a:t>
            </a:r>
            <a:r>
              <a:rPr lang="en-US" sz="2000" b="1" dirty="0" smtClean="0">
                <a:latin typeface="Times New Roman" pitchFamily="18" charset="0"/>
                <a:cs typeface="Times New Roman" pitchFamily="18" charset="0"/>
              </a:rPr>
              <a:t>pages</a:t>
            </a:r>
            <a:r>
              <a:rPr lang="en-US" sz="2000" dirty="0" smtClean="0">
                <a:latin typeface="Times New Roman" pitchFamily="18" charset="0"/>
                <a:cs typeface="Times New Roman" pitchFamily="18" charset="0"/>
              </a:rPr>
              <a:t>.</a:t>
            </a:r>
          </a:p>
          <a:p>
            <a:pPr fontAlgn="base"/>
            <a:r>
              <a:rPr lang="en-US" sz="2000" dirty="0" smtClean="0">
                <a:latin typeface="Times New Roman" pitchFamily="18" charset="0"/>
                <a:cs typeface="Times New Roman" pitchFamily="18" charset="0"/>
              </a:rPr>
              <a:t>The partitions of main memory are called as </a:t>
            </a:r>
            <a:r>
              <a:rPr lang="en-US" sz="2000" b="1" dirty="0" smtClean="0">
                <a:latin typeface="Times New Roman" pitchFamily="18" charset="0"/>
                <a:cs typeface="Times New Roman" pitchFamily="18" charset="0"/>
              </a:rPr>
              <a:t>frames</a:t>
            </a:r>
            <a:r>
              <a:rPr lang="en-US" sz="2000" dirty="0" smtClean="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1529307" y="2760754"/>
            <a:ext cx="6791733" cy="3400425"/>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22</a:t>
            </a:fld>
            <a:endParaRPr lang="en-US"/>
          </a:p>
        </p:txBody>
      </p:sp>
    </p:spTree>
    <p:extLst>
      <p:ext uri="{BB962C8B-B14F-4D97-AF65-F5344CB8AC3E}">
        <p14:creationId xmlns:p14="http://schemas.microsoft.com/office/powerpoint/2010/main" val="3033647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4949"/>
            <a:ext cx="10515600" cy="5772014"/>
          </a:xfrm>
        </p:spPr>
        <p:txBody>
          <a:bodyPr>
            <a:normAutofit fontScale="85000" lnSpcReduction="10000"/>
          </a:bodyPr>
          <a:lstStyle/>
          <a:p>
            <a:pPr algn="just" fontAlgn="base">
              <a:lnSpc>
                <a:spcPct val="150000"/>
              </a:lnSpc>
            </a:pPr>
            <a:r>
              <a:rPr lang="en-US" dirty="0" smtClean="0">
                <a:latin typeface="Times New Roman" pitchFamily="18" charset="0"/>
                <a:cs typeface="Times New Roman" pitchFamily="18" charset="0"/>
              </a:rPr>
              <a:t>Each process is divided into parts where size of each part is same as page size.</a:t>
            </a:r>
          </a:p>
          <a:p>
            <a:pPr algn="just" fontAlgn="base">
              <a:lnSpc>
                <a:spcPct val="150000"/>
              </a:lnSpc>
            </a:pPr>
            <a:r>
              <a:rPr lang="en-US" dirty="0" smtClean="0">
                <a:latin typeface="Times New Roman" pitchFamily="18" charset="0"/>
                <a:cs typeface="Times New Roman" pitchFamily="18" charset="0"/>
              </a:rPr>
              <a:t>The size of the last part may be less than the page size.</a:t>
            </a:r>
          </a:p>
          <a:p>
            <a:pPr algn="just" fontAlgn="base">
              <a:lnSpc>
                <a:spcPct val="150000"/>
              </a:lnSpc>
            </a:pPr>
            <a:r>
              <a:rPr lang="en-US" dirty="0" smtClean="0">
                <a:latin typeface="Times New Roman" pitchFamily="18" charset="0"/>
                <a:cs typeface="Times New Roman" pitchFamily="18" charset="0"/>
              </a:rPr>
              <a:t>The pages of process are stored in the frames of main memory depending upon their availability.</a:t>
            </a:r>
          </a:p>
          <a:p>
            <a:pPr algn="just">
              <a:lnSpc>
                <a:spcPct val="150000"/>
              </a:lnSpc>
            </a:pPr>
            <a:r>
              <a:rPr lang="en-US" dirty="0" smtClean="0">
                <a:latin typeface="Times New Roman" pitchFamily="18" charset="0"/>
                <a:cs typeface="Times New Roman" pitchFamily="18" charset="0"/>
              </a:rPr>
              <a:t>When a process is to be executed, its pages are loaded into any available memory frames from the backing store. </a:t>
            </a:r>
          </a:p>
          <a:p>
            <a:pPr algn="just">
              <a:lnSpc>
                <a:spcPct val="150000"/>
              </a:lnSpc>
            </a:pPr>
            <a:r>
              <a:rPr lang="en-US" dirty="0" smtClean="0">
                <a:latin typeface="Times New Roman" pitchFamily="18" charset="0"/>
                <a:cs typeface="Times New Roman" pitchFamily="18" charset="0"/>
              </a:rPr>
              <a:t>The size of the pages is determined by the hardware, normally from 512 bytes to 16MB (in power of 2).</a:t>
            </a:r>
          </a:p>
          <a:p>
            <a:pPr algn="just">
              <a:lnSpc>
                <a:spcPct val="150000"/>
              </a:lnSpc>
            </a:pPr>
            <a:r>
              <a:rPr lang="en-US" dirty="0" smtClean="0">
                <a:latin typeface="Times New Roman" pitchFamily="18" charset="0"/>
                <a:cs typeface="Times New Roman" pitchFamily="18" charset="0"/>
              </a:rPr>
              <a:t> Paging permits the physical address space of process to be noncontiguous.</a:t>
            </a:r>
            <a:endParaRPr lang="en-US" dirty="0">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23</a:t>
            </a:fld>
            <a:endParaRPr lang="en-US"/>
          </a:p>
        </p:txBody>
      </p:sp>
    </p:spTree>
    <p:extLst>
      <p:ext uri="{BB962C8B-B14F-4D97-AF65-F5344CB8AC3E}">
        <p14:creationId xmlns:p14="http://schemas.microsoft.com/office/powerpoint/2010/main" val="730013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pPr algn="ctr"/>
            <a:r>
              <a:rPr lang="en-US" b="1" dirty="0" smtClean="0">
                <a:latin typeface="Times New Roman" pitchFamily="18" charset="0"/>
                <a:cs typeface="Times New Roman" pitchFamily="18" charset="0"/>
              </a:rPr>
              <a:t>Address Translation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23406"/>
            <a:ext cx="10515600" cy="5053557"/>
          </a:xfrm>
        </p:spPr>
        <p:txBody>
          <a:bodyPr>
            <a:normAutofit/>
          </a:bodyPr>
          <a:lstStyle/>
          <a:p>
            <a:pPr algn="just"/>
            <a:r>
              <a:rPr lang="en-US" sz="2000" dirty="0" smtClean="0">
                <a:latin typeface="Times New Roman" pitchFamily="18" charset="0"/>
                <a:cs typeface="Times New Roman" pitchFamily="18" charset="0"/>
              </a:rPr>
              <a:t>CPU always generates a logical address. A physical address is needed to access the main memory.</a:t>
            </a:r>
          </a:p>
          <a:p>
            <a:pPr algn="just"/>
            <a:r>
              <a:rPr lang="en-US" sz="2000" dirty="0" smtClean="0">
                <a:latin typeface="Times New Roman" pitchFamily="18" charset="0"/>
                <a:cs typeface="Times New Roman" pitchFamily="18" charset="0"/>
              </a:rPr>
              <a:t>Address generated by CPU is divided into:</a:t>
            </a:r>
          </a:p>
          <a:p>
            <a:pPr algn="just">
              <a:buNone/>
            </a:pPr>
            <a:r>
              <a:rPr lang="en-US" sz="2000" b="1" dirty="0" smtClean="0">
                <a:latin typeface="Times New Roman" pitchFamily="18" charset="0"/>
                <a:cs typeface="Times New Roman" pitchFamily="18" charset="0"/>
              </a:rPr>
              <a:t>Page number (p) </a:t>
            </a:r>
            <a:r>
              <a:rPr lang="en-US" sz="2000" dirty="0" smtClean="0">
                <a:latin typeface="Times New Roman" pitchFamily="18" charset="0"/>
                <a:cs typeface="Times New Roman" pitchFamily="18" charset="0"/>
              </a:rPr>
              <a:t>- used as an index into a page table which contains base address of each page in physical memory.</a:t>
            </a:r>
          </a:p>
          <a:p>
            <a:pPr algn="just">
              <a:buNone/>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Page offset (d) </a:t>
            </a:r>
            <a:r>
              <a:rPr lang="en-US" sz="2000" dirty="0" smtClean="0">
                <a:latin typeface="Times New Roman" pitchFamily="18" charset="0"/>
                <a:cs typeface="Times New Roman" pitchFamily="18" charset="0"/>
              </a:rPr>
              <a:t>- combined with base address to define the physical memory address that is sent to the memory unit.</a:t>
            </a: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If the size of the logical address space is 2^m and page size is 2^n, then the high-order m - n bits of logical address designate page number, and n lower order bits designate the page offset.</a:t>
            </a:r>
          </a:p>
          <a:p>
            <a:pPr algn="just"/>
            <a:r>
              <a:rPr lang="en-US" sz="2000" dirty="0" smtClean="0">
                <a:latin typeface="Times New Roman" pitchFamily="18" charset="0"/>
                <a:cs typeface="Times New Roman" pitchFamily="18" charset="0"/>
              </a:rPr>
              <a:t>Present/absent bit keeps the track of which pages are physically present in memory</a:t>
            </a:r>
            <a:endParaRPr lang="en-US" sz="20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4435384" y="3191964"/>
            <a:ext cx="4914900" cy="1466850"/>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24</a:t>
            </a:fld>
            <a:endParaRPr lang="en-US"/>
          </a:p>
        </p:txBody>
      </p:sp>
    </p:spTree>
    <p:extLst>
      <p:ext uri="{BB962C8B-B14F-4D97-AF65-F5344CB8AC3E}">
        <p14:creationId xmlns:p14="http://schemas.microsoft.com/office/powerpoint/2010/main" val="2800183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757647" y="404949"/>
            <a:ext cx="10541724" cy="5982788"/>
          </a:xfrm>
          <a:prstGeom prst="rect">
            <a:avLst/>
          </a:prstGeom>
          <a:noFill/>
          <a:ln w="9525">
            <a:noFill/>
            <a:miter lim="800000"/>
            <a:headEnd/>
            <a:tailEnd/>
          </a:ln>
          <a:effectLst/>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3" name="Slide Number Placeholder 2"/>
          <p:cNvSpPr>
            <a:spLocks noGrp="1"/>
          </p:cNvSpPr>
          <p:nvPr>
            <p:ph type="sldNum" sz="quarter" idx="12"/>
          </p:nvPr>
        </p:nvSpPr>
        <p:spPr/>
        <p:txBody>
          <a:bodyPr/>
          <a:lstStyle/>
          <a:p>
            <a:fld id="{7B79A216-6713-4607-98FC-E026344EDDE7}" type="slidenum">
              <a:rPr lang="en-US" smtClean="0"/>
              <a:t>25</a:t>
            </a:fld>
            <a:endParaRPr lang="en-US"/>
          </a:p>
        </p:txBody>
      </p:sp>
    </p:spTree>
    <p:extLst>
      <p:ext uri="{BB962C8B-B14F-4D97-AF65-F5344CB8AC3E}">
        <p14:creationId xmlns:p14="http://schemas.microsoft.com/office/powerpoint/2010/main" val="2430490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10086"/>
          </a:xfrm>
        </p:spPr>
        <p:txBody>
          <a:bodyPr>
            <a:normAutofit fontScale="90000"/>
          </a:bodyPr>
          <a:lstStyle/>
          <a:p>
            <a:pPr algn="ctr"/>
            <a:r>
              <a:rPr lang="en-US" b="1" dirty="0" smtClean="0">
                <a:latin typeface="Times New Roman" pitchFamily="18" charset="0"/>
                <a:cs typeface="Times New Roman" pitchFamily="18" charset="0"/>
              </a:rPr>
              <a:t>Address Translation Example</a:t>
            </a:r>
            <a:endParaRPr lang="en-US" b="1" dirty="0">
              <a:latin typeface="Times New Roman" pitchFamily="18" charset="0"/>
              <a:cs typeface="Times New Roman" pitchFamily="18" charset="0"/>
            </a:endParaRPr>
          </a:p>
        </p:txBody>
      </p:sp>
      <p:pic>
        <p:nvPicPr>
          <p:cNvPr id="4099" name="Picture 3"/>
          <p:cNvPicPr>
            <a:picLocks noChangeAspect="1" noChangeArrowheads="1"/>
          </p:cNvPicPr>
          <p:nvPr/>
        </p:nvPicPr>
        <p:blipFill>
          <a:blip r:embed="rId2"/>
          <a:srcRect/>
          <a:stretch>
            <a:fillRect/>
          </a:stretch>
        </p:blipFill>
        <p:spPr bwMode="auto">
          <a:xfrm>
            <a:off x="888274" y="992776"/>
            <a:ext cx="10110652" cy="5473337"/>
          </a:xfrm>
          <a:prstGeom prst="rect">
            <a:avLst/>
          </a:prstGeom>
          <a:noFill/>
          <a:ln w="9525">
            <a:noFill/>
            <a:miter lim="800000"/>
            <a:headEnd/>
            <a:tailEnd/>
          </a:ln>
          <a:effectLst/>
        </p:spPr>
      </p:pic>
      <p:sp>
        <p:nvSpPr>
          <p:cNvPr id="3" name="Footer Placeholder 2"/>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26</a:t>
            </a:fld>
            <a:endParaRPr lang="en-US"/>
          </a:p>
        </p:txBody>
      </p:sp>
    </p:spTree>
    <p:extLst>
      <p:ext uri="{BB962C8B-B14F-4D97-AF65-F5344CB8AC3E}">
        <p14:creationId xmlns:p14="http://schemas.microsoft.com/office/powerpoint/2010/main" val="35033608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p>
            <a:pPr algn="ctr"/>
            <a:r>
              <a:rPr lang="en-US" dirty="0" smtClean="0">
                <a:latin typeface="Times New Roman" pitchFamily="18" charset="0"/>
                <a:cs typeface="Times New Roman" pitchFamily="18" charset="0"/>
              </a:rPr>
              <a:t>Virtual Memory</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62594"/>
            <a:ext cx="10515600" cy="5014369"/>
          </a:xfrm>
        </p:spPr>
        <p:txBody>
          <a:bodyPr>
            <a:normAutofit fontScale="77500" lnSpcReduction="20000"/>
          </a:bodyPr>
          <a:lstStyle/>
          <a:p>
            <a:pPr algn="just">
              <a:lnSpc>
                <a:spcPct val="170000"/>
              </a:lnSpc>
            </a:pPr>
            <a:r>
              <a:rPr lang="en-US" dirty="0" smtClean="0">
                <a:latin typeface="Times New Roman" pitchFamily="18" charset="0"/>
                <a:cs typeface="Times New Roman" pitchFamily="18" charset="0"/>
              </a:rPr>
              <a:t>Virtual memory is a memory management capability of an operating system that uses hardware and software to allow computer to compensate for physical memory shortages by temporarily transferring data from random access memory (RAM) to disk storage.</a:t>
            </a:r>
          </a:p>
          <a:p>
            <a:pPr algn="just">
              <a:lnSpc>
                <a:spcPct val="170000"/>
              </a:lnSpc>
            </a:pPr>
            <a:r>
              <a:rPr lang="en-US" dirty="0" smtClean="0">
                <a:latin typeface="Times New Roman" pitchFamily="18" charset="0"/>
                <a:cs typeface="Times New Roman" pitchFamily="18" charset="0"/>
              </a:rPr>
              <a:t>When the memory is small and data is big then we can use virtual memory concept.</a:t>
            </a:r>
          </a:p>
          <a:p>
            <a:pPr algn="just">
              <a:lnSpc>
                <a:spcPct val="170000"/>
              </a:lnSpc>
            </a:pPr>
            <a:r>
              <a:rPr lang="en-US" dirty="0" smtClean="0">
                <a:latin typeface="Times New Roman" pitchFamily="18" charset="0"/>
                <a:cs typeface="Times New Roman" pitchFamily="18" charset="0"/>
              </a:rPr>
              <a:t>The basic idea behind the virtual memory is that the combined size of the of the program, data, and stack may exceed the amount of physical memory available for it. The OS keeps those part of the program currently in use in main memory, and the rest on the disk.</a:t>
            </a:r>
          </a:p>
          <a:p>
            <a:pPr algn="just">
              <a:lnSpc>
                <a:spcPct val="170000"/>
              </a:lnSpc>
            </a:pPr>
            <a:r>
              <a:rPr lang="en-US" dirty="0" smtClean="0">
                <a:latin typeface="Times New Roman" pitchFamily="18" charset="0"/>
                <a:cs typeface="Times New Roman" pitchFamily="18" charset="0"/>
              </a:rPr>
              <a:t>Virtual memory is a concept that is associated with ability to address a memory space much larger than that the available physical memory.</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27</a:t>
            </a:fld>
            <a:endParaRPr lang="en-US"/>
          </a:p>
        </p:txBody>
      </p:sp>
    </p:spTree>
    <p:extLst>
      <p:ext uri="{BB962C8B-B14F-4D97-AF65-F5344CB8AC3E}">
        <p14:creationId xmlns:p14="http://schemas.microsoft.com/office/powerpoint/2010/main" val="1935559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940526" y="535577"/>
            <a:ext cx="10293531" cy="5590903"/>
          </a:xfrm>
          <a:prstGeom prst="rect">
            <a:avLst/>
          </a:prstGeom>
          <a:noFill/>
          <a:ln w="9525">
            <a:noFill/>
            <a:miter lim="800000"/>
            <a:headEnd/>
            <a:tailEnd/>
          </a:ln>
          <a:effectLst/>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3" name="Slide Number Placeholder 2"/>
          <p:cNvSpPr>
            <a:spLocks noGrp="1"/>
          </p:cNvSpPr>
          <p:nvPr>
            <p:ph type="sldNum" sz="quarter" idx="12"/>
          </p:nvPr>
        </p:nvSpPr>
        <p:spPr/>
        <p:txBody>
          <a:bodyPr/>
          <a:lstStyle/>
          <a:p>
            <a:fld id="{7B79A216-6713-4607-98FC-E026344EDDE7}" type="slidenum">
              <a:rPr lang="en-US" smtClean="0"/>
              <a:t>28</a:t>
            </a:fld>
            <a:endParaRPr lang="en-US"/>
          </a:p>
        </p:txBody>
      </p:sp>
    </p:spTree>
    <p:extLst>
      <p:ext uri="{BB962C8B-B14F-4D97-AF65-F5344CB8AC3E}">
        <p14:creationId xmlns:p14="http://schemas.microsoft.com/office/powerpoint/2010/main" val="14385754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3778"/>
          </a:xfrm>
        </p:spPr>
        <p:txBody>
          <a:bodyPr>
            <a:normAutofit fontScale="90000"/>
          </a:bodyPr>
          <a:lstStyle/>
          <a:p>
            <a:pPr algn="ctr"/>
            <a:r>
              <a:rPr lang="en-US" b="1" dirty="0" smtClean="0"/>
              <a:t>Page Table</a:t>
            </a:r>
            <a:endParaRPr lang="en-US" b="1" dirty="0"/>
          </a:p>
        </p:txBody>
      </p:sp>
      <p:sp>
        <p:nvSpPr>
          <p:cNvPr id="3" name="Content Placeholder 2"/>
          <p:cNvSpPr>
            <a:spLocks noGrp="1"/>
          </p:cNvSpPr>
          <p:nvPr>
            <p:ph idx="1"/>
          </p:nvPr>
        </p:nvSpPr>
        <p:spPr>
          <a:xfrm>
            <a:off x="838200" y="1005840"/>
            <a:ext cx="10515600" cy="5355771"/>
          </a:xfrm>
        </p:spPr>
        <p:txBody>
          <a:bodyPr>
            <a:normAutofit/>
          </a:bodyPr>
          <a:lstStyle/>
          <a:p>
            <a:r>
              <a:rPr lang="en-US" sz="2000" dirty="0" smtClean="0">
                <a:latin typeface="Times New Roman" pitchFamily="18" charset="0"/>
                <a:cs typeface="Times New Roman" pitchFamily="18" charset="0"/>
              </a:rPr>
              <a:t>A page table is the data structure used by virtual memory system in a computer operating system to store mapping between virtual address and physical address</a:t>
            </a:r>
          </a:p>
          <a:p>
            <a:r>
              <a:rPr lang="en-US" sz="2000" dirty="0" smtClean="0">
                <a:latin typeface="Times New Roman" pitchFamily="18" charset="0"/>
                <a:cs typeface="Times New Roman" pitchFamily="18" charset="0"/>
              </a:rPr>
              <a:t>Page table is kept in main memory.</a:t>
            </a:r>
          </a:p>
          <a:p>
            <a:pPr fontAlgn="base"/>
            <a:r>
              <a:rPr lang="en-US" sz="2000" dirty="0" smtClean="0">
                <a:latin typeface="Times New Roman" pitchFamily="18" charset="0"/>
                <a:cs typeface="Times New Roman" pitchFamily="18" charset="0"/>
              </a:rPr>
              <a:t>Number of entries in a page table = Number of pages in which the process is divided.</a:t>
            </a:r>
          </a:p>
          <a:p>
            <a:pPr fontAlgn="base"/>
            <a:r>
              <a:rPr lang="en-US" sz="2000" dirty="0" smtClean="0">
                <a:latin typeface="Times New Roman" pitchFamily="18" charset="0"/>
                <a:cs typeface="Times New Roman" pitchFamily="18" charset="0"/>
              </a:rPr>
              <a:t>Page Table Base Register (PTBR) contains the base address of page table.</a:t>
            </a:r>
          </a:p>
          <a:p>
            <a:pPr fontAlgn="base"/>
            <a:r>
              <a:rPr lang="en-US" sz="2000" dirty="0" smtClean="0">
                <a:latin typeface="Times New Roman" pitchFamily="18" charset="0"/>
                <a:cs typeface="Times New Roman" pitchFamily="18" charset="0"/>
              </a:rPr>
              <a:t>Each process has its own independent page table.</a:t>
            </a:r>
          </a:p>
          <a:p>
            <a:endParaRPr lang="en-US" sz="20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1601425" y="3344090"/>
            <a:ext cx="8052026" cy="2939143"/>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29</a:t>
            </a:fld>
            <a:endParaRPr lang="en-US"/>
          </a:p>
        </p:txBody>
      </p:sp>
    </p:spTree>
    <p:extLst>
      <p:ext uri="{BB962C8B-B14F-4D97-AF65-F5344CB8AC3E}">
        <p14:creationId xmlns:p14="http://schemas.microsoft.com/office/powerpoint/2010/main" val="4085456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401"/>
          </a:xfrm>
        </p:spPr>
        <p:txBody>
          <a:bodyPr>
            <a:normAutofit fontScale="90000"/>
          </a:bodyPr>
          <a:lstStyle/>
          <a:p>
            <a:pPr algn="ctr"/>
            <a:r>
              <a:rPr lang="en-US" dirty="0" smtClean="0">
                <a:latin typeface="Times New Roman" pitchFamily="18" charset="0"/>
                <a:cs typeface="Times New Roman" pitchFamily="18" charset="0"/>
              </a:rPr>
              <a:t>Page table Structure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49531"/>
            <a:ext cx="10515600" cy="5027432"/>
          </a:xfrm>
        </p:spPr>
        <p:txBody>
          <a:bodyPr>
            <a:normAutofit fontScale="70000" lnSpcReduction="20000"/>
          </a:bodyPr>
          <a:lstStyle/>
          <a:p>
            <a:pPr algn="just">
              <a:lnSpc>
                <a:spcPct val="160000"/>
              </a:lnSpc>
            </a:pPr>
            <a:r>
              <a:rPr lang="en-US" dirty="0" smtClean="0">
                <a:latin typeface="Times New Roman" pitchFamily="18" charset="0"/>
                <a:cs typeface="Times New Roman" pitchFamily="18" charset="0"/>
              </a:rPr>
              <a:t>The exact layout of page table entry is highly machine dependent, but more common structure for 32-bit system is as:</a:t>
            </a:r>
          </a:p>
          <a:p>
            <a:pPr algn="just">
              <a:lnSpc>
                <a:spcPct val="160000"/>
              </a:lnSpc>
            </a:pPr>
            <a:endParaRPr lang="en-US" dirty="0" smtClean="0">
              <a:latin typeface="Times New Roman" pitchFamily="18" charset="0"/>
              <a:cs typeface="Times New Roman" pitchFamily="18" charset="0"/>
            </a:endParaRPr>
          </a:p>
          <a:p>
            <a:pPr algn="just">
              <a:lnSpc>
                <a:spcPct val="160000"/>
              </a:lnSpc>
            </a:pPr>
            <a:endParaRPr lang="en-US" dirty="0" smtClean="0">
              <a:latin typeface="Times New Roman" pitchFamily="18" charset="0"/>
              <a:cs typeface="Times New Roman" pitchFamily="18" charset="0"/>
            </a:endParaRPr>
          </a:p>
          <a:p>
            <a:pPr algn="just">
              <a:lnSpc>
                <a:spcPct val="160000"/>
              </a:lnSpc>
            </a:pPr>
            <a:endParaRPr lang="en-US" dirty="0" smtClean="0">
              <a:latin typeface="Times New Roman" pitchFamily="18" charset="0"/>
              <a:cs typeface="Times New Roman" pitchFamily="18" charset="0"/>
            </a:endParaRPr>
          </a:p>
          <a:p>
            <a:pPr algn="just">
              <a:lnSpc>
                <a:spcPct val="160000"/>
              </a:lnSpc>
            </a:pPr>
            <a:endParaRPr lang="en-US" dirty="0" smtClean="0">
              <a:latin typeface="Times New Roman" pitchFamily="18" charset="0"/>
              <a:cs typeface="Times New Roman" pitchFamily="18" charset="0"/>
            </a:endParaRPr>
          </a:p>
          <a:p>
            <a:pPr algn="just">
              <a:lnSpc>
                <a:spcPct val="160000"/>
              </a:lnSpc>
            </a:pPr>
            <a:r>
              <a:rPr lang="en-US" b="1" dirty="0" smtClean="0">
                <a:latin typeface="Times New Roman" pitchFamily="18" charset="0"/>
                <a:cs typeface="Times New Roman" pitchFamily="18" charset="0"/>
              </a:rPr>
              <a:t>Frame number</a:t>
            </a:r>
            <a:r>
              <a:rPr lang="en-US" dirty="0" smtClean="0">
                <a:latin typeface="Times New Roman" pitchFamily="18" charset="0"/>
                <a:cs typeface="Times New Roman" pitchFamily="18" charset="0"/>
              </a:rPr>
              <a:t>: specifies the frame where the page is stored in the main memory.</a:t>
            </a:r>
          </a:p>
          <a:p>
            <a:pPr algn="just">
              <a:lnSpc>
                <a:spcPct val="160000"/>
              </a:lnSpc>
            </a:pPr>
            <a:r>
              <a:rPr lang="en-US" b="1" dirty="0" smtClean="0">
                <a:latin typeface="Times New Roman" pitchFamily="18" charset="0"/>
                <a:cs typeface="Times New Roman" pitchFamily="18" charset="0"/>
              </a:rPr>
              <a:t>Present/absent bit: </a:t>
            </a:r>
            <a:r>
              <a:rPr lang="en-US" dirty="0" smtClean="0">
                <a:latin typeface="Times New Roman" pitchFamily="18" charset="0"/>
                <a:cs typeface="Times New Roman" pitchFamily="18" charset="0"/>
              </a:rPr>
              <a:t>If present/absent bit is present, the virtual addresses is mapped to the corresponding physical address. If present/absent is absent the trap is occur called page fault. </a:t>
            </a:r>
            <a:endParaRPr lang="en-US"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1368199" y="2162039"/>
            <a:ext cx="8807767" cy="1665378"/>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30</a:t>
            </a:fld>
            <a:endParaRPr lang="en-US"/>
          </a:p>
        </p:txBody>
      </p:sp>
    </p:spTree>
    <p:extLst>
      <p:ext uri="{BB962C8B-B14F-4D97-AF65-F5344CB8AC3E}">
        <p14:creationId xmlns:p14="http://schemas.microsoft.com/office/powerpoint/2010/main" val="8505933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0080"/>
            <a:ext cx="10515600" cy="5536883"/>
          </a:xfrm>
        </p:spPr>
        <p:txBody>
          <a:bodyPr>
            <a:normAutofit fontScale="85000" lnSpcReduction="10000"/>
          </a:bodyPr>
          <a:lstStyle/>
          <a:p>
            <a:pPr algn="just">
              <a:lnSpc>
                <a:spcPct val="200000"/>
              </a:lnSpc>
            </a:pPr>
            <a:r>
              <a:rPr lang="en-US" b="1" dirty="0" smtClean="0">
                <a:latin typeface="Times New Roman" pitchFamily="18" charset="0"/>
                <a:cs typeface="Times New Roman" pitchFamily="18" charset="0"/>
              </a:rPr>
              <a:t>Protection bit</a:t>
            </a:r>
            <a:r>
              <a:rPr lang="en-US" dirty="0" smtClean="0">
                <a:latin typeface="Times New Roman" pitchFamily="18" charset="0"/>
                <a:cs typeface="Times New Roman" pitchFamily="18" charset="0"/>
              </a:rPr>
              <a:t>: Tells what kinds of access are permitted read, write or read only.</a:t>
            </a:r>
          </a:p>
          <a:p>
            <a:pPr algn="just">
              <a:lnSpc>
                <a:spcPct val="200000"/>
              </a:lnSpc>
            </a:pPr>
            <a:r>
              <a:rPr lang="en-US" b="1" dirty="0" smtClean="0">
                <a:latin typeface="Times New Roman" pitchFamily="18" charset="0"/>
                <a:cs typeface="Times New Roman" pitchFamily="18" charset="0"/>
              </a:rPr>
              <a:t>Referenced bit</a:t>
            </a:r>
            <a:r>
              <a:rPr lang="en-US" dirty="0" smtClean="0">
                <a:latin typeface="Times New Roman" pitchFamily="18" charset="0"/>
                <a:cs typeface="Times New Roman" pitchFamily="18" charset="0"/>
              </a:rPr>
              <a:t>: set whenever a page is referenced; used in page replacement.</a:t>
            </a:r>
          </a:p>
          <a:p>
            <a:pPr algn="just">
              <a:lnSpc>
                <a:spcPct val="200000"/>
              </a:lnSpc>
            </a:pPr>
            <a:r>
              <a:rPr lang="en-US" b="1" dirty="0" smtClean="0">
                <a:latin typeface="Times New Roman" pitchFamily="18" charset="0"/>
                <a:cs typeface="Times New Roman" pitchFamily="18" charset="0"/>
              </a:rPr>
              <a:t>Caching disabled</a:t>
            </a:r>
            <a:r>
              <a:rPr lang="en-US" dirty="0" smtClean="0">
                <a:latin typeface="Times New Roman" pitchFamily="18" charset="0"/>
                <a:cs typeface="Times New Roman" pitchFamily="18" charset="0"/>
              </a:rPr>
              <a:t>: used for that system where the mapping into device register rather than memory.</a:t>
            </a:r>
          </a:p>
          <a:p>
            <a:pPr algn="just">
              <a:lnSpc>
                <a:spcPct val="200000"/>
              </a:lnSpc>
            </a:pPr>
            <a:r>
              <a:rPr lang="en-US" b="1" dirty="0" smtClean="0">
                <a:latin typeface="Times New Roman" pitchFamily="18" charset="0"/>
                <a:cs typeface="Times New Roman" pitchFamily="18" charset="0"/>
              </a:rPr>
              <a:t>Modified bit (dirty bit): </a:t>
            </a:r>
            <a:r>
              <a:rPr lang="en-US" dirty="0" smtClean="0">
                <a:latin typeface="Times New Roman" pitchFamily="18" charset="0"/>
                <a:cs typeface="Times New Roman" pitchFamily="18" charset="0"/>
              </a:rPr>
              <a:t>Identifies the changed status of the page since last access; if it is modified then it must be rewritten back to the disk. </a:t>
            </a:r>
            <a:endParaRPr lang="en-US" dirty="0">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31</a:t>
            </a:fld>
            <a:endParaRPr lang="en-US"/>
          </a:p>
        </p:txBody>
      </p:sp>
    </p:spTree>
    <p:extLst>
      <p:ext uri="{BB962C8B-B14F-4D97-AF65-F5344CB8AC3E}">
        <p14:creationId xmlns:p14="http://schemas.microsoft.com/office/powerpoint/2010/main" val="34535923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6212"/>
          </a:xfrm>
        </p:spPr>
        <p:txBody>
          <a:bodyPr>
            <a:normAutofit fontScale="90000"/>
          </a:bodyPr>
          <a:lstStyle/>
          <a:p>
            <a:pPr algn="ctr"/>
            <a:r>
              <a:rPr lang="en-US" b="1" dirty="0" smtClean="0">
                <a:latin typeface="Times New Roman" pitchFamily="18" charset="0"/>
                <a:cs typeface="Times New Roman" pitchFamily="18" charset="0"/>
              </a:rPr>
              <a:t>Types of page table</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058091"/>
            <a:ext cx="10515600" cy="5473338"/>
          </a:xfrm>
        </p:spPr>
        <p:txBody>
          <a:bodyPr>
            <a:normAutofit/>
          </a:bodyPr>
          <a:lstStyle/>
          <a:p>
            <a:pPr algn="just">
              <a:buNone/>
            </a:pPr>
            <a:r>
              <a:rPr lang="en-US" sz="2000" b="1" dirty="0" smtClean="0">
                <a:latin typeface="Times New Roman" pitchFamily="18" charset="0"/>
                <a:cs typeface="Times New Roman" pitchFamily="18" charset="0"/>
              </a:rPr>
              <a:t>Hierarchical Page table:</a:t>
            </a:r>
          </a:p>
          <a:p>
            <a:pPr algn="just"/>
            <a:r>
              <a:rPr lang="en-US" sz="2000" dirty="0" smtClean="0">
                <a:latin typeface="Times New Roman" pitchFamily="18" charset="0"/>
                <a:cs typeface="Times New Roman" pitchFamily="18" charset="0"/>
              </a:rPr>
              <a:t>It is also known as multi-level paging</a:t>
            </a:r>
          </a:p>
          <a:p>
            <a:pPr algn="just"/>
            <a:r>
              <a:rPr lang="en-US" sz="2000" dirty="0" smtClean="0">
                <a:latin typeface="Times New Roman" pitchFamily="18" charset="0"/>
                <a:cs typeface="Times New Roman" pitchFamily="18" charset="0"/>
              </a:rPr>
              <a:t>Break up the logical address space into multiple page tables.</a:t>
            </a:r>
          </a:p>
          <a:p>
            <a:pPr algn="just"/>
            <a:r>
              <a:rPr lang="en-US" sz="2000" dirty="0" smtClean="0">
                <a:latin typeface="Times New Roman" pitchFamily="18" charset="0"/>
                <a:cs typeface="Times New Roman" pitchFamily="18" charset="0"/>
              </a:rPr>
              <a:t>A simple techniques is two-level page table.</a:t>
            </a:r>
            <a:endParaRPr lang="en-US" sz="20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1175658" y="2795451"/>
            <a:ext cx="7116672" cy="3615827"/>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32</a:t>
            </a:fld>
            <a:endParaRPr lang="en-US"/>
          </a:p>
        </p:txBody>
      </p:sp>
    </p:spTree>
    <p:extLst>
      <p:ext uri="{BB962C8B-B14F-4D97-AF65-F5344CB8AC3E}">
        <p14:creationId xmlns:p14="http://schemas.microsoft.com/office/powerpoint/2010/main" val="2386410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338"/>
          </a:xfrm>
        </p:spPr>
        <p:txBody>
          <a:bodyPr>
            <a:normAutofit fontScale="90000"/>
          </a:bodyPr>
          <a:lstStyle/>
          <a:p>
            <a:pPr algn="ctr"/>
            <a:r>
              <a:rPr lang="en-US" b="1" dirty="0" smtClean="0">
                <a:latin typeface="Times New Roman" pitchFamily="18" charset="0"/>
                <a:cs typeface="Times New Roman" pitchFamily="18" charset="0"/>
              </a:rPr>
              <a:t>Two-Level Paging Example</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992777"/>
            <a:ext cx="10515600" cy="5184186"/>
          </a:xfrm>
        </p:spPr>
        <p:txBody>
          <a:bodyPr>
            <a:normAutofit/>
          </a:bodyPr>
          <a:lstStyle/>
          <a:p>
            <a:pPr algn="just"/>
            <a:r>
              <a:rPr lang="en-US" sz="2000" dirty="0" smtClean="0">
                <a:latin typeface="Times New Roman" pitchFamily="18" charset="0"/>
                <a:cs typeface="Times New Roman" pitchFamily="18" charset="0"/>
              </a:rPr>
              <a:t>A 32-bit virtual address space with a page size of 4 KB, the virtual address space is partitioned into a 10-bit P1 field, a 10-bit P2 field, and a 12-bit offset field</a:t>
            </a: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The top level have 1024 entries, corresponding to P1. At mapping, it first extracts the P1 and uses this value as an index into the top level page table. Each of these entries have again 1024 entries, the resulting address of top-level yields the address or page frame number of second-level page table.</a:t>
            </a:r>
            <a:endParaRPr lang="en-US"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3079296" y="1776548"/>
            <a:ext cx="4857750" cy="13716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2446700" y="4376058"/>
            <a:ext cx="7324725" cy="1972491"/>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33</a:t>
            </a:fld>
            <a:endParaRPr lang="en-US"/>
          </a:p>
        </p:txBody>
      </p:sp>
    </p:spTree>
    <p:extLst>
      <p:ext uri="{BB962C8B-B14F-4D97-AF65-F5344CB8AC3E}">
        <p14:creationId xmlns:p14="http://schemas.microsoft.com/office/powerpoint/2010/main" val="24515006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3326"/>
            <a:ext cx="10515600" cy="5917474"/>
          </a:xfrm>
        </p:spPr>
        <p:txBody>
          <a:bodyPr>
            <a:normAutofit fontScale="77500" lnSpcReduction="20000"/>
          </a:bodyPr>
          <a:lstStyle/>
          <a:p>
            <a:pPr algn="just">
              <a:lnSpc>
                <a:spcPct val="150000"/>
              </a:lnSpc>
              <a:buNone/>
            </a:pPr>
            <a:r>
              <a:rPr lang="en-US" b="1" dirty="0" smtClean="0">
                <a:latin typeface="Times New Roman" pitchFamily="18" charset="0"/>
                <a:cs typeface="Times New Roman" pitchFamily="18" charset="0"/>
              </a:rPr>
              <a:t>Hashed Page Tables</a:t>
            </a:r>
          </a:p>
          <a:p>
            <a:pPr algn="just">
              <a:lnSpc>
                <a:spcPct val="150000"/>
              </a:lnSpc>
            </a:pPr>
            <a:r>
              <a:rPr lang="en-US" dirty="0" smtClean="0">
                <a:latin typeface="Times New Roman" pitchFamily="18" charset="0"/>
                <a:cs typeface="Times New Roman" pitchFamily="18" charset="0"/>
              </a:rPr>
              <a:t>A common approach for handling address space larger than 32-bit.</a:t>
            </a:r>
          </a:p>
          <a:p>
            <a:pPr algn="just">
              <a:lnSpc>
                <a:spcPct val="150000"/>
              </a:lnSpc>
            </a:pPr>
            <a:r>
              <a:rPr lang="en-US" dirty="0" smtClean="0">
                <a:latin typeface="Times New Roman" pitchFamily="18" charset="0"/>
                <a:cs typeface="Times New Roman" pitchFamily="18" charset="0"/>
              </a:rPr>
              <a:t>The hash value is the virtual-page number. Each entry in the hash table contains a linked list of elements that hash to the same location. </a:t>
            </a:r>
          </a:p>
          <a:p>
            <a:pPr algn="just">
              <a:lnSpc>
                <a:spcPct val="150000"/>
              </a:lnSpc>
            </a:pPr>
            <a:r>
              <a:rPr lang="en-US" dirty="0" smtClean="0">
                <a:latin typeface="Times New Roman" pitchFamily="18" charset="0"/>
                <a:cs typeface="Times New Roman" pitchFamily="18" charset="0"/>
              </a:rPr>
              <a:t>Each element consists of three fields: </a:t>
            </a:r>
          </a:p>
          <a:p>
            <a:pPr lvl="1" algn="just">
              <a:lnSpc>
                <a:spcPct val="150000"/>
              </a:lnSpc>
            </a:pPr>
            <a:r>
              <a:rPr lang="en-US" sz="2800" dirty="0" smtClean="0">
                <a:latin typeface="Times New Roman" pitchFamily="18" charset="0"/>
                <a:cs typeface="Times New Roman" pitchFamily="18" charset="0"/>
              </a:rPr>
              <a:t>virtual-page-number, </a:t>
            </a:r>
          </a:p>
          <a:p>
            <a:pPr lvl="1" algn="just">
              <a:lnSpc>
                <a:spcPct val="150000"/>
              </a:lnSpc>
            </a:pPr>
            <a:r>
              <a:rPr lang="en-US" sz="2800" dirty="0" smtClean="0">
                <a:latin typeface="Times New Roman" pitchFamily="18" charset="0"/>
                <a:cs typeface="Times New Roman" pitchFamily="18" charset="0"/>
              </a:rPr>
              <a:t>value of mapped page frame, and</a:t>
            </a:r>
          </a:p>
          <a:p>
            <a:pPr lvl="1" algn="just">
              <a:lnSpc>
                <a:spcPct val="150000"/>
              </a:lnSpc>
            </a:pPr>
            <a:r>
              <a:rPr lang="en-US" sz="2800" dirty="0" smtClean="0">
                <a:latin typeface="Times New Roman" pitchFamily="18" charset="0"/>
                <a:cs typeface="Times New Roman" pitchFamily="18" charset="0"/>
              </a:rPr>
              <a:t>pointer to the next element</a:t>
            </a:r>
            <a:r>
              <a:rPr lang="en-US" dirty="0" smtClean="0">
                <a:latin typeface="Times New Roman" pitchFamily="18" charset="0"/>
                <a:cs typeface="Times New Roman" pitchFamily="18" charset="0"/>
              </a:rPr>
              <a:t>.</a:t>
            </a:r>
          </a:p>
          <a:p>
            <a:pPr algn="just">
              <a:lnSpc>
                <a:spcPct val="150000"/>
              </a:lnSpc>
            </a:pPr>
            <a:r>
              <a:rPr lang="en-US" dirty="0" smtClean="0">
                <a:latin typeface="Times New Roman" pitchFamily="18" charset="0"/>
                <a:cs typeface="Times New Roman" pitchFamily="18" charset="0"/>
              </a:rPr>
              <a:t> The virtual address is hashed into the hash table, if there is match the corresponding page frame is used, if not, subsequent entries in the linked list are searched.</a:t>
            </a:r>
            <a:endParaRPr lang="en-US" dirty="0">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34</a:t>
            </a:fld>
            <a:endParaRPr lang="en-US"/>
          </a:p>
        </p:txBody>
      </p:sp>
    </p:spTree>
    <p:extLst>
      <p:ext uri="{BB962C8B-B14F-4D97-AF65-F5344CB8AC3E}">
        <p14:creationId xmlns:p14="http://schemas.microsoft.com/office/powerpoint/2010/main" val="10723701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666206" y="378824"/>
            <a:ext cx="10711543" cy="5786846"/>
          </a:xfrm>
          <a:prstGeom prst="rect">
            <a:avLst/>
          </a:prstGeom>
          <a:noFill/>
          <a:ln w="9525">
            <a:noFill/>
            <a:miter lim="800000"/>
            <a:headEnd/>
            <a:tailEnd/>
          </a:ln>
          <a:effectLst/>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3" name="Slide Number Placeholder 2"/>
          <p:cNvSpPr>
            <a:spLocks noGrp="1"/>
          </p:cNvSpPr>
          <p:nvPr>
            <p:ph type="sldNum" sz="quarter" idx="12"/>
          </p:nvPr>
        </p:nvSpPr>
        <p:spPr/>
        <p:txBody>
          <a:bodyPr/>
          <a:lstStyle/>
          <a:p>
            <a:fld id="{7B79A216-6713-4607-98FC-E026344EDDE7}" type="slidenum">
              <a:rPr lang="en-US" smtClean="0"/>
              <a:t>35</a:t>
            </a:fld>
            <a:endParaRPr lang="en-US"/>
          </a:p>
        </p:txBody>
      </p:sp>
    </p:spTree>
    <p:extLst>
      <p:ext uri="{BB962C8B-B14F-4D97-AF65-F5344CB8AC3E}">
        <p14:creationId xmlns:p14="http://schemas.microsoft.com/office/powerpoint/2010/main" val="5103100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9634"/>
            <a:ext cx="10515600" cy="5837329"/>
          </a:xfrm>
        </p:spPr>
        <p:txBody>
          <a:bodyPr>
            <a:normAutofit fontScale="70000" lnSpcReduction="20000"/>
          </a:bodyPr>
          <a:lstStyle/>
          <a:p>
            <a:pPr algn="just">
              <a:lnSpc>
                <a:spcPct val="150000"/>
              </a:lnSpc>
              <a:buNone/>
            </a:pPr>
            <a:r>
              <a:rPr lang="en-US" sz="3400" b="1" dirty="0" smtClean="0">
                <a:latin typeface="Times New Roman" pitchFamily="18" charset="0"/>
                <a:cs typeface="Times New Roman" pitchFamily="18" charset="0"/>
              </a:rPr>
              <a:t>Inverted Page Tables</a:t>
            </a:r>
          </a:p>
          <a:p>
            <a:pPr algn="just">
              <a:lnSpc>
                <a:spcPct val="150000"/>
              </a:lnSpc>
            </a:pPr>
            <a:r>
              <a:rPr lang="en-US" dirty="0" smtClean="0">
                <a:latin typeface="Times New Roman" pitchFamily="18" charset="0"/>
                <a:cs typeface="Times New Roman" pitchFamily="18" charset="0"/>
              </a:rPr>
              <a:t>A common approach for handling address space larger than 32-bit. One entry per page frame, rather than one entry per page in earlier tables. (Ex: 256MB RAM with 4KB page requires only 65,536 entries in table) </a:t>
            </a:r>
          </a:p>
          <a:p>
            <a:pPr algn="just">
              <a:lnSpc>
                <a:spcPct val="150000"/>
              </a:lnSpc>
            </a:pPr>
            <a:r>
              <a:rPr lang="en-US" dirty="0" smtClean="0">
                <a:latin typeface="Times New Roman" pitchFamily="18" charset="0"/>
                <a:cs typeface="Times New Roman" pitchFamily="18" charset="0"/>
              </a:rPr>
              <a:t>Entry consists of the virtual address of the page stored in that physical memory location, with information about the process that owns that page.</a:t>
            </a:r>
          </a:p>
          <a:p>
            <a:pPr algn="just">
              <a:lnSpc>
                <a:spcPct val="150000"/>
              </a:lnSpc>
            </a:pPr>
            <a:r>
              <a:rPr lang="en-US" dirty="0" smtClean="0">
                <a:latin typeface="Times New Roman" pitchFamily="18" charset="0"/>
                <a:cs typeface="Times New Roman" pitchFamily="18" charset="0"/>
              </a:rPr>
              <a:t> Virtual address consists three fields: </a:t>
            </a:r>
            <a:r>
              <a:rPr lang="en-US" b="1" dirty="0" smtClean="0">
                <a:latin typeface="Times New Roman" pitchFamily="18" charset="0"/>
                <a:cs typeface="Times New Roman" pitchFamily="18" charset="0"/>
              </a:rPr>
              <a:t>[process-id, page-number, offset].</a:t>
            </a:r>
          </a:p>
          <a:p>
            <a:pPr algn="just">
              <a:lnSpc>
                <a:spcPct val="150000"/>
              </a:lnSpc>
            </a:pPr>
            <a:r>
              <a:rPr lang="en-US" dirty="0" smtClean="0">
                <a:latin typeface="Times New Roman" pitchFamily="18" charset="0"/>
                <a:cs typeface="Times New Roman" pitchFamily="18" charset="0"/>
              </a:rPr>
              <a:t> The inverted page table entry is determined by </a:t>
            </a:r>
            <a:r>
              <a:rPr lang="en-US" b="1" dirty="0" smtClean="0">
                <a:latin typeface="Times New Roman" pitchFamily="18" charset="0"/>
                <a:cs typeface="Times New Roman" pitchFamily="18" charset="0"/>
              </a:rPr>
              <a:t>[process-id, page-number]. </a:t>
            </a:r>
          </a:p>
          <a:p>
            <a:pPr algn="just">
              <a:lnSpc>
                <a:spcPct val="150000"/>
              </a:lnSpc>
            </a:pPr>
            <a:r>
              <a:rPr lang="en-US" dirty="0" smtClean="0">
                <a:latin typeface="Times New Roman" pitchFamily="18" charset="0"/>
                <a:cs typeface="Times New Roman" pitchFamily="18" charset="0"/>
              </a:rPr>
              <a:t>The page table is search for the match, say at entry </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 the match is found, then the physical address [</a:t>
            </a:r>
            <a:r>
              <a:rPr lang="en-US"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 offset] is generated. </a:t>
            </a:r>
          </a:p>
          <a:p>
            <a:pPr algn="just">
              <a:lnSpc>
                <a:spcPct val="150000"/>
              </a:lnSpc>
            </a:pPr>
            <a:r>
              <a:rPr lang="en-US" dirty="0" smtClean="0">
                <a:latin typeface="Times New Roman" pitchFamily="18" charset="0"/>
                <a:cs typeface="Times New Roman" pitchFamily="18" charset="0"/>
              </a:rPr>
              <a:t>Decreases memory needed to store each page table, but increases time needed to search the table when a page reference occurs</a:t>
            </a:r>
            <a:endParaRPr lang="en-US" dirty="0">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36</a:t>
            </a:fld>
            <a:endParaRPr lang="en-US"/>
          </a:p>
        </p:txBody>
      </p:sp>
    </p:spTree>
    <p:extLst>
      <p:ext uri="{BB962C8B-B14F-4D97-AF65-F5344CB8AC3E}">
        <p14:creationId xmlns:p14="http://schemas.microsoft.com/office/powerpoint/2010/main" val="19772438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849086" y="496389"/>
            <a:ext cx="10610033" cy="5695405"/>
          </a:xfrm>
          <a:prstGeom prst="rect">
            <a:avLst/>
          </a:prstGeom>
          <a:noFill/>
          <a:ln w="9525">
            <a:noFill/>
            <a:miter lim="800000"/>
            <a:headEnd/>
            <a:tailEnd/>
          </a:ln>
          <a:effectLst/>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3" name="Slide Number Placeholder 2"/>
          <p:cNvSpPr>
            <a:spLocks noGrp="1"/>
          </p:cNvSpPr>
          <p:nvPr>
            <p:ph type="sldNum" sz="quarter" idx="12"/>
          </p:nvPr>
        </p:nvSpPr>
        <p:spPr/>
        <p:txBody>
          <a:bodyPr/>
          <a:lstStyle/>
          <a:p>
            <a:fld id="{7B79A216-6713-4607-98FC-E026344EDDE7}" type="slidenum">
              <a:rPr lang="en-US" smtClean="0"/>
              <a:t>37</a:t>
            </a:fld>
            <a:endParaRPr lang="en-US"/>
          </a:p>
        </p:txBody>
      </p:sp>
    </p:spTree>
    <p:extLst>
      <p:ext uri="{BB962C8B-B14F-4D97-AF65-F5344CB8AC3E}">
        <p14:creationId xmlns:p14="http://schemas.microsoft.com/office/powerpoint/2010/main" val="17798374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pPr algn="ctr"/>
            <a:r>
              <a:rPr lang="en-US" b="1" dirty="0" smtClean="0">
                <a:latin typeface="Times New Roman" pitchFamily="18" charset="0"/>
                <a:cs typeface="Times New Roman" pitchFamily="18" charset="0"/>
              </a:rPr>
              <a:t>Demand Paging</a:t>
            </a:r>
            <a:endParaRPr lang="en-US" b="1"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640080" y="962296"/>
            <a:ext cx="10842171" cy="5281750"/>
          </a:xfrm>
          <a:prstGeom prst="rect">
            <a:avLst/>
          </a:prstGeom>
          <a:noFill/>
          <a:ln w="9525">
            <a:noFill/>
            <a:miter lim="800000"/>
            <a:headEnd/>
            <a:tailEnd/>
          </a:ln>
          <a:effectLst/>
        </p:spPr>
      </p:pic>
      <p:sp>
        <p:nvSpPr>
          <p:cNvPr id="3" name="Footer Placeholder 2"/>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38</a:t>
            </a:fld>
            <a:endParaRPr lang="en-US"/>
          </a:p>
        </p:txBody>
      </p:sp>
    </p:spTree>
    <p:extLst>
      <p:ext uri="{BB962C8B-B14F-4D97-AF65-F5344CB8AC3E}">
        <p14:creationId xmlns:p14="http://schemas.microsoft.com/office/powerpoint/2010/main" val="24365121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338"/>
          </a:xfrm>
        </p:spPr>
        <p:txBody>
          <a:bodyPr>
            <a:normAutofit fontScale="90000"/>
          </a:bodyPr>
          <a:lstStyle/>
          <a:p>
            <a:pPr algn="ctr"/>
            <a:r>
              <a:rPr lang="en-US" b="1" dirty="0" smtClean="0">
                <a:latin typeface="Times New Roman" pitchFamily="18" charset="0"/>
                <a:cs typeface="Times New Roman" pitchFamily="18" charset="0"/>
              </a:rPr>
              <a:t>Page Fault</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849086"/>
            <a:ext cx="10515600" cy="5327877"/>
          </a:xfrm>
        </p:spPr>
        <p:txBody>
          <a:bodyPr>
            <a:noAutofit/>
          </a:bodyPr>
          <a:lstStyle/>
          <a:p>
            <a:pPr algn="just">
              <a:lnSpc>
                <a:spcPct val="100000"/>
              </a:lnSpc>
            </a:pPr>
            <a:r>
              <a:rPr lang="en-US" sz="2000" dirty="0" smtClean="0">
                <a:latin typeface="Times New Roman" pitchFamily="18" charset="0"/>
                <a:cs typeface="Times New Roman" pitchFamily="18" charset="0"/>
              </a:rPr>
              <a:t>When a page referenced by the CPU is not in main memory, it is called a page fault.</a:t>
            </a:r>
          </a:p>
          <a:p>
            <a:pPr algn="just">
              <a:lnSpc>
                <a:spcPct val="100000"/>
              </a:lnSpc>
            </a:pPr>
            <a:r>
              <a:rPr lang="en-US" sz="2000" dirty="0" smtClean="0">
                <a:latin typeface="Times New Roman" pitchFamily="18" charset="0"/>
                <a:cs typeface="Times New Roman" pitchFamily="18" charset="0"/>
              </a:rPr>
              <a:t>When a page fault occurs, the required page has to be fetched from secondary memory into main memory.</a:t>
            </a:r>
          </a:p>
          <a:p>
            <a:pPr algn="just">
              <a:lnSpc>
                <a:spcPct val="100000"/>
              </a:lnSpc>
            </a:pPr>
            <a:r>
              <a:rPr lang="en-US" sz="2000" dirty="0" smtClean="0">
                <a:latin typeface="Times New Roman" pitchFamily="18" charset="0"/>
                <a:cs typeface="Times New Roman" pitchFamily="18" charset="0"/>
              </a:rPr>
              <a:t>Page fault can be handled by operating System.</a:t>
            </a:r>
          </a:p>
          <a:p>
            <a:pPr lvl="1" algn="just">
              <a:lnSpc>
                <a:spcPct val="100000"/>
              </a:lnSpc>
              <a:buNone/>
            </a:pPr>
            <a:r>
              <a:rPr lang="en-US" sz="2000" dirty="0" smtClean="0">
                <a:latin typeface="Times New Roman" pitchFamily="18" charset="0"/>
                <a:cs typeface="Times New Roman" pitchFamily="18" charset="0"/>
              </a:rPr>
              <a:t>1.The paging hardware, in translating the address through the page table, will notice that the invalid bit is set, causing a trap to the operating system.</a:t>
            </a:r>
          </a:p>
          <a:p>
            <a:pPr lvl="1" algn="just">
              <a:lnSpc>
                <a:spcPct val="100000"/>
              </a:lnSpc>
              <a:buNone/>
            </a:pPr>
            <a:r>
              <a:rPr lang="en-US" sz="2000" dirty="0" smtClean="0">
                <a:latin typeface="Times New Roman" pitchFamily="18" charset="0"/>
                <a:cs typeface="Times New Roman" pitchFamily="18" charset="0"/>
              </a:rPr>
              <a:t>2. Operating system looks at another table to decide: </a:t>
            </a:r>
          </a:p>
          <a:p>
            <a:pPr lvl="2" algn="just">
              <a:lnSpc>
                <a:spcPct val="100000"/>
              </a:lnSpc>
              <a:buNone/>
            </a:pPr>
            <a:r>
              <a:rPr lang="en-US" dirty="0" smtClean="0">
                <a:latin typeface="Times New Roman" pitchFamily="18" charset="0"/>
                <a:cs typeface="Times New Roman" pitchFamily="18" charset="0"/>
              </a:rPr>
              <a:t>• Invalid reference =&gt; abort </a:t>
            </a:r>
          </a:p>
          <a:p>
            <a:pPr lvl="2" algn="just">
              <a:lnSpc>
                <a:spcPct val="100000"/>
              </a:lnSpc>
              <a:buNone/>
            </a:pPr>
            <a:r>
              <a:rPr lang="en-US" dirty="0" smtClean="0">
                <a:latin typeface="Times New Roman" pitchFamily="18" charset="0"/>
                <a:cs typeface="Times New Roman" pitchFamily="18" charset="0"/>
              </a:rPr>
              <a:t>• Just not in memory</a:t>
            </a:r>
          </a:p>
          <a:p>
            <a:pPr lvl="1" algn="just">
              <a:lnSpc>
                <a:spcPct val="100000"/>
              </a:lnSpc>
              <a:buNone/>
            </a:pPr>
            <a:r>
              <a:rPr lang="en-US" sz="2000" dirty="0" smtClean="0">
                <a:latin typeface="Times New Roman" pitchFamily="18" charset="0"/>
                <a:cs typeface="Times New Roman" pitchFamily="18" charset="0"/>
              </a:rPr>
              <a:t>3. Get empty frame</a:t>
            </a:r>
          </a:p>
          <a:p>
            <a:pPr lvl="1" algn="just">
              <a:lnSpc>
                <a:spcPct val="100000"/>
              </a:lnSpc>
              <a:buNone/>
            </a:pPr>
            <a:r>
              <a:rPr lang="en-US" sz="2000" dirty="0" smtClean="0">
                <a:latin typeface="Times New Roman" pitchFamily="18" charset="0"/>
                <a:cs typeface="Times New Roman" pitchFamily="18" charset="0"/>
              </a:rPr>
              <a:t> 4. Swap page into frame via scheduled disk operation</a:t>
            </a:r>
          </a:p>
          <a:p>
            <a:pPr lvl="1" algn="just">
              <a:lnSpc>
                <a:spcPct val="100000"/>
              </a:lnSpc>
              <a:buNone/>
            </a:pPr>
            <a:r>
              <a:rPr lang="en-US" sz="2000" dirty="0" smtClean="0">
                <a:latin typeface="Times New Roman" pitchFamily="18" charset="0"/>
                <a:cs typeface="Times New Roman" pitchFamily="18" charset="0"/>
              </a:rPr>
              <a:t> 5. Reset tables to indicate page now in memory. Set validation bit = v</a:t>
            </a:r>
          </a:p>
          <a:p>
            <a:pPr lvl="1" algn="just">
              <a:lnSpc>
                <a:spcPct val="100000"/>
              </a:lnSpc>
              <a:buNone/>
            </a:pPr>
            <a:r>
              <a:rPr lang="en-US" sz="2000" dirty="0" smtClean="0">
                <a:latin typeface="Times New Roman" pitchFamily="18" charset="0"/>
                <a:cs typeface="Times New Roman" pitchFamily="18" charset="0"/>
              </a:rPr>
              <a:t> 6. Restart the instruction that caused the page fault </a:t>
            </a:r>
            <a:endParaRPr lang="en-US" sz="20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39</a:t>
            </a:fld>
            <a:endParaRPr lang="en-US"/>
          </a:p>
        </p:txBody>
      </p:sp>
    </p:spTree>
    <p:extLst>
      <p:ext uri="{BB962C8B-B14F-4D97-AF65-F5344CB8AC3E}">
        <p14:creationId xmlns:p14="http://schemas.microsoft.com/office/powerpoint/2010/main" val="31360770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apture.PNG"/>
          <p:cNvPicPr>
            <a:picLocks noChangeAspect="1"/>
          </p:cNvPicPr>
          <p:nvPr/>
        </p:nvPicPr>
        <p:blipFill>
          <a:blip r:embed="rId2"/>
          <a:stretch>
            <a:fillRect/>
          </a:stretch>
        </p:blipFill>
        <p:spPr>
          <a:xfrm>
            <a:off x="1123406" y="613954"/>
            <a:ext cx="10019211" cy="5355772"/>
          </a:xfrm>
          <a:prstGeom prst="rect">
            <a:avLst/>
          </a:prstGeom>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3" name="Slide Number Placeholder 2"/>
          <p:cNvSpPr>
            <a:spLocks noGrp="1"/>
          </p:cNvSpPr>
          <p:nvPr>
            <p:ph type="sldNum" sz="quarter" idx="12"/>
          </p:nvPr>
        </p:nvSpPr>
        <p:spPr/>
        <p:txBody>
          <a:bodyPr/>
          <a:lstStyle/>
          <a:p>
            <a:fld id="{7B79A216-6713-4607-98FC-E026344EDDE7}" type="slidenum">
              <a:rPr lang="en-US" smtClean="0"/>
              <a:t>40</a:t>
            </a:fld>
            <a:endParaRPr lang="en-US"/>
          </a:p>
        </p:txBody>
      </p:sp>
    </p:spTree>
    <p:extLst>
      <p:ext uri="{BB962C8B-B14F-4D97-AF65-F5344CB8AC3E}">
        <p14:creationId xmlns:p14="http://schemas.microsoft.com/office/powerpoint/2010/main" val="829760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6"/>
          </a:xfrm>
        </p:spPr>
        <p:txBody>
          <a:bodyPr>
            <a:normAutofit fontScale="90000"/>
          </a:bodyPr>
          <a:lstStyle/>
          <a:p>
            <a:pPr algn="ctr"/>
            <a:r>
              <a:rPr lang="en-US" dirty="0" smtClean="0">
                <a:latin typeface="Times New Roman" pitchFamily="18" charset="0"/>
                <a:cs typeface="Times New Roman" pitchFamily="18" charset="0"/>
              </a:rPr>
              <a:t>Page Replacement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23406"/>
            <a:ext cx="10515600" cy="5053557"/>
          </a:xfrm>
        </p:spPr>
        <p:txBody>
          <a:bodyPr>
            <a:normAutofit fontScale="92500"/>
          </a:bodyPr>
          <a:lstStyle/>
          <a:p>
            <a:pPr>
              <a:lnSpc>
                <a:spcPct val="150000"/>
              </a:lnSpc>
            </a:pPr>
            <a:r>
              <a:rPr lang="en-US" dirty="0" smtClean="0">
                <a:latin typeface="Times New Roman" pitchFamily="18" charset="0"/>
                <a:cs typeface="Times New Roman" pitchFamily="18" charset="0"/>
              </a:rPr>
              <a:t>What Happens if There is no Free Frame? </a:t>
            </a:r>
          </a:p>
          <a:p>
            <a:pPr>
              <a:lnSpc>
                <a:spcPct val="150000"/>
              </a:lnSpc>
            </a:pPr>
            <a:r>
              <a:rPr lang="en-US" dirty="0" smtClean="0">
                <a:latin typeface="Times New Roman" pitchFamily="18" charset="0"/>
                <a:cs typeface="Times New Roman" pitchFamily="18" charset="0"/>
              </a:rPr>
              <a:t>The OS has to choose a page to remove from memory to make the room for the page that has to be brought in. </a:t>
            </a:r>
          </a:p>
          <a:p>
            <a:pPr>
              <a:lnSpc>
                <a:spcPct val="150000"/>
              </a:lnSpc>
            </a:pPr>
            <a:r>
              <a:rPr lang="en-US" dirty="0" smtClean="0">
                <a:latin typeface="Times New Roman" pitchFamily="18" charset="0"/>
                <a:cs typeface="Times New Roman" pitchFamily="18" charset="0"/>
              </a:rPr>
              <a:t>Which one page to be removed ?</a:t>
            </a:r>
          </a:p>
          <a:p>
            <a:pPr>
              <a:lnSpc>
                <a:spcPct val="150000"/>
              </a:lnSpc>
            </a:pPr>
            <a:r>
              <a:rPr lang="en-US" dirty="0" smtClean="0">
                <a:latin typeface="Times New Roman" pitchFamily="18" charset="0"/>
                <a:cs typeface="Times New Roman" pitchFamily="18" charset="0"/>
              </a:rPr>
              <a:t> What happen if the page that required next, is removed?</a:t>
            </a:r>
          </a:p>
          <a:p>
            <a:pPr>
              <a:lnSpc>
                <a:spcPct val="150000"/>
              </a:lnSpc>
            </a:pPr>
            <a:r>
              <a:rPr lang="en-US" dirty="0" smtClean="0">
                <a:latin typeface="Times New Roman" pitchFamily="18" charset="0"/>
                <a:cs typeface="Times New Roman" pitchFamily="18" charset="0"/>
              </a:rPr>
              <a:t> Principle of Optimality: </a:t>
            </a:r>
            <a:r>
              <a:rPr lang="en-US" b="1" dirty="0" smtClean="0">
                <a:latin typeface="Times New Roman" pitchFamily="18" charset="0"/>
                <a:cs typeface="Times New Roman" pitchFamily="18" charset="0"/>
              </a:rPr>
              <a:t>To obtain optimal performance the page to replace is one that will not be used for the furthest time in the future</a:t>
            </a:r>
            <a:endParaRPr lang="en-US" b="1"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41</a:t>
            </a:fld>
            <a:endParaRPr lang="en-US"/>
          </a:p>
        </p:txBody>
      </p:sp>
    </p:spTree>
    <p:extLst>
      <p:ext uri="{BB962C8B-B14F-4D97-AF65-F5344CB8AC3E}">
        <p14:creationId xmlns:p14="http://schemas.microsoft.com/office/powerpoint/2010/main" val="23304138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6212"/>
          </a:xfrm>
        </p:spPr>
        <p:txBody>
          <a:bodyPr>
            <a:normAutofit fontScale="90000"/>
          </a:bodyPr>
          <a:lstStyle/>
          <a:p>
            <a:pPr algn="ctr"/>
            <a:r>
              <a:rPr lang="en-US" b="1" dirty="0" smtClean="0">
                <a:latin typeface="Times New Roman" pitchFamily="18" charset="0"/>
                <a:cs typeface="Times New Roman" pitchFamily="18" charset="0"/>
              </a:rPr>
              <a:t>First-In-First-Out (FIFO) Algorithm</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966652"/>
            <a:ext cx="10515600" cy="5210312"/>
          </a:xfrm>
        </p:spPr>
        <p:txBody>
          <a:bodyPr>
            <a:normAutofit lnSpcReduction="10000"/>
          </a:bodyPr>
          <a:lstStyle/>
          <a:p>
            <a:pPr algn="just">
              <a:lnSpc>
                <a:spcPct val="100000"/>
              </a:lnSpc>
            </a:pPr>
            <a:r>
              <a:rPr lang="en-US" sz="2000" dirty="0" smtClean="0">
                <a:latin typeface="Times New Roman" pitchFamily="18" charset="0"/>
                <a:cs typeface="Times New Roman" pitchFamily="18" charset="0"/>
              </a:rPr>
              <a:t>This associates with each page the time when that page was brought into the memory. The page with highest time is chosen to replace. </a:t>
            </a:r>
          </a:p>
          <a:p>
            <a:pPr algn="just">
              <a:lnSpc>
                <a:spcPct val="100000"/>
              </a:lnSpc>
            </a:pPr>
            <a:r>
              <a:rPr lang="en-US" sz="2000" dirty="0" smtClean="0">
                <a:latin typeface="Times New Roman" pitchFamily="18" charset="0"/>
                <a:cs typeface="Times New Roman" pitchFamily="18" charset="0"/>
              </a:rPr>
              <a:t>This can also be implemented by using queue of all pages in memory. </a:t>
            </a:r>
          </a:p>
          <a:p>
            <a:pPr algn="just">
              <a:lnSpc>
                <a:spcPct val="100000"/>
              </a:lnSpc>
            </a:pPr>
            <a:r>
              <a:rPr lang="en-US" sz="2000" b="1" dirty="0" smtClean="0">
                <a:latin typeface="Times New Roman" pitchFamily="18" charset="0"/>
                <a:cs typeface="Times New Roman" pitchFamily="18" charset="0"/>
              </a:rPr>
              <a:t>Example: </a:t>
            </a:r>
            <a:r>
              <a:rPr lang="en-US" sz="2000" dirty="0" smtClean="0">
                <a:latin typeface="Times New Roman" pitchFamily="18" charset="0"/>
                <a:cs typeface="Times New Roman" pitchFamily="18" charset="0"/>
              </a:rPr>
              <a:t>Reference string: 7,0,1,2,0,3,0,4,2,3,0,3,0,3,2,1,2,0,1,7,0,1 3 frames (3 pages can be in memory at a time per process)</a:t>
            </a:r>
          </a:p>
          <a:p>
            <a:pPr algn="just">
              <a:lnSpc>
                <a:spcPct val="100000"/>
              </a:lnSpc>
            </a:pPr>
            <a:endParaRPr lang="en-US" sz="2000" dirty="0" smtClean="0">
              <a:latin typeface="Times New Roman" pitchFamily="18" charset="0"/>
              <a:cs typeface="Times New Roman" pitchFamily="18" charset="0"/>
            </a:endParaRPr>
          </a:p>
          <a:p>
            <a:pPr algn="just">
              <a:lnSpc>
                <a:spcPct val="100000"/>
              </a:lnSpc>
            </a:pPr>
            <a:endParaRPr lang="en-US" sz="2000" dirty="0" smtClean="0">
              <a:latin typeface="Times New Roman" pitchFamily="18" charset="0"/>
              <a:cs typeface="Times New Roman" pitchFamily="18" charset="0"/>
            </a:endParaRPr>
          </a:p>
          <a:p>
            <a:pPr algn="just">
              <a:lnSpc>
                <a:spcPct val="100000"/>
              </a:lnSpc>
            </a:pPr>
            <a:endParaRPr lang="en-US" sz="2000" dirty="0" smtClean="0">
              <a:latin typeface="Times New Roman" pitchFamily="18" charset="0"/>
              <a:cs typeface="Times New Roman" pitchFamily="18" charset="0"/>
            </a:endParaRPr>
          </a:p>
          <a:p>
            <a:pPr algn="just">
              <a:lnSpc>
                <a:spcPct val="100000"/>
              </a:lnSpc>
            </a:pPr>
            <a:endParaRPr lang="en-US" sz="2000" dirty="0" smtClean="0">
              <a:latin typeface="Times New Roman" pitchFamily="18" charset="0"/>
              <a:cs typeface="Times New Roman" pitchFamily="18" charset="0"/>
            </a:endParaRPr>
          </a:p>
          <a:p>
            <a:pPr algn="just">
              <a:lnSpc>
                <a:spcPct val="100000"/>
              </a:lnSpc>
            </a:pPr>
            <a:endParaRPr lang="en-US" sz="2000" dirty="0" smtClean="0">
              <a:latin typeface="Times New Roman" pitchFamily="18" charset="0"/>
              <a:cs typeface="Times New Roman" pitchFamily="18" charset="0"/>
            </a:endParaRPr>
          </a:p>
          <a:p>
            <a:pPr algn="just">
              <a:lnSpc>
                <a:spcPct val="100000"/>
              </a:lnSpc>
            </a:pPr>
            <a:endParaRPr lang="en-US" sz="2000" dirty="0" smtClean="0">
              <a:latin typeface="Times New Roman" pitchFamily="18" charset="0"/>
              <a:cs typeface="Times New Roman" pitchFamily="18" charset="0"/>
            </a:endParaRPr>
          </a:p>
          <a:p>
            <a:pPr algn="just">
              <a:lnSpc>
                <a:spcPct val="100000"/>
              </a:lnSpc>
            </a:pPr>
            <a:r>
              <a:rPr lang="en-US" sz="2000" b="1" dirty="0" smtClean="0">
                <a:latin typeface="Times New Roman" pitchFamily="18" charset="0"/>
                <a:cs typeface="Times New Roman" pitchFamily="18" charset="0"/>
              </a:rPr>
              <a:t>Advantages</a:t>
            </a:r>
            <a:r>
              <a:rPr lang="en-US" sz="2000" dirty="0" smtClean="0">
                <a:latin typeface="Times New Roman" pitchFamily="18" charset="0"/>
                <a:cs typeface="Times New Roman" pitchFamily="18" charset="0"/>
              </a:rPr>
              <a:t>: Easy to understand and program. Distributes fair chance to all. </a:t>
            </a:r>
          </a:p>
          <a:p>
            <a:pPr algn="just">
              <a:lnSpc>
                <a:spcPct val="100000"/>
              </a:lnSpc>
            </a:pPr>
            <a:r>
              <a:rPr lang="en-US" sz="2000" b="1" dirty="0" smtClean="0">
                <a:latin typeface="Times New Roman" pitchFamily="18" charset="0"/>
                <a:cs typeface="Times New Roman" pitchFamily="18" charset="0"/>
              </a:rPr>
              <a:t>Problems</a:t>
            </a:r>
            <a:r>
              <a:rPr lang="en-US" sz="2000" dirty="0" smtClean="0">
                <a:latin typeface="Times New Roman" pitchFamily="18" charset="0"/>
                <a:cs typeface="Times New Roman" pitchFamily="18" charset="0"/>
              </a:rPr>
              <a:t>: FIFO is likely to replace heavily (or constantly) used pages and they are still needed for further processing.</a:t>
            </a:r>
            <a:endParaRPr lang="en-US"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1180555" y="2782388"/>
            <a:ext cx="10027376" cy="2059305"/>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42</a:t>
            </a:fld>
            <a:endParaRPr lang="en-US"/>
          </a:p>
        </p:txBody>
      </p:sp>
    </p:spTree>
    <p:extLst>
      <p:ext uri="{BB962C8B-B14F-4D97-AF65-F5344CB8AC3E}">
        <p14:creationId xmlns:p14="http://schemas.microsoft.com/office/powerpoint/2010/main" val="32582381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10086"/>
          </a:xfrm>
        </p:spPr>
        <p:txBody>
          <a:bodyPr>
            <a:normAutofit fontScale="90000"/>
          </a:bodyPr>
          <a:lstStyle/>
          <a:p>
            <a:pPr algn="ctr"/>
            <a:r>
              <a:rPr lang="en-US" b="1" dirty="0" smtClean="0">
                <a:latin typeface="Times New Roman" pitchFamily="18" charset="0"/>
                <a:cs typeface="Times New Roman" pitchFamily="18" charset="0"/>
              </a:rPr>
              <a:t>Optimal Page Replacement (OPR)</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058091"/>
            <a:ext cx="10515600" cy="5355772"/>
          </a:xfrm>
        </p:spPr>
        <p:txBody>
          <a:bodyPr>
            <a:normAutofit/>
          </a:bodyPr>
          <a:lstStyle/>
          <a:p>
            <a:pPr algn="just"/>
            <a:r>
              <a:rPr lang="en-US" sz="2000" dirty="0" smtClean="0">
                <a:latin typeface="Times New Roman" pitchFamily="18" charset="0"/>
                <a:cs typeface="Times New Roman" pitchFamily="18" charset="0"/>
              </a:rPr>
              <a:t>Replace the page that will not be used for the longest period of time.</a:t>
            </a:r>
          </a:p>
          <a:p>
            <a:pPr algn="just"/>
            <a:r>
              <a:rPr lang="en-US" sz="2000" dirty="0" smtClean="0">
                <a:latin typeface="Times New Roman" pitchFamily="18" charset="0"/>
                <a:cs typeface="Times New Roman" pitchFamily="18" charset="0"/>
              </a:rPr>
              <a:t>Each page can be labeled with number of instructions that will be executed before that page is first referenced.</a:t>
            </a:r>
          </a:p>
          <a:p>
            <a:pPr algn="just"/>
            <a:r>
              <a:rPr lang="en-US" sz="2000" b="1" dirty="0" smtClean="0">
                <a:latin typeface="Times New Roman" pitchFamily="18" charset="0"/>
                <a:cs typeface="Times New Roman" pitchFamily="18" charset="0"/>
              </a:rPr>
              <a:t>Ex:</a:t>
            </a:r>
            <a:r>
              <a:rPr lang="en-US" sz="2000" dirty="0" smtClean="0">
                <a:latin typeface="Times New Roman" pitchFamily="18" charset="0"/>
                <a:cs typeface="Times New Roman" pitchFamily="18" charset="0"/>
              </a:rPr>
              <a:t> For 3 - page frames and 8 pages system the optimal page replacement is as:</a:t>
            </a: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Advantages:</a:t>
            </a:r>
            <a:r>
              <a:rPr lang="en-US" sz="2000" dirty="0" smtClean="0">
                <a:latin typeface="Times New Roman" pitchFamily="18" charset="0"/>
                <a:cs typeface="Times New Roman" pitchFamily="18" charset="0"/>
              </a:rPr>
              <a:t> An optimal page-replacement algorithm; it guarantees the lowest possible page fault rate.</a:t>
            </a:r>
          </a:p>
          <a:p>
            <a:pPr algn="just"/>
            <a:r>
              <a:rPr lang="en-US" sz="2000" b="1" dirty="0" smtClean="0">
                <a:latin typeface="Times New Roman" pitchFamily="18" charset="0"/>
                <a:cs typeface="Times New Roman" pitchFamily="18" charset="0"/>
              </a:rPr>
              <a:t> Problems: </a:t>
            </a:r>
            <a:r>
              <a:rPr lang="en-US" sz="2000" dirty="0" smtClean="0">
                <a:latin typeface="Times New Roman" pitchFamily="18" charset="0"/>
                <a:cs typeface="Times New Roman" pitchFamily="18" charset="0"/>
              </a:rPr>
              <a:t>Unrealizable, at the time of the page fault, the OS has no way of knowing when each of the pages will be referenced next. This is not used in practical system.</a:t>
            </a:r>
            <a:endParaRPr lang="en-US" sz="20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1179739" y="2548210"/>
            <a:ext cx="9048750" cy="2128293"/>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43</a:t>
            </a:fld>
            <a:endParaRPr lang="en-US"/>
          </a:p>
        </p:txBody>
      </p:sp>
    </p:spTree>
    <p:extLst>
      <p:ext uri="{BB962C8B-B14F-4D97-AF65-F5344CB8AC3E}">
        <p14:creationId xmlns:p14="http://schemas.microsoft.com/office/powerpoint/2010/main" val="21876612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7652"/>
          </a:xfrm>
        </p:spPr>
        <p:txBody>
          <a:bodyPr>
            <a:normAutofit fontScale="90000"/>
          </a:bodyPr>
          <a:lstStyle/>
          <a:p>
            <a:pPr algn="ctr"/>
            <a:r>
              <a:rPr lang="en-US" b="1" dirty="0" smtClean="0">
                <a:latin typeface="Times New Roman" pitchFamily="18" charset="0"/>
                <a:cs typeface="Times New Roman" pitchFamily="18" charset="0"/>
              </a:rPr>
              <a:t>Least Recently Used (LRU) Algorithm</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097280"/>
            <a:ext cx="10515600" cy="5079683"/>
          </a:xfrm>
        </p:spPr>
        <p:txBody>
          <a:bodyPr>
            <a:normAutofit/>
          </a:bodyPr>
          <a:lstStyle/>
          <a:p>
            <a:pPr>
              <a:lnSpc>
                <a:spcPct val="100000"/>
              </a:lnSpc>
            </a:pPr>
            <a:r>
              <a:rPr lang="en-US" sz="2000" dirty="0" smtClean="0">
                <a:latin typeface="Times New Roman" pitchFamily="18" charset="0"/>
                <a:cs typeface="Times New Roman" pitchFamily="18" charset="0"/>
              </a:rPr>
              <a:t>Recent past is a good indicator of the near future. </a:t>
            </a:r>
          </a:p>
          <a:p>
            <a:pPr>
              <a:lnSpc>
                <a:spcPct val="100000"/>
              </a:lnSpc>
            </a:pPr>
            <a:r>
              <a:rPr lang="en-US" sz="2000" dirty="0" smtClean="0">
                <a:latin typeface="Times New Roman" pitchFamily="18" charset="0"/>
                <a:cs typeface="Times New Roman" pitchFamily="18" charset="0"/>
              </a:rPr>
              <a:t>When a page fault occurs, throw out the page that has been unused for longest time. </a:t>
            </a:r>
          </a:p>
          <a:p>
            <a:pPr>
              <a:lnSpc>
                <a:spcPct val="100000"/>
              </a:lnSpc>
            </a:pPr>
            <a:endParaRPr lang="en-US" sz="2000" dirty="0" smtClean="0">
              <a:latin typeface="Times New Roman" pitchFamily="18" charset="0"/>
              <a:cs typeface="Times New Roman" pitchFamily="18" charset="0"/>
            </a:endParaRPr>
          </a:p>
          <a:p>
            <a:pPr>
              <a:lnSpc>
                <a:spcPct val="100000"/>
              </a:lnSpc>
            </a:pPr>
            <a:endParaRPr lang="en-US" sz="2000" dirty="0" smtClean="0">
              <a:latin typeface="Times New Roman" pitchFamily="18" charset="0"/>
              <a:cs typeface="Times New Roman" pitchFamily="18" charset="0"/>
            </a:endParaRPr>
          </a:p>
          <a:p>
            <a:pPr>
              <a:lnSpc>
                <a:spcPct val="100000"/>
              </a:lnSpc>
            </a:pPr>
            <a:endParaRPr lang="en-US" sz="2000" dirty="0" smtClean="0">
              <a:latin typeface="Times New Roman" pitchFamily="18" charset="0"/>
              <a:cs typeface="Times New Roman" pitchFamily="18" charset="0"/>
            </a:endParaRPr>
          </a:p>
          <a:p>
            <a:pPr>
              <a:lnSpc>
                <a:spcPct val="100000"/>
              </a:lnSpc>
            </a:pPr>
            <a:endParaRPr lang="en-US" sz="2000" dirty="0" smtClean="0">
              <a:latin typeface="Times New Roman" pitchFamily="18" charset="0"/>
              <a:cs typeface="Times New Roman" pitchFamily="18" charset="0"/>
            </a:endParaRPr>
          </a:p>
          <a:p>
            <a:pPr>
              <a:lnSpc>
                <a:spcPct val="100000"/>
              </a:lnSpc>
            </a:pPr>
            <a:endParaRPr lang="en-US" sz="2000" dirty="0" smtClean="0">
              <a:latin typeface="Times New Roman" pitchFamily="18" charset="0"/>
              <a:cs typeface="Times New Roman" pitchFamily="18" charset="0"/>
            </a:endParaRPr>
          </a:p>
          <a:p>
            <a:pPr>
              <a:lnSpc>
                <a:spcPct val="100000"/>
              </a:lnSpc>
            </a:pPr>
            <a:endParaRPr lang="en-US" sz="2000" dirty="0" smtClean="0">
              <a:latin typeface="Times New Roman" pitchFamily="18" charset="0"/>
              <a:cs typeface="Times New Roman" pitchFamily="18" charset="0"/>
            </a:endParaRPr>
          </a:p>
          <a:p>
            <a:pPr>
              <a:lnSpc>
                <a:spcPct val="100000"/>
              </a:lnSpc>
            </a:pPr>
            <a:r>
              <a:rPr lang="en-US" sz="2000" b="1" dirty="0" smtClean="0">
                <a:latin typeface="Times New Roman" pitchFamily="18" charset="0"/>
                <a:cs typeface="Times New Roman" pitchFamily="18" charset="0"/>
              </a:rPr>
              <a:t>Advantages:</a:t>
            </a:r>
            <a:r>
              <a:rPr lang="en-US" sz="2000" dirty="0" smtClean="0">
                <a:latin typeface="Times New Roman" pitchFamily="18" charset="0"/>
                <a:cs typeface="Times New Roman" pitchFamily="18" charset="0"/>
              </a:rPr>
              <a:t> Excellent, efficient is close to the optimal algorithm. </a:t>
            </a:r>
          </a:p>
          <a:p>
            <a:pPr>
              <a:lnSpc>
                <a:spcPct val="100000"/>
              </a:lnSpc>
            </a:pPr>
            <a:r>
              <a:rPr lang="en-US" sz="2000" b="1" dirty="0" smtClean="0">
                <a:latin typeface="Times New Roman" pitchFamily="18" charset="0"/>
                <a:cs typeface="Times New Roman" pitchFamily="18" charset="0"/>
              </a:rPr>
              <a:t>Problems:</a:t>
            </a:r>
            <a:r>
              <a:rPr lang="en-US" sz="2000" dirty="0" smtClean="0">
                <a:latin typeface="Times New Roman" pitchFamily="18" charset="0"/>
                <a:cs typeface="Times New Roman" pitchFamily="18" charset="0"/>
              </a:rPr>
              <a:t> Difficult to implement exactly. How to find good heuristic? If it is implemented as linked list, updating list in every reference is not a way making system fast! </a:t>
            </a:r>
            <a:endParaRPr lang="en-US" sz="20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1071155" y="2103120"/>
            <a:ext cx="9763534" cy="2378393"/>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44</a:t>
            </a:fld>
            <a:endParaRPr lang="en-US"/>
          </a:p>
        </p:txBody>
      </p:sp>
    </p:spTree>
    <p:extLst>
      <p:ext uri="{BB962C8B-B14F-4D97-AF65-F5344CB8AC3E}">
        <p14:creationId xmlns:p14="http://schemas.microsoft.com/office/powerpoint/2010/main" val="4137044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0714"/>
          </a:xfrm>
        </p:spPr>
        <p:txBody>
          <a:bodyPr>
            <a:normAutofit fontScale="90000"/>
          </a:bodyPr>
          <a:lstStyle/>
          <a:p>
            <a:pPr algn="ctr"/>
            <a:r>
              <a:rPr lang="en-US" b="1" dirty="0" smtClean="0">
                <a:latin typeface="Times New Roman" pitchFamily="18" charset="0"/>
                <a:cs typeface="Times New Roman" pitchFamily="18" charset="0"/>
              </a:rPr>
              <a:t>Second Chance Page Replacement</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36469"/>
            <a:ext cx="10515600" cy="5040494"/>
          </a:xfrm>
        </p:spPr>
        <p:txBody>
          <a:bodyPr>
            <a:normAutofit/>
          </a:bodyPr>
          <a:lstStyle/>
          <a:p>
            <a:r>
              <a:rPr lang="en-US" sz="2000" dirty="0" smtClean="0">
                <a:latin typeface="Times New Roman" pitchFamily="18" charset="0"/>
                <a:cs typeface="Times New Roman" pitchFamily="18" charset="0"/>
              </a:rPr>
              <a:t>Modified Version of FIFO</a:t>
            </a:r>
          </a:p>
          <a:p>
            <a:r>
              <a:rPr lang="en-US" sz="2000" dirty="0" smtClean="0">
                <a:latin typeface="Times New Roman" pitchFamily="18" charset="0"/>
                <a:cs typeface="Times New Roman" pitchFamily="18" charset="0"/>
              </a:rPr>
              <a:t>Instead of swapping out the last page, the reference bit is checked.</a:t>
            </a:r>
          </a:p>
          <a:p>
            <a:r>
              <a:rPr lang="en-US" sz="2000" dirty="0" smtClean="0">
                <a:latin typeface="Times New Roman" pitchFamily="18" charset="0"/>
                <a:cs typeface="Times New Roman" pitchFamily="18" charset="0"/>
              </a:rPr>
              <a:t>Gives every page a “Second Chance”</a:t>
            </a:r>
          </a:p>
          <a:p>
            <a:r>
              <a:rPr lang="en-US" sz="2000" b="1" dirty="0" smtClean="0">
                <a:latin typeface="Times New Roman" pitchFamily="18" charset="0"/>
                <a:cs typeface="Times New Roman" pitchFamily="18" charset="0"/>
              </a:rPr>
              <a:t>Example: </a:t>
            </a:r>
            <a:r>
              <a:rPr lang="en-US" sz="2000" dirty="0" smtClean="0">
                <a:latin typeface="Times New Roman" pitchFamily="18" charset="0"/>
                <a:cs typeface="Times New Roman" pitchFamily="18" charset="0"/>
              </a:rPr>
              <a:t>Reference string: 2,3,2,1,5,2,4,5,3,2,5,2 frames (3 pages can be in memory at a time per process)</a:t>
            </a:r>
          </a:p>
          <a:p>
            <a:endParaRPr lang="en-US" sz="20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1143953" y="3069771"/>
            <a:ext cx="9515338" cy="2873829"/>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45</a:t>
            </a:fld>
            <a:endParaRPr lang="en-US"/>
          </a:p>
        </p:txBody>
      </p:sp>
    </p:spTree>
    <p:extLst>
      <p:ext uri="{BB962C8B-B14F-4D97-AF65-F5344CB8AC3E}">
        <p14:creationId xmlns:p14="http://schemas.microsoft.com/office/powerpoint/2010/main" val="19292186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8281"/>
          </a:xfrm>
        </p:spPr>
        <p:txBody>
          <a:bodyPr/>
          <a:lstStyle/>
          <a:p>
            <a:pPr algn="ctr"/>
            <a:r>
              <a:rPr lang="en-US" b="1" dirty="0" smtClean="0">
                <a:latin typeface="Times New Roman" pitchFamily="18" charset="0"/>
                <a:cs typeface="Times New Roman" pitchFamily="18" charset="0"/>
              </a:rPr>
              <a:t>Segmentation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36469"/>
            <a:ext cx="10515600" cy="5040494"/>
          </a:xfrm>
        </p:spPr>
        <p:txBody>
          <a:bodyPr>
            <a:normAutofit fontScale="92500"/>
          </a:bodyPr>
          <a:lstStyle/>
          <a:p>
            <a:pPr algn="just">
              <a:lnSpc>
                <a:spcPct val="150000"/>
              </a:lnSpc>
            </a:pPr>
            <a:r>
              <a:rPr lang="en-US" dirty="0" smtClean="0">
                <a:latin typeface="Times New Roman" pitchFamily="18" charset="0"/>
                <a:cs typeface="Times New Roman" pitchFamily="18" charset="0"/>
              </a:rPr>
              <a:t>Segmentation is non contiguous memory management techniques.</a:t>
            </a:r>
          </a:p>
          <a:p>
            <a:pPr algn="just">
              <a:lnSpc>
                <a:spcPct val="150000"/>
              </a:lnSpc>
            </a:pPr>
            <a:r>
              <a:rPr lang="en-US" dirty="0" smtClean="0">
                <a:latin typeface="Times New Roman" pitchFamily="18" charset="0"/>
                <a:cs typeface="Times New Roman" pitchFamily="18" charset="0"/>
              </a:rPr>
              <a:t>In which the memory is divided into variable size parts.</a:t>
            </a:r>
          </a:p>
          <a:p>
            <a:pPr algn="just">
              <a:lnSpc>
                <a:spcPct val="150000"/>
              </a:lnSpc>
            </a:pPr>
            <a:r>
              <a:rPr lang="en-US" dirty="0" smtClean="0">
                <a:latin typeface="Times New Roman" pitchFamily="18" charset="0"/>
                <a:cs typeface="Times New Roman" pitchFamily="18" charset="0"/>
              </a:rPr>
              <a:t>Each part is known as segment which can be allocated to process.</a:t>
            </a:r>
          </a:p>
          <a:p>
            <a:pPr algn="just">
              <a:lnSpc>
                <a:spcPct val="150000"/>
              </a:lnSpc>
            </a:pPr>
            <a:r>
              <a:rPr lang="en-US" dirty="0" smtClean="0">
                <a:latin typeface="Times New Roman" pitchFamily="18" charset="0"/>
                <a:cs typeface="Times New Roman" pitchFamily="18" charset="0"/>
              </a:rPr>
              <a:t>The details about each segment are stored in table called segment table.</a:t>
            </a:r>
          </a:p>
          <a:p>
            <a:pPr algn="just">
              <a:lnSpc>
                <a:spcPct val="150000"/>
              </a:lnSpc>
            </a:pPr>
            <a:r>
              <a:rPr lang="en-US" dirty="0" smtClean="0">
                <a:latin typeface="Times New Roman" pitchFamily="18" charset="0"/>
                <a:cs typeface="Times New Roman" pitchFamily="18" charset="0"/>
              </a:rPr>
              <a:t>Segment table contains mainly following information about segment.</a:t>
            </a:r>
          </a:p>
          <a:p>
            <a:pPr lvl="1" algn="just">
              <a:lnSpc>
                <a:spcPct val="150000"/>
              </a:lnSpc>
            </a:pPr>
            <a:r>
              <a:rPr lang="en-US" b="1" dirty="0" smtClean="0">
                <a:latin typeface="Times New Roman" pitchFamily="18" charset="0"/>
                <a:cs typeface="Times New Roman" pitchFamily="18" charset="0"/>
              </a:rPr>
              <a:t>Base</a:t>
            </a:r>
            <a:r>
              <a:rPr lang="en-US" dirty="0" smtClean="0">
                <a:latin typeface="Times New Roman" pitchFamily="18" charset="0"/>
                <a:cs typeface="Times New Roman" pitchFamily="18" charset="0"/>
              </a:rPr>
              <a:t>: it is base address of segment.</a:t>
            </a:r>
          </a:p>
          <a:p>
            <a:pPr lvl="1" algn="just">
              <a:lnSpc>
                <a:spcPct val="150000"/>
              </a:lnSpc>
            </a:pPr>
            <a:r>
              <a:rPr lang="en-US" b="1" dirty="0" smtClean="0">
                <a:latin typeface="Times New Roman" pitchFamily="18" charset="0"/>
                <a:cs typeface="Times New Roman" pitchFamily="18" charset="0"/>
              </a:rPr>
              <a:t>Limit</a:t>
            </a:r>
            <a:r>
              <a:rPr lang="en-US" dirty="0" smtClean="0">
                <a:latin typeface="Times New Roman" pitchFamily="18" charset="0"/>
                <a:cs typeface="Times New Roman" pitchFamily="18" charset="0"/>
              </a:rPr>
              <a:t>: it is Length of segment</a:t>
            </a: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46</a:t>
            </a:fld>
            <a:endParaRPr lang="en-US"/>
          </a:p>
        </p:txBody>
      </p:sp>
    </p:spTree>
    <p:extLst>
      <p:ext uri="{BB962C8B-B14F-4D97-AF65-F5344CB8AC3E}">
        <p14:creationId xmlns:p14="http://schemas.microsoft.com/office/powerpoint/2010/main" val="9883280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2697"/>
            <a:ext cx="10515600" cy="5824266"/>
          </a:xfrm>
        </p:spPr>
        <p:txBody>
          <a:bodyPr>
            <a:normAutofit/>
          </a:bodyPr>
          <a:lstStyle/>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Different segments have its own name and size.</a:t>
            </a:r>
          </a:p>
          <a:p>
            <a:pPr algn="just"/>
            <a:r>
              <a:rPr lang="en-US" sz="2000" dirty="0" smtClean="0">
                <a:latin typeface="Times New Roman" pitchFamily="18" charset="0"/>
                <a:cs typeface="Times New Roman" pitchFamily="18" charset="0"/>
              </a:rPr>
              <a:t> The different segment can grow or shrink independently, without effecting the others; </a:t>
            </a:r>
          </a:p>
          <a:p>
            <a:pPr algn="just"/>
            <a:r>
              <a:rPr lang="en-US" sz="2000" dirty="0" smtClean="0">
                <a:latin typeface="Times New Roman" pitchFamily="18" charset="0"/>
                <a:cs typeface="Times New Roman" pitchFamily="18" charset="0"/>
              </a:rPr>
              <a:t>so the size of segment changed during execution.</a:t>
            </a:r>
          </a:p>
          <a:p>
            <a:pPr algn="just"/>
            <a:r>
              <a:rPr lang="en-US" sz="2000" dirty="0" smtClean="0">
                <a:latin typeface="Times New Roman" pitchFamily="18" charset="0"/>
                <a:cs typeface="Times New Roman" pitchFamily="18" charset="0"/>
              </a:rPr>
              <a:t> For the simplicity of implementation, segments are numbered and are referred to by a segment number, rather than by segment name. </a:t>
            </a:r>
          </a:p>
          <a:p>
            <a:pPr algn="just"/>
            <a:r>
              <a:rPr lang="en-US" sz="2000" dirty="0" smtClean="0">
                <a:latin typeface="Times New Roman" pitchFamily="18" charset="0"/>
                <a:cs typeface="Times New Roman" pitchFamily="18" charset="0"/>
              </a:rPr>
              <a:t>Thus the logical address consist: segment number and offset.</a:t>
            </a:r>
          </a:p>
          <a:p>
            <a:pPr algn="just"/>
            <a:r>
              <a:rPr lang="en-US" sz="2000" dirty="0" smtClean="0">
                <a:latin typeface="Times New Roman" pitchFamily="18" charset="0"/>
                <a:cs typeface="Times New Roman" pitchFamily="18" charset="0"/>
              </a:rPr>
              <a:t> The segment table (like page table but each entry consist limit and base register value) is used to map the logical address to physical address</a:t>
            </a:r>
            <a:endParaRPr lang="en-US"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1214846" y="718457"/>
            <a:ext cx="9666514" cy="2390503"/>
          </a:xfrm>
          <a:prstGeom prst="rect">
            <a:avLst/>
          </a:prstGeom>
          <a:noFill/>
          <a:ln w="9525">
            <a:noFill/>
            <a:miter lim="800000"/>
            <a:headEnd/>
            <a:tailEnd/>
          </a:ln>
          <a:effectLst/>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47</a:t>
            </a:fld>
            <a:endParaRPr lang="en-US"/>
          </a:p>
        </p:txBody>
      </p:sp>
    </p:spTree>
    <p:extLst>
      <p:ext uri="{BB962C8B-B14F-4D97-AF65-F5344CB8AC3E}">
        <p14:creationId xmlns:p14="http://schemas.microsoft.com/office/powerpoint/2010/main" val="16420177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3778"/>
          </a:xfrm>
        </p:spPr>
        <p:txBody>
          <a:bodyPr>
            <a:normAutofit fontScale="90000"/>
          </a:bodyPr>
          <a:lstStyle/>
          <a:p>
            <a:pPr algn="ctr"/>
            <a:r>
              <a:rPr lang="en-US" b="1" dirty="0" smtClean="0">
                <a:latin typeface="Times New Roman" pitchFamily="18" charset="0"/>
                <a:cs typeface="Times New Roman" pitchFamily="18" charset="0"/>
              </a:rPr>
              <a:t>Segmentation Hardware</a:t>
            </a:r>
            <a:endParaRPr lang="en-US" b="1"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757646" y="995363"/>
            <a:ext cx="10646227" cy="5170306"/>
          </a:xfrm>
          <a:prstGeom prst="rect">
            <a:avLst/>
          </a:prstGeom>
          <a:noFill/>
          <a:ln w="9525">
            <a:noFill/>
            <a:miter lim="800000"/>
            <a:headEnd/>
            <a:tailEnd/>
          </a:ln>
          <a:effectLst/>
        </p:spPr>
      </p:pic>
      <p:sp>
        <p:nvSpPr>
          <p:cNvPr id="3" name="Footer Placeholder 2"/>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48</a:t>
            </a:fld>
            <a:endParaRPr lang="en-US"/>
          </a:p>
        </p:txBody>
      </p:sp>
    </p:spTree>
    <p:extLst>
      <p:ext uri="{BB962C8B-B14F-4D97-AF65-F5344CB8AC3E}">
        <p14:creationId xmlns:p14="http://schemas.microsoft.com/office/powerpoint/2010/main" val="40981776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83961"/>
          </a:xfrm>
        </p:spPr>
        <p:txBody>
          <a:bodyPr>
            <a:normAutofit fontScale="90000"/>
          </a:bodyPr>
          <a:lstStyle/>
          <a:p>
            <a:pPr algn="ctr"/>
            <a:r>
              <a:rPr lang="en-US" b="1" dirty="0" smtClean="0">
                <a:latin typeface="Times New Roman" pitchFamily="18" charset="0"/>
                <a:cs typeface="Times New Roman" pitchFamily="18" charset="0"/>
              </a:rPr>
              <a:t>Segment Example</a:t>
            </a:r>
            <a:endParaRPr lang="en-US" b="1"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822959" y="1004888"/>
            <a:ext cx="10750731" cy="5186906"/>
          </a:xfrm>
          <a:prstGeom prst="rect">
            <a:avLst/>
          </a:prstGeom>
          <a:noFill/>
          <a:ln w="9525">
            <a:noFill/>
            <a:miter lim="800000"/>
            <a:headEnd/>
            <a:tailEnd/>
          </a:ln>
          <a:effectLst/>
        </p:spPr>
      </p:pic>
      <p:sp>
        <p:nvSpPr>
          <p:cNvPr id="3" name="Footer Placeholder 2"/>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49</a:t>
            </a:fld>
            <a:endParaRPr lang="en-US"/>
          </a:p>
        </p:txBody>
      </p:sp>
    </p:spTree>
    <p:extLst>
      <p:ext uri="{BB962C8B-B14F-4D97-AF65-F5344CB8AC3E}">
        <p14:creationId xmlns:p14="http://schemas.microsoft.com/office/powerpoint/2010/main" val="22699407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401"/>
          </a:xfrm>
        </p:spPr>
        <p:txBody>
          <a:bodyPr>
            <a:normAutofit fontScale="90000"/>
          </a:bodyPr>
          <a:lstStyle/>
          <a:p>
            <a:pPr algn="ctr"/>
            <a:r>
              <a:rPr lang="en-US" b="1" dirty="0" smtClean="0">
                <a:latin typeface="Times New Roman" pitchFamily="18" charset="0"/>
                <a:cs typeface="Times New Roman" pitchFamily="18" charset="0"/>
              </a:rPr>
              <a:t>Segmentation With Paging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005840"/>
            <a:ext cx="10515600" cy="5171123"/>
          </a:xfrm>
        </p:spPr>
        <p:txBody>
          <a:bodyPr>
            <a:normAutofit/>
          </a:bodyPr>
          <a:lstStyle/>
          <a:p>
            <a:pPr algn="just"/>
            <a:r>
              <a:rPr lang="en-US" sz="2000" dirty="0" smtClean="0">
                <a:latin typeface="Times New Roman" pitchFamily="18" charset="0"/>
                <a:cs typeface="Times New Roman" pitchFamily="18" charset="0"/>
              </a:rPr>
              <a:t>Pure segmentation is not popular and not being used in many of the OS</a:t>
            </a:r>
          </a:p>
          <a:p>
            <a:pPr algn="just"/>
            <a:r>
              <a:rPr lang="en-US" sz="2000" dirty="0" smtClean="0">
                <a:latin typeface="Times New Roman" pitchFamily="18" charset="0"/>
                <a:cs typeface="Times New Roman" pitchFamily="18" charset="0"/>
              </a:rPr>
              <a:t>Segmentation can be combined with paging to get best feature out of both techniques.</a:t>
            </a:r>
          </a:p>
          <a:p>
            <a:pPr algn="just"/>
            <a:r>
              <a:rPr lang="en-US" sz="2000" dirty="0" smtClean="0">
                <a:latin typeface="Times New Roman" pitchFamily="18" charset="0"/>
                <a:cs typeface="Times New Roman" pitchFamily="18" charset="0"/>
              </a:rPr>
              <a:t>In segmented paging, the memory is divided into fixed size pages.</a:t>
            </a:r>
          </a:p>
          <a:p>
            <a:pPr algn="just"/>
            <a:r>
              <a:rPr lang="en-US" sz="2000" dirty="0" smtClean="0">
                <a:latin typeface="Times New Roman" pitchFamily="18" charset="0"/>
                <a:cs typeface="Times New Roman" pitchFamily="18" charset="0"/>
              </a:rPr>
              <a:t>Process is first partitioned into segment and then each segment is divided into pages.</a:t>
            </a:r>
          </a:p>
          <a:p>
            <a:pPr algn="just"/>
            <a:r>
              <a:rPr lang="en-US" sz="2000" dirty="0" smtClean="0">
                <a:latin typeface="Times New Roman" pitchFamily="18" charset="0"/>
                <a:cs typeface="Times New Roman" pitchFamily="18" charset="0"/>
              </a:rPr>
              <a:t>The segment table entry contains the address of the segment's page table</a:t>
            </a:r>
          </a:p>
          <a:p>
            <a:pPr algn="just"/>
            <a:r>
              <a:rPr lang="en-US" sz="2000" dirty="0" smtClean="0">
                <a:latin typeface="Times New Roman" pitchFamily="18" charset="0"/>
                <a:cs typeface="Times New Roman" pitchFamily="18" charset="0"/>
              </a:rPr>
              <a:t>A page table exist for each segment that keep track of frames storing pages of that segment.</a:t>
            </a:r>
            <a:endParaRPr lang="en-US" sz="20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937669" y="3605348"/>
            <a:ext cx="9316674" cy="2604951"/>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50</a:t>
            </a:fld>
            <a:endParaRPr lang="en-US"/>
          </a:p>
        </p:txBody>
      </p:sp>
    </p:spTree>
    <p:extLst>
      <p:ext uri="{BB962C8B-B14F-4D97-AF65-F5344CB8AC3E}">
        <p14:creationId xmlns:p14="http://schemas.microsoft.com/office/powerpoint/2010/main" val="25100057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3778"/>
          </a:xfrm>
        </p:spPr>
        <p:txBody>
          <a:bodyPr>
            <a:normAutofit fontScale="90000"/>
          </a:bodyPr>
          <a:lstStyle/>
          <a:p>
            <a:pPr algn="ctr"/>
            <a:r>
              <a:rPr lang="en-US" b="1" dirty="0" smtClean="0">
                <a:latin typeface="Times New Roman" pitchFamily="18" charset="0"/>
                <a:cs typeface="Times New Roman" pitchFamily="18" charset="0"/>
              </a:rPr>
              <a:t>Thrashing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23406"/>
            <a:ext cx="10515600" cy="5316583"/>
          </a:xfrm>
        </p:spPr>
        <p:txBody>
          <a:bodyPr>
            <a:normAutofit/>
          </a:bodyPr>
          <a:lstStyle/>
          <a:p>
            <a:pPr algn="just"/>
            <a:r>
              <a:rPr lang="en-US" sz="2000" dirty="0" smtClean="0">
                <a:latin typeface="Times New Roman" pitchFamily="18" charset="0"/>
                <a:cs typeface="Times New Roman" pitchFamily="18" charset="0"/>
              </a:rPr>
              <a:t>Thrashing is a condition or situation when the system is spending a major portion of its time in servicing page faults, but actual processing is done very negligible.</a:t>
            </a:r>
          </a:p>
          <a:p>
            <a:pPr algn="just"/>
            <a:r>
              <a:rPr lang="en-US" sz="2000" dirty="0" smtClean="0">
                <a:latin typeface="Times New Roman" pitchFamily="18" charset="0"/>
                <a:cs typeface="Times New Roman" pitchFamily="18" charset="0"/>
              </a:rPr>
              <a:t>A process is said to be thrashing if it is spending more time in paging than its execution.</a:t>
            </a:r>
          </a:p>
          <a:p>
            <a:pPr algn="just"/>
            <a:r>
              <a:rPr lang="en-US" sz="2000" dirty="0" smtClean="0">
                <a:latin typeface="Times New Roman" pitchFamily="18" charset="0"/>
                <a:cs typeface="Times New Roman" pitchFamily="18" charset="0"/>
              </a:rPr>
              <a:t>This results a poor throughput of the system</a:t>
            </a:r>
            <a:endParaRPr lang="en-US" sz="2000" dirty="0">
              <a:latin typeface="Times New Roman" pitchFamily="18" charset="0"/>
              <a:cs typeface="Times New Roman" pitchFamily="18" charset="0"/>
            </a:endParaRPr>
          </a:p>
        </p:txBody>
      </p:sp>
      <p:pic>
        <p:nvPicPr>
          <p:cNvPr id="5122" name="Picture 2" descr="Thrashing in Operating System – AHIRLABS"/>
          <p:cNvPicPr>
            <a:picLocks noChangeAspect="1" noChangeArrowheads="1"/>
          </p:cNvPicPr>
          <p:nvPr/>
        </p:nvPicPr>
        <p:blipFill>
          <a:blip r:embed="rId2"/>
          <a:srcRect/>
          <a:stretch>
            <a:fillRect/>
          </a:stretch>
        </p:blipFill>
        <p:spPr bwMode="auto">
          <a:xfrm>
            <a:off x="2101940" y="2801529"/>
            <a:ext cx="5918654" cy="3494768"/>
          </a:xfrm>
          <a:prstGeom prst="rect">
            <a:avLst/>
          </a:prstGeom>
          <a:noFill/>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51</a:t>
            </a:fld>
            <a:endParaRPr lang="en-US"/>
          </a:p>
        </p:txBody>
      </p:sp>
    </p:spTree>
    <p:extLst>
      <p:ext uri="{BB962C8B-B14F-4D97-AF65-F5344CB8AC3E}">
        <p14:creationId xmlns:p14="http://schemas.microsoft.com/office/powerpoint/2010/main" val="3581833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9957"/>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memory performance and optimization </a:t>
            </a:r>
          </a:p>
        </p:txBody>
      </p:sp>
      <p:sp>
        <p:nvSpPr>
          <p:cNvPr id="3" name="Content Placeholder 2"/>
          <p:cNvSpPr>
            <a:spLocks noGrp="1"/>
          </p:cNvSpPr>
          <p:nvPr>
            <p:ph idx="1"/>
          </p:nvPr>
        </p:nvSpPr>
        <p:spPr>
          <a:xfrm>
            <a:off x="838200" y="995082"/>
            <a:ext cx="10515600" cy="5181881"/>
          </a:xfrm>
        </p:spPr>
        <p:txBody>
          <a:bodyPr>
            <a:normAutofit fontScale="77500" lnSpcReduction="20000"/>
          </a:bodyPr>
          <a:lstStyle/>
          <a:p>
            <a:pPr fontAlgn="base"/>
            <a:r>
              <a:rPr lang="en-US" b="1" u="sng" dirty="0">
                <a:latin typeface="Times New Roman" panose="02020603050405020304" pitchFamily="18" charset="0"/>
                <a:cs typeface="Times New Roman" panose="02020603050405020304" pitchFamily="18" charset="0"/>
              </a:rPr>
              <a:t>Memory compression</a:t>
            </a:r>
            <a:endParaRPr lang="en-US" b="1" u="sng" dirty="0" smtClean="0">
              <a:latin typeface="Times New Roman" panose="02020603050405020304" pitchFamily="18" charset="0"/>
              <a:cs typeface="Times New Roman" panose="02020603050405020304" pitchFamily="18" charset="0"/>
            </a:endParaRPr>
          </a:p>
          <a:p>
            <a:pPr algn="just" fontAlgn="base">
              <a:lnSpc>
                <a:spcPct val="150000"/>
              </a:lnSpc>
            </a:pPr>
            <a:r>
              <a:rPr lang="en-US" dirty="0" smtClean="0">
                <a:latin typeface="Times New Roman" panose="02020603050405020304" pitchFamily="18" charset="0"/>
                <a:cs typeface="Times New Roman" panose="02020603050405020304" pitchFamily="18" charset="0"/>
              </a:rPr>
              <a:t>Memory </a:t>
            </a:r>
            <a:r>
              <a:rPr lang="en-US" dirty="0">
                <a:latin typeface="Times New Roman" panose="02020603050405020304" pitchFamily="18" charset="0"/>
                <a:cs typeface="Times New Roman" panose="02020603050405020304" pitchFamily="18" charset="0"/>
              </a:rPr>
              <a:t>compression is a technique that reduces the amount of physical memory used by compressing data stored in the RAM (Random Access Memory), which allows for greater efficiency and improved system performance.</a:t>
            </a:r>
          </a:p>
          <a:p>
            <a:pPr algn="just" fontAlgn="base">
              <a:lnSpc>
                <a:spcPct val="150000"/>
              </a:lnSpc>
            </a:pPr>
            <a:r>
              <a:rPr lang="en-US" dirty="0">
                <a:latin typeface="Times New Roman" panose="02020603050405020304" pitchFamily="18" charset="0"/>
                <a:cs typeface="Times New Roman" panose="02020603050405020304" pitchFamily="18" charset="0"/>
              </a:rPr>
              <a:t>By utilizing memory compression, systems can store more information in RAM without needing to offload data to slower storage mediums like the hard drive or adding additional physical memory.</a:t>
            </a:r>
          </a:p>
          <a:p>
            <a:pPr algn="just" fontAlgn="base">
              <a:lnSpc>
                <a:spcPct val="150000"/>
              </a:lnSpc>
            </a:pPr>
            <a:r>
              <a:rPr lang="en-US" dirty="0">
                <a:latin typeface="Times New Roman" panose="02020603050405020304" pitchFamily="18" charset="0"/>
                <a:cs typeface="Times New Roman" panose="02020603050405020304" pitchFamily="18" charset="0"/>
              </a:rPr>
              <a:t>Memory compression algorithms, such as </a:t>
            </a:r>
            <a:r>
              <a:rPr lang="en-US" dirty="0" err="1">
                <a:latin typeface="Times New Roman" panose="02020603050405020304" pitchFamily="18" charset="0"/>
                <a:cs typeface="Times New Roman" panose="02020603050405020304" pitchFamily="18" charset="0"/>
              </a:rPr>
              <a:t>zswap</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zram</a:t>
            </a:r>
            <a:r>
              <a:rPr lang="en-US" dirty="0">
                <a:latin typeface="Times New Roman" panose="02020603050405020304" pitchFamily="18" charset="0"/>
                <a:cs typeface="Times New Roman" panose="02020603050405020304" pitchFamily="18" charset="0"/>
              </a:rPr>
              <a:t> in Linux, are implemented at the OS level, and modern operating systems like Windows and </a:t>
            </a:r>
            <a:r>
              <a:rPr lang="en-US" dirty="0" err="1">
                <a:latin typeface="Times New Roman" panose="02020603050405020304" pitchFamily="18" charset="0"/>
                <a:cs typeface="Times New Roman" panose="02020603050405020304" pitchFamily="18" charset="0"/>
              </a:rPr>
              <a:t>macOS</a:t>
            </a:r>
            <a:r>
              <a:rPr lang="en-US" dirty="0">
                <a:latin typeface="Times New Roman" panose="02020603050405020304" pitchFamily="18" charset="0"/>
                <a:cs typeface="Times New Roman" panose="02020603050405020304" pitchFamily="18" charset="0"/>
              </a:rPr>
              <a:t> also employ memory compression to improve overall system responsiveness and performance.</a:t>
            </a: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52</a:t>
            </a:fld>
            <a:endParaRPr lang="en-US"/>
          </a:p>
        </p:txBody>
      </p:sp>
    </p:spTree>
    <p:extLst>
      <p:ext uri="{BB962C8B-B14F-4D97-AF65-F5344CB8AC3E}">
        <p14:creationId xmlns:p14="http://schemas.microsoft.com/office/powerpoint/2010/main" val="5311607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4073"/>
            <a:ext cx="10515600" cy="5802890"/>
          </a:xfrm>
        </p:spPr>
        <p:txBody>
          <a:bodyPr>
            <a:normAutofit fontScale="70000" lnSpcReduction="20000"/>
          </a:bodyPr>
          <a:lstStyle/>
          <a:p>
            <a:pPr algn="just">
              <a:lnSpc>
                <a:spcPct val="160000"/>
              </a:lnSpc>
            </a:pPr>
            <a:r>
              <a:rPr lang="en-US" dirty="0">
                <a:latin typeface="Times New Roman" panose="02020603050405020304" pitchFamily="18" charset="0"/>
                <a:cs typeface="Times New Roman" panose="02020603050405020304" pitchFamily="18" charset="0"/>
              </a:rPr>
              <a:t>Memory compression techniques use various compression algorithms to reduce the size of data stored in RAM. </a:t>
            </a:r>
          </a:p>
          <a:p>
            <a:pPr algn="just">
              <a:lnSpc>
                <a:spcPct val="160000"/>
              </a:lnSpc>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the system needs to access this data, it decompresses the data on-the-fly, allowing usage with minimum performance impact. </a:t>
            </a:r>
            <a:endParaRPr lang="en-US" dirty="0" smtClean="0">
              <a:latin typeface="Times New Roman" panose="02020603050405020304" pitchFamily="18" charset="0"/>
              <a:cs typeface="Times New Roman" panose="02020603050405020304" pitchFamily="18" charset="0"/>
            </a:endParaRPr>
          </a:p>
          <a:p>
            <a:pPr algn="just">
              <a:lnSpc>
                <a:spcPct val="160000"/>
              </a:lnSpc>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compressed data takes up less physical memory, providing more free space for other processes and improving overall system performance</a:t>
            </a:r>
            <a:r>
              <a:rPr lang="en-US" dirty="0" smtClean="0">
                <a:latin typeface="Times New Roman" panose="02020603050405020304" pitchFamily="18" charset="0"/>
                <a:cs typeface="Times New Roman" panose="02020603050405020304" pitchFamily="18" charset="0"/>
              </a:rPr>
              <a:t>.</a:t>
            </a:r>
          </a:p>
          <a:p>
            <a:pPr marL="0" indent="0" algn="just">
              <a:lnSpc>
                <a:spcPct val="160000"/>
              </a:lnSpc>
              <a:buNone/>
            </a:pPr>
            <a:r>
              <a:rPr lang="en-US" b="1" u="sng" dirty="0">
                <a:latin typeface="Times New Roman" panose="02020603050405020304" pitchFamily="18" charset="0"/>
                <a:cs typeface="Times New Roman" panose="02020603050405020304" pitchFamily="18" charset="0"/>
              </a:rPr>
              <a:t>Some benefits of memory compression are:</a:t>
            </a:r>
          </a:p>
          <a:p>
            <a:pPr lvl="1" algn="just" fontAlgn="base">
              <a:lnSpc>
                <a:spcPct val="160000"/>
              </a:lnSpc>
            </a:pPr>
            <a:r>
              <a:rPr lang="en-US" sz="2600" dirty="0">
                <a:latin typeface="Times New Roman" panose="02020603050405020304" pitchFamily="18" charset="0"/>
                <a:cs typeface="Times New Roman" panose="02020603050405020304" pitchFamily="18" charset="0"/>
              </a:rPr>
              <a:t>Improved system performance</a:t>
            </a:r>
          </a:p>
          <a:p>
            <a:pPr lvl="1" algn="just" fontAlgn="base">
              <a:lnSpc>
                <a:spcPct val="160000"/>
              </a:lnSpc>
            </a:pPr>
            <a:r>
              <a:rPr lang="en-US" sz="2600" dirty="0">
                <a:latin typeface="Times New Roman" panose="02020603050405020304" pitchFamily="18" charset="0"/>
                <a:cs typeface="Times New Roman" panose="02020603050405020304" pitchFamily="18" charset="0"/>
              </a:rPr>
              <a:t>Enhanced memory utilization</a:t>
            </a:r>
          </a:p>
          <a:p>
            <a:pPr lvl="1" algn="just" fontAlgn="base">
              <a:lnSpc>
                <a:spcPct val="160000"/>
              </a:lnSpc>
            </a:pPr>
            <a:r>
              <a:rPr lang="en-US" sz="2600" dirty="0">
                <a:latin typeface="Times New Roman" panose="02020603050405020304" pitchFamily="18" charset="0"/>
                <a:cs typeface="Times New Roman" panose="02020603050405020304" pitchFamily="18" charset="0"/>
              </a:rPr>
              <a:t>Reduced memory footprint and memory-related issues</a:t>
            </a:r>
          </a:p>
          <a:p>
            <a:pPr lvl="1" algn="just" fontAlgn="base">
              <a:lnSpc>
                <a:spcPct val="160000"/>
              </a:lnSpc>
            </a:pPr>
            <a:r>
              <a:rPr lang="en-US" sz="2600" dirty="0">
                <a:latin typeface="Times New Roman" panose="02020603050405020304" pitchFamily="18" charset="0"/>
                <a:cs typeface="Times New Roman" panose="02020603050405020304" pitchFamily="18" charset="0"/>
              </a:rPr>
              <a:t>Increased available memory for more processes</a:t>
            </a:r>
          </a:p>
          <a:p>
            <a:pPr lvl="1" algn="just" fontAlgn="base">
              <a:lnSpc>
                <a:spcPct val="160000"/>
              </a:lnSpc>
            </a:pPr>
            <a:r>
              <a:rPr lang="en-US" sz="2600" dirty="0">
                <a:latin typeface="Times New Roman" panose="02020603050405020304" pitchFamily="18" charset="0"/>
                <a:cs typeface="Times New Roman" panose="02020603050405020304" pitchFamily="18" charset="0"/>
              </a:rPr>
              <a:t>Reduced swap usage and overall I/O overhead</a:t>
            </a:r>
          </a:p>
          <a:p>
            <a:pPr algn="just">
              <a:lnSpc>
                <a:spcPct val="160000"/>
              </a:lnSpc>
            </a:pPr>
            <a:endParaRPr lang="en-US"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53</a:t>
            </a:fld>
            <a:endParaRPr lang="en-US"/>
          </a:p>
        </p:txBody>
      </p:sp>
    </p:spTree>
    <p:extLst>
      <p:ext uri="{BB962C8B-B14F-4D97-AF65-F5344CB8AC3E}">
        <p14:creationId xmlns:p14="http://schemas.microsoft.com/office/powerpoint/2010/main" val="8516061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2388"/>
            <a:ext cx="10515600" cy="5894575"/>
          </a:xfrm>
        </p:spPr>
        <p:txBody>
          <a:bodyPr>
            <a:normAutofit fontScale="77500" lnSpcReduction="20000"/>
          </a:bodyPr>
          <a:lstStyle/>
          <a:p>
            <a:pPr marL="0" indent="0" algn="just">
              <a:lnSpc>
                <a:spcPct val="120000"/>
              </a:lnSpc>
              <a:buNone/>
            </a:pPr>
            <a:r>
              <a:rPr lang="en-US" sz="3600" b="1" dirty="0">
                <a:latin typeface="Times New Roman" panose="02020603050405020304" pitchFamily="18" charset="0"/>
                <a:cs typeface="Times New Roman" panose="02020603050405020304" pitchFamily="18" charset="0"/>
              </a:rPr>
              <a:t>Memory deduplication</a:t>
            </a:r>
            <a:endParaRPr lang="en-US" sz="3600" b="1" dirty="0" smtClean="0">
              <a:latin typeface="Times New Roman" panose="02020603050405020304" pitchFamily="18" charset="0"/>
              <a:cs typeface="Times New Roman" panose="02020603050405020304" pitchFamily="18" charset="0"/>
            </a:endParaRPr>
          </a:p>
          <a:p>
            <a:pPr algn="just">
              <a:lnSpc>
                <a:spcPct val="120000"/>
              </a:lnSpc>
            </a:pPr>
            <a:r>
              <a:rPr lang="en-US" dirty="0" smtClean="0">
                <a:latin typeface="Times New Roman" panose="02020603050405020304" pitchFamily="18" charset="0"/>
                <a:cs typeface="Times New Roman" panose="02020603050405020304" pitchFamily="18" charset="0"/>
              </a:rPr>
              <a:t>Memory deduplication is </a:t>
            </a:r>
            <a:r>
              <a:rPr lang="en-US" dirty="0">
                <a:latin typeface="Times New Roman" panose="02020603050405020304" pitchFamily="18" charset="0"/>
                <a:cs typeface="Times New Roman" panose="02020603050405020304" pitchFamily="18" charset="0"/>
              </a:rPr>
              <a:t>a technique used to conserve memory in a virtual </a:t>
            </a:r>
            <a:r>
              <a:rPr lang="en-US" dirty="0" smtClean="0">
                <a:latin typeface="Times New Roman" panose="02020603050405020304" pitchFamily="18" charset="0"/>
                <a:cs typeface="Times New Roman" panose="02020603050405020304" pitchFamily="18" charset="0"/>
              </a:rPr>
              <a:t>environment</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lnSpc>
                <a:spcPct val="120000"/>
              </a:lnSpc>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works by identifying and eliminating redundant data in memory, thereby freeing up space and increasing overall efficiency. </a:t>
            </a:r>
            <a:endParaRPr lang="en-US" dirty="0" smtClean="0">
              <a:latin typeface="Times New Roman" panose="02020603050405020304" pitchFamily="18" charset="0"/>
              <a:cs typeface="Times New Roman" panose="02020603050405020304" pitchFamily="18" charset="0"/>
            </a:endParaRPr>
          </a:p>
          <a:p>
            <a:pPr algn="just">
              <a:lnSpc>
                <a:spcPct val="120000"/>
              </a:lnSpc>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is accomplished by scanning the memory for duplicate data and storing only a single copy of each data instance</a:t>
            </a:r>
            <a:r>
              <a:rPr lang="en-US" dirty="0" smtClean="0">
                <a:latin typeface="Times New Roman" panose="02020603050405020304" pitchFamily="18" charset="0"/>
                <a:cs typeface="Times New Roman" panose="02020603050405020304" pitchFamily="18" charset="0"/>
              </a:rPr>
              <a:t>.</a:t>
            </a:r>
          </a:p>
          <a:p>
            <a:pPr algn="just">
              <a:lnSpc>
                <a:spcPct val="120000"/>
              </a:lnSpc>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remaining instances are then replaced with references to the original </a:t>
            </a:r>
            <a:r>
              <a:rPr lang="en-US" dirty="0" smtClean="0">
                <a:latin typeface="Times New Roman" panose="02020603050405020304" pitchFamily="18" charset="0"/>
                <a:cs typeface="Times New Roman" panose="02020603050405020304" pitchFamily="18" charset="0"/>
              </a:rPr>
              <a:t>data.</a:t>
            </a:r>
          </a:p>
          <a:p>
            <a:pPr algn="just">
              <a:lnSpc>
                <a:spcPct val="120000"/>
              </a:lnSpc>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method is particularly effective in virtual environments where multiple virtual machines (VMs) may be running the same operating system or applications</a:t>
            </a:r>
            <a:r>
              <a:rPr lang="en-US" dirty="0" smtClean="0">
                <a:latin typeface="Times New Roman" panose="02020603050405020304" pitchFamily="18" charset="0"/>
                <a:cs typeface="Times New Roman" panose="02020603050405020304" pitchFamily="18" charset="0"/>
              </a:rPr>
              <a:t>.</a:t>
            </a:r>
          </a:p>
          <a:p>
            <a:pPr algn="just">
              <a:lnSpc>
                <a:spcPct val="120000"/>
              </a:lnSpc>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Without memory deduplication, each VM would need its own copy of the same data, leading to significant memory waste</a:t>
            </a:r>
            <a:r>
              <a:rPr lang="en-US" dirty="0" smtClean="0">
                <a:latin typeface="Times New Roman" panose="02020603050405020304" pitchFamily="18" charset="0"/>
                <a:cs typeface="Times New Roman" panose="02020603050405020304" pitchFamily="18" charset="0"/>
              </a:rPr>
              <a:t>.</a:t>
            </a:r>
          </a:p>
          <a:p>
            <a:pPr algn="just">
              <a:lnSpc>
                <a:spcPct val="120000"/>
              </a:lnSpc>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However, with memory deduplication, only a single copy of the data is stored, with all VMs referencing this single copy, thereby saving substantial amounts of memory.</a:t>
            </a: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54</a:t>
            </a:fld>
            <a:endParaRPr lang="en-US"/>
          </a:p>
        </p:txBody>
      </p:sp>
    </p:spTree>
    <p:extLst>
      <p:ext uri="{BB962C8B-B14F-4D97-AF65-F5344CB8AC3E}">
        <p14:creationId xmlns:p14="http://schemas.microsoft.com/office/powerpoint/2010/main" val="4358084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7820"/>
          </a:xfrm>
        </p:spPr>
        <p:txBody>
          <a:bodyPr>
            <a:normAutofit fontScale="90000"/>
          </a:bodyPr>
          <a:lstStyle/>
          <a:p>
            <a:pPr marL="0" indent="0">
              <a:lnSpc>
                <a:spcPct val="120000"/>
              </a:lnSpc>
            </a:pPr>
            <a:r>
              <a:rPr lang="en-US" b="1" dirty="0">
                <a:latin typeface="Times New Roman" panose="02020603050405020304" pitchFamily="18" charset="0"/>
                <a:cs typeface="Times New Roman" panose="02020603050405020304" pitchFamily="18" charset="0"/>
              </a:rPr>
              <a:t>Memory </a:t>
            </a:r>
            <a:r>
              <a:rPr lang="en-US" b="1" dirty="0" smtClean="0">
                <a:latin typeface="Times New Roman" panose="02020603050405020304" pitchFamily="18" charset="0"/>
                <a:cs typeface="Times New Roman" panose="02020603050405020304" pitchFamily="18" charset="0"/>
              </a:rPr>
              <a:t>deduplication Example</a:t>
            </a:r>
            <a:endParaRPr lang="en-US" b="1"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838200" y="1377950"/>
            <a:ext cx="10515600" cy="4939723"/>
          </a:xfrm>
          <a:prstGeom prst="rect">
            <a:avLst/>
          </a:prstGeom>
        </p:spPr>
      </p:pic>
      <p:sp>
        <p:nvSpPr>
          <p:cNvPr id="3" name="Footer Placeholder 2"/>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55</a:t>
            </a:fld>
            <a:endParaRPr lang="en-US"/>
          </a:p>
        </p:txBody>
      </p:sp>
    </p:spTree>
    <p:extLst>
      <p:ext uri="{BB962C8B-B14F-4D97-AF65-F5344CB8AC3E}">
        <p14:creationId xmlns:p14="http://schemas.microsoft.com/office/powerpoint/2010/main" val="29655149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2388"/>
            <a:ext cx="10515600" cy="5894575"/>
          </a:xfrm>
        </p:spPr>
        <p:txBody>
          <a:bodyPr>
            <a:normAutofit fontScale="77500" lnSpcReduction="20000"/>
          </a:bodyPr>
          <a:lstStyle/>
          <a:p>
            <a:pPr marL="0" indent="0" algn="just">
              <a:lnSpc>
                <a:spcPct val="120000"/>
              </a:lnSpc>
              <a:buNone/>
            </a:pPr>
            <a:r>
              <a:rPr lang="en-US" b="1" u="sng" dirty="0">
                <a:latin typeface="Times New Roman" panose="02020603050405020304" pitchFamily="18" charset="0"/>
                <a:cs typeface="Times New Roman" panose="02020603050405020304" pitchFamily="18" charset="0"/>
              </a:rPr>
              <a:t>Benefits of Memory Deduplication</a:t>
            </a:r>
          </a:p>
          <a:p>
            <a:pPr algn="just">
              <a:lnSpc>
                <a:spcPct val="120000"/>
              </a:lnSpc>
            </a:pPr>
            <a:r>
              <a:rPr lang="en-US" b="1" i="1" dirty="0" smtClean="0">
                <a:latin typeface="Times New Roman" panose="02020603050405020304" pitchFamily="18" charset="0"/>
                <a:cs typeface="Times New Roman" panose="02020603050405020304" pitchFamily="18" charset="0"/>
              </a:rPr>
              <a:t>Reduced </a:t>
            </a:r>
            <a:r>
              <a:rPr lang="en-US" b="1" i="1" dirty="0">
                <a:latin typeface="Times New Roman" panose="02020603050405020304" pitchFamily="18" charset="0"/>
                <a:cs typeface="Times New Roman" panose="02020603050405020304" pitchFamily="18" charset="0"/>
              </a:rPr>
              <a:t>Memory Usage</a:t>
            </a:r>
            <a:r>
              <a:rPr lang="en-US" dirty="0">
                <a:latin typeface="Times New Roman" panose="02020603050405020304" pitchFamily="18" charset="0"/>
                <a:cs typeface="Times New Roman" panose="02020603050405020304" pitchFamily="18" charset="0"/>
              </a:rPr>
              <a:t>: By eliminating redundant data, memory usage is reduced, allowing more applications or VMs to run simultaneously.</a:t>
            </a:r>
          </a:p>
          <a:p>
            <a:pPr algn="just">
              <a:lnSpc>
                <a:spcPct val="120000"/>
              </a:lnSpc>
            </a:pPr>
            <a:r>
              <a:rPr lang="en-US" b="1" i="1" dirty="0">
                <a:latin typeface="Times New Roman" panose="02020603050405020304" pitchFamily="18" charset="0"/>
                <a:cs typeface="Times New Roman" panose="02020603050405020304" pitchFamily="18" charset="0"/>
              </a:rPr>
              <a:t>Improved Performance</a:t>
            </a:r>
            <a:r>
              <a:rPr lang="en-US" dirty="0">
                <a:latin typeface="Times New Roman" panose="02020603050405020304" pitchFamily="18" charset="0"/>
                <a:cs typeface="Times New Roman" panose="02020603050405020304" pitchFamily="18" charset="0"/>
              </a:rPr>
              <a:t>: Less memory usage can lead to improved system performance and faster data access times.</a:t>
            </a:r>
          </a:p>
          <a:p>
            <a:pPr algn="just">
              <a:lnSpc>
                <a:spcPct val="120000"/>
              </a:lnSpc>
            </a:pPr>
            <a:r>
              <a:rPr lang="en-US" b="1" i="1" dirty="0">
                <a:latin typeface="Times New Roman" panose="02020603050405020304" pitchFamily="18" charset="0"/>
                <a:cs typeface="Times New Roman" panose="02020603050405020304" pitchFamily="18" charset="0"/>
              </a:rPr>
              <a:t>Cost Efficiency</a:t>
            </a:r>
            <a:r>
              <a:rPr lang="en-US" dirty="0">
                <a:latin typeface="Times New Roman" panose="02020603050405020304" pitchFamily="18" charset="0"/>
                <a:cs typeface="Times New Roman" panose="02020603050405020304" pitchFamily="18" charset="0"/>
              </a:rPr>
              <a:t>: In cloud and virtualized environments, reduced memory consumption can lower infrastructure costs</a:t>
            </a:r>
            <a:r>
              <a:rPr lang="en-US" dirty="0" smtClean="0">
                <a:latin typeface="Times New Roman" panose="02020603050405020304" pitchFamily="18" charset="0"/>
                <a:cs typeface="Times New Roman" panose="02020603050405020304" pitchFamily="18" charset="0"/>
              </a:rPr>
              <a:t>.</a:t>
            </a:r>
          </a:p>
          <a:p>
            <a:pPr marL="0" indent="0" algn="just">
              <a:lnSpc>
                <a:spcPct val="120000"/>
              </a:lnSpc>
              <a:buNone/>
            </a:pPr>
            <a:r>
              <a:rPr lang="en-US" b="1" u="sng" dirty="0" smtClean="0">
                <a:latin typeface="Times New Roman" panose="02020603050405020304" pitchFamily="18" charset="0"/>
                <a:cs typeface="Times New Roman" panose="02020603050405020304" pitchFamily="18" charset="0"/>
              </a:rPr>
              <a:t>Problems:</a:t>
            </a:r>
          </a:p>
          <a:p>
            <a:pPr algn="just">
              <a:lnSpc>
                <a:spcPct val="120000"/>
              </a:lnSpc>
            </a:pPr>
            <a:r>
              <a:rPr lang="en-US" b="1" i="1" dirty="0">
                <a:latin typeface="Times New Roman" panose="02020603050405020304" pitchFamily="18" charset="0"/>
                <a:cs typeface="Times New Roman" panose="02020603050405020304" pitchFamily="18" charset="0"/>
              </a:rPr>
              <a:t>Overhead:</a:t>
            </a:r>
            <a:r>
              <a:rPr lang="en-US" dirty="0">
                <a:latin typeface="Times New Roman" panose="02020603050405020304" pitchFamily="18" charset="0"/>
                <a:cs typeface="Times New Roman" panose="02020603050405020304" pitchFamily="18" charset="0"/>
              </a:rPr>
              <a:t> There is some overhead associated with deduplication, as the system must manage references and maintain a deduplication table.</a:t>
            </a:r>
          </a:p>
          <a:p>
            <a:pPr algn="just">
              <a:lnSpc>
                <a:spcPct val="120000"/>
              </a:lnSpc>
            </a:pPr>
            <a:r>
              <a:rPr lang="en-US" b="1" i="1" dirty="0">
                <a:latin typeface="Times New Roman" panose="02020603050405020304" pitchFamily="18" charset="0"/>
                <a:cs typeface="Times New Roman" panose="02020603050405020304" pitchFamily="18" charset="0"/>
              </a:rPr>
              <a:t>Complexity:</a:t>
            </a:r>
            <a:r>
              <a:rPr lang="en-US" dirty="0">
                <a:latin typeface="Times New Roman" panose="02020603050405020304" pitchFamily="18" charset="0"/>
                <a:cs typeface="Times New Roman" panose="02020603050405020304" pitchFamily="18" charset="0"/>
              </a:rPr>
              <a:t> Implementing deduplication can add complexity to memory management and require careful tuning to balance between deduplication benefits and overhead.</a:t>
            </a:r>
          </a:p>
          <a:p>
            <a:pPr algn="just">
              <a:lnSpc>
                <a:spcPct val="120000"/>
              </a:lnSpc>
            </a:pPr>
            <a:r>
              <a:rPr lang="en-US" b="1" i="1" dirty="0">
                <a:latin typeface="Times New Roman" panose="02020603050405020304" pitchFamily="18" charset="0"/>
                <a:cs typeface="Times New Roman" panose="02020603050405020304" pitchFamily="18" charset="0"/>
              </a:rPr>
              <a:t>Security:</a:t>
            </a:r>
            <a:r>
              <a:rPr lang="en-US" dirty="0">
                <a:latin typeface="Times New Roman" panose="02020603050405020304" pitchFamily="18" charset="0"/>
                <a:cs typeface="Times New Roman" panose="02020603050405020304" pitchFamily="18" charset="0"/>
              </a:rPr>
              <a:t> Ensuring that deduplication does not inadvertently expose sensitive data due to shared memory spaces.</a:t>
            </a: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56</a:t>
            </a:fld>
            <a:endParaRPr lang="en-US"/>
          </a:p>
        </p:txBody>
      </p:sp>
    </p:spTree>
    <p:extLst>
      <p:ext uri="{BB962C8B-B14F-4D97-AF65-F5344CB8AC3E}">
        <p14:creationId xmlns:p14="http://schemas.microsoft.com/office/powerpoint/2010/main" val="35917540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9616"/>
          </a:xfrm>
        </p:spPr>
        <p:txBody>
          <a:bodyPr>
            <a:normAutofit fontScale="90000"/>
          </a:bodyPr>
          <a:lstStyle/>
          <a:p>
            <a:pPr algn="ctr"/>
            <a:r>
              <a:rPr lang="en-US" b="1" dirty="0" smtClean="0">
                <a:latin typeface="Times New Roman" panose="02020603050405020304" pitchFamily="18" charset="0"/>
                <a:cs typeface="Times New Roman" panose="02020603050405020304" pitchFamily="18" charset="0"/>
              </a:rPr>
              <a:t>Memory Tiering</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02659"/>
            <a:ext cx="10515600" cy="5074304"/>
          </a:xfrm>
        </p:spPr>
        <p:txBody>
          <a:bodyPr>
            <a:normAutofit fontScale="62500" lnSpcReduction="20000"/>
          </a:bodyPr>
          <a:lstStyle/>
          <a:p>
            <a:pPr algn="just">
              <a:lnSpc>
                <a:spcPct val="170000"/>
              </a:lnSpc>
            </a:pPr>
            <a:r>
              <a:rPr lang="en-US" dirty="0">
                <a:latin typeface="Times New Roman" panose="02020603050405020304" pitchFamily="18" charset="0"/>
                <a:cs typeface="Times New Roman" panose="02020603050405020304" pitchFamily="18" charset="0"/>
              </a:rPr>
              <a:t>Memory </a:t>
            </a:r>
            <a:r>
              <a:rPr lang="en-US" dirty="0" err="1">
                <a:latin typeface="Times New Roman" panose="02020603050405020304" pitchFamily="18" charset="0"/>
                <a:cs typeface="Times New Roman" panose="02020603050405020304" pitchFamily="18" charset="0"/>
              </a:rPr>
              <a:t>tiering</a:t>
            </a:r>
            <a:r>
              <a:rPr lang="en-US" dirty="0">
                <a:latin typeface="Times New Roman" panose="02020603050405020304" pitchFamily="18" charset="0"/>
                <a:cs typeface="Times New Roman" panose="02020603050405020304" pitchFamily="18" charset="0"/>
              </a:rPr>
              <a:t> is a strategy used in modern computer systems to optimize memory performance by organizing memory into different "tiers" based on their speed, cost, and capacity</a:t>
            </a:r>
            <a:r>
              <a:rPr lang="en-US" dirty="0" smtClean="0">
                <a:latin typeface="Times New Roman" panose="02020603050405020304" pitchFamily="18" charset="0"/>
                <a:cs typeface="Times New Roman" panose="02020603050405020304" pitchFamily="18" charset="0"/>
              </a:rPr>
              <a:t>.</a:t>
            </a:r>
          </a:p>
          <a:p>
            <a:pPr algn="just">
              <a:lnSpc>
                <a:spcPct val="170000"/>
              </a:lnSpc>
            </a:pPr>
            <a:r>
              <a:rPr lang="en-US" dirty="0">
                <a:latin typeface="Times New Roman" panose="02020603050405020304" pitchFamily="18" charset="0"/>
                <a:cs typeface="Times New Roman" panose="02020603050405020304" pitchFamily="18" charset="0"/>
              </a:rPr>
              <a:t>This approach improves overall system performance by intelligently managing how and where data is stored and accessed. Here’s a breakdown of how memory </a:t>
            </a:r>
            <a:r>
              <a:rPr lang="en-US" dirty="0" err="1">
                <a:latin typeface="Times New Roman" panose="02020603050405020304" pitchFamily="18" charset="0"/>
                <a:cs typeface="Times New Roman" panose="02020603050405020304" pitchFamily="18" charset="0"/>
              </a:rPr>
              <a:t>tiering</a:t>
            </a:r>
            <a:r>
              <a:rPr lang="en-US" dirty="0">
                <a:latin typeface="Times New Roman" panose="02020603050405020304" pitchFamily="18" charset="0"/>
                <a:cs typeface="Times New Roman" panose="02020603050405020304" pitchFamily="18" charset="0"/>
              </a:rPr>
              <a:t> enhances performance</a:t>
            </a:r>
            <a:r>
              <a:rPr lang="en-US" dirty="0" smtClean="0">
                <a:latin typeface="Times New Roman" panose="02020603050405020304" pitchFamily="18" charset="0"/>
                <a:cs typeface="Times New Roman" panose="02020603050405020304" pitchFamily="18" charset="0"/>
              </a:rPr>
              <a:t>:</a:t>
            </a:r>
          </a:p>
          <a:p>
            <a:pPr algn="just">
              <a:lnSpc>
                <a:spcPct val="170000"/>
              </a:lnSpc>
            </a:pPr>
            <a:r>
              <a:rPr lang="en-US" b="1" dirty="0">
                <a:latin typeface="Times New Roman" panose="02020603050405020304" pitchFamily="18" charset="0"/>
                <a:cs typeface="Times New Roman" panose="02020603050405020304" pitchFamily="18" charset="0"/>
              </a:rPr>
              <a:t>High-Speed Memory (Tier 1): </a:t>
            </a:r>
            <a:r>
              <a:rPr lang="en-US" dirty="0">
                <a:latin typeface="Times New Roman" panose="02020603050405020304" pitchFamily="18" charset="0"/>
                <a:cs typeface="Times New Roman" panose="02020603050405020304" pitchFamily="18" charset="0"/>
              </a:rPr>
              <a:t>This is typically the fastest and most expensive type of memory, such as DRAM (Dynamic RAM). It provides rapid access to data but is limited in capacity.</a:t>
            </a:r>
          </a:p>
          <a:p>
            <a:pPr algn="just">
              <a:lnSpc>
                <a:spcPct val="170000"/>
              </a:lnSpc>
            </a:pPr>
            <a:r>
              <a:rPr lang="en-US" b="1" dirty="0">
                <a:latin typeface="Times New Roman" panose="02020603050405020304" pitchFamily="18" charset="0"/>
                <a:cs typeface="Times New Roman" panose="02020603050405020304" pitchFamily="18" charset="0"/>
              </a:rPr>
              <a:t>Intermediate-Speed Memory (Tier 2): </a:t>
            </a:r>
            <a:r>
              <a:rPr lang="en-US" dirty="0">
                <a:latin typeface="Times New Roman" panose="02020603050405020304" pitchFamily="18" charset="0"/>
                <a:cs typeface="Times New Roman" panose="02020603050405020304" pitchFamily="18" charset="0"/>
              </a:rPr>
              <a:t>This could include slower but larger capacity memory types like NAND flash or Intel </a:t>
            </a:r>
            <a:r>
              <a:rPr lang="en-US" dirty="0" err="1">
                <a:latin typeface="Times New Roman" panose="02020603050405020304" pitchFamily="18" charset="0"/>
                <a:cs typeface="Times New Roman" panose="02020603050405020304" pitchFamily="18" charset="0"/>
              </a:rPr>
              <a:t>Optane</a:t>
            </a:r>
            <a:r>
              <a:rPr lang="en-US" dirty="0">
                <a:latin typeface="Times New Roman" panose="02020603050405020304" pitchFamily="18" charset="0"/>
                <a:cs typeface="Times New Roman" panose="02020603050405020304" pitchFamily="18" charset="0"/>
              </a:rPr>
              <a:t>.</a:t>
            </a:r>
          </a:p>
          <a:p>
            <a:pPr algn="just">
              <a:lnSpc>
                <a:spcPct val="170000"/>
              </a:lnSpc>
            </a:pPr>
            <a:r>
              <a:rPr lang="en-US" b="1" dirty="0">
                <a:latin typeface="Times New Roman" panose="02020603050405020304" pitchFamily="18" charset="0"/>
                <a:cs typeface="Times New Roman" panose="02020603050405020304" pitchFamily="18" charset="0"/>
              </a:rPr>
              <a:t>Low-Speed, High-Capacity Storage (Tier 3): </a:t>
            </a:r>
            <a:r>
              <a:rPr lang="en-US" dirty="0">
                <a:latin typeface="Times New Roman" panose="02020603050405020304" pitchFamily="18" charset="0"/>
                <a:cs typeface="Times New Roman" panose="02020603050405020304" pitchFamily="18" charset="0"/>
              </a:rPr>
              <a:t>This tier includes traditional storage solutions like HDDs (Hard Disk Drives) or large-scale SSDs (Solid State Drives) that offer high capacity at a slower access speed.</a:t>
            </a: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57</a:t>
            </a:fld>
            <a:endParaRPr lang="en-US"/>
          </a:p>
        </p:txBody>
      </p:sp>
    </p:spTree>
    <p:extLst>
      <p:ext uri="{BB962C8B-B14F-4D97-AF65-F5344CB8AC3E}">
        <p14:creationId xmlns:p14="http://schemas.microsoft.com/office/powerpoint/2010/main" val="18767355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62111"/>
            <a:ext cx="10515600" cy="750981"/>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Input/output Device Management</a:t>
            </a:r>
          </a:p>
        </p:txBody>
      </p:sp>
      <p:sp>
        <p:nvSpPr>
          <p:cNvPr id="3" name="Footer Placeholder 2"/>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58</a:t>
            </a:fld>
            <a:endParaRPr lang="en-US"/>
          </a:p>
        </p:txBody>
      </p:sp>
    </p:spTree>
    <p:extLst>
      <p:ext uri="{BB962C8B-B14F-4D97-AF65-F5344CB8AC3E}">
        <p14:creationId xmlns:p14="http://schemas.microsoft.com/office/powerpoint/2010/main" val="15278857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0235"/>
          </a:xfrm>
        </p:spPr>
        <p:txBody>
          <a:bodyPr>
            <a:normAutofit fontScale="90000"/>
          </a:bodyPr>
          <a:lstStyle/>
          <a:p>
            <a:pPr algn="ctr"/>
            <a:r>
              <a:rPr lang="en-US" b="1" dirty="0" smtClean="0">
                <a:latin typeface="Times New Roman" pitchFamily="18" charset="0"/>
                <a:cs typeface="Times New Roman" pitchFamily="18" charset="0"/>
              </a:rPr>
              <a:t>I/O management</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341120"/>
            <a:ext cx="10515600" cy="4835843"/>
          </a:xfrm>
        </p:spPr>
        <p:txBody>
          <a:bodyPr>
            <a:noAutofit/>
          </a:bodyPr>
          <a:lstStyle/>
          <a:p>
            <a:pPr algn="just">
              <a:lnSpc>
                <a:spcPct val="150000"/>
              </a:lnSpc>
            </a:pPr>
            <a:r>
              <a:rPr lang="en-US" sz="2400" dirty="0" smtClean="0">
                <a:latin typeface="Times New Roman" pitchFamily="18" charset="0"/>
                <a:cs typeface="Times New Roman" pitchFamily="18" charset="0"/>
              </a:rPr>
              <a:t>Generally operating system performs two main jobs: </a:t>
            </a:r>
          </a:p>
          <a:p>
            <a:pPr lvl="1" algn="just">
              <a:lnSpc>
                <a:spcPct val="150000"/>
              </a:lnSpc>
            </a:pPr>
            <a:r>
              <a:rPr lang="en-US" dirty="0" smtClean="0">
                <a:latin typeface="Times New Roman" pitchFamily="18" charset="0"/>
                <a:cs typeface="Times New Roman" pitchFamily="18" charset="0"/>
              </a:rPr>
              <a:t>I/O operation</a:t>
            </a:r>
          </a:p>
          <a:p>
            <a:pPr lvl="1" algn="just">
              <a:lnSpc>
                <a:spcPct val="150000"/>
              </a:lnSpc>
            </a:pPr>
            <a:r>
              <a:rPr lang="en-US" dirty="0" smtClean="0">
                <a:latin typeface="Times New Roman" pitchFamily="18" charset="0"/>
                <a:cs typeface="Times New Roman" pitchFamily="18" charset="0"/>
              </a:rPr>
              <a:t>Processing</a:t>
            </a:r>
          </a:p>
          <a:p>
            <a:pPr algn="just">
              <a:lnSpc>
                <a:spcPct val="150000"/>
              </a:lnSpc>
            </a:pPr>
            <a:r>
              <a:rPr lang="en-US" sz="2400" dirty="0" smtClean="0">
                <a:latin typeface="Times New Roman" pitchFamily="18" charset="0"/>
                <a:cs typeface="Times New Roman" pitchFamily="18" charset="0"/>
              </a:rPr>
              <a:t>The main role of operating system is to manage and control I/O operations and  I/O devices.</a:t>
            </a:r>
          </a:p>
          <a:p>
            <a:pPr algn="just">
              <a:lnSpc>
                <a:spcPct val="150000"/>
              </a:lnSpc>
            </a:pPr>
            <a:r>
              <a:rPr lang="en-US" sz="2400" dirty="0" smtClean="0">
                <a:latin typeface="Times New Roman" pitchFamily="18" charset="0"/>
                <a:cs typeface="Times New Roman" pitchFamily="18" charset="0"/>
              </a:rPr>
              <a:t>An I/O system is required to take an application  I/O request and send it to the physical device, then take  whatever response comes back from the device and send it to the application.</a:t>
            </a:r>
            <a:endParaRPr lang="en-US" sz="24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59</a:t>
            </a:fld>
            <a:endParaRPr lang="en-US"/>
          </a:p>
        </p:txBody>
      </p:sp>
    </p:spTree>
    <p:extLst>
      <p:ext uri="{BB962C8B-B14F-4D97-AF65-F5344CB8AC3E}">
        <p14:creationId xmlns:p14="http://schemas.microsoft.com/office/powerpoint/2010/main" val="24791629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8464"/>
          </a:xfrm>
        </p:spPr>
        <p:txBody>
          <a:bodyPr>
            <a:normAutofit fontScale="90000"/>
          </a:bodyPr>
          <a:lstStyle/>
          <a:p>
            <a:pPr algn="ctr"/>
            <a:r>
              <a:rPr lang="en-US" b="1" dirty="0" smtClean="0">
                <a:latin typeface="Times New Roman" pitchFamily="18" charset="0"/>
                <a:cs typeface="Times New Roman" pitchFamily="18" charset="0"/>
              </a:rPr>
              <a:t>Principle of I/O hardware</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966652"/>
            <a:ext cx="10515600" cy="5408022"/>
          </a:xfrm>
        </p:spPr>
        <p:txBody>
          <a:bodyPr>
            <a:noAutofit/>
          </a:bodyPr>
          <a:lstStyle/>
          <a:p>
            <a:pPr algn="just">
              <a:lnSpc>
                <a:spcPct val="120000"/>
              </a:lnSpc>
            </a:pPr>
            <a:r>
              <a:rPr lang="en-US" sz="1600" dirty="0" smtClean="0">
                <a:latin typeface="Times New Roman" pitchFamily="18" charset="0"/>
                <a:cs typeface="Times New Roman" pitchFamily="18" charset="0"/>
              </a:rPr>
              <a:t>External device that engage in I/O with computer system  can  be grouped into three categories:</a:t>
            </a:r>
          </a:p>
          <a:p>
            <a:pPr algn="just">
              <a:lnSpc>
                <a:spcPct val="120000"/>
              </a:lnSpc>
              <a:buNone/>
            </a:pPr>
            <a:r>
              <a:rPr lang="en-US" sz="1600" b="1" dirty="0" smtClean="0">
                <a:latin typeface="Times New Roman" pitchFamily="18" charset="0"/>
                <a:cs typeface="Times New Roman" pitchFamily="18" charset="0"/>
              </a:rPr>
              <a:t>Machine readable or Block devices:</a:t>
            </a:r>
          </a:p>
          <a:p>
            <a:pPr algn="just">
              <a:lnSpc>
                <a:spcPct val="120000"/>
              </a:lnSpc>
            </a:pPr>
            <a:r>
              <a:rPr lang="en-US" sz="1600" dirty="0" smtClean="0">
                <a:latin typeface="Times New Roman" pitchFamily="18" charset="0"/>
                <a:cs typeface="Times New Roman" pitchFamily="18" charset="0"/>
              </a:rPr>
              <a:t>A block device stores information in fixed size blocks, each with its own address.</a:t>
            </a:r>
          </a:p>
          <a:p>
            <a:pPr algn="just">
              <a:lnSpc>
                <a:spcPct val="120000"/>
              </a:lnSpc>
            </a:pPr>
            <a:r>
              <a:rPr lang="en-US" sz="1600" dirty="0" smtClean="0">
                <a:latin typeface="Times New Roman" pitchFamily="18" charset="0"/>
                <a:cs typeface="Times New Roman" pitchFamily="18" charset="0"/>
              </a:rPr>
              <a:t> Each block can be read or written independently of other blocks</a:t>
            </a:r>
          </a:p>
          <a:p>
            <a:pPr algn="just">
              <a:lnSpc>
                <a:spcPct val="120000"/>
              </a:lnSpc>
            </a:pPr>
            <a:r>
              <a:rPr lang="en-US" sz="1600" dirty="0" smtClean="0">
                <a:latin typeface="Times New Roman" pitchFamily="18" charset="0"/>
                <a:cs typeface="Times New Roman" pitchFamily="18" charset="0"/>
              </a:rPr>
              <a:t>Common block size: 512-37,768 bytes</a:t>
            </a:r>
          </a:p>
          <a:p>
            <a:pPr algn="just">
              <a:lnSpc>
                <a:spcPct val="120000"/>
              </a:lnSpc>
            </a:pPr>
            <a:r>
              <a:rPr lang="en-US" sz="1600" dirty="0" smtClean="0">
                <a:latin typeface="Times New Roman" pitchFamily="18" charset="0"/>
                <a:cs typeface="Times New Roman" pitchFamily="18" charset="0"/>
              </a:rPr>
              <a:t>Disk drives, USB keys, Sensor, Controllers</a:t>
            </a:r>
          </a:p>
          <a:p>
            <a:pPr algn="just">
              <a:lnSpc>
                <a:spcPct val="120000"/>
              </a:lnSpc>
              <a:buNone/>
            </a:pPr>
            <a:r>
              <a:rPr lang="en-US" sz="1600" b="1" dirty="0" smtClean="0">
                <a:latin typeface="Times New Roman" pitchFamily="18" charset="0"/>
                <a:cs typeface="Times New Roman" pitchFamily="18" charset="0"/>
              </a:rPr>
              <a:t>Human readable  or Character device</a:t>
            </a:r>
          </a:p>
          <a:p>
            <a:pPr algn="just">
              <a:lnSpc>
                <a:spcPct val="120000"/>
              </a:lnSpc>
            </a:pPr>
            <a:r>
              <a:rPr lang="en-US" sz="1600" dirty="0" smtClean="0">
                <a:latin typeface="Times New Roman" pitchFamily="18" charset="0"/>
                <a:cs typeface="Times New Roman" pitchFamily="18" charset="0"/>
              </a:rPr>
              <a:t>A character device delivers or accepts a stream of characters. </a:t>
            </a:r>
          </a:p>
          <a:p>
            <a:pPr algn="just">
              <a:lnSpc>
                <a:spcPct val="120000"/>
              </a:lnSpc>
            </a:pPr>
            <a:r>
              <a:rPr lang="en-US" sz="1600" dirty="0" smtClean="0">
                <a:latin typeface="Times New Roman" pitchFamily="18" charset="0"/>
                <a:cs typeface="Times New Roman" pitchFamily="18" charset="0"/>
              </a:rPr>
              <a:t>It is not addressable.</a:t>
            </a:r>
          </a:p>
          <a:p>
            <a:pPr algn="just">
              <a:lnSpc>
                <a:spcPct val="120000"/>
              </a:lnSpc>
            </a:pPr>
            <a:r>
              <a:rPr lang="en-US" sz="1600" dirty="0" smtClean="0">
                <a:latin typeface="Times New Roman" pitchFamily="18" charset="0"/>
                <a:cs typeface="Times New Roman" pitchFamily="18" charset="0"/>
              </a:rPr>
              <a:t>Printers, terminals , mouse, keyboard etc.</a:t>
            </a:r>
          </a:p>
          <a:p>
            <a:pPr algn="just">
              <a:lnSpc>
                <a:spcPct val="120000"/>
              </a:lnSpc>
              <a:buNone/>
            </a:pPr>
            <a:r>
              <a:rPr lang="en-US" sz="1600" b="1" dirty="0" smtClean="0">
                <a:latin typeface="Times New Roman" pitchFamily="18" charset="0"/>
                <a:cs typeface="Times New Roman" pitchFamily="18" charset="0"/>
              </a:rPr>
              <a:t>Communication device</a:t>
            </a:r>
          </a:p>
          <a:p>
            <a:pPr algn="just">
              <a:lnSpc>
                <a:spcPct val="120000"/>
              </a:lnSpc>
            </a:pPr>
            <a:r>
              <a:rPr lang="en-US" sz="1600" dirty="0" smtClean="0">
                <a:latin typeface="Times New Roman" pitchFamily="18" charset="0"/>
                <a:cs typeface="Times New Roman" pitchFamily="18" charset="0"/>
              </a:rPr>
              <a:t>Suitable for communicating with remote devices</a:t>
            </a:r>
          </a:p>
          <a:p>
            <a:pPr algn="just">
              <a:lnSpc>
                <a:spcPct val="120000"/>
              </a:lnSpc>
            </a:pPr>
            <a:r>
              <a:rPr lang="en-US" sz="1600" dirty="0" smtClean="0">
                <a:latin typeface="Times New Roman" pitchFamily="18" charset="0"/>
                <a:cs typeface="Times New Roman" pitchFamily="18" charset="0"/>
              </a:rPr>
              <a:t>Modems, digital line driver</a:t>
            </a:r>
          </a:p>
          <a:p>
            <a:pPr algn="just">
              <a:lnSpc>
                <a:spcPct val="120000"/>
              </a:lnSpc>
            </a:pPr>
            <a:endParaRPr lang="en-US" sz="16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60</a:t>
            </a:fld>
            <a:endParaRPr lang="en-US"/>
          </a:p>
        </p:txBody>
      </p:sp>
    </p:spTree>
    <p:extLst>
      <p:ext uri="{BB962C8B-B14F-4D97-AF65-F5344CB8AC3E}">
        <p14:creationId xmlns:p14="http://schemas.microsoft.com/office/powerpoint/2010/main" val="126880211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338"/>
          </a:xfrm>
        </p:spPr>
        <p:txBody>
          <a:bodyPr>
            <a:normAutofit fontScale="90000"/>
          </a:bodyPr>
          <a:lstStyle/>
          <a:p>
            <a:pPr algn="ctr"/>
            <a:r>
              <a:rPr lang="en-US" b="1" dirty="0" smtClean="0">
                <a:latin typeface="Times New Roman" pitchFamily="18" charset="0"/>
                <a:cs typeface="Times New Roman" pitchFamily="18" charset="0"/>
              </a:rPr>
              <a:t>Device Controller</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940526"/>
            <a:ext cx="10515600" cy="5236437"/>
          </a:xfrm>
        </p:spPr>
        <p:txBody>
          <a:bodyPr>
            <a:normAutofit/>
          </a:bodyPr>
          <a:lstStyle/>
          <a:p>
            <a:pPr algn="just"/>
            <a:r>
              <a:rPr lang="en-US" sz="2000" dirty="0" smtClean="0">
                <a:latin typeface="Times New Roman" pitchFamily="18" charset="0"/>
                <a:cs typeface="Times New Roman" pitchFamily="18" charset="0"/>
              </a:rPr>
              <a:t>Device controller is an electronic component of an I/O units that provides interface between the actual device and the OS (generally CPU).</a:t>
            </a:r>
          </a:p>
          <a:p>
            <a:pPr algn="just"/>
            <a:r>
              <a:rPr lang="en-US" sz="2000" dirty="0" smtClean="0">
                <a:latin typeface="Times New Roman" pitchFamily="18" charset="0"/>
                <a:cs typeface="Times New Roman" pitchFamily="18" charset="0"/>
              </a:rPr>
              <a:t>It manages the communication by managing the signals going to and coming out form the CPU.</a:t>
            </a:r>
          </a:p>
          <a:p>
            <a:pPr algn="just"/>
            <a:r>
              <a:rPr lang="en-US" sz="2000" dirty="0" smtClean="0">
                <a:latin typeface="Times New Roman" pitchFamily="18" charset="0"/>
                <a:cs typeface="Times New Roman" pitchFamily="18" charset="0"/>
              </a:rPr>
              <a:t>The devices are connected to the system via a plug and socket, and the socket is connected to device controller.</a:t>
            </a:r>
          </a:p>
          <a:p>
            <a:pPr algn="just"/>
            <a:r>
              <a:rPr lang="en-US" sz="2000" dirty="0" smtClean="0">
                <a:latin typeface="Times New Roman" pitchFamily="18" charset="0"/>
                <a:cs typeface="Times New Roman" pitchFamily="18" charset="0"/>
              </a:rPr>
              <a:t> OS always deals with controller.</a:t>
            </a:r>
          </a:p>
          <a:p>
            <a:pPr algn="just"/>
            <a:r>
              <a:rPr lang="en-US" sz="2000" dirty="0" smtClean="0">
                <a:latin typeface="Times New Roman" pitchFamily="18" charset="0"/>
                <a:cs typeface="Times New Roman" pitchFamily="18" charset="0"/>
              </a:rPr>
              <a:t>Single bus model is used for communication between CPU and the controller.</a:t>
            </a:r>
            <a:endParaRPr lang="en-US"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1084218" y="3579224"/>
            <a:ext cx="9287692" cy="2525894"/>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61</a:t>
            </a:fld>
            <a:endParaRPr lang="en-US"/>
          </a:p>
        </p:txBody>
      </p:sp>
    </p:spTree>
    <p:extLst>
      <p:ext uri="{BB962C8B-B14F-4D97-AF65-F5344CB8AC3E}">
        <p14:creationId xmlns:p14="http://schemas.microsoft.com/office/powerpoint/2010/main" val="5882436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6"/>
          </a:xfrm>
        </p:spPr>
        <p:txBody>
          <a:bodyPr>
            <a:normAutofit fontScale="90000"/>
          </a:bodyPr>
          <a:lstStyle/>
          <a:p>
            <a:pPr algn="ctr"/>
            <a:r>
              <a:rPr lang="en-US" b="1" dirty="0" smtClean="0">
                <a:latin typeface="Times New Roman" pitchFamily="18" charset="0"/>
                <a:cs typeface="Times New Roman" pitchFamily="18" charset="0"/>
              </a:rPr>
              <a:t>Communication of CPU to I/O Device</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097280"/>
            <a:ext cx="10515600" cy="5079683"/>
          </a:xfrm>
        </p:spPr>
        <p:txBody>
          <a:bodyPr>
            <a:normAutofit/>
          </a:bodyPr>
          <a:lstStyle/>
          <a:p>
            <a:pPr algn="just">
              <a:lnSpc>
                <a:spcPct val="100000"/>
              </a:lnSpc>
            </a:pPr>
            <a:r>
              <a:rPr lang="en-US" sz="2000" dirty="0" smtClean="0">
                <a:latin typeface="Times New Roman" pitchFamily="18" charset="0"/>
                <a:cs typeface="Times New Roman" pitchFamily="18" charset="0"/>
              </a:rPr>
              <a:t>The CPU must have a way to pass information to and from I/O devices.</a:t>
            </a:r>
          </a:p>
          <a:p>
            <a:pPr algn="just">
              <a:lnSpc>
                <a:spcPct val="100000"/>
              </a:lnSpc>
            </a:pPr>
            <a:r>
              <a:rPr lang="en-US" sz="2000" dirty="0" smtClean="0">
                <a:latin typeface="Times New Roman" pitchFamily="18" charset="0"/>
                <a:cs typeface="Times New Roman" pitchFamily="18" charset="0"/>
              </a:rPr>
              <a:t>There are mainly two approaches available to communicate with CPU and device.</a:t>
            </a:r>
          </a:p>
          <a:p>
            <a:pPr lvl="1" algn="just">
              <a:lnSpc>
                <a:spcPct val="100000"/>
              </a:lnSpc>
            </a:pPr>
            <a:r>
              <a:rPr lang="en-US" sz="2000" b="1" dirty="0" smtClean="0">
                <a:latin typeface="Times New Roman" pitchFamily="18" charset="0"/>
                <a:cs typeface="Times New Roman" pitchFamily="18" charset="0"/>
              </a:rPr>
              <a:t>Memory Mapped I/O</a:t>
            </a:r>
          </a:p>
          <a:p>
            <a:pPr lvl="1" algn="just">
              <a:lnSpc>
                <a:spcPct val="100000"/>
              </a:lnSpc>
            </a:pPr>
            <a:r>
              <a:rPr lang="en-US" sz="2000" b="1" dirty="0" smtClean="0">
                <a:latin typeface="Times New Roman" pitchFamily="18" charset="0"/>
                <a:cs typeface="Times New Roman" pitchFamily="18" charset="0"/>
              </a:rPr>
              <a:t>Direct Memory Access (DMA</a:t>
            </a:r>
            <a:r>
              <a:rPr lang="en-US" sz="1600" dirty="0" smtClean="0">
                <a:latin typeface="Times New Roman" pitchFamily="18" charset="0"/>
                <a:cs typeface="Times New Roman" pitchFamily="18" charset="0"/>
              </a:rPr>
              <a:t>)</a:t>
            </a:r>
          </a:p>
          <a:p>
            <a:pPr algn="just">
              <a:lnSpc>
                <a:spcPct val="100000"/>
              </a:lnSpc>
              <a:buNone/>
            </a:pPr>
            <a:r>
              <a:rPr lang="en-US" sz="2000" b="1" dirty="0" smtClean="0">
                <a:latin typeface="Times New Roman" pitchFamily="18" charset="0"/>
                <a:cs typeface="Times New Roman" pitchFamily="18" charset="0"/>
              </a:rPr>
              <a:t>Memory Mapped I/O</a:t>
            </a:r>
          </a:p>
          <a:p>
            <a:pPr algn="just">
              <a:lnSpc>
                <a:spcPct val="100000"/>
              </a:lnSpc>
            </a:pPr>
            <a:r>
              <a:rPr lang="en-US" sz="2000" dirty="0" smtClean="0">
                <a:latin typeface="Times New Roman" pitchFamily="18" charset="0"/>
                <a:cs typeface="Times New Roman" pitchFamily="18" charset="0"/>
              </a:rPr>
              <a:t>Each controller consists of registers that is used for communicating with the CPU.</a:t>
            </a:r>
          </a:p>
          <a:p>
            <a:pPr algn="just">
              <a:lnSpc>
                <a:spcPct val="100000"/>
              </a:lnSpc>
            </a:pPr>
            <a:r>
              <a:rPr lang="en-US" sz="2000" dirty="0" smtClean="0">
                <a:latin typeface="Times New Roman" pitchFamily="18" charset="0"/>
                <a:cs typeface="Times New Roman" pitchFamily="18" charset="0"/>
              </a:rPr>
              <a:t>These registers can be the source on which their status can be used by OS to perform action with the device</a:t>
            </a:r>
          </a:p>
          <a:p>
            <a:pPr algn="just">
              <a:lnSpc>
                <a:spcPct val="100000"/>
              </a:lnSpc>
            </a:pPr>
            <a:r>
              <a:rPr lang="en-US" sz="2000" dirty="0" smtClean="0">
                <a:latin typeface="Times New Roman" pitchFamily="18" charset="0"/>
                <a:cs typeface="Times New Roman" pitchFamily="18" charset="0"/>
              </a:rPr>
              <a:t> memory mapped I/O is one of approach by which CPU communicate with registers.</a:t>
            </a:r>
          </a:p>
          <a:p>
            <a:pPr algn="just">
              <a:lnSpc>
                <a:spcPct val="100000"/>
              </a:lnSpc>
            </a:pPr>
            <a:r>
              <a:rPr lang="en-US" sz="2000" dirty="0" smtClean="0">
                <a:latin typeface="Times New Roman" pitchFamily="18" charset="0"/>
                <a:cs typeface="Times New Roman" pitchFamily="18" charset="0"/>
              </a:rPr>
              <a:t>It uses the same address space to address both memory and I/O devices</a:t>
            </a:r>
          </a:p>
          <a:p>
            <a:pPr algn="just">
              <a:lnSpc>
                <a:spcPct val="100000"/>
              </a:lnSpc>
            </a:pPr>
            <a:r>
              <a:rPr lang="en-US" sz="2000" dirty="0" smtClean="0">
                <a:latin typeface="Times New Roman" pitchFamily="18" charset="0"/>
                <a:cs typeface="Times New Roman" pitchFamily="18" charset="0"/>
              </a:rPr>
              <a:t>Only one set read and write instruction lines.</a:t>
            </a:r>
          </a:p>
          <a:p>
            <a:pPr algn="just">
              <a:lnSpc>
                <a:spcPct val="100000"/>
              </a:lnSpc>
            </a:pPr>
            <a:r>
              <a:rPr lang="en-US" sz="2000" dirty="0" smtClean="0">
                <a:latin typeface="Times New Roman" pitchFamily="18" charset="0"/>
                <a:cs typeface="Times New Roman" pitchFamily="18" charset="0"/>
              </a:rPr>
              <a:t>The instruction used to manipulate memory can be used for I/O.</a:t>
            </a:r>
            <a:endParaRPr lang="en-US" sz="2000"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62</a:t>
            </a:fld>
            <a:endParaRPr lang="en-US"/>
          </a:p>
        </p:txBody>
      </p:sp>
    </p:spTree>
    <p:extLst>
      <p:ext uri="{BB962C8B-B14F-4D97-AF65-F5344CB8AC3E}">
        <p14:creationId xmlns:p14="http://schemas.microsoft.com/office/powerpoint/2010/main" val="3724501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338"/>
          </a:xfrm>
        </p:spPr>
        <p:txBody>
          <a:bodyPr>
            <a:normAutofit fontScale="90000"/>
          </a:bodyPr>
          <a:lstStyle/>
          <a:p>
            <a:pPr algn="ctr"/>
            <a:r>
              <a:rPr lang="en-US" b="1" dirty="0" smtClean="0">
                <a:latin typeface="Times New Roman" pitchFamily="18" charset="0"/>
                <a:cs typeface="Times New Roman" pitchFamily="18" charset="0"/>
              </a:rPr>
              <a:t>Direct Memory Access(DMA)</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045029"/>
            <a:ext cx="10515600" cy="5131934"/>
          </a:xfrm>
        </p:spPr>
        <p:txBody>
          <a:bodyPr>
            <a:normAutofit/>
          </a:bodyPr>
          <a:lstStyle/>
          <a:p>
            <a:pPr algn="just"/>
            <a:r>
              <a:rPr lang="en-US" sz="2000" dirty="0" smtClean="0">
                <a:latin typeface="Times New Roman" pitchFamily="18" charset="0"/>
                <a:cs typeface="Times New Roman" pitchFamily="18" charset="0"/>
              </a:rPr>
              <a:t>It is designed by Intel to transfer data at fastest rate.</a:t>
            </a:r>
          </a:p>
          <a:p>
            <a:pPr algn="just"/>
            <a:r>
              <a:rPr lang="en-US" sz="2000" dirty="0" smtClean="0">
                <a:latin typeface="Times New Roman" pitchFamily="18" charset="0"/>
                <a:cs typeface="Times New Roman" pitchFamily="18" charset="0"/>
              </a:rPr>
              <a:t>It allows the device to transfer data directly to/from memory without CPU involvement.</a:t>
            </a:r>
          </a:p>
          <a:p>
            <a:pPr algn="just"/>
            <a:r>
              <a:rPr lang="en-US" sz="2000" dirty="0" smtClean="0">
                <a:latin typeface="Times New Roman" pitchFamily="18" charset="0"/>
                <a:cs typeface="Times New Roman" pitchFamily="18" charset="0"/>
              </a:rPr>
              <a:t>DMA is a method that allow an I/O device to send or receive data directly to or from main memory bypassing the CPU to speed up memory operation.</a:t>
            </a:r>
          </a:p>
          <a:p>
            <a:pPr algn="just"/>
            <a:r>
              <a:rPr lang="en-US" sz="2000" dirty="0" smtClean="0">
                <a:latin typeface="Times New Roman" pitchFamily="18" charset="0"/>
                <a:cs typeface="Times New Roman" pitchFamily="18" charset="0"/>
              </a:rPr>
              <a:t>The process is managed by chip is known as DMA controller.</a:t>
            </a:r>
            <a:endParaRPr lang="en-US" sz="2000" dirty="0">
              <a:latin typeface="Times New Roman" pitchFamily="18" charset="0"/>
              <a:cs typeface="Times New Roman" pitchFamily="18" charset="0"/>
            </a:endParaRPr>
          </a:p>
        </p:txBody>
      </p:sp>
      <p:pic>
        <p:nvPicPr>
          <p:cNvPr id="4" name="Picture 3" descr="dma.png"/>
          <p:cNvPicPr>
            <a:picLocks noChangeAspect="1"/>
          </p:cNvPicPr>
          <p:nvPr/>
        </p:nvPicPr>
        <p:blipFill>
          <a:blip r:embed="rId2"/>
          <a:stretch>
            <a:fillRect/>
          </a:stretch>
        </p:blipFill>
        <p:spPr>
          <a:xfrm>
            <a:off x="1058092" y="2993334"/>
            <a:ext cx="8686800" cy="3211523"/>
          </a:xfrm>
          <a:prstGeom prst="rect">
            <a:avLst/>
          </a:prstGeom>
        </p:spPr>
      </p:pic>
      <p:sp>
        <p:nvSpPr>
          <p:cNvPr id="5" name="Footer Placeholder 4"/>
          <p:cNvSpPr>
            <a:spLocks noGrp="1"/>
          </p:cNvSpPr>
          <p:nvPr>
            <p:ph type="ftr" sz="quarter" idx="11"/>
          </p:nvPr>
        </p:nvSpPr>
        <p:spPr/>
        <p:txBody>
          <a:bodyPr/>
          <a:lstStyle/>
          <a:p>
            <a:r>
              <a:rPr lang="en-US" smtClean="0"/>
              <a:t>Bhupendra Ram Luhar</a:t>
            </a:r>
            <a:endParaRPr lang="en-US"/>
          </a:p>
        </p:txBody>
      </p:sp>
      <p:sp>
        <p:nvSpPr>
          <p:cNvPr id="6" name="Slide Number Placeholder 5"/>
          <p:cNvSpPr>
            <a:spLocks noGrp="1"/>
          </p:cNvSpPr>
          <p:nvPr>
            <p:ph type="sldNum" sz="quarter" idx="12"/>
          </p:nvPr>
        </p:nvSpPr>
        <p:spPr/>
        <p:txBody>
          <a:bodyPr/>
          <a:lstStyle/>
          <a:p>
            <a:fld id="{7B79A216-6713-4607-98FC-E026344EDDE7}" type="slidenum">
              <a:rPr lang="en-US" smtClean="0"/>
              <a:t>63</a:t>
            </a:fld>
            <a:endParaRPr lang="en-US"/>
          </a:p>
        </p:txBody>
      </p:sp>
    </p:spTree>
    <p:extLst>
      <p:ext uri="{BB962C8B-B14F-4D97-AF65-F5344CB8AC3E}">
        <p14:creationId xmlns:p14="http://schemas.microsoft.com/office/powerpoint/2010/main" val="2630629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1074"/>
            <a:ext cx="10515600" cy="5745889"/>
          </a:xfrm>
        </p:spPr>
        <p:txBody>
          <a:bodyPr>
            <a:normAutofit lnSpcReduction="10000"/>
          </a:bodyPr>
          <a:lstStyle/>
          <a:p>
            <a:pPr algn="just">
              <a:lnSpc>
                <a:spcPct val="150000"/>
              </a:lnSpc>
            </a:pPr>
            <a:r>
              <a:rPr lang="en-US" sz="2000" dirty="0" smtClean="0">
                <a:latin typeface="Times New Roman" pitchFamily="18" charset="0"/>
                <a:cs typeface="Times New Roman" pitchFamily="18" charset="0"/>
              </a:rPr>
              <a:t>CPU gives DMA controller what to transfer where.</a:t>
            </a:r>
          </a:p>
          <a:p>
            <a:pPr algn="just">
              <a:lnSpc>
                <a:spcPct val="150000"/>
              </a:lnSpc>
            </a:pPr>
            <a:r>
              <a:rPr lang="en-US" sz="2000" dirty="0" smtClean="0">
                <a:latin typeface="Times New Roman" pitchFamily="18" charset="0"/>
                <a:cs typeface="Times New Roman" pitchFamily="18" charset="0"/>
              </a:rPr>
              <a:t>CPU issues disk controller to read data from disk into its internal buffer and verify the checksum.</a:t>
            </a:r>
          </a:p>
          <a:p>
            <a:pPr algn="just">
              <a:lnSpc>
                <a:spcPct val="150000"/>
              </a:lnSpc>
            </a:pPr>
            <a:r>
              <a:rPr lang="en-US" sz="2000" dirty="0" smtClean="0">
                <a:latin typeface="Times New Roman" pitchFamily="18" charset="0"/>
                <a:cs typeface="Times New Roman" pitchFamily="18" charset="0"/>
              </a:rPr>
              <a:t>When valid data are in buffer, DMA begins.</a:t>
            </a:r>
          </a:p>
          <a:p>
            <a:pPr algn="just">
              <a:lnSpc>
                <a:spcPct val="150000"/>
              </a:lnSpc>
            </a:pPr>
            <a:r>
              <a:rPr lang="en-US" sz="2000" dirty="0" smtClean="0">
                <a:latin typeface="Times New Roman" pitchFamily="18" charset="0"/>
                <a:cs typeface="Times New Roman" pitchFamily="18" charset="0"/>
              </a:rPr>
              <a:t>DMA controller initiates transfer by issuing read request over to the bus to disk controller, the disk controller fetches the next word from its internal buffer.</a:t>
            </a:r>
          </a:p>
          <a:p>
            <a:pPr algn="just">
              <a:lnSpc>
                <a:spcPct val="150000"/>
              </a:lnSpc>
            </a:pPr>
            <a:r>
              <a:rPr lang="en-US" sz="2000" dirty="0" smtClean="0">
                <a:latin typeface="Times New Roman" pitchFamily="18" charset="0"/>
                <a:cs typeface="Times New Roman" pitchFamily="18" charset="0"/>
              </a:rPr>
              <a:t>As the controller knows where to write in memory, the fetched word is written to memory.</a:t>
            </a:r>
          </a:p>
          <a:p>
            <a:pPr algn="just">
              <a:lnSpc>
                <a:spcPct val="150000"/>
              </a:lnSpc>
            </a:pPr>
            <a:r>
              <a:rPr lang="en-US" sz="2000" dirty="0" smtClean="0">
                <a:latin typeface="Times New Roman" pitchFamily="18" charset="0"/>
                <a:cs typeface="Times New Roman" pitchFamily="18" charset="0"/>
              </a:rPr>
              <a:t>When write is complete, the disk controller sends acknowledgement to DMA controller over the bus.</a:t>
            </a:r>
          </a:p>
          <a:p>
            <a:pPr algn="just">
              <a:lnSpc>
                <a:spcPct val="150000"/>
              </a:lnSpc>
            </a:pPr>
            <a:r>
              <a:rPr lang="en-US" sz="2000" dirty="0" smtClean="0">
                <a:latin typeface="Times New Roman" pitchFamily="18" charset="0"/>
                <a:cs typeface="Times New Roman" pitchFamily="18" charset="0"/>
              </a:rPr>
              <a:t>DMA controller increments memory address to use and decrements byte count. The process is repeated until the byte count reaches 0.</a:t>
            </a:r>
          </a:p>
          <a:p>
            <a:pPr algn="just">
              <a:lnSpc>
                <a:spcPct val="150000"/>
              </a:lnSpc>
            </a:pPr>
            <a:r>
              <a:rPr lang="en-US" sz="2000" dirty="0" smtClean="0">
                <a:latin typeface="Times New Roman" pitchFamily="18" charset="0"/>
                <a:cs typeface="Times New Roman" pitchFamily="18" charset="0"/>
              </a:rPr>
              <a:t>DMA controller interrupts CPU to tell the transfer is complete.</a:t>
            </a:r>
            <a:endParaRPr lang="en-US" sz="2000" dirty="0">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64</a:t>
            </a:fld>
            <a:endParaRPr lang="en-US"/>
          </a:p>
        </p:txBody>
      </p:sp>
    </p:spTree>
    <p:extLst>
      <p:ext uri="{BB962C8B-B14F-4D97-AF65-F5344CB8AC3E}">
        <p14:creationId xmlns:p14="http://schemas.microsoft.com/office/powerpoint/2010/main" val="6940192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49274"/>
          </a:xfrm>
        </p:spPr>
        <p:txBody>
          <a:bodyPr>
            <a:normAutofit fontScale="90000"/>
          </a:bodyPr>
          <a:lstStyle/>
          <a:p>
            <a:pPr algn="ctr"/>
            <a:r>
              <a:rPr lang="en-US" b="1" dirty="0" smtClean="0"/>
              <a:t>Principle of I/O software</a:t>
            </a:r>
            <a:endParaRPr lang="en-US" b="1" dirty="0"/>
          </a:p>
        </p:txBody>
      </p:sp>
      <p:sp>
        <p:nvSpPr>
          <p:cNvPr id="3" name="Content Placeholder 2"/>
          <p:cNvSpPr>
            <a:spLocks noGrp="1"/>
          </p:cNvSpPr>
          <p:nvPr>
            <p:ph idx="1"/>
          </p:nvPr>
        </p:nvSpPr>
        <p:spPr>
          <a:xfrm>
            <a:off x="838200" y="1149531"/>
            <a:ext cx="10515600" cy="5027432"/>
          </a:xfrm>
        </p:spPr>
        <p:txBody>
          <a:bodyPr>
            <a:normAutofit fontScale="92500" lnSpcReduction="10000"/>
          </a:bodyPr>
          <a:lstStyle/>
          <a:p>
            <a:pPr>
              <a:lnSpc>
                <a:spcPct val="120000"/>
              </a:lnSpc>
            </a:pPr>
            <a:r>
              <a:rPr lang="en-US" sz="2400" dirty="0" smtClean="0">
                <a:latin typeface="Times New Roman" pitchFamily="18" charset="0"/>
                <a:cs typeface="Times New Roman" pitchFamily="18" charset="0"/>
              </a:rPr>
              <a:t>Goals of I/O Software</a:t>
            </a:r>
          </a:p>
          <a:p>
            <a:pPr>
              <a:lnSpc>
                <a:spcPct val="120000"/>
              </a:lnSpc>
              <a:buNone/>
            </a:pPr>
            <a:r>
              <a:rPr lang="en-US" sz="2400" b="1" dirty="0" smtClean="0">
                <a:latin typeface="Times New Roman" pitchFamily="18" charset="0"/>
                <a:cs typeface="Times New Roman" pitchFamily="18" charset="0"/>
              </a:rPr>
              <a:t>Device independence: </a:t>
            </a:r>
          </a:p>
          <a:p>
            <a:pPr>
              <a:lnSpc>
                <a:spcPct val="120000"/>
              </a:lnSpc>
            </a:pPr>
            <a:r>
              <a:rPr lang="en-US" sz="2400" dirty="0" smtClean="0">
                <a:latin typeface="Times New Roman" pitchFamily="18" charset="0"/>
                <a:cs typeface="Times New Roman" pitchFamily="18" charset="0"/>
              </a:rPr>
              <a:t>same program must work for different devices</a:t>
            </a:r>
          </a:p>
          <a:p>
            <a:pPr>
              <a:lnSpc>
                <a:spcPct val="120000"/>
              </a:lnSpc>
              <a:buNone/>
            </a:pPr>
            <a:r>
              <a:rPr lang="en-US" sz="2400" b="1" dirty="0" smtClean="0">
                <a:latin typeface="Times New Roman" pitchFamily="18" charset="0"/>
                <a:cs typeface="Times New Roman" pitchFamily="18" charset="0"/>
              </a:rPr>
              <a:t>Uniform Naming</a:t>
            </a:r>
          </a:p>
          <a:p>
            <a:pPr>
              <a:lnSpc>
                <a:spcPct val="120000"/>
              </a:lnSpc>
            </a:pPr>
            <a:r>
              <a:rPr lang="en-US" sz="2400" dirty="0" smtClean="0">
                <a:latin typeface="Times New Roman" pitchFamily="18" charset="0"/>
                <a:cs typeface="Times New Roman" pitchFamily="18" charset="0"/>
              </a:rPr>
              <a:t>Name of files or directories should not depends on device.</a:t>
            </a:r>
          </a:p>
          <a:p>
            <a:pPr>
              <a:lnSpc>
                <a:spcPct val="120000"/>
              </a:lnSpc>
              <a:buNone/>
            </a:pPr>
            <a:r>
              <a:rPr lang="en-US" sz="2400" b="1" dirty="0" smtClean="0">
                <a:latin typeface="Times New Roman" pitchFamily="18" charset="0"/>
                <a:cs typeface="Times New Roman" pitchFamily="18" charset="0"/>
              </a:rPr>
              <a:t>Error handling: </a:t>
            </a:r>
          </a:p>
          <a:p>
            <a:pPr>
              <a:lnSpc>
                <a:spcPct val="120000"/>
              </a:lnSpc>
            </a:pPr>
            <a:r>
              <a:rPr lang="en-US" sz="2400" dirty="0" smtClean="0">
                <a:latin typeface="Times New Roman" pitchFamily="18" charset="0"/>
                <a:cs typeface="Times New Roman" pitchFamily="18" charset="0"/>
              </a:rPr>
              <a:t>errors should be handled as close to device as possible.</a:t>
            </a:r>
          </a:p>
          <a:p>
            <a:pPr>
              <a:lnSpc>
                <a:spcPct val="120000"/>
              </a:lnSpc>
              <a:buNone/>
            </a:pPr>
            <a:r>
              <a:rPr lang="en-US" sz="2400" b="1" dirty="0" smtClean="0">
                <a:latin typeface="Times New Roman" pitchFamily="18" charset="0"/>
                <a:cs typeface="Times New Roman" pitchFamily="18" charset="0"/>
              </a:rPr>
              <a:t>Transfer type: </a:t>
            </a:r>
          </a:p>
          <a:p>
            <a:pPr>
              <a:lnSpc>
                <a:spcPct val="120000"/>
              </a:lnSpc>
            </a:pPr>
            <a:r>
              <a:rPr lang="en-US" sz="2400" dirty="0" smtClean="0">
                <a:latin typeface="Times New Roman" pitchFamily="18" charset="0"/>
                <a:cs typeface="Times New Roman" pitchFamily="18" charset="0"/>
              </a:rPr>
              <a:t>synchronous (blocking) or asynchronous (interrupt driven)</a:t>
            </a:r>
          </a:p>
          <a:p>
            <a:pPr>
              <a:lnSpc>
                <a:spcPct val="120000"/>
              </a:lnSpc>
              <a:buNone/>
            </a:pPr>
            <a:r>
              <a:rPr lang="en-US" sz="2400" b="1" dirty="0" smtClean="0">
                <a:latin typeface="Times New Roman" pitchFamily="18" charset="0"/>
                <a:cs typeface="Times New Roman" pitchFamily="18" charset="0"/>
              </a:rPr>
              <a:t> Sharable vs. dedicated device</a:t>
            </a:r>
            <a:endParaRPr lang="en-US" sz="2400" b="1"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65</a:t>
            </a:fld>
            <a:endParaRPr lang="en-US"/>
          </a:p>
        </p:txBody>
      </p:sp>
    </p:spTree>
    <p:extLst>
      <p:ext uri="{BB962C8B-B14F-4D97-AF65-F5344CB8AC3E}">
        <p14:creationId xmlns:p14="http://schemas.microsoft.com/office/powerpoint/2010/main" val="14023107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029"/>
          </a:xfrm>
        </p:spPr>
        <p:txBody>
          <a:bodyPr/>
          <a:lstStyle/>
          <a:p>
            <a:pPr algn="ctr"/>
            <a:r>
              <a:rPr lang="en-US" b="1" dirty="0" smtClean="0"/>
              <a:t>Handling I/O</a:t>
            </a:r>
            <a:endParaRPr lang="en-US" b="1" dirty="0"/>
          </a:p>
        </p:txBody>
      </p:sp>
      <p:sp>
        <p:nvSpPr>
          <p:cNvPr id="3" name="Content Placeholder 2"/>
          <p:cNvSpPr>
            <a:spLocks noGrp="1"/>
          </p:cNvSpPr>
          <p:nvPr>
            <p:ph idx="1"/>
          </p:nvPr>
        </p:nvSpPr>
        <p:spPr>
          <a:xfrm>
            <a:off x="838200" y="992777"/>
            <a:ext cx="10515600" cy="5184186"/>
          </a:xfrm>
        </p:spPr>
        <p:txBody>
          <a:bodyPr>
            <a:normAutofit fontScale="70000" lnSpcReduction="20000"/>
          </a:bodyPr>
          <a:lstStyle/>
          <a:p>
            <a:pPr algn="just">
              <a:lnSpc>
                <a:spcPct val="170000"/>
              </a:lnSpc>
              <a:buNone/>
            </a:pPr>
            <a:r>
              <a:rPr lang="en-US" sz="3400" b="1" dirty="0" smtClean="0">
                <a:latin typeface="Times New Roman" pitchFamily="18" charset="0"/>
                <a:cs typeface="Times New Roman" pitchFamily="18" charset="0"/>
              </a:rPr>
              <a:t>Programmed I/O</a:t>
            </a:r>
          </a:p>
          <a:p>
            <a:pPr algn="just">
              <a:lnSpc>
                <a:spcPct val="170000"/>
              </a:lnSpc>
            </a:pPr>
            <a:r>
              <a:rPr lang="en-US" dirty="0" smtClean="0">
                <a:latin typeface="Times New Roman" pitchFamily="18" charset="0"/>
                <a:cs typeface="Times New Roman" pitchFamily="18" charset="0"/>
              </a:rPr>
              <a:t>The programmed I/O was the most simple type of I/O technique for the exchanges of data or any types of communication between the processor and the external devices.</a:t>
            </a:r>
          </a:p>
          <a:p>
            <a:pPr algn="just">
              <a:lnSpc>
                <a:spcPct val="170000"/>
              </a:lnSpc>
            </a:pPr>
            <a:r>
              <a:rPr lang="en-US" dirty="0" smtClean="0">
                <a:latin typeface="Times New Roman" pitchFamily="18" charset="0"/>
                <a:cs typeface="Times New Roman" pitchFamily="18" charset="0"/>
              </a:rPr>
              <a:t>The overall operation of the programmed I/O can be summaries as follow:</a:t>
            </a:r>
          </a:p>
          <a:p>
            <a:pPr lvl="1" algn="just">
              <a:lnSpc>
                <a:spcPct val="170000"/>
              </a:lnSpc>
            </a:pPr>
            <a:r>
              <a:rPr lang="en-US" sz="2600" i="1" dirty="0" smtClean="0">
                <a:latin typeface="Times New Roman" pitchFamily="18" charset="0"/>
                <a:cs typeface="Times New Roman" pitchFamily="18" charset="0"/>
              </a:rPr>
              <a:t>The processor is executing a program and encounters an instruction relating to I/O operation.</a:t>
            </a:r>
            <a:endParaRPr lang="en-US" sz="2600" dirty="0" smtClean="0">
              <a:latin typeface="Times New Roman" pitchFamily="18" charset="0"/>
              <a:cs typeface="Times New Roman" pitchFamily="18" charset="0"/>
            </a:endParaRPr>
          </a:p>
          <a:p>
            <a:pPr lvl="1" algn="just">
              <a:lnSpc>
                <a:spcPct val="170000"/>
              </a:lnSpc>
            </a:pPr>
            <a:r>
              <a:rPr lang="en-US" sz="2600" i="1" dirty="0" smtClean="0">
                <a:latin typeface="Times New Roman" pitchFamily="18" charset="0"/>
                <a:cs typeface="Times New Roman" pitchFamily="18" charset="0"/>
              </a:rPr>
              <a:t>The processor then executes that instruction by issuing a command to the appropriate I/O module.</a:t>
            </a:r>
            <a:endParaRPr lang="en-US" sz="2600" dirty="0" smtClean="0">
              <a:latin typeface="Times New Roman" pitchFamily="18" charset="0"/>
              <a:cs typeface="Times New Roman" pitchFamily="18" charset="0"/>
            </a:endParaRPr>
          </a:p>
          <a:p>
            <a:pPr lvl="1" algn="just">
              <a:lnSpc>
                <a:spcPct val="170000"/>
              </a:lnSpc>
            </a:pPr>
            <a:r>
              <a:rPr lang="en-US" sz="2600" i="1" dirty="0" smtClean="0">
                <a:latin typeface="Times New Roman" pitchFamily="18" charset="0"/>
                <a:cs typeface="Times New Roman" pitchFamily="18" charset="0"/>
              </a:rPr>
              <a:t>The I/O module will perform the requested action based on the I/O command issued by the processor (READ/WRITE) and set the appropriate bits in the I/O status register.</a:t>
            </a:r>
            <a:endParaRPr lang="en-US" sz="2600" dirty="0" smtClean="0">
              <a:latin typeface="Times New Roman" pitchFamily="18" charset="0"/>
              <a:cs typeface="Times New Roman" pitchFamily="18" charset="0"/>
            </a:endParaRPr>
          </a:p>
          <a:p>
            <a:pPr lvl="1">
              <a:lnSpc>
                <a:spcPct val="170000"/>
              </a:lnSpc>
            </a:pPr>
            <a:r>
              <a:rPr lang="en-US" i="1" dirty="0" smtClean="0">
                <a:latin typeface="Times New Roman" pitchFamily="18" charset="0"/>
                <a:cs typeface="Times New Roman" pitchFamily="18" charset="0"/>
              </a:rPr>
              <a:t>The processor will periodically check the status of the I/O module until it find that the operation is complete.</a:t>
            </a:r>
            <a:endParaRPr lang="en-US" dirty="0" smtClean="0">
              <a:latin typeface="Times New Roman" pitchFamily="18" charset="0"/>
              <a:cs typeface="Times New Roman" pitchFamily="18" charset="0"/>
            </a:endParaRPr>
          </a:p>
          <a:p>
            <a:pPr algn="just">
              <a:lnSpc>
                <a:spcPct val="170000"/>
              </a:lnSpc>
            </a:pPr>
            <a:endParaRPr lang="en-US"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66</a:t>
            </a:fld>
            <a:endParaRPr lang="en-US"/>
          </a:p>
        </p:txBody>
      </p:sp>
    </p:spTree>
    <p:extLst>
      <p:ext uri="{BB962C8B-B14F-4D97-AF65-F5344CB8AC3E}">
        <p14:creationId xmlns:p14="http://schemas.microsoft.com/office/powerpoint/2010/main" val="20688810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rogrammedio.png"/>
          <p:cNvPicPr>
            <a:picLocks noChangeAspect="1"/>
          </p:cNvPicPr>
          <p:nvPr/>
        </p:nvPicPr>
        <p:blipFill>
          <a:blip r:embed="rId2"/>
          <a:stretch>
            <a:fillRect/>
          </a:stretch>
        </p:blipFill>
        <p:spPr>
          <a:xfrm>
            <a:off x="2272938" y="313509"/>
            <a:ext cx="3618412" cy="5812972"/>
          </a:xfrm>
          <a:prstGeom prst="rect">
            <a:avLst/>
          </a:prstGeom>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3" name="Slide Number Placeholder 2"/>
          <p:cNvSpPr>
            <a:spLocks noGrp="1"/>
          </p:cNvSpPr>
          <p:nvPr>
            <p:ph type="sldNum" sz="quarter" idx="12"/>
          </p:nvPr>
        </p:nvSpPr>
        <p:spPr/>
        <p:txBody>
          <a:bodyPr/>
          <a:lstStyle/>
          <a:p>
            <a:fld id="{7B79A216-6713-4607-98FC-E026344EDDE7}" type="slidenum">
              <a:rPr lang="en-US" smtClean="0"/>
              <a:t>67</a:t>
            </a:fld>
            <a:endParaRPr lang="en-US"/>
          </a:p>
        </p:txBody>
      </p:sp>
    </p:spTree>
    <p:extLst>
      <p:ext uri="{BB962C8B-B14F-4D97-AF65-F5344CB8AC3E}">
        <p14:creationId xmlns:p14="http://schemas.microsoft.com/office/powerpoint/2010/main" val="391591965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4137"/>
            <a:ext cx="10515600" cy="5732826"/>
          </a:xfrm>
        </p:spPr>
        <p:txBody>
          <a:bodyPr>
            <a:normAutofit fontScale="85000" lnSpcReduction="10000"/>
          </a:bodyPr>
          <a:lstStyle/>
          <a:p>
            <a:pPr algn="just">
              <a:lnSpc>
                <a:spcPct val="150000"/>
              </a:lnSpc>
              <a:buNone/>
            </a:pPr>
            <a:r>
              <a:rPr lang="en-US" sz="3300" b="1" u="sng" dirty="0" smtClean="0">
                <a:latin typeface="Times New Roman" pitchFamily="18" charset="0"/>
                <a:cs typeface="Times New Roman" pitchFamily="18" charset="0"/>
              </a:rPr>
              <a:t>Interrupt driven I/O</a:t>
            </a:r>
          </a:p>
          <a:p>
            <a:pPr algn="just">
              <a:lnSpc>
                <a:spcPct val="150000"/>
              </a:lnSpc>
            </a:pPr>
            <a:r>
              <a:rPr lang="en-US" dirty="0" smtClean="0">
                <a:latin typeface="Times New Roman" pitchFamily="18" charset="0"/>
                <a:cs typeface="Times New Roman" pitchFamily="18" charset="0"/>
              </a:rPr>
              <a:t>Interrupt I/O is a way of controlling input/output activity whereby a peripheral or terminal that needs to make or receive a data transfer sends a signal</a:t>
            </a:r>
          </a:p>
          <a:p>
            <a:pPr algn="just">
              <a:lnSpc>
                <a:spcPct val="150000"/>
              </a:lnSpc>
            </a:pPr>
            <a:r>
              <a:rPr lang="en-US" dirty="0" smtClean="0">
                <a:latin typeface="Times New Roman" pitchFamily="18" charset="0"/>
                <a:cs typeface="Times New Roman" pitchFamily="18" charset="0"/>
              </a:rPr>
              <a:t>The CPU issue a command to I/O module then proceeds with its normal work until interrupted by I/O  device on completion of its work.</a:t>
            </a:r>
          </a:p>
          <a:p>
            <a:pPr algn="just">
              <a:lnSpc>
                <a:spcPct val="150000"/>
              </a:lnSpc>
            </a:pPr>
            <a:r>
              <a:rPr lang="en-US" dirty="0" smtClean="0">
                <a:latin typeface="Times New Roman" pitchFamily="18" charset="0"/>
                <a:cs typeface="Times New Roman" pitchFamily="18" charset="0"/>
              </a:rPr>
              <a:t>Processor is free to do other work.</a:t>
            </a:r>
          </a:p>
          <a:p>
            <a:pPr algn="just">
              <a:lnSpc>
                <a:spcPct val="150000"/>
              </a:lnSpc>
            </a:pPr>
            <a:r>
              <a:rPr lang="en-US" dirty="0" smtClean="0">
                <a:latin typeface="Times New Roman" pitchFamily="18" charset="0"/>
                <a:cs typeface="Times New Roman" pitchFamily="18" charset="0"/>
              </a:rPr>
              <a:t>No needless waiting</a:t>
            </a:r>
          </a:p>
          <a:p>
            <a:pPr algn="just">
              <a:lnSpc>
                <a:spcPct val="150000"/>
              </a:lnSpc>
            </a:pPr>
            <a:r>
              <a:rPr lang="en-US" dirty="0" smtClean="0">
                <a:latin typeface="Times New Roman" pitchFamily="18" charset="0"/>
                <a:cs typeface="Times New Roman" pitchFamily="18" charset="0"/>
              </a:rPr>
              <a:t>Consumes a lot of processor time because every word read or write through the processor</a:t>
            </a:r>
            <a:endParaRPr lang="en-US" dirty="0">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68</a:t>
            </a:fld>
            <a:endParaRPr lang="en-US"/>
          </a:p>
        </p:txBody>
      </p:sp>
    </p:spTree>
    <p:extLst>
      <p:ext uri="{BB962C8B-B14F-4D97-AF65-F5344CB8AC3E}">
        <p14:creationId xmlns:p14="http://schemas.microsoft.com/office/powerpoint/2010/main" val="28604984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icture"/>
          <p:cNvPicPr>
            <a:picLocks noChangeAspect="1" noChangeArrowheads="1"/>
          </p:cNvPicPr>
          <p:nvPr/>
        </p:nvPicPr>
        <p:blipFill>
          <a:blip r:embed="rId2"/>
          <a:srcRect/>
          <a:stretch>
            <a:fillRect/>
          </a:stretch>
        </p:blipFill>
        <p:spPr bwMode="auto">
          <a:xfrm>
            <a:off x="2717074" y="470263"/>
            <a:ext cx="3631475" cy="5434147"/>
          </a:xfrm>
          <a:prstGeom prst="rect">
            <a:avLst/>
          </a:prstGeom>
          <a:noFill/>
        </p:spPr>
      </p:pic>
      <p:sp>
        <p:nvSpPr>
          <p:cNvPr id="2" name="Footer Placeholder 1"/>
          <p:cNvSpPr>
            <a:spLocks noGrp="1"/>
          </p:cNvSpPr>
          <p:nvPr>
            <p:ph type="ftr" sz="quarter" idx="11"/>
          </p:nvPr>
        </p:nvSpPr>
        <p:spPr/>
        <p:txBody>
          <a:bodyPr/>
          <a:lstStyle/>
          <a:p>
            <a:r>
              <a:rPr lang="en-US" smtClean="0"/>
              <a:t>Bhupendra Ram Luhar</a:t>
            </a:r>
            <a:endParaRPr lang="en-US"/>
          </a:p>
        </p:txBody>
      </p:sp>
      <p:sp>
        <p:nvSpPr>
          <p:cNvPr id="3" name="Slide Number Placeholder 2"/>
          <p:cNvSpPr>
            <a:spLocks noGrp="1"/>
          </p:cNvSpPr>
          <p:nvPr>
            <p:ph type="sldNum" sz="quarter" idx="12"/>
          </p:nvPr>
        </p:nvSpPr>
        <p:spPr/>
        <p:txBody>
          <a:bodyPr/>
          <a:lstStyle/>
          <a:p>
            <a:fld id="{7B79A216-6713-4607-98FC-E026344EDDE7}" type="slidenum">
              <a:rPr lang="en-US" smtClean="0"/>
              <a:t>69</a:t>
            </a:fld>
            <a:endParaRPr lang="en-US"/>
          </a:p>
        </p:txBody>
      </p:sp>
    </p:spTree>
    <p:extLst>
      <p:ext uri="{BB962C8B-B14F-4D97-AF65-F5344CB8AC3E}">
        <p14:creationId xmlns:p14="http://schemas.microsoft.com/office/powerpoint/2010/main" val="11974330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2514"/>
            <a:ext cx="10515600" cy="5654449"/>
          </a:xfrm>
        </p:spPr>
        <p:txBody>
          <a:bodyPr>
            <a:normAutofit fontScale="85000" lnSpcReduction="20000"/>
          </a:bodyPr>
          <a:lstStyle/>
          <a:p>
            <a:pPr algn="just">
              <a:lnSpc>
                <a:spcPct val="150000"/>
              </a:lnSpc>
              <a:buNone/>
            </a:pPr>
            <a:r>
              <a:rPr lang="en-US" sz="3300" b="1" u="sng" dirty="0" smtClean="0">
                <a:latin typeface="Times New Roman" pitchFamily="18" charset="0"/>
                <a:cs typeface="Times New Roman" pitchFamily="18" charset="0"/>
              </a:rPr>
              <a:t>I/O using DMA</a:t>
            </a:r>
          </a:p>
          <a:p>
            <a:pPr algn="just">
              <a:lnSpc>
                <a:spcPct val="150000"/>
              </a:lnSpc>
            </a:pPr>
            <a:r>
              <a:rPr lang="en-US" dirty="0" smtClean="0">
                <a:latin typeface="Times New Roman" pitchFamily="18" charset="0"/>
                <a:cs typeface="Times New Roman" pitchFamily="18" charset="0"/>
              </a:rPr>
              <a:t> Direct Memory Access is a technique for transferring data within main memory and external device without passing it through the CPU.</a:t>
            </a:r>
          </a:p>
          <a:p>
            <a:pPr algn="just">
              <a:lnSpc>
                <a:spcPct val="150000"/>
              </a:lnSpc>
            </a:pPr>
            <a:r>
              <a:rPr lang="en-US" dirty="0" smtClean="0">
                <a:latin typeface="Times New Roman" pitchFamily="18" charset="0"/>
                <a:cs typeface="Times New Roman" pitchFamily="18" charset="0"/>
              </a:rPr>
              <a:t>Issue command to DMA module, by sending necessary information to DMA module.</a:t>
            </a:r>
          </a:p>
          <a:p>
            <a:pPr algn="just">
              <a:lnSpc>
                <a:spcPct val="150000"/>
              </a:lnSpc>
            </a:pPr>
            <a:r>
              <a:rPr lang="en-US" dirty="0" smtClean="0">
                <a:latin typeface="Times New Roman" pitchFamily="18" charset="0"/>
                <a:cs typeface="Times New Roman" pitchFamily="18" charset="0"/>
              </a:rPr>
              <a:t>Processor does other work.</a:t>
            </a:r>
          </a:p>
          <a:p>
            <a:pPr algn="just">
              <a:lnSpc>
                <a:spcPct val="150000"/>
              </a:lnSpc>
            </a:pPr>
            <a:r>
              <a:rPr lang="en-US" dirty="0" smtClean="0">
                <a:latin typeface="Times New Roman" pitchFamily="18" charset="0"/>
                <a:cs typeface="Times New Roman" pitchFamily="18" charset="0"/>
              </a:rPr>
              <a:t>DMA acquire control on the system, and transfers data to and from within memory and external device.</a:t>
            </a:r>
          </a:p>
          <a:p>
            <a:pPr algn="just">
              <a:lnSpc>
                <a:spcPct val="150000"/>
              </a:lnSpc>
            </a:pPr>
            <a:r>
              <a:rPr lang="en-US" dirty="0" smtClean="0">
                <a:latin typeface="Times New Roman" pitchFamily="18" charset="0"/>
                <a:cs typeface="Times New Roman" pitchFamily="18" charset="0"/>
              </a:rPr>
              <a:t>DMA sends a signal to processor when the transfer is complete, system control is return to processor.</a:t>
            </a:r>
          </a:p>
          <a:p>
            <a:pPr algn="just">
              <a:lnSpc>
                <a:spcPct val="150000"/>
              </a:lnSpc>
            </a:pPr>
            <a:endParaRPr lang="en-US" b="1" dirty="0">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70</a:t>
            </a:fld>
            <a:endParaRPr lang="en-US"/>
          </a:p>
        </p:txBody>
      </p:sp>
    </p:spTree>
    <p:extLst>
      <p:ext uri="{BB962C8B-B14F-4D97-AF65-F5344CB8AC3E}">
        <p14:creationId xmlns:p14="http://schemas.microsoft.com/office/powerpoint/2010/main" val="24448982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8463"/>
          </a:xfrm>
        </p:spPr>
        <p:txBody>
          <a:bodyPr>
            <a:normAutofit fontScale="90000"/>
          </a:bodyPr>
          <a:lstStyle/>
          <a:p>
            <a:pPr algn="ctr"/>
            <a:r>
              <a:rPr lang="en-US" b="1" dirty="0" smtClean="0">
                <a:latin typeface="Times New Roman" pitchFamily="18" charset="0"/>
                <a:cs typeface="Times New Roman" pitchFamily="18" charset="0"/>
              </a:rPr>
              <a:t>I/O Software Layers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992777"/>
            <a:ext cx="10515600" cy="5184186"/>
          </a:xfrm>
        </p:spPr>
        <p:txBody>
          <a:bodyPr>
            <a:normAutofit/>
          </a:bodyPr>
          <a:lstStyle/>
          <a:p>
            <a:r>
              <a:rPr lang="en-US" sz="2400" dirty="0" smtClean="0">
                <a:latin typeface="Times New Roman" pitchFamily="18" charset="0"/>
                <a:cs typeface="Times New Roman" pitchFamily="18" charset="0"/>
              </a:rPr>
              <a:t>The goals of I/O software can be achieved by modeling I/O software in four layers.</a:t>
            </a:r>
          </a:p>
          <a:p>
            <a:pPr lvl="1"/>
            <a:r>
              <a:rPr lang="en-US" dirty="0" smtClean="0">
                <a:latin typeface="Times New Roman" pitchFamily="18" charset="0"/>
                <a:cs typeface="Times New Roman" pitchFamily="18" charset="0"/>
              </a:rPr>
              <a:t> Interrupt handler</a:t>
            </a:r>
          </a:p>
          <a:p>
            <a:pPr lvl="1"/>
            <a:r>
              <a:rPr lang="en-US" dirty="0" smtClean="0">
                <a:latin typeface="Times New Roman" pitchFamily="18" charset="0"/>
                <a:cs typeface="Times New Roman" pitchFamily="18" charset="0"/>
              </a:rPr>
              <a:t>Device Driver</a:t>
            </a:r>
          </a:p>
          <a:p>
            <a:pPr lvl="1"/>
            <a:r>
              <a:rPr lang="en-US" dirty="0" smtClean="0">
                <a:latin typeface="Times New Roman" pitchFamily="18" charset="0"/>
                <a:cs typeface="Times New Roman" pitchFamily="18" charset="0"/>
              </a:rPr>
              <a:t> Device independent OS software</a:t>
            </a:r>
          </a:p>
          <a:p>
            <a:pPr lvl="1"/>
            <a:r>
              <a:rPr lang="en-US" dirty="0" smtClean="0">
                <a:latin typeface="Times New Roman" pitchFamily="18" charset="0"/>
                <a:cs typeface="Times New Roman" pitchFamily="18" charset="0"/>
              </a:rPr>
              <a:t> User level I/O software</a:t>
            </a:r>
            <a:endParaRPr lang="en-US"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1345474" y="3383280"/>
            <a:ext cx="6923315" cy="2638698"/>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71</a:t>
            </a:fld>
            <a:endParaRPr lang="en-US"/>
          </a:p>
        </p:txBody>
      </p:sp>
    </p:spTree>
    <p:extLst>
      <p:ext uri="{BB962C8B-B14F-4D97-AF65-F5344CB8AC3E}">
        <p14:creationId xmlns:p14="http://schemas.microsoft.com/office/powerpoint/2010/main" val="4307395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6570"/>
            <a:ext cx="10515600" cy="6100355"/>
          </a:xfrm>
        </p:spPr>
        <p:txBody>
          <a:bodyPr>
            <a:normAutofit fontScale="62500" lnSpcReduction="20000"/>
          </a:bodyPr>
          <a:lstStyle/>
          <a:p>
            <a:pPr algn="just">
              <a:lnSpc>
                <a:spcPct val="160000"/>
              </a:lnSpc>
              <a:buNone/>
            </a:pPr>
            <a:r>
              <a:rPr lang="en-US" b="1" u="sng" dirty="0" smtClean="0">
                <a:latin typeface="Times New Roman" pitchFamily="18" charset="0"/>
                <a:cs typeface="Times New Roman" pitchFamily="18" charset="0"/>
              </a:rPr>
              <a:t>Interrupt Handler</a:t>
            </a:r>
          </a:p>
          <a:p>
            <a:pPr algn="just">
              <a:lnSpc>
                <a:spcPct val="160000"/>
              </a:lnSpc>
            </a:pPr>
            <a:r>
              <a:rPr lang="en-US" dirty="0" smtClean="0">
                <a:latin typeface="Times New Roman" pitchFamily="18" charset="0"/>
                <a:cs typeface="Times New Roman" pitchFamily="18" charset="0"/>
              </a:rPr>
              <a:t>Interrupt should hidden so that system knows about them as little as possible.</a:t>
            </a:r>
          </a:p>
          <a:p>
            <a:pPr algn="just">
              <a:lnSpc>
                <a:spcPct val="160000"/>
              </a:lnSpc>
            </a:pPr>
            <a:r>
              <a:rPr lang="en-US" dirty="0" smtClean="0">
                <a:latin typeface="Times New Roman" pitchFamily="18" charset="0"/>
                <a:cs typeface="Times New Roman" pitchFamily="18" charset="0"/>
              </a:rPr>
              <a:t>Every process starting an I/O operation blocks until the I/O has completed and the interrupt occurs.</a:t>
            </a:r>
          </a:p>
          <a:p>
            <a:pPr algn="just">
              <a:lnSpc>
                <a:spcPct val="160000"/>
              </a:lnSpc>
            </a:pPr>
            <a:r>
              <a:rPr lang="en-US" dirty="0" smtClean="0">
                <a:latin typeface="Times New Roman" pitchFamily="18" charset="0"/>
                <a:cs typeface="Times New Roman" pitchFamily="18" charset="0"/>
              </a:rPr>
              <a:t>When interrupt occurs, the handler does whatever it has to in order to unlock the process that started it.</a:t>
            </a:r>
          </a:p>
          <a:p>
            <a:pPr algn="just">
              <a:lnSpc>
                <a:spcPct val="160000"/>
              </a:lnSpc>
              <a:buNone/>
            </a:pPr>
            <a:r>
              <a:rPr lang="en-US" b="1" u="sng" dirty="0" smtClean="0">
                <a:latin typeface="Times New Roman" pitchFamily="18" charset="0"/>
                <a:cs typeface="Times New Roman" pitchFamily="18" charset="0"/>
              </a:rPr>
              <a:t>Device Drivers</a:t>
            </a:r>
          </a:p>
          <a:p>
            <a:pPr algn="just">
              <a:lnSpc>
                <a:spcPct val="160000"/>
              </a:lnSpc>
            </a:pPr>
            <a:r>
              <a:rPr lang="en-US" dirty="0" smtClean="0">
                <a:latin typeface="Times New Roman" pitchFamily="18" charset="0"/>
                <a:cs typeface="Times New Roman" pitchFamily="18" charset="0"/>
              </a:rPr>
              <a:t>Device driver consists of device dependent codes, which are installed in the kernel.</a:t>
            </a:r>
          </a:p>
          <a:p>
            <a:pPr algn="just">
              <a:lnSpc>
                <a:spcPct val="160000"/>
              </a:lnSpc>
            </a:pPr>
            <a:r>
              <a:rPr lang="en-US" dirty="0" smtClean="0">
                <a:latin typeface="Times New Roman" pitchFamily="18" charset="0"/>
                <a:cs typeface="Times New Roman" pitchFamily="18" charset="0"/>
              </a:rPr>
              <a:t>It accepts abstract request from device independent software and see that request is executed.</a:t>
            </a:r>
          </a:p>
          <a:p>
            <a:pPr algn="just">
              <a:lnSpc>
                <a:spcPct val="160000"/>
              </a:lnSpc>
            </a:pPr>
            <a:r>
              <a:rPr lang="en-US" dirty="0" smtClean="0">
                <a:latin typeface="Times New Roman" pitchFamily="18" charset="0"/>
                <a:cs typeface="Times New Roman" pitchFamily="18" charset="0"/>
              </a:rPr>
              <a:t>It must decide which controller operations are required and in what sequence.</a:t>
            </a:r>
          </a:p>
          <a:p>
            <a:pPr algn="just">
              <a:lnSpc>
                <a:spcPct val="160000"/>
              </a:lnSpc>
            </a:pPr>
            <a:r>
              <a:rPr lang="en-US" dirty="0" smtClean="0">
                <a:latin typeface="Times New Roman" pitchFamily="18" charset="0"/>
                <a:cs typeface="Times New Roman" pitchFamily="18" charset="0"/>
              </a:rPr>
              <a:t>It starts issuing commands to controller by writing into their registers.</a:t>
            </a:r>
          </a:p>
          <a:p>
            <a:pPr algn="just">
              <a:lnSpc>
                <a:spcPct val="160000"/>
              </a:lnSpc>
            </a:pPr>
            <a:r>
              <a:rPr lang="en-US" dirty="0" smtClean="0">
                <a:latin typeface="Times New Roman" pitchFamily="18" charset="0"/>
                <a:cs typeface="Times New Roman" pitchFamily="18" charset="0"/>
              </a:rPr>
              <a:t>It blocks itself until the controller performs its job and interrupt arrives.</a:t>
            </a:r>
          </a:p>
          <a:p>
            <a:pPr algn="just">
              <a:lnSpc>
                <a:spcPct val="160000"/>
              </a:lnSpc>
            </a:pPr>
            <a:r>
              <a:rPr lang="en-US" dirty="0" smtClean="0">
                <a:latin typeface="Times New Roman" pitchFamily="18" charset="0"/>
                <a:cs typeface="Times New Roman" pitchFamily="18" charset="0"/>
              </a:rPr>
              <a:t> It returns data to the caller.</a:t>
            </a:r>
            <a:endParaRPr lang="en-US" b="1" dirty="0">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72</a:t>
            </a:fld>
            <a:endParaRPr lang="en-US"/>
          </a:p>
        </p:txBody>
      </p:sp>
    </p:spTree>
    <p:extLst>
      <p:ext uri="{BB962C8B-B14F-4D97-AF65-F5344CB8AC3E}">
        <p14:creationId xmlns:p14="http://schemas.microsoft.com/office/powerpoint/2010/main" val="8342357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8823"/>
            <a:ext cx="10515600" cy="5798140"/>
          </a:xfrm>
        </p:spPr>
        <p:txBody>
          <a:bodyPr>
            <a:normAutofit fontScale="70000" lnSpcReduction="20000"/>
          </a:bodyPr>
          <a:lstStyle/>
          <a:p>
            <a:pPr>
              <a:lnSpc>
                <a:spcPct val="170000"/>
              </a:lnSpc>
              <a:buNone/>
            </a:pPr>
            <a:r>
              <a:rPr lang="en-US" b="1" u="sng" dirty="0" smtClean="0">
                <a:latin typeface="Times New Roman" pitchFamily="18" charset="0"/>
                <a:cs typeface="Times New Roman" pitchFamily="18" charset="0"/>
              </a:rPr>
              <a:t>Device Independent I/O Software</a:t>
            </a:r>
          </a:p>
          <a:p>
            <a:pPr>
              <a:lnSpc>
                <a:spcPct val="170000"/>
              </a:lnSpc>
              <a:buNone/>
            </a:pPr>
            <a:r>
              <a:rPr lang="en-US" dirty="0" smtClean="0">
                <a:latin typeface="Times New Roman" pitchFamily="18" charset="0"/>
                <a:cs typeface="Times New Roman" pitchFamily="18" charset="0"/>
              </a:rPr>
              <a:t>The functions of device independent software are: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a) Perform I/O functions common to all devices and to provide a uniform interface to user level software.</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b) It may symbolic device names onto the proper driver.</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c) It provides device independent block size by combining sectors into blocks.</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d) It performs buffering as necessity.</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e) It reports errors if driver cannot handle then.</a:t>
            </a:r>
          </a:p>
          <a:p>
            <a:pPr>
              <a:lnSpc>
                <a:spcPct val="170000"/>
              </a:lnSpc>
              <a:buNone/>
            </a:pPr>
            <a:r>
              <a:rPr lang="en-US" b="1" u="sng" dirty="0" smtClean="0">
                <a:latin typeface="Times New Roman" pitchFamily="18" charset="0"/>
                <a:cs typeface="Times New Roman" pitchFamily="18" charset="0"/>
              </a:rPr>
              <a:t>User space I/O software</a:t>
            </a:r>
          </a:p>
          <a:p>
            <a:pPr>
              <a:lnSpc>
                <a:spcPct val="170000"/>
              </a:lnSpc>
            </a:pPr>
            <a:r>
              <a:rPr lang="en-US" dirty="0" smtClean="0">
                <a:latin typeface="Times New Roman" pitchFamily="18" charset="0"/>
                <a:cs typeface="Times New Roman" pitchFamily="18" charset="0"/>
              </a:rPr>
              <a:t>A small portion of I/O software consists of libraries linked together with user programs.</a:t>
            </a:r>
          </a:p>
          <a:p>
            <a:pPr>
              <a:lnSpc>
                <a:spcPct val="170000"/>
              </a:lnSpc>
            </a:pPr>
            <a:r>
              <a:rPr lang="en-US" dirty="0" smtClean="0">
                <a:latin typeface="Times New Roman" pitchFamily="18" charset="0"/>
                <a:cs typeface="Times New Roman" pitchFamily="18" charset="0"/>
              </a:rPr>
              <a:t>Spooling system keeps track of device requests mode by users.</a:t>
            </a:r>
          </a:p>
          <a:p>
            <a:pPr>
              <a:lnSpc>
                <a:spcPct val="170000"/>
              </a:lnSpc>
            </a:pPr>
            <a:endParaRPr lang="en-US" dirty="0">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73</a:t>
            </a:fld>
            <a:endParaRPr lang="en-US"/>
          </a:p>
        </p:txBody>
      </p:sp>
    </p:spTree>
    <p:extLst>
      <p:ext uri="{BB962C8B-B14F-4D97-AF65-F5344CB8AC3E}">
        <p14:creationId xmlns:p14="http://schemas.microsoft.com/office/powerpoint/2010/main" val="16664256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82040"/>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I/O performance and optimization</a:t>
            </a:r>
          </a:p>
        </p:txBody>
      </p:sp>
      <p:sp>
        <p:nvSpPr>
          <p:cNvPr id="3" name="Content Placeholder 2"/>
          <p:cNvSpPr>
            <a:spLocks noGrp="1"/>
          </p:cNvSpPr>
          <p:nvPr>
            <p:ph idx="1"/>
          </p:nvPr>
        </p:nvSpPr>
        <p:spPr>
          <a:xfrm>
            <a:off x="838200" y="995082"/>
            <a:ext cx="10515600" cy="5553636"/>
          </a:xfrm>
        </p:spPr>
        <p:txBody>
          <a:bodyPr>
            <a:normAutofit fontScale="47500" lnSpcReduction="20000"/>
          </a:bodyPr>
          <a:lstStyle/>
          <a:p>
            <a:pPr marL="0" indent="0" algn="just">
              <a:lnSpc>
                <a:spcPct val="170000"/>
              </a:lnSpc>
              <a:buNone/>
            </a:pPr>
            <a:r>
              <a:rPr lang="en-US" sz="4200" b="1" dirty="0" smtClean="0">
                <a:latin typeface="Times New Roman" panose="02020603050405020304" pitchFamily="18" charset="0"/>
                <a:cs typeface="Times New Roman" panose="02020603050405020304" pitchFamily="18" charset="0"/>
              </a:rPr>
              <a:t>I/O Scheduling:</a:t>
            </a:r>
            <a:endParaRPr lang="en-US" sz="4200" dirty="0" smtClean="0">
              <a:latin typeface="Times New Roman" panose="02020603050405020304" pitchFamily="18" charset="0"/>
              <a:cs typeface="Times New Roman" panose="02020603050405020304" pitchFamily="18" charset="0"/>
            </a:endParaRPr>
          </a:p>
          <a:p>
            <a:pPr algn="just">
              <a:lnSpc>
                <a:spcPct val="170000"/>
              </a:lnSpc>
            </a:pPr>
            <a:r>
              <a:rPr lang="en-US" sz="4000" dirty="0">
                <a:latin typeface="Times New Roman" panose="02020603050405020304" pitchFamily="18" charset="0"/>
                <a:cs typeface="Times New Roman" panose="02020603050405020304" pitchFamily="18" charset="0"/>
              </a:rPr>
              <a:t>To schedule a set of I/O requests means to determine a good order in which </a:t>
            </a:r>
            <a:r>
              <a:rPr lang="en-US" sz="4000" dirty="0" smtClean="0">
                <a:latin typeface="Times New Roman" panose="02020603050405020304" pitchFamily="18" charset="0"/>
                <a:cs typeface="Times New Roman" panose="02020603050405020304" pitchFamily="18" charset="0"/>
              </a:rPr>
              <a:t>to execute </a:t>
            </a:r>
            <a:r>
              <a:rPr lang="en-US" sz="4000" dirty="0">
                <a:latin typeface="Times New Roman" panose="02020603050405020304" pitchFamily="18" charset="0"/>
                <a:cs typeface="Times New Roman" panose="02020603050405020304" pitchFamily="18" charset="0"/>
              </a:rPr>
              <a:t>them</a:t>
            </a:r>
            <a:r>
              <a:rPr lang="en-US" sz="4000" dirty="0" smtClean="0">
                <a:latin typeface="Times New Roman" panose="02020603050405020304" pitchFamily="18" charset="0"/>
                <a:cs typeface="Times New Roman" panose="02020603050405020304" pitchFamily="18" charset="0"/>
              </a:rPr>
              <a:t>.</a:t>
            </a:r>
          </a:p>
          <a:p>
            <a:pPr algn="just">
              <a:lnSpc>
                <a:spcPct val="170000"/>
              </a:lnSpc>
            </a:pPr>
            <a:r>
              <a:rPr lang="en-US" sz="4000" dirty="0">
                <a:latin typeface="Times New Roman" panose="02020603050405020304" pitchFamily="18" charset="0"/>
                <a:cs typeface="Times New Roman" panose="02020603050405020304" pitchFamily="18" charset="0"/>
              </a:rPr>
              <a:t>The order in which applications issue system calls rarely is </a:t>
            </a:r>
            <a:r>
              <a:rPr lang="en-US" sz="4000" dirty="0" smtClean="0">
                <a:latin typeface="Times New Roman" panose="02020603050405020304" pitchFamily="18" charset="0"/>
                <a:cs typeface="Times New Roman" panose="02020603050405020304" pitchFamily="18" charset="0"/>
              </a:rPr>
              <a:t>the best </a:t>
            </a:r>
            <a:r>
              <a:rPr lang="en-US" sz="4000" dirty="0">
                <a:latin typeface="Times New Roman" panose="02020603050405020304" pitchFamily="18" charset="0"/>
                <a:cs typeface="Times New Roman" panose="02020603050405020304" pitchFamily="18" charset="0"/>
              </a:rPr>
              <a:t>choice. </a:t>
            </a:r>
            <a:endParaRPr lang="en-US" sz="4000" dirty="0" smtClean="0">
              <a:latin typeface="Times New Roman" panose="02020603050405020304" pitchFamily="18" charset="0"/>
              <a:cs typeface="Times New Roman" panose="02020603050405020304" pitchFamily="18" charset="0"/>
            </a:endParaRPr>
          </a:p>
          <a:p>
            <a:pPr algn="just">
              <a:lnSpc>
                <a:spcPct val="170000"/>
              </a:lnSpc>
            </a:pPr>
            <a:r>
              <a:rPr lang="en-US" sz="4000" dirty="0" smtClean="0">
                <a:latin typeface="Times New Roman" panose="02020603050405020304" pitchFamily="18" charset="0"/>
                <a:cs typeface="Times New Roman" panose="02020603050405020304" pitchFamily="18" charset="0"/>
              </a:rPr>
              <a:t>Scheduling </a:t>
            </a:r>
            <a:r>
              <a:rPr lang="en-US" sz="4000" dirty="0">
                <a:latin typeface="Times New Roman" panose="02020603050405020304" pitchFamily="18" charset="0"/>
                <a:cs typeface="Times New Roman" panose="02020603050405020304" pitchFamily="18" charset="0"/>
              </a:rPr>
              <a:t>can improve overall system performance, can </a:t>
            </a:r>
            <a:r>
              <a:rPr lang="en-US" sz="4000" dirty="0" smtClean="0">
                <a:latin typeface="Times New Roman" panose="02020603050405020304" pitchFamily="18" charset="0"/>
                <a:cs typeface="Times New Roman" panose="02020603050405020304" pitchFamily="18" charset="0"/>
              </a:rPr>
              <a:t>share device </a:t>
            </a:r>
            <a:r>
              <a:rPr lang="en-US" sz="4000" dirty="0">
                <a:latin typeface="Times New Roman" panose="02020603050405020304" pitchFamily="18" charset="0"/>
                <a:cs typeface="Times New Roman" panose="02020603050405020304" pitchFamily="18" charset="0"/>
              </a:rPr>
              <a:t>access fairly among processes, and can reduce the average waiting </a:t>
            </a:r>
            <a:r>
              <a:rPr lang="en-US" sz="4000" dirty="0" smtClean="0">
                <a:latin typeface="Times New Roman" panose="02020603050405020304" pitchFamily="18" charset="0"/>
                <a:cs typeface="Times New Roman" panose="02020603050405020304" pitchFamily="18" charset="0"/>
              </a:rPr>
              <a:t>time for </a:t>
            </a:r>
            <a:r>
              <a:rPr lang="en-US" sz="4000" dirty="0">
                <a:latin typeface="Times New Roman" panose="02020603050405020304" pitchFamily="18" charset="0"/>
                <a:cs typeface="Times New Roman" panose="02020603050405020304" pitchFamily="18" charset="0"/>
              </a:rPr>
              <a:t>I/O to complete. </a:t>
            </a:r>
            <a:endParaRPr lang="en-US" sz="4000" dirty="0" smtClean="0">
              <a:latin typeface="Times New Roman" panose="02020603050405020304" pitchFamily="18" charset="0"/>
              <a:cs typeface="Times New Roman" panose="02020603050405020304" pitchFamily="18" charset="0"/>
            </a:endParaRPr>
          </a:p>
          <a:p>
            <a:pPr algn="just">
              <a:lnSpc>
                <a:spcPct val="170000"/>
              </a:lnSpc>
            </a:pPr>
            <a:r>
              <a:rPr lang="en-US" sz="4000" dirty="0" smtClean="0">
                <a:latin typeface="Times New Roman" panose="02020603050405020304" pitchFamily="18" charset="0"/>
                <a:cs typeface="Times New Roman" panose="02020603050405020304" pitchFamily="18" charset="0"/>
              </a:rPr>
              <a:t>Here </a:t>
            </a:r>
            <a:r>
              <a:rPr lang="en-US" sz="4000" dirty="0">
                <a:latin typeface="Times New Roman" panose="02020603050405020304" pitchFamily="18" charset="0"/>
                <a:cs typeface="Times New Roman" panose="02020603050405020304" pitchFamily="18" charset="0"/>
              </a:rPr>
              <a:t>is a simple example to illustrate. Suppose that a </a:t>
            </a:r>
            <a:r>
              <a:rPr lang="en-US" sz="4000" dirty="0" smtClean="0">
                <a:latin typeface="Times New Roman" panose="02020603050405020304" pitchFamily="18" charset="0"/>
                <a:cs typeface="Times New Roman" panose="02020603050405020304" pitchFamily="18" charset="0"/>
              </a:rPr>
              <a:t>disk arm </a:t>
            </a:r>
            <a:r>
              <a:rPr lang="en-US" sz="4000" dirty="0">
                <a:latin typeface="Times New Roman" panose="02020603050405020304" pitchFamily="18" charset="0"/>
                <a:cs typeface="Times New Roman" panose="02020603050405020304" pitchFamily="18" charset="0"/>
              </a:rPr>
              <a:t>is near the beginning of a disk and that three applications issue </a:t>
            </a:r>
            <a:r>
              <a:rPr lang="en-US" sz="4000" dirty="0" smtClean="0">
                <a:latin typeface="Times New Roman" panose="02020603050405020304" pitchFamily="18" charset="0"/>
                <a:cs typeface="Times New Roman" panose="02020603050405020304" pitchFamily="18" charset="0"/>
              </a:rPr>
              <a:t>blocking read </a:t>
            </a:r>
            <a:r>
              <a:rPr lang="en-US" sz="4000" dirty="0">
                <a:latin typeface="Times New Roman" panose="02020603050405020304" pitchFamily="18" charset="0"/>
                <a:cs typeface="Times New Roman" panose="02020603050405020304" pitchFamily="18" charset="0"/>
              </a:rPr>
              <a:t>calls to that disk. Application 1 requests a block near the end of the </a:t>
            </a:r>
            <a:r>
              <a:rPr lang="en-US" sz="4000" dirty="0" smtClean="0">
                <a:latin typeface="Times New Roman" panose="02020603050405020304" pitchFamily="18" charset="0"/>
                <a:cs typeface="Times New Roman" panose="02020603050405020304" pitchFamily="18" charset="0"/>
              </a:rPr>
              <a:t>disk, application </a:t>
            </a:r>
            <a:r>
              <a:rPr lang="en-US" sz="4000" dirty="0">
                <a:latin typeface="Times New Roman" panose="02020603050405020304" pitchFamily="18" charset="0"/>
                <a:cs typeface="Times New Roman" panose="02020603050405020304" pitchFamily="18" charset="0"/>
              </a:rPr>
              <a:t>2 requests one near the beginning, and application 3 requests </a:t>
            </a:r>
            <a:r>
              <a:rPr lang="en-US" sz="4000" dirty="0" smtClean="0">
                <a:latin typeface="Times New Roman" panose="02020603050405020304" pitchFamily="18" charset="0"/>
                <a:cs typeface="Times New Roman" panose="02020603050405020304" pitchFamily="18" charset="0"/>
              </a:rPr>
              <a:t>one in </a:t>
            </a:r>
            <a:r>
              <a:rPr lang="en-US" sz="4000" dirty="0">
                <a:latin typeface="Times New Roman" panose="02020603050405020304" pitchFamily="18" charset="0"/>
                <a:cs typeface="Times New Roman" panose="02020603050405020304" pitchFamily="18" charset="0"/>
              </a:rPr>
              <a:t>the middle of the disk. The operating system can reduce the distance that </a:t>
            </a:r>
            <a:r>
              <a:rPr lang="en-US" sz="4000" dirty="0" smtClean="0">
                <a:latin typeface="Times New Roman" panose="02020603050405020304" pitchFamily="18" charset="0"/>
                <a:cs typeface="Times New Roman" panose="02020603050405020304" pitchFamily="18" charset="0"/>
              </a:rPr>
              <a:t>the disk </a:t>
            </a:r>
            <a:r>
              <a:rPr lang="en-US" sz="4000" dirty="0">
                <a:latin typeface="Times New Roman" panose="02020603050405020304" pitchFamily="18" charset="0"/>
                <a:cs typeface="Times New Roman" panose="02020603050405020304" pitchFamily="18" charset="0"/>
              </a:rPr>
              <a:t>arm travels by serving the applications in the order 2, 3, 1. </a:t>
            </a:r>
            <a:endParaRPr lang="en-US" sz="4000" dirty="0" smtClean="0">
              <a:latin typeface="Times New Roman" panose="02020603050405020304" pitchFamily="18" charset="0"/>
              <a:cs typeface="Times New Roman" panose="02020603050405020304" pitchFamily="18" charset="0"/>
            </a:endParaRPr>
          </a:p>
          <a:p>
            <a:pPr algn="just">
              <a:lnSpc>
                <a:spcPct val="170000"/>
              </a:lnSpc>
            </a:pPr>
            <a:r>
              <a:rPr lang="en-US" sz="4000" dirty="0" smtClean="0">
                <a:latin typeface="Times New Roman" panose="02020603050405020304" pitchFamily="18" charset="0"/>
                <a:cs typeface="Times New Roman" panose="02020603050405020304" pitchFamily="18" charset="0"/>
              </a:rPr>
              <a:t>Rearranging the </a:t>
            </a:r>
            <a:r>
              <a:rPr lang="en-US" sz="4000" dirty="0">
                <a:latin typeface="Times New Roman" panose="02020603050405020304" pitchFamily="18" charset="0"/>
                <a:cs typeface="Times New Roman" panose="02020603050405020304" pitchFamily="18" charset="0"/>
              </a:rPr>
              <a:t>order of service in this way is the essence of I/O scheduling.</a:t>
            </a:r>
            <a:endParaRPr lang="en-US" sz="4000" b="1" dirty="0" smtClean="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Bhupendra Ram Luhar</a:t>
            </a:r>
            <a:endParaRPr lang="en-US"/>
          </a:p>
        </p:txBody>
      </p:sp>
      <p:sp>
        <p:nvSpPr>
          <p:cNvPr id="5" name="Slide Number Placeholder 4"/>
          <p:cNvSpPr>
            <a:spLocks noGrp="1"/>
          </p:cNvSpPr>
          <p:nvPr>
            <p:ph type="sldNum" sz="quarter" idx="12"/>
          </p:nvPr>
        </p:nvSpPr>
        <p:spPr/>
        <p:txBody>
          <a:bodyPr/>
          <a:lstStyle/>
          <a:p>
            <a:fld id="{7B79A216-6713-4607-98FC-E026344EDDE7}" type="slidenum">
              <a:rPr lang="en-US" smtClean="0"/>
              <a:t>74</a:t>
            </a:fld>
            <a:endParaRPr lang="en-US"/>
          </a:p>
        </p:txBody>
      </p:sp>
    </p:spTree>
    <p:extLst>
      <p:ext uri="{BB962C8B-B14F-4D97-AF65-F5344CB8AC3E}">
        <p14:creationId xmlns:p14="http://schemas.microsoft.com/office/powerpoint/2010/main" val="34876323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6176"/>
            <a:ext cx="10515600" cy="5840787"/>
          </a:xfrm>
        </p:spPr>
        <p:txBody>
          <a:bodyPr>
            <a:normAutofit fontScale="85000"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Operating-system developers implement scheduling by maintaining </a:t>
            </a:r>
            <a:r>
              <a:rPr lang="en-US" dirty="0" smtClean="0">
                <a:latin typeface="Times New Roman" panose="02020603050405020304" pitchFamily="18" charset="0"/>
                <a:cs typeface="Times New Roman" panose="02020603050405020304" pitchFamily="18" charset="0"/>
              </a:rPr>
              <a:t>a wait </a:t>
            </a:r>
            <a:r>
              <a:rPr lang="en-US" dirty="0">
                <a:latin typeface="Times New Roman" panose="02020603050405020304" pitchFamily="18" charset="0"/>
                <a:cs typeface="Times New Roman" panose="02020603050405020304" pitchFamily="18" charset="0"/>
              </a:rPr>
              <a:t>queue of requests for each device</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an application issues a </a:t>
            </a:r>
            <a:r>
              <a:rPr lang="en-US" dirty="0" smtClean="0">
                <a:latin typeface="Times New Roman" panose="02020603050405020304" pitchFamily="18" charset="0"/>
                <a:cs typeface="Times New Roman" panose="02020603050405020304" pitchFamily="18" charset="0"/>
              </a:rPr>
              <a:t>blocking I/O </a:t>
            </a:r>
            <a:r>
              <a:rPr lang="en-US" dirty="0">
                <a:latin typeface="Times New Roman" panose="02020603050405020304" pitchFamily="18" charset="0"/>
                <a:cs typeface="Times New Roman" panose="02020603050405020304" pitchFamily="18" charset="0"/>
              </a:rPr>
              <a:t>system call, the request is placed on the queue for that device.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The I/O scheduler </a:t>
            </a:r>
            <a:r>
              <a:rPr lang="en-US" dirty="0">
                <a:latin typeface="Times New Roman" panose="02020603050405020304" pitchFamily="18" charset="0"/>
                <a:cs typeface="Times New Roman" panose="02020603050405020304" pitchFamily="18" charset="0"/>
              </a:rPr>
              <a:t>rearranges the order of the queue to improve the overall system </a:t>
            </a:r>
            <a:r>
              <a:rPr lang="en-US" dirty="0" smtClean="0">
                <a:latin typeface="Times New Roman" panose="02020603050405020304" pitchFamily="18" charset="0"/>
                <a:cs typeface="Times New Roman" panose="02020603050405020304" pitchFamily="18" charset="0"/>
              </a:rPr>
              <a:t>efficiency and </a:t>
            </a:r>
            <a:r>
              <a:rPr lang="en-US" dirty="0">
                <a:latin typeface="Times New Roman" panose="02020603050405020304" pitchFamily="18" charset="0"/>
                <a:cs typeface="Times New Roman" panose="02020603050405020304" pitchFamily="18" charset="0"/>
              </a:rPr>
              <a:t>the average response time experienced by applications.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The operating system </a:t>
            </a:r>
            <a:r>
              <a:rPr lang="en-US" dirty="0">
                <a:latin typeface="Times New Roman" panose="02020603050405020304" pitchFamily="18" charset="0"/>
                <a:cs typeface="Times New Roman" panose="02020603050405020304" pitchFamily="18" charset="0"/>
              </a:rPr>
              <a:t>may also try to be fair, so that no one application receives </a:t>
            </a:r>
            <a:r>
              <a:rPr lang="en-US" dirty="0" smtClean="0">
                <a:latin typeface="Times New Roman" panose="02020603050405020304" pitchFamily="18" charset="0"/>
                <a:cs typeface="Times New Roman" panose="02020603050405020304" pitchFamily="18" charset="0"/>
              </a:rPr>
              <a:t>especially poor </a:t>
            </a:r>
            <a:r>
              <a:rPr lang="en-US" dirty="0">
                <a:latin typeface="Times New Roman" panose="02020603050405020304" pitchFamily="18" charset="0"/>
                <a:cs typeface="Times New Roman" panose="02020603050405020304" pitchFamily="18" charset="0"/>
              </a:rPr>
              <a:t>service, or it may give priority service for delay-sensitive </a:t>
            </a:r>
            <a:r>
              <a:rPr lang="en-US" dirty="0" smtClean="0">
                <a:latin typeface="Times New Roman" panose="02020603050405020304" pitchFamily="18" charset="0"/>
                <a:cs typeface="Times New Roman" panose="02020603050405020304" pitchFamily="18" charset="0"/>
              </a:rPr>
              <a:t>requests</a:t>
            </a:r>
          </a:p>
          <a:p>
            <a:pPr algn="just">
              <a:lnSpc>
                <a:spcPct val="150000"/>
              </a:lnSpc>
            </a:pPr>
            <a:r>
              <a:rPr lang="en-US" dirty="0">
                <a:latin typeface="Times New Roman" panose="02020603050405020304" pitchFamily="18" charset="0"/>
                <a:cs typeface="Times New Roman" panose="02020603050405020304" pitchFamily="18" charset="0"/>
              </a:rPr>
              <a:t>Scheduling I/O operations is </a:t>
            </a:r>
            <a:r>
              <a:rPr lang="en-US" dirty="0" smtClean="0">
                <a:latin typeface="Times New Roman" panose="02020603050405020304" pitchFamily="18" charset="0"/>
                <a:cs typeface="Times New Roman" panose="02020603050405020304" pitchFamily="18" charset="0"/>
              </a:rPr>
              <a:t>one way </a:t>
            </a:r>
            <a:r>
              <a:rPr lang="en-US" dirty="0">
                <a:latin typeface="Times New Roman" panose="02020603050405020304" pitchFamily="18" charset="0"/>
                <a:cs typeface="Times New Roman" panose="02020603050405020304" pitchFamily="18" charset="0"/>
              </a:rPr>
              <a:t>in which the I/O subsystem </a:t>
            </a:r>
            <a:r>
              <a:rPr lang="en-US" dirty="0" smtClean="0">
                <a:latin typeface="Times New Roman" panose="02020603050405020304" pitchFamily="18" charset="0"/>
                <a:cs typeface="Times New Roman" panose="02020603050405020304" pitchFamily="18" charset="0"/>
              </a:rPr>
              <a:t>improves the </a:t>
            </a:r>
            <a:r>
              <a:rPr lang="en-US" dirty="0">
                <a:latin typeface="Times New Roman" panose="02020603050405020304" pitchFamily="18" charset="0"/>
                <a:cs typeface="Times New Roman" panose="02020603050405020304" pitchFamily="18" charset="0"/>
              </a:rPr>
              <a:t>efficiency of the computer</a:t>
            </a: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75</a:t>
            </a:fld>
            <a:endParaRPr lang="en-US"/>
          </a:p>
        </p:txBody>
      </p:sp>
    </p:spTree>
    <p:extLst>
      <p:ext uri="{BB962C8B-B14F-4D97-AF65-F5344CB8AC3E}">
        <p14:creationId xmlns:p14="http://schemas.microsoft.com/office/powerpoint/2010/main" val="19145377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515600" cy="5719763"/>
          </a:xfrm>
        </p:spPr>
        <p:txBody>
          <a:bodyPr>
            <a:normAutofit fontScale="77500" lnSpcReduction="20000"/>
          </a:bodyPr>
          <a:lstStyle/>
          <a:p>
            <a:pPr marL="0" indent="0" algn="just">
              <a:lnSpc>
                <a:spcPct val="150000"/>
              </a:lnSpc>
              <a:buNone/>
            </a:pPr>
            <a:r>
              <a:rPr lang="en-US" sz="3100" b="1" dirty="0" smtClean="0">
                <a:latin typeface="Times New Roman" panose="02020603050405020304" pitchFamily="18" charset="0"/>
                <a:cs typeface="Times New Roman" panose="02020603050405020304" pitchFamily="18" charset="0"/>
              </a:rPr>
              <a:t>I/O Caching:</a:t>
            </a:r>
          </a:p>
          <a:p>
            <a:pPr algn="just">
              <a:lnSpc>
                <a:spcPct val="150000"/>
              </a:lnSpc>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cache </a:t>
            </a:r>
            <a:r>
              <a:rPr lang="en-US" dirty="0">
                <a:latin typeface="Times New Roman" panose="02020603050405020304" pitchFamily="18" charset="0"/>
                <a:cs typeface="Times New Roman" panose="02020603050405020304" pitchFamily="18" charset="0"/>
              </a:rPr>
              <a:t>is a region of fast memory that holds copies of data. Access to </a:t>
            </a:r>
            <a:r>
              <a:rPr lang="en-US" dirty="0" smtClean="0">
                <a:latin typeface="Times New Roman" panose="02020603050405020304" pitchFamily="18" charset="0"/>
                <a:cs typeface="Times New Roman" panose="02020603050405020304" pitchFamily="18" charset="0"/>
              </a:rPr>
              <a:t>the cached </a:t>
            </a:r>
            <a:r>
              <a:rPr lang="en-US" dirty="0">
                <a:latin typeface="Times New Roman" panose="02020603050405020304" pitchFamily="18" charset="0"/>
                <a:cs typeface="Times New Roman" panose="02020603050405020304" pitchFamily="18" charset="0"/>
              </a:rPr>
              <a:t>copy is more efficient than access to the original.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For </a:t>
            </a:r>
            <a:r>
              <a:rPr lang="en-US" dirty="0">
                <a:latin typeface="Times New Roman" panose="02020603050405020304" pitchFamily="18" charset="0"/>
                <a:cs typeface="Times New Roman" panose="02020603050405020304" pitchFamily="18" charset="0"/>
              </a:rPr>
              <a:t>instance, </a:t>
            </a:r>
            <a:r>
              <a:rPr lang="en-US" dirty="0" smtClean="0">
                <a:latin typeface="Times New Roman" panose="02020603050405020304" pitchFamily="18" charset="0"/>
                <a:cs typeface="Times New Roman" panose="02020603050405020304" pitchFamily="18" charset="0"/>
              </a:rPr>
              <a:t>the instructions </a:t>
            </a:r>
            <a:r>
              <a:rPr lang="en-US" dirty="0">
                <a:latin typeface="Times New Roman" panose="02020603050405020304" pitchFamily="18" charset="0"/>
                <a:cs typeface="Times New Roman" panose="02020603050405020304" pitchFamily="18" charset="0"/>
              </a:rPr>
              <a:t>of the currently running process are stored on disk, cached </a:t>
            </a:r>
            <a:r>
              <a:rPr lang="en-US" dirty="0" smtClean="0">
                <a:latin typeface="Times New Roman" panose="02020603050405020304" pitchFamily="18" charset="0"/>
                <a:cs typeface="Times New Roman" panose="02020603050405020304" pitchFamily="18" charset="0"/>
              </a:rPr>
              <a:t>in physical </a:t>
            </a:r>
            <a:r>
              <a:rPr lang="en-US" dirty="0">
                <a:latin typeface="Times New Roman" panose="02020603050405020304" pitchFamily="18" charset="0"/>
                <a:cs typeface="Times New Roman" panose="02020603050405020304" pitchFamily="18" charset="0"/>
              </a:rPr>
              <a:t>memory, and copied again in the CPU’s secondary and primary caches</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smtClean="0">
                <a:latin typeface="Times New Roman" panose="02020603050405020304" pitchFamily="18" charset="0"/>
                <a:cs typeface="Times New Roman" panose="02020603050405020304" pitchFamily="18" charset="0"/>
              </a:rPr>
              <a:t>Buffering and caching are very similar except that a buffer may hold the only copy of given data item where as a cache is just a duplicate copy of some other data stored elsewhere.</a:t>
            </a:r>
          </a:p>
          <a:p>
            <a:pPr algn="just">
              <a:lnSpc>
                <a:spcPct val="150000"/>
              </a:lnSpc>
            </a:pPr>
            <a:r>
              <a:rPr lang="en-US" dirty="0" smtClean="0">
                <a:latin typeface="Times New Roman" panose="02020603050405020304" pitchFamily="18" charset="0"/>
                <a:cs typeface="Times New Roman" panose="02020603050405020304" pitchFamily="18" charset="0"/>
              </a:rPr>
              <a:t>Caching transparently stores data in component called cache so that future request for that data can be served faster.</a:t>
            </a:r>
          </a:p>
          <a:p>
            <a:pPr algn="just">
              <a:lnSpc>
                <a:spcPct val="150000"/>
              </a:lnSpc>
            </a:pPr>
            <a:r>
              <a:rPr lang="en-US" dirty="0" smtClean="0">
                <a:latin typeface="Times New Roman" panose="02020603050405020304" pitchFamily="18" charset="0"/>
                <a:cs typeface="Times New Roman" panose="02020603050405020304" pitchFamily="18" charset="0"/>
              </a:rPr>
              <a:t>A cache’s sole purpose is to reduce accesses to the underlying slower storage.</a:t>
            </a:r>
            <a:endParaRPr lang="en-US"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76</a:t>
            </a:fld>
            <a:endParaRPr lang="en-US"/>
          </a:p>
        </p:txBody>
      </p:sp>
    </p:spTree>
    <p:extLst>
      <p:ext uri="{BB962C8B-B14F-4D97-AF65-F5344CB8AC3E}">
        <p14:creationId xmlns:p14="http://schemas.microsoft.com/office/powerpoint/2010/main" val="28852858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9965"/>
            <a:ext cx="10515600" cy="6145306"/>
          </a:xfrm>
        </p:spPr>
        <p:txBody>
          <a:bodyPr>
            <a:normAutofit fontScale="62500" lnSpcReduction="20000"/>
          </a:bodyPr>
          <a:lstStyle/>
          <a:p>
            <a:pPr marL="0" indent="0" algn="just">
              <a:lnSpc>
                <a:spcPct val="120000"/>
              </a:lnSpc>
              <a:buNone/>
            </a:pPr>
            <a:r>
              <a:rPr lang="en-US" sz="3800" b="1" dirty="0" smtClean="0">
                <a:latin typeface="Times New Roman" panose="02020603050405020304" pitchFamily="18" charset="0"/>
                <a:cs typeface="Times New Roman" panose="02020603050405020304" pitchFamily="18" charset="0"/>
              </a:rPr>
              <a:t>I/O Virtualization</a:t>
            </a:r>
          </a:p>
          <a:p>
            <a:pPr algn="just">
              <a:lnSpc>
                <a:spcPct val="120000"/>
              </a:lnSpc>
            </a:pPr>
            <a:r>
              <a:rPr lang="en-US" dirty="0">
                <a:latin typeface="Times New Roman" panose="02020603050405020304" pitchFamily="18" charset="0"/>
                <a:cs typeface="Times New Roman" panose="02020603050405020304" pitchFamily="18" charset="0"/>
              </a:rPr>
              <a:t>I/O virtualization is a technology that allows multiple virtual machines (VMs) to share the same physical resources, such as network interfaces and storage devices. It is used to improve the efficiency and flexibility of data center operations by allowing multiple VMs to share the same hardware resources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lnSpc>
                <a:spcPct val="120000"/>
              </a:lnSpc>
            </a:pPr>
            <a:r>
              <a:rPr lang="en-US" dirty="0">
                <a:latin typeface="Times New Roman" panose="02020603050405020304" pitchFamily="18" charset="0"/>
                <a:cs typeface="Times New Roman" panose="02020603050405020304" pitchFamily="18" charset="0"/>
              </a:rPr>
              <a:t>There are different types of I/O virtualization, such as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lnSpc>
                <a:spcPct val="120000"/>
              </a:lnSpc>
            </a:pPr>
            <a:r>
              <a:rPr lang="en-US" b="1" dirty="0">
                <a:latin typeface="Times New Roman" panose="02020603050405020304" pitchFamily="18" charset="0"/>
                <a:cs typeface="Times New Roman" panose="02020603050405020304" pitchFamily="18" charset="0"/>
              </a:rPr>
              <a:t>Network I/O virtualization</a:t>
            </a:r>
            <a:r>
              <a:rPr lang="en-US" dirty="0">
                <a:latin typeface="Times New Roman" panose="02020603050405020304" pitchFamily="18" charset="0"/>
                <a:cs typeface="Times New Roman" panose="02020603050405020304" pitchFamily="18" charset="0"/>
              </a:rPr>
              <a:t>: Allows multiple VMs to share the same physical network interface, by creating virtual interfaces for each VM. This allows for better network resource utilization and the ability to isolate network traffic between VMs.</a:t>
            </a:r>
          </a:p>
          <a:p>
            <a:pPr algn="just">
              <a:lnSpc>
                <a:spcPct val="120000"/>
              </a:lnSpc>
            </a:pPr>
            <a:r>
              <a:rPr lang="en-US" b="1" dirty="0">
                <a:latin typeface="Times New Roman" panose="02020603050405020304" pitchFamily="18" charset="0"/>
                <a:cs typeface="Times New Roman" panose="02020603050405020304" pitchFamily="18" charset="0"/>
              </a:rPr>
              <a:t>Storage I/O virtualization</a:t>
            </a:r>
            <a:r>
              <a:rPr lang="en-US" dirty="0">
                <a:latin typeface="Times New Roman" panose="02020603050405020304" pitchFamily="18" charset="0"/>
                <a:cs typeface="Times New Roman" panose="02020603050405020304" pitchFamily="18" charset="0"/>
              </a:rPr>
              <a:t>: Allows multiple VMs to share the same physical storage devices, by creating virtual storage devices for each VM. This allows for better storage resource utilization and the ability to isolate storage between VMs.</a:t>
            </a:r>
          </a:p>
          <a:p>
            <a:pPr algn="just">
              <a:lnSpc>
                <a:spcPct val="120000"/>
              </a:lnSpc>
            </a:pPr>
            <a:r>
              <a:rPr lang="en-US" b="1" dirty="0">
                <a:latin typeface="Times New Roman" panose="02020603050405020304" pitchFamily="18" charset="0"/>
                <a:cs typeface="Times New Roman" panose="02020603050405020304" pitchFamily="18" charset="0"/>
              </a:rPr>
              <a:t>Other types of I/O virtualization </a:t>
            </a:r>
            <a:r>
              <a:rPr lang="en-US" dirty="0">
                <a:latin typeface="Times New Roman" panose="02020603050405020304" pitchFamily="18" charset="0"/>
                <a:cs typeface="Times New Roman" panose="02020603050405020304" pitchFamily="18" charset="0"/>
              </a:rPr>
              <a:t>include device-level virtualization, where each virtual machine is given direct access to physical resources, and host-level virtualization, where the host is responsible for managing the physical resources and allocating them to the VMs.</a:t>
            </a:r>
          </a:p>
          <a:p>
            <a:pPr algn="just">
              <a:lnSpc>
                <a:spcPct val="120000"/>
              </a:lnSpc>
            </a:pPr>
            <a:r>
              <a:rPr lang="en-US" dirty="0">
                <a:latin typeface="Times New Roman" panose="02020603050405020304" pitchFamily="18" charset="0"/>
                <a:cs typeface="Times New Roman" panose="02020603050405020304" pitchFamily="18" charset="0"/>
              </a:rPr>
              <a:t>I/O virtualization is generally implemented by hypervisors, which are software that create and manage virtual machines. Examples of hypervisors include VMware, Hyper-V, and </a:t>
            </a:r>
            <a:r>
              <a:rPr lang="en-US" dirty="0" err="1">
                <a:latin typeface="Times New Roman" panose="02020603050405020304" pitchFamily="18" charset="0"/>
                <a:cs typeface="Times New Roman" panose="02020603050405020304" pitchFamily="18" charset="0"/>
              </a:rPr>
              <a:t>Xen</a:t>
            </a:r>
            <a:r>
              <a:rPr lang="en-US" dirty="0">
                <a:latin typeface="Times New Roman" panose="02020603050405020304" pitchFamily="18" charset="0"/>
                <a:cs typeface="Times New Roman" panose="02020603050405020304" pitchFamily="18" charset="0"/>
              </a:rPr>
              <a:t>.</a:t>
            </a:r>
          </a:p>
          <a:p>
            <a:pPr algn="just">
              <a:lnSpc>
                <a:spcPct val="120000"/>
              </a:lnSpc>
            </a:pPr>
            <a:r>
              <a:rPr lang="en-US" dirty="0" smtClean="0">
                <a:latin typeface="Times New Roman" panose="02020603050405020304" pitchFamily="18" charset="0"/>
                <a:cs typeface="Times New Roman" panose="02020603050405020304" pitchFamily="18" charset="0"/>
              </a:rPr>
              <a:t>Overall</a:t>
            </a:r>
            <a:r>
              <a:rPr lang="en-US" dirty="0">
                <a:latin typeface="Times New Roman" panose="02020603050405020304" pitchFamily="18" charset="0"/>
                <a:cs typeface="Times New Roman" panose="02020603050405020304" pitchFamily="18" charset="0"/>
              </a:rPr>
              <a:t>, I/O virtualization allows multiple VMs to share the same physical resources, making more efficient use of hardware and increasing flexibility and scalability </a:t>
            </a: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77</a:t>
            </a:fld>
            <a:endParaRPr lang="en-US"/>
          </a:p>
        </p:txBody>
      </p:sp>
    </p:spTree>
    <p:extLst>
      <p:ext uri="{BB962C8B-B14F-4D97-AF65-F5344CB8AC3E}">
        <p14:creationId xmlns:p14="http://schemas.microsoft.com/office/powerpoint/2010/main" val="4609691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1306" y="1035422"/>
            <a:ext cx="10515600" cy="4375057"/>
          </a:xfrm>
        </p:spPr>
        <p:txBody>
          <a:bodyPr/>
          <a:lstStyle/>
          <a:p>
            <a:pPr marL="0" indent="0" algn="ctr">
              <a:lnSpc>
                <a:spcPct val="150000"/>
              </a:lnSpc>
              <a:buNone/>
            </a:pPr>
            <a:r>
              <a:rPr lang="en-US" b="1" dirty="0">
                <a:solidFill>
                  <a:schemeClr val="accent1"/>
                </a:solidFill>
                <a:latin typeface="Times New Roman" panose="02020603050405020304" pitchFamily="18" charset="0"/>
                <a:cs typeface="Times New Roman" panose="02020603050405020304" pitchFamily="18" charset="0"/>
              </a:rPr>
              <a:t>Case </a:t>
            </a:r>
            <a:r>
              <a:rPr lang="en-US" b="1" dirty="0" smtClean="0">
                <a:solidFill>
                  <a:schemeClr val="accent1"/>
                </a:solidFill>
                <a:latin typeface="Times New Roman" panose="02020603050405020304" pitchFamily="18" charset="0"/>
                <a:cs typeface="Times New Roman" panose="02020603050405020304" pitchFamily="18" charset="0"/>
              </a:rPr>
              <a:t>study</a:t>
            </a:r>
          </a:p>
          <a:p>
            <a:pPr marL="0" indent="0" algn="ctr">
              <a:lnSpc>
                <a:spcPct val="150000"/>
              </a:lnSpc>
              <a:buNone/>
            </a:pPr>
            <a:r>
              <a:rPr lang="en-US" b="1" dirty="0" smtClean="0">
                <a:solidFill>
                  <a:schemeClr val="accent1"/>
                </a:solidFill>
                <a:latin typeface="Times New Roman" panose="02020603050405020304" pitchFamily="18" charset="0"/>
                <a:cs typeface="Times New Roman" panose="02020603050405020304" pitchFamily="18" charset="0"/>
              </a:rPr>
              <a:t> </a:t>
            </a:r>
            <a:r>
              <a:rPr lang="en-US" b="1" dirty="0">
                <a:solidFill>
                  <a:schemeClr val="accent1"/>
                </a:solidFill>
                <a:latin typeface="Times New Roman" panose="02020603050405020304" pitchFamily="18" charset="0"/>
                <a:cs typeface="Times New Roman" panose="02020603050405020304" pitchFamily="18" charset="0"/>
              </a:rPr>
              <a:t>on </a:t>
            </a:r>
            <a:endParaRPr lang="en-US" b="1" dirty="0" smtClean="0">
              <a:solidFill>
                <a:schemeClr val="accent1"/>
              </a:solidFill>
              <a:latin typeface="Times New Roman" panose="02020603050405020304" pitchFamily="18" charset="0"/>
              <a:cs typeface="Times New Roman" panose="02020603050405020304" pitchFamily="18" charset="0"/>
            </a:endParaRPr>
          </a:p>
          <a:p>
            <a:pPr marL="0" indent="0" algn="ctr">
              <a:lnSpc>
                <a:spcPct val="150000"/>
              </a:lnSpc>
              <a:buNone/>
            </a:pPr>
            <a:r>
              <a:rPr lang="en-US" b="1" i="1" dirty="0">
                <a:solidFill>
                  <a:schemeClr val="accent1"/>
                </a:solidFill>
                <a:latin typeface="Times New Roman" panose="02020603050405020304" pitchFamily="18" charset="0"/>
                <a:cs typeface="Times New Roman" panose="02020603050405020304" pitchFamily="18" charset="0"/>
              </a:rPr>
              <a:t>T</a:t>
            </a:r>
            <a:r>
              <a:rPr lang="en-US" b="1" i="1" dirty="0" smtClean="0">
                <a:solidFill>
                  <a:schemeClr val="accent1"/>
                </a:solidFill>
                <a:latin typeface="Times New Roman" panose="02020603050405020304" pitchFamily="18" charset="0"/>
                <a:cs typeface="Times New Roman" panose="02020603050405020304" pitchFamily="18" charset="0"/>
              </a:rPr>
              <a:t>he </a:t>
            </a:r>
            <a:r>
              <a:rPr lang="en-US" b="1" i="1" dirty="0">
                <a:solidFill>
                  <a:schemeClr val="accent1"/>
                </a:solidFill>
                <a:latin typeface="Times New Roman" panose="02020603050405020304" pitchFamily="18" charset="0"/>
                <a:cs typeface="Times New Roman" panose="02020603050405020304" pitchFamily="18" charset="0"/>
              </a:rPr>
              <a:t>design and implementation of the memory management and virtual memory system used in the Linux operating system</a:t>
            </a:r>
          </a:p>
        </p:txBody>
      </p:sp>
      <p:sp>
        <p:nvSpPr>
          <p:cNvPr id="2" name="Footer Placeholder 1"/>
          <p:cNvSpPr>
            <a:spLocks noGrp="1"/>
          </p:cNvSpPr>
          <p:nvPr>
            <p:ph type="ftr" sz="quarter" idx="11"/>
          </p:nvPr>
        </p:nvSpPr>
        <p:spPr/>
        <p:txBody>
          <a:bodyPr/>
          <a:lstStyle/>
          <a:p>
            <a:r>
              <a:rPr lang="en-US" smtClean="0"/>
              <a:t>Bhupendra Ram Luhar</a:t>
            </a:r>
            <a:endParaRPr lang="en-US"/>
          </a:p>
        </p:txBody>
      </p:sp>
      <p:sp>
        <p:nvSpPr>
          <p:cNvPr id="4" name="Slide Number Placeholder 3"/>
          <p:cNvSpPr>
            <a:spLocks noGrp="1"/>
          </p:cNvSpPr>
          <p:nvPr>
            <p:ph type="sldNum" sz="quarter" idx="12"/>
          </p:nvPr>
        </p:nvSpPr>
        <p:spPr/>
        <p:txBody>
          <a:bodyPr/>
          <a:lstStyle/>
          <a:p>
            <a:fld id="{7B79A216-6713-4607-98FC-E026344EDDE7}" type="slidenum">
              <a:rPr lang="en-US" smtClean="0"/>
              <a:t>78</a:t>
            </a:fld>
            <a:endParaRPr lang="en-US"/>
          </a:p>
        </p:txBody>
      </p:sp>
    </p:spTree>
    <p:extLst>
      <p:ext uri="{BB962C8B-B14F-4D97-AF65-F5344CB8AC3E}">
        <p14:creationId xmlns:p14="http://schemas.microsoft.com/office/powerpoint/2010/main" val="13750564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1886</TotalTime>
  <Words>5990</Words>
  <Application>Microsoft Office PowerPoint</Application>
  <PresentationFormat>Widescreen</PresentationFormat>
  <Paragraphs>622</Paragraphs>
  <Slides>78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78</vt:i4>
      </vt:variant>
    </vt:vector>
  </HeadingPairs>
  <TitlesOfParts>
    <vt:vector size="83" baseType="lpstr">
      <vt:lpstr>Arial</vt:lpstr>
      <vt:lpstr>Calibri</vt:lpstr>
      <vt:lpstr>Calibri Light</vt:lpstr>
      <vt:lpstr>Times New Roman</vt:lpstr>
      <vt:lpstr>Office Theme</vt:lpstr>
      <vt:lpstr>PowerPoint Presentation</vt:lpstr>
      <vt:lpstr>Memory Management</vt:lpstr>
      <vt:lpstr>Memory Hierarchy</vt:lpstr>
      <vt:lpstr>PowerPoint Presentation</vt:lpstr>
      <vt:lpstr>Memory Management Requirements</vt:lpstr>
      <vt:lpstr>PowerPoint Presentation</vt:lpstr>
      <vt:lpstr>Address Protection with Base and Limit Registers</vt:lpstr>
      <vt:lpstr>Logical vs. Physical Memory Address Space</vt:lpstr>
      <vt:lpstr>Memory management with Swapping</vt:lpstr>
      <vt:lpstr>PowerPoint Presentation</vt:lpstr>
      <vt:lpstr>PowerPoint Presentation</vt:lpstr>
      <vt:lpstr>Mono programming</vt:lpstr>
      <vt:lpstr>Multiprogramming</vt:lpstr>
      <vt:lpstr>PowerPoint Presentation</vt:lpstr>
      <vt:lpstr>PowerPoint Presentation</vt:lpstr>
      <vt:lpstr>Partition Selection Algorithms</vt:lpstr>
      <vt:lpstr>Partition Selection Algorithms</vt:lpstr>
      <vt:lpstr>Memory Fragmentation</vt:lpstr>
      <vt:lpstr>Coalescing</vt:lpstr>
      <vt:lpstr>Compaction</vt:lpstr>
      <vt:lpstr> Non-contiguous memory allocation </vt:lpstr>
      <vt:lpstr>Paging</vt:lpstr>
      <vt:lpstr>PowerPoint Presentation</vt:lpstr>
      <vt:lpstr>Address Translation</vt:lpstr>
      <vt:lpstr>PowerPoint Presentation</vt:lpstr>
      <vt:lpstr>Address Translation Example</vt:lpstr>
      <vt:lpstr>Virtual Memory</vt:lpstr>
      <vt:lpstr>PowerPoint Presentation</vt:lpstr>
      <vt:lpstr>Page Table</vt:lpstr>
      <vt:lpstr>Page table Structure</vt:lpstr>
      <vt:lpstr>PowerPoint Presentation</vt:lpstr>
      <vt:lpstr>Types of page table</vt:lpstr>
      <vt:lpstr>Two-Level Paging Example</vt:lpstr>
      <vt:lpstr>PowerPoint Presentation</vt:lpstr>
      <vt:lpstr>PowerPoint Presentation</vt:lpstr>
      <vt:lpstr>PowerPoint Presentation</vt:lpstr>
      <vt:lpstr>PowerPoint Presentation</vt:lpstr>
      <vt:lpstr>Demand Paging</vt:lpstr>
      <vt:lpstr>Page Fault</vt:lpstr>
      <vt:lpstr>PowerPoint Presentation</vt:lpstr>
      <vt:lpstr>Page Replacement</vt:lpstr>
      <vt:lpstr>First-In-First-Out (FIFO) Algorithm</vt:lpstr>
      <vt:lpstr>Optimal Page Replacement (OPR)</vt:lpstr>
      <vt:lpstr>Least Recently Used (LRU) Algorithm</vt:lpstr>
      <vt:lpstr>Second Chance Page Replacement</vt:lpstr>
      <vt:lpstr>Segmentation</vt:lpstr>
      <vt:lpstr>PowerPoint Presentation</vt:lpstr>
      <vt:lpstr>Segmentation Hardware</vt:lpstr>
      <vt:lpstr>Segment Example</vt:lpstr>
      <vt:lpstr>Segmentation With Paging</vt:lpstr>
      <vt:lpstr>Thrashing</vt:lpstr>
      <vt:lpstr>memory performance and optimization </vt:lpstr>
      <vt:lpstr>PowerPoint Presentation</vt:lpstr>
      <vt:lpstr>PowerPoint Presentation</vt:lpstr>
      <vt:lpstr>Memory deduplication Example</vt:lpstr>
      <vt:lpstr>PowerPoint Presentation</vt:lpstr>
      <vt:lpstr>Memory Tiering</vt:lpstr>
      <vt:lpstr>Input/output Device Management</vt:lpstr>
      <vt:lpstr>I/O management</vt:lpstr>
      <vt:lpstr>Principle of I/O hardware</vt:lpstr>
      <vt:lpstr>Device Controller</vt:lpstr>
      <vt:lpstr>Communication of CPU to I/O Device</vt:lpstr>
      <vt:lpstr>Direct Memory Access(DMA)</vt:lpstr>
      <vt:lpstr>PowerPoint Presentation</vt:lpstr>
      <vt:lpstr>Principle of I/O software</vt:lpstr>
      <vt:lpstr>Handling I/O</vt:lpstr>
      <vt:lpstr>PowerPoint Presentation</vt:lpstr>
      <vt:lpstr>PowerPoint Presentation</vt:lpstr>
      <vt:lpstr>PowerPoint Presentation</vt:lpstr>
      <vt:lpstr>PowerPoint Presentation</vt:lpstr>
      <vt:lpstr>I/O Software Layers</vt:lpstr>
      <vt:lpstr>PowerPoint Presentation</vt:lpstr>
      <vt:lpstr>PowerPoint Presentation</vt:lpstr>
      <vt:lpstr>I/O performance and optimization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Bhupendra Lohar</dc:creator>
  <cp:lastModifiedBy>Acer</cp:lastModifiedBy>
  <cp:revision>64</cp:revision>
  <dcterms:created xsi:type="dcterms:W3CDTF">2020-09-09T11:21:59Z</dcterms:created>
  <dcterms:modified xsi:type="dcterms:W3CDTF">2024-09-02T23:57:13Z</dcterms:modified>
</cp:coreProperties>
</file>