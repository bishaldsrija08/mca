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2" r:id="rId8"/>
    <p:sldId id="263" r:id="rId9"/>
    <p:sldId id="264" r:id="rId10"/>
    <p:sldId id="265" r:id="rId11"/>
    <p:sldId id="266" r:id="rId12"/>
    <p:sldId id="267" r:id="rId13"/>
    <p:sldId id="284" r:id="rId14"/>
    <p:sldId id="268" r:id="rId15"/>
    <p:sldId id="269" r:id="rId16"/>
    <p:sldId id="270" r:id="rId17"/>
    <p:sldId id="271" r:id="rId18"/>
    <p:sldId id="272" r:id="rId19"/>
    <p:sldId id="283" r:id="rId20"/>
    <p:sldId id="273" r:id="rId21"/>
    <p:sldId id="274" r:id="rId22"/>
    <p:sldId id="275" r:id="rId23"/>
    <p:sldId id="276" r:id="rId24"/>
    <p:sldId id="277" r:id="rId25"/>
    <p:sldId id="278" r:id="rId26"/>
    <p:sldId id="279" r:id="rId27"/>
    <p:sldId id="280" r:id="rId28"/>
    <p:sldId id="281" r:id="rId29"/>
    <p:sldId id="282"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69" r:id="rId105"/>
    <p:sldId id="360" r:id="rId106"/>
    <p:sldId id="359" r:id="rId107"/>
    <p:sldId id="361" r:id="rId108"/>
    <p:sldId id="362" r:id="rId109"/>
    <p:sldId id="363" r:id="rId110"/>
    <p:sldId id="364" r:id="rId111"/>
    <p:sldId id="365" r:id="rId112"/>
    <p:sldId id="367" r:id="rId113"/>
    <p:sldId id="366"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515FE4F-7404-4FB6-9490-26D041ADBEB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4131461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15FE4F-7404-4FB6-9490-26D041ADBEB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3957518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515FE4F-7404-4FB6-9490-26D041ADBEB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3688142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515FE4F-7404-4FB6-9490-26D041ADBEBC}"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1426837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515FE4F-7404-4FB6-9490-26D041ADBEBC}"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384900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515FE4F-7404-4FB6-9490-26D041ADBEBC}"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2910031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15FE4F-7404-4FB6-9490-26D041ADBEBC}"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2393120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15FE4F-7404-4FB6-9490-26D041ADBEBC}"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341169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15FE4F-7404-4FB6-9490-26D041ADBEBC}"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3999615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15FE4F-7404-4FB6-9490-26D041ADBEB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2736829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15FE4F-7404-4FB6-9490-26D041ADBEBC}"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4AE01A-FC57-4FFC-8BFD-BC03E4F8CE44}" type="slidenum">
              <a:rPr lang="en-US" smtClean="0"/>
              <a:t>‹#›</a:t>
            </a:fld>
            <a:endParaRPr lang="en-US"/>
          </a:p>
        </p:txBody>
      </p:sp>
    </p:spTree>
    <p:extLst>
      <p:ext uri="{BB962C8B-B14F-4D97-AF65-F5344CB8AC3E}">
        <p14:creationId xmlns:p14="http://schemas.microsoft.com/office/powerpoint/2010/main" val="3750339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15FE4F-7404-4FB6-9490-26D041ADBEBC}" type="datetimeFigureOut">
              <a:rPr lang="en-US" smtClean="0"/>
              <a:t>5/11/2026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AE01A-FC57-4FFC-8BFD-BC03E4F8CE44}" type="slidenum">
              <a:rPr lang="en-US" smtClean="0"/>
              <a:t>‹#›</a:t>
            </a:fld>
            <a:endParaRPr lang="en-US"/>
          </a:p>
        </p:txBody>
      </p:sp>
    </p:spTree>
    <p:extLst>
      <p:ext uri="{BB962C8B-B14F-4D97-AF65-F5344CB8AC3E}">
        <p14:creationId xmlns:p14="http://schemas.microsoft.com/office/powerpoint/2010/main" val="3396869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1385047"/>
            <a:ext cx="9144000" cy="3872753"/>
          </a:xfrm>
        </p:spPr>
        <p:txBody>
          <a:bodyPr>
            <a:normAutofit/>
          </a:bodyPr>
          <a:lstStyle/>
          <a:p>
            <a:r>
              <a:rPr lang="en-US" sz="4800" b="1" dirty="0" smtClean="0">
                <a:solidFill>
                  <a:srgbClr val="FF0000"/>
                </a:solidFill>
                <a:latin typeface="Times New Roman" panose="02020603050405020304" pitchFamily="18" charset="0"/>
                <a:cs typeface="Times New Roman" panose="02020603050405020304" pitchFamily="18" charset="0"/>
              </a:rPr>
              <a:t>Advanced operating System</a:t>
            </a:r>
          </a:p>
          <a:p>
            <a:r>
              <a:rPr lang="en-US" sz="4800" b="1" dirty="0" smtClean="0">
                <a:solidFill>
                  <a:srgbClr val="FF0000"/>
                </a:solidFill>
                <a:latin typeface="Times New Roman" panose="02020603050405020304" pitchFamily="18" charset="0"/>
                <a:cs typeface="Times New Roman" panose="02020603050405020304" pitchFamily="18" charset="0"/>
              </a:rPr>
              <a:t>Unit-2</a:t>
            </a:r>
          </a:p>
          <a:p>
            <a:r>
              <a:rPr lang="en-US" sz="4800" b="1" dirty="0" smtClean="0">
                <a:solidFill>
                  <a:srgbClr val="FF0000"/>
                </a:solidFill>
                <a:latin typeface="Times New Roman" panose="02020603050405020304" pitchFamily="18" charset="0"/>
                <a:cs typeface="Times New Roman" panose="02020603050405020304" pitchFamily="18" charset="0"/>
              </a:rPr>
              <a:t>Process, Threads and Deadlock</a:t>
            </a:r>
            <a:endParaRPr lang="en-US" sz="4800" dirty="0"/>
          </a:p>
        </p:txBody>
      </p:sp>
    </p:spTree>
    <p:extLst>
      <p:ext uri="{BB962C8B-B14F-4D97-AF65-F5344CB8AC3E}">
        <p14:creationId xmlns:p14="http://schemas.microsoft.com/office/powerpoint/2010/main" val="4114992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What is process?</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175657"/>
            <a:ext cx="10515600" cy="5172891"/>
          </a:xfrm>
        </p:spPr>
        <p:txBody>
          <a:bodyPr>
            <a:normAutofit fontScale="77500" lnSpcReduction="20000"/>
          </a:bodyPr>
          <a:lstStyle/>
          <a:p>
            <a:pPr algn="just">
              <a:lnSpc>
                <a:spcPct val="160000"/>
              </a:lnSpc>
            </a:pPr>
            <a:r>
              <a:rPr lang="en-US" dirty="0" smtClean="0">
                <a:latin typeface="Times New Roman" pitchFamily="18" charset="0"/>
                <a:cs typeface="Times New Roman" pitchFamily="18" charset="0"/>
              </a:rPr>
              <a:t>A process is basically a program in execution. The execution of a process must progress in a sequential fashion </a:t>
            </a:r>
          </a:p>
          <a:p>
            <a:pPr algn="just">
              <a:lnSpc>
                <a:spcPct val="160000"/>
              </a:lnSpc>
            </a:pPr>
            <a:r>
              <a:rPr lang="en-US" dirty="0" smtClean="0">
                <a:latin typeface="Times New Roman" pitchFamily="18" charset="0"/>
                <a:cs typeface="Times New Roman" pitchFamily="18" charset="0"/>
              </a:rPr>
              <a:t>A program is an inanimate entity; only when a processor breathes life into it does it become the active entity, we call a process.</a:t>
            </a:r>
          </a:p>
          <a:p>
            <a:pPr algn="just">
              <a:lnSpc>
                <a:spcPct val="160000"/>
              </a:lnSpc>
            </a:pPr>
            <a:r>
              <a:rPr lang="en-US" dirty="0" smtClean="0">
                <a:latin typeface="Times New Roman" pitchFamily="18" charset="0"/>
                <a:cs typeface="Times New Roman" pitchFamily="18" charset="0"/>
              </a:rPr>
              <a:t>A process is the unit of work in a modern time-sharing system</a:t>
            </a:r>
          </a:p>
          <a:p>
            <a:pPr algn="just">
              <a:lnSpc>
                <a:spcPct val="160000"/>
              </a:lnSpc>
            </a:pPr>
            <a:r>
              <a:rPr lang="en-US" dirty="0" smtClean="0">
                <a:latin typeface="Times New Roman" pitchFamily="18" charset="0"/>
                <a:cs typeface="Times New Roman" pitchFamily="18" charset="0"/>
              </a:rPr>
              <a:t>Component of process are:</a:t>
            </a:r>
          </a:p>
          <a:p>
            <a:pPr lvl="1" algn="just">
              <a:lnSpc>
                <a:spcPct val="160000"/>
              </a:lnSpc>
            </a:pPr>
            <a:r>
              <a:rPr lang="en-US" b="1" dirty="0" smtClean="0">
                <a:latin typeface="Times New Roman" pitchFamily="18" charset="0"/>
                <a:cs typeface="Times New Roman" pitchFamily="18" charset="0"/>
              </a:rPr>
              <a:t>Object program</a:t>
            </a:r>
          </a:p>
          <a:p>
            <a:pPr lvl="1" algn="just">
              <a:lnSpc>
                <a:spcPct val="160000"/>
              </a:lnSpc>
            </a:pPr>
            <a:r>
              <a:rPr lang="en-US" b="1" dirty="0" smtClean="0">
                <a:latin typeface="Times New Roman" pitchFamily="18" charset="0"/>
                <a:cs typeface="Times New Roman" pitchFamily="18" charset="0"/>
              </a:rPr>
              <a:t>Data</a:t>
            </a:r>
          </a:p>
          <a:p>
            <a:pPr lvl="1" algn="just">
              <a:lnSpc>
                <a:spcPct val="160000"/>
              </a:lnSpc>
            </a:pPr>
            <a:r>
              <a:rPr lang="en-US" b="1" dirty="0" smtClean="0">
                <a:latin typeface="Times New Roman" pitchFamily="18" charset="0"/>
                <a:cs typeface="Times New Roman" pitchFamily="18" charset="0"/>
              </a:rPr>
              <a:t>Resource</a:t>
            </a:r>
          </a:p>
          <a:p>
            <a:pPr lvl="1" algn="just">
              <a:lnSpc>
                <a:spcPct val="160000"/>
              </a:lnSpc>
            </a:pPr>
            <a:r>
              <a:rPr lang="en-US" b="1" dirty="0" smtClean="0">
                <a:latin typeface="Times New Roman" pitchFamily="18" charset="0"/>
                <a:cs typeface="Times New Roman" pitchFamily="18" charset="0"/>
              </a:rPr>
              <a:t>Status of process execution</a:t>
            </a:r>
          </a:p>
          <a:p>
            <a:pPr algn="just">
              <a:lnSpc>
                <a:spcPct val="160000"/>
              </a:lnSpc>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4989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0640"/>
          </a:xfrm>
        </p:spPr>
        <p:txBody>
          <a:bodyPr/>
          <a:lstStyle/>
          <a:p>
            <a:pPr algn="ctr"/>
            <a:r>
              <a:rPr lang="en-US" b="1" dirty="0" smtClean="0">
                <a:solidFill>
                  <a:srgbClr val="FF0000"/>
                </a:solidFill>
                <a:latin typeface="Times New Roman" pitchFamily="18" charset="0"/>
                <a:cs typeface="Times New Roman" pitchFamily="18" charset="0"/>
              </a:rPr>
              <a:t>Programs and Processes</a:t>
            </a:r>
            <a:endParaRPr lang="en-US" dirty="0"/>
          </a:p>
        </p:txBody>
      </p:sp>
      <p:sp>
        <p:nvSpPr>
          <p:cNvPr id="3" name="Content Placeholder 2"/>
          <p:cNvSpPr>
            <a:spLocks noGrp="1"/>
          </p:cNvSpPr>
          <p:nvPr>
            <p:ph idx="1"/>
          </p:nvPr>
        </p:nvSpPr>
        <p:spPr>
          <a:xfrm>
            <a:off x="838200" y="1075766"/>
            <a:ext cx="10515600" cy="5101197"/>
          </a:xfrm>
        </p:spPr>
        <p:txBody>
          <a:bodyPr/>
          <a:lstStyle/>
          <a:p>
            <a:pPr marL="12700">
              <a:lnSpc>
                <a:spcPct val="100000"/>
              </a:lnSpc>
              <a:spcBef>
                <a:spcPts val="1255"/>
              </a:spcBef>
            </a:pPr>
            <a:r>
              <a:rPr lang="en-US" sz="2400" spc="-10" dirty="0" smtClean="0">
                <a:latin typeface="Times New Roman"/>
                <a:cs typeface="Times New Roman"/>
              </a:rPr>
              <a:t>A process is different than a program. Consider the following analogy</a:t>
            </a:r>
          </a:p>
          <a:p>
            <a:pPr marL="12700">
              <a:lnSpc>
                <a:spcPct val="100000"/>
              </a:lnSpc>
              <a:spcBef>
                <a:spcPts val="1255"/>
              </a:spcBef>
            </a:pPr>
            <a:r>
              <a:rPr lang="en-US" sz="2400" i="1" spc="-10" dirty="0" smtClean="0">
                <a:latin typeface="Times New Roman"/>
                <a:cs typeface="Times New Roman"/>
              </a:rPr>
              <a:t>Scenario-</a:t>
            </a:r>
            <a:r>
              <a:rPr lang="en-US" sz="2400" i="1" dirty="0" smtClean="0">
                <a:latin typeface="Times New Roman"/>
                <a:cs typeface="Times New Roman"/>
              </a:rPr>
              <a:t>1:</a:t>
            </a:r>
            <a:r>
              <a:rPr lang="en-US" sz="2400" i="1" spc="-95" dirty="0" smtClean="0">
                <a:latin typeface="Times New Roman"/>
                <a:cs typeface="Times New Roman"/>
              </a:rPr>
              <a:t> </a:t>
            </a:r>
            <a:r>
              <a:rPr lang="en-US" sz="2400" i="1" dirty="0" smtClean="0">
                <a:latin typeface="Times New Roman"/>
                <a:cs typeface="Times New Roman"/>
              </a:rPr>
              <a:t>A</a:t>
            </a:r>
            <a:r>
              <a:rPr lang="en-US" sz="2400" i="1" spc="-50" dirty="0" smtClean="0">
                <a:latin typeface="Times New Roman"/>
                <a:cs typeface="Times New Roman"/>
              </a:rPr>
              <a:t> </a:t>
            </a:r>
            <a:r>
              <a:rPr lang="en-US" sz="2400" i="1" dirty="0" smtClean="0">
                <a:latin typeface="Times New Roman"/>
                <a:cs typeface="Times New Roman"/>
              </a:rPr>
              <a:t>computer</a:t>
            </a:r>
            <a:r>
              <a:rPr lang="en-US" sz="2400" i="1" spc="-20" dirty="0" smtClean="0">
                <a:latin typeface="Times New Roman"/>
                <a:cs typeface="Times New Roman"/>
              </a:rPr>
              <a:t> </a:t>
            </a:r>
            <a:r>
              <a:rPr lang="en-US" sz="2400" i="1" dirty="0" smtClean="0">
                <a:latin typeface="Times New Roman"/>
                <a:cs typeface="Times New Roman"/>
              </a:rPr>
              <a:t>scientist</a:t>
            </a:r>
            <a:r>
              <a:rPr lang="en-US" sz="2400" i="1" spc="-10" dirty="0" smtClean="0">
                <a:latin typeface="Times New Roman"/>
                <a:cs typeface="Times New Roman"/>
              </a:rPr>
              <a:t> </a:t>
            </a:r>
            <a:r>
              <a:rPr lang="en-US" sz="2400" i="1" dirty="0" smtClean="0">
                <a:latin typeface="Times New Roman"/>
                <a:cs typeface="Times New Roman"/>
              </a:rPr>
              <a:t>is</a:t>
            </a:r>
            <a:r>
              <a:rPr lang="en-US" sz="2400" i="1" spc="-15" dirty="0" smtClean="0">
                <a:latin typeface="Times New Roman"/>
                <a:cs typeface="Times New Roman"/>
              </a:rPr>
              <a:t> </a:t>
            </a:r>
            <a:r>
              <a:rPr lang="en-US" sz="2400" i="1" dirty="0" smtClean="0">
                <a:latin typeface="Times New Roman"/>
                <a:cs typeface="Times New Roman"/>
              </a:rPr>
              <a:t>baking</a:t>
            </a:r>
            <a:r>
              <a:rPr lang="en-US" sz="2400" i="1" spc="-45" dirty="0" smtClean="0">
                <a:latin typeface="Times New Roman"/>
                <a:cs typeface="Times New Roman"/>
              </a:rPr>
              <a:t> </a:t>
            </a:r>
            <a:r>
              <a:rPr lang="en-US" sz="2400" i="1" dirty="0" smtClean="0">
                <a:latin typeface="Times New Roman"/>
                <a:cs typeface="Times New Roman"/>
              </a:rPr>
              <a:t>a</a:t>
            </a:r>
            <a:r>
              <a:rPr lang="en-US" sz="2400" i="1" spc="-20" dirty="0" smtClean="0">
                <a:latin typeface="Times New Roman"/>
                <a:cs typeface="Times New Roman"/>
              </a:rPr>
              <a:t> </a:t>
            </a:r>
            <a:r>
              <a:rPr lang="en-US" sz="2400" i="1" dirty="0" smtClean="0">
                <a:latin typeface="Times New Roman"/>
                <a:cs typeface="Times New Roman"/>
              </a:rPr>
              <a:t>birthday</a:t>
            </a:r>
            <a:r>
              <a:rPr lang="en-US" sz="2400" i="1" spc="-35" dirty="0" smtClean="0">
                <a:latin typeface="Times New Roman"/>
                <a:cs typeface="Times New Roman"/>
              </a:rPr>
              <a:t> </a:t>
            </a:r>
            <a:r>
              <a:rPr lang="en-US" sz="2400" i="1" dirty="0" smtClean="0">
                <a:latin typeface="Times New Roman"/>
                <a:cs typeface="Times New Roman"/>
              </a:rPr>
              <a:t>cake</a:t>
            </a:r>
            <a:r>
              <a:rPr lang="en-US" sz="2400" i="1" spc="-5" dirty="0" smtClean="0">
                <a:latin typeface="Times New Roman"/>
                <a:cs typeface="Times New Roman"/>
              </a:rPr>
              <a:t> </a:t>
            </a:r>
            <a:r>
              <a:rPr lang="en-US" sz="2400" i="1" dirty="0" smtClean="0">
                <a:latin typeface="Times New Roman"/>
                <a:cs typeface="Times New Roman"/>
              </a:rPr>
              <a:t>for</a:t>
            </a:r>
            <a:r>
              <a:rPr lang="en-US" sz="2400" i="1" spc="-40" dirty="0" smtClean="0">
                <a:latin typeface="Times New Roman"/>
                <a:cs typeface="Times New Roman"/>
              </a:rPr>
              <a:t> </a:t>
            </a:r>
            <a:r>
              <a:rPr lang="en-US" sz="2400" i="1" dirty="0" smtClean="0">
                <a:latin typeface="Times New Roman"/>
                <a:cs typeface="Times New Roman"/>
              </a:rPr>
              <a:t>his</a:t>
            </a:r>
            <a:r>
              <a:rPr lang="en-US" sz="2400" i="1" spc="-15" dirty="0" smtClean="0">
                <a:latin typeface="Times New Roman"/>
                <a:cs typeface="Times New Roman"/>
              </a:rPr>
              <a:t> </a:t>
            </a:r>
            <a:r>
              <a:rPr lang="en-US" sz="2400" i="1" spc="-10" dirty="0" smtClean="0">
                <a:latin typeface="Times New Roman"/>
                <a:cs typeface="Times New Roman"/>
              </a:rPr>
              <a:t>daughter</a:t>
            </a:r>
            <a:endParaRPr lang="en-US" sz="2400" dirty="0">
              <a:latin typeface="Times New Roman"/>
              <a:cs typeface="Times New Roman"/>
            </a:endParaRPr>
          </a:p>
        </p:txBody>
      </p:sp>
      <p:sp>
        <p:nvSpPr>
          <p:cNvPr id="4" name="object 9"/>
          <p:cNvSpPr txBox="1"/>
          <p:nvPr/>
        </p:nvSpPr>
        <p:spPr>
          <a:xfrm>
            <a:off x="1406723" y="2374128"/>
            <a:ext cx="2665095" cy="2927350"/>
          </a:xfrm>
          <a:prstGeom prst="rect">
            <a:avLst/>
          </a:prstGeom>
        </p:spPr>
        <p:txBody>
          <a:bodyPr vert="horz" wrap="square" lIns="0" tIns="12700" rIns="0" bIns="0" rtlCol="0">
            <a:spAutoFit/>
          </a:bodyPr>
          <a:lstStyle/>
          <a:p>
            <a:pPr marL="12700" marR="749935" indent="57785">
              <a:lnSpc>
                <a:spcPct val="157800"/>
              </a:lnSpc>
              <a:spcBef>
                <a:spcPts val="100"/>
              </a:spcBef>
            </a:pPr>
            <a:r>
              <a:rPr sz="1800" dirty="0">
                <a:latin typeface="Times New Roman"/>
                <a:cs typeface="Times New Roman"/>
              </a:rPr>
              <a:t>Computer</a:t>
            </a:r>
            <a:r>
              <a:rPr sz="1800" spc="-25" dirty="0">
                <a:latin typeface="Times New Roman"/>
                <a:cs typeface="Times New Roman"/>
              </a:rPr>
              <a:t> </a:t>
            </a:r>
            <a:r>
              <a:rPr sz="1800" spc="-10" dirty="0">
                <a:latin typeface="Times New Roman"/>
                <a:cs typeface="Times New Roman"/>
              </a:rPr>
              <a:t>scientist </a:t>
            </a:r>
            <a:r>
              <a:rPr sz="1800" dirty="0">
                <a:latin typeface="Times New Roman"/>
                <a:cs typeface="Times New Roman"/>
              </a:rPr>
              <a:t>Birthday</a:t>
            </a:r>
            <a:r>
              <a:rPr sz="1800" spc="-70" dirty="0">
                <a:latin typeface="Times New Roman"/>
                <a:cs typeface="Times New Roman"/>
              </a:rPr>
              <a:t> </a:t>
            </a:r>
            <a:r>
              <a:rPr sz="1800" dirty="0">
                <a:latin typeface="Times New Roman"/>
                <a:cs typeface="Times New Roman"/>
              </a:rPr>
              <a:t>cake</a:t>
            </a:r>
            <a:r>
              <a:rPr sz="1800" spc="10" dirty="0">
                <a:latin typeface="Times New Roman"/>
                <a:cs typeface="Times New Roman"/>
              </a:rPr>
              <a:t> </a:t>
            </a:r>
            <a:r>
              <a:rPr sz="1800" spc="-10" dirty="0">
                <a:latin typeface="Times New Roman"/>
                <a:cs typeface="Times New Roman"/>
              </a:rPr>
              <a:t>recipe Ingredients Activities:</a:t>
            </a:r>
            <a:endParaRPr sz="1800" dirty="0">
              <a:latin typeface="Times New Roman"/>
              <a:cs typeface="Times New Roman"/>
            </a:endParaRPr>
          </a:p>
          <a:p>
            <a:pPr marL="490220" indent="-133350">
              <a:lnSpc>
                <a:spcPct val="100000"/>
              </a:lnSpc>
              <a:spcBef>
                <a:spcPts val="1245"/>
              </a:spcBef>
              <a:buChar char="-"/>
              <a:tabLst>
                <a:tab pos="490220" algn="l"/>
              </a:tabLst>
            </a:pPr>
            <a:r>
              <a:rPr sz="1800" dirty="0">
                <a:latin typeface="Times New Roman"/>
                <a:cs typeface="Times New Roman"/>
              </a:rPr>
              <a:t>reading</a:t>
            </a:r>
            <a:r>
              <a:rPr sz="1800" spc="-25" dirty="0">
                <a:latin typeface="Times New Roman"/>
                <a:cs typeface="Times New Roman"/>
              </a:rPr>
              <a:t> </a:t>
            </a:r>
            <a:r>
              <a:rPr sz="1800" dirty="0">
                <a:latin typeface="Times New Roman"/>
                <a:cs typeface="Times New Roman"/>
              </a:rPr>
              <a:t>the</a:t>
            </a:r>
            <a:r>
              <a:rPr sz="1800" spc="-30" dirty="0">
                <a:latin typeface="Times New Roman"/>
                <a:cs typeface="Times New Roman"/>
              </a:rPr>
              <a:t> </a:t>
            </a:r>
            <a:r>
              <a:rPr sz="1800" spc="-10" dirty="0">
                <a:latin typeface="Times New Roman"/>
                <a:cs typeface="Times New Roman"/>
              </a:rPr>
              <a:t>recipe</a:t>
            </a:r>
            <a:endParaRPr sz="1800" dirty="0">
              <a:latin typeface="Times New Roman"/>
              <a:cs typeface="Times New Roman"/>
            </a:endParaRPr>
          </a:p>
          <a:p>
            <a:pPr marL="490220" indent="-133350">
              <a:lnSpc>
                <a:spcPct val="100000"/>
              </a:lnSpc>
              <a:spcBef>
                <a:spcPts val="745"/>
              </a:spcBef>
              <a:buChar char="-"/>
              <a:tabLst>
                <a:tab pos="490220" algn="l"/>
              </a:tabLst>
            </a:pPr>
            <a:r>
              <a:rPr sz="1800" dirty="0">
                <a:latin typeface="Times New Roman"/>
                <a:cs typeface="Times New Roman"/>
              </a:rPr>
              <a:t>fetching</a:t>
            </a:r>
            <a:r>
              <a:rPr sz="1800" spc="-35" dirty="0">
                <a:latin typeface="Times New Roman"/>
                <a:cs typeface="Times New Roman"/>
              </a:rPr>
              <a:t> </a:t>
            </a:r>
            <a:r>
              <a:rPr sz="1800" dirty="0">
                <a:latin typeface="Times New Roman"/>
                <a:cs typeface="Times New Roman"/>
              </a:rPr>
              <a:t>the</a:t>
            </a:r>
            <a:r>
              <a:rPr sz="1800" spc="-25" dirty="0">
                <a:latin typeface="Times New Roman"/>
                <a:cs typeface="Times New Roman"/>
              </a:rPr>
              <a:t> </a:t>
            </a:r>
            <a:r>
              <a:rPr sz="1800" spc="-10" dirty="0">
                <a:latin typeface="Times New Roman"/>
                <a:cs typeface="Times New Roman"/>
              </a:rPr>
              <a:t>ingradients</a:t>
            </a:r>
            <a:endParaRPr sz="1800" dirty="0">
              <a:latin typeface="Times New Roman"/>
              <a:cs typeface="Times New Roman"/>
            </a:endParaRPr>
          </a:p>
          <a:p>
            <a:pPr marL="490220" indent="-133350">
              <a:lnSpc>
                <a:spcPct val="100000"/>
              </a:lnSpc>
              <a:spcBef>
                <a:spcPts val="745"/>
              </a:spcBef>
              <a:buChar char="-"/>
              <a:tabLst>
                <a:tab pos="490220" algn="l"/>
              </a:tabLst>
            </a:pPr>
            <a:r>
              <a:rPr sz="1800" dirty="0">
                <a:latin typeface="Times New Roman"/>
                <a:cs typeface="Times New Roman"/>
              </a:rPr>
              <a:t>backing</a:t>
            </a:r>
            <a:r>
              <a:rPr sz="1800" spc="-25" dirty="0">
                <a:latin typeface="Times New Roman"/>
                <a:cs typeface="Times New Roman"/>
              </a:rPr>
              <a:t> </a:t>
            </a:r>
            <a:r>
              <a:rPr sz="1800" dirty="0">
                <a:latin typeface="Times New Roman"/>
                <a:cs typeface="Times New Roman"/>
              </a:rPr>
              <a:t>the</a:t>
            </a:r>
            <a:r>
              <a:rPr sz="1800" spc="-40" dirty="0">
                <a:latin typeface="Times New Roman"/>
                <a:cs typeface="Times New Roman"/>
              </a:rPr>
              <a:t> </a:t>
            </a:r>
            <a:r>
              <a:rPr sz="1800" spc="-20" dirty="0">
                <a:latin typeface="Times New Roman"/>
                <a:cs typeface="Times New Roman"/>
              </a:rPr>
              <a:t>cake</a:t>
            </a:r>
            <a:endParaRPr sz="1800" dirty="0">
              <a:latin typeface="Times New Roman"/>
              <a:cs typeface="Times New Roman"/>
            </a:endParaRPr>
          </a:p>
        </p:txBody>
      </p:sp>
      <p:sp>
        <p:nvSpPr>
          <p:cNvPr id="5" name="object 8"/>
          <p:cNvSpPr txBox="1"/>
          <p:nvPr/>
        </p:nvSpPr>
        <p:spPr>
          <a:xfrm>
            <a:off x="4519317" y="2374128"/>
            <a:ext cx="1068705" cy="1757045"/>
          </a:xfrm>
          <a:prstGeom prst="rect">
            <a:avLst/>
          </a:prstGeom>
        </p:spPr>
        <p:txBody>
          <a:bodyPr vert="horz" wrap="square" lIns="0" tIns="170815" rIns="0" bIns="0" rtlCol="0">
            <a:spAutoFit/>
          </a:bodyPr>
          <a:lstStyle/>
          <a:p>
            <a:pPr marL="146050" indent="-133350">
              <a:lnSpc>
                <a:spcPct val="100000"/>
              </a:lnSpc>
              <a:spcBef>
                <a:spcPts val="1345"/>
              </a:spcBef>
              <a:buChar char="-"/>
              <a:tabLst>
                <a:tab pos="146050" algn="l"/>
              </a:tabLst>
            </a:pPr>
            <a:r>
              <a:rPr sz="1800" spc="-25" dirty="0">
                <a:latin typeface="Times New Roman"/>
                <a:cs typeface="Times New Roman"/>
              </a:rPr>
              <a:t>CPU</a:t>
            </a:r>
            <a:endParaRPr sz="1800" dirty="0">
              <a:latin typeface="Times New Roman"/>
              <a:cs typeface="Times New Roman"/>
            </a:endParaRPr>
          </a:p>
          <a:p>
            <a:pPr marL="146050" indent="-133350">
              <a:lnSpc>
                <a:spcPct val="100000"/>
              </a:lnSpc>
              <a:spcBef>
                <a:spcPts val="1250"/>
              </a:spcBef>
              <a:buChar char="-"/>
              <a:tabLst>
                <a:tab pos="146050" algn="l"/>
              </a:tabLst>
            </a:pPr>
            <a:r>
              <a:rPr sz="1800" spc="-10" dirty="0">
                <a:latin typeface="Times New Roman"/>
                <a:cs typeface="Times New Roman"/>
              </a:rPr>
              <a:t>program</a:t>
            </a:r>
            <a:endParaRPr sz="1800" dirty="0">
              <a:latin typeface="Times New Roman"/>
              <a:cs typeface="Times New Roman"/>
            </a:endParaRPr>
          </a:p>
          <a:p>
            <a:pPr marL="146050" indent="-133350">
              <a:lnSpc>
                <a:spcPct val="100000"/>
              </a:lnSpc>
              <a:spcBef>
                <a:spcPts val="1245"/>
              </a:spcBef>
              <a:buChar char="-"/>
              <a:tabLst>
                <a:tab pos="146050" algn="l"/>
              </a:tabLst>
            </a:pPr>
            <a:r>
              <a:rPr sz="1800" dirty="0">
                <a:latin typeface="Times New Roman"/>
                <a:cs typeface="Times New Roman"/>
              </a:rPr>
              <a:t>input</a:t>
            </a:r>
            <a:r>
              <a:rPr sz="1800" spc="-10" dirty="0">
                <a:latin typeface="Times New Roman"/>
                <a:cs typeface="Times New Roman"/>
              </a:rPr>
              <a:t> </a:t>
            </a:r>
            <a:r>
              <a:rPr sz="1800" spc="-20" dirty="0">
                <a:latin typeface="Times New Roman"/>
                <a:cs typeface="Times New Roman"/>
              </a:rPr>
              <a:t>data</a:t>
            </a:r>
            <a:endParaRPr sz="1800" dirty="0">
              <a:latin typeface="Times New Roman"/>
              <a:cs typeface="Times New Roman"/>
            </a:endParaRPr>
          </a:p>
          <a:p>
            <a:pPr marL="146050" indent="-133350">
              <a:lnSpc>
                <a:spcPct val="100000"/>
              </a:lnSpc>
              <a:spcBef>
                <a:spcPts val="1250"/>
              </a:spcBef>
              <a:buChar char="-"/>
              <a:tabLst>
                <a:tab pos="146050" algn="l"/>
              </a:tabLst>
            </a:pPr>
            <a:r>
              <a:rPr sz="1800" spc="-10" dirty="0">
                <a:latin typeface="Times New Roman"/>
                <a:cs typeface="Times New Roman"/>
              </a:rPr>
              <a:t>processes</a:t>
            </a:r>
            <a:endParaRPr sz="1800" dirty="0">
              <a:latin typeface="Times New Roman"/>
              <a:cs typeface="Times New Roman"/>
            </a:endParaRPr>
          </a:p>
        </p:txBody>
      </p:sp>
    </p:spTree>
    <p:extLst>
      <p:ext uri="{BB962C8B-B14F-4D97-AF65-F5344CB8AC3E}">
        <p14:creationId xmlns:p14="http://schemas.microsoft.com/office/powerpoint/2010/main" val="193294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Programs and Processes</a:t>
            </a:r>
            <a:endParaRPr lang="en-US" dirty="0"/>
          </a:p>
        </p:txBody>
      </p:sp>
      <p:sp>
        <p:nvSpPr>
          <p:cNvPr id="4" name="object 5"/>
          <p:cNvSpPr txBox="1">
            <a:spLocks noGrp="1"/>
          </p:cNvSpPr>
          <p:nvPr>
            <p:ph idx="1"/>
          </p:nvPr>
        </p:nvSpPr>
        <p:spPr>
          <a:xfrm>
            <a:off x="838200" y="1089025"/>
            <a:ext cx="10515600" cy="5087938"/>
          </a:xfrm>
          <a:prstGeom prst="rect">
            <a:avLst/>
          </a:prstGeom>
        </p:spPr>
        <p:txBody>
          <a:bodyPr vert="horz" wrap="square" lIns="0" tIns="8255" rIns="0" bIns="0" rtlCol="0">
            <a:spAutoFit/>
          </a:bodyPr>
          <a:lstStyle/>
          <a:p>
            <a:pPr marL="356870" marR="5080" indent="-344805">
              <a:lnSpc>
                <a:spcPct val="101000"/>
              </a:lnSpc>
              <a:spcBef>
                <a:spcPts val="65"/>
              </a:spcBef>
            </a:pPr>
            <a:r>
              <a:rPr sz="2000" i="1" spc="-10" dirty="0">
                <a:latin typeface="Times New Roman"/>
                <a:cs typeface="Times New Roman"/>
              </a:rPr>
              <a:t>Scenario-</a:t>
            </a:r>
            <a:r>
              <a:rPr sz="2000" i="1" dirty="0">
                <a:latin typeface="Times New Roman"/>
                <a:cs typeface="Times New Roman"/>
              </a:rPr>
              <a:t>2:</a:t>
            </a:r>
            <a:r>
              <a:rPr sz="2000" i="1" spc="-55" dirty="0">
                <a:latin typeface="Times New Roman"/>
                <a:cs typeface="Times New Roman"/>
              </a:rPr>
              <a:t> </a:t>
            </a:r>
            <a:r>
              <a:rPr sz="2000" i="1" dirty="0">
                <a:latin typeface="Times New Roman"/>
                <a:cs typeface="Times New Roman"/>
              </a:rPr>
              <a:t>Scientist's</a:t>
            </a:r>
            <a:r>
              <a:rPr sz="2000" i="1" spc="-45" dirty="0">
                <a:latin typeface="Times New Roman"/>
                <a:cs typeface="Times New Roman"/>
              </a:rPr>
              <a:t> </a:t>
            </a:r>
            <a:r>
              <a:rPr sz="2000" i="1" dirty="0">
                <a:latin typeface="Times New Roman"/>
                <a:cs typeface="Times New Roman"/>
              </a:rPr>
              <a:t>son</a:t>
            </a:r>
            <a:r>
              <a:rPr sz="2000" i="1" spc="-30" dirty="0">
                <a:latin typeface="Times New Roman"/>
                <a:cs typeface="Times New Roman"/>
              </a:rPr>
              <a:t> </a:t>
            </a:r>
            <a:r>
              <a:rPr sz="2000" i="1" dirty="0">
                <a:latin typeface="Times New Roman"/>
                <a:cs typeface="Times New Roman"/>
              </a:rPr>
              <a:t>comes</a:t>
            </a:r>
            <a:r>
              <a:rPr sz="2000" i="1" spc="-20" dirty="0">
                <a:latin typeface="Times New Roman"/>
                <a:cs typeface="Times New Roman"/>
              </a:rPr>
              <a:t> </a:t>
            </a:r>
            <a:r>
              <a:rPr sz="2000" i="1" dirty="0">
                <a:latin typeface="Times New Roman"/>
                <a:cs typeface="Times New Roman"/>
              </a:rPr>
              <a:t>running</a:t>
            </a:r>
            <a:r>
              <a:rPr sz="2000" i="1" spc="-25" dirty="0">
                <a:latin typeface="Times New Roman"/>
                <a:cs typeface="Times New Roman"/>
              </a:rPr>
              <a:t> </a:t>
            </a:r>
            <a:r>
              <a:rPr sz="2000" i="1" dirty="0">
                <a:latin typeface="Times New Roman"/>
                <a:cs typeface="Times New Roman"/>
              </a:rPr>
              <a:t>in</a:t>
            </a:r>
            <a:r>
              <a:rPr sz="2000" i="1" spc="-25" dirty="0">
                <a:latin typeface="Times New Roman"/>
                <a:cs typeface="Times New Roman"/>
              </a:rPr>
              <a:t> </a:t>
            </a:r>
            <a:r>
              <a:rPr sz="2000" i="1" dirty="0">
                <a:latin typeface="Times New Roman"/>
                <a:cs typeface="Times New Roman"/>
              </a:rPr>
              <a:t>crying,</a:t>
            </a:r>
            <a:r>
              <a:rPr sz="2000" i="1" spc="-30" dirty="0">
                <a:latin typeface="Times New Roman"/>
                <a:cs typeface="Times New Roman"/>
              </a:rPr>
              <a:t> </a:t>
            </a:r>
            <a:r>
              <a:rPr sz="2000" i="1" dirty="0">
                <a:latin typeface="Times New Roman"/>
                <a:cs typeface="Times New Roman"/>
              </a:rPr>
              <a:t>saying</a:t>
            </a:r>
            <a:r>
              <a:rPr sz="2000" i="1" spc="-25" dirty="0">
                <a:latin typeface="Times New Roman"/>
                <a:cs typeface="Times New Roman"/>
              </a:rPr>
              <a:t> </a:t>
            </a:r>
            <a:r>
              <a:rPr sz="2000" i="1" dirty="0">
                <a:latin typeface="Times New Roman"/>
                <a:cs typeface="Times New Roman"/>
              </a:rPr>
              <a:t>he</a:t>
            </a:r>
            <a:r>
              <a:rPr sz="2000" i="1" spc="-15" dirty="0">
                <a:latin typeface="Times New Roman"/>
                <a:cs typeface="Times New Roman"/>
              </a:rPr>
              <a:t> </a:t>
            </a:r>
            <a:r>
              <a:rPr sz="2000" i="1" dirty="0">
                <a:latin typeface="Times New Roman"/>
                <a:cs typeface="Times New Roman"/>
              </a:rPr>
              <a:t>has</a:t>
            </a:r>
            <a:r>
              <a:rPr sz="2000" i="1" spc="-45" dirty="0">
                <a:latin typeface="Times New Roman"/>
                <a:cs typeface="Times New Roman"/>
              </a:rPr>
              <a:t> </a:t>
            </a:r>
            <a:r>
              <a:rPr sz="2000" i="1" dirty="0">
                <a:latin typeface="Times New Roman"/>
                <a:cs typeface="Times New Roman"/>
              </a:rPr>
              <a:t>been</a:t>
            </a:r>
            <a:r>
              <a:rPr sz="2000" i="1" spc="-25" dirty="0">
                <a:latin typeface="Times New Roman"/>
                <a:cs typeface="Times New Roman"/>
              </a:rPr>
              <a:t> </a:t>
            </a:r>
            <a:r>
              <a:rPr sz="2000" i="1" dirty="0">
                <a:latin typeface="Times New Roman"/>
                <a:cs typeface="Times New Roman"/>
              </a:rPr>
              <a:t>stung</a:t>
            </a:r>
            <a:r>
              <a:rPr sz="2000" i="1" spc="-25" dirty="0">
                <a:latin typeface="Times New Roman"/>
                <a:cs typeface="Times New Roman"/>
              </a:rPr>
              <a:t> </a:t>
            </a:r>
            <a:r>
              <a:rPr sz="2000" i="1" dirty="0">
                <a:latin typeface="Times New Roman"/>
                <a:cs typeface="Times New Roman"/>
              </a:rPr>
              <a:t>by</a:t>
            </a:r>
            <a:r>
              <a:rPr sz="2000" i="1" spc="-10" dirty="0">
                <a:latin typeface="Times New Roman"/>
                <a:cs typeface="Times New Roman"/>
              </a:rPr>
              <a:t> </a:t>
            </a:r>
            <a:r>
              <a:rPr sz="2000" i="1" spc="-50" dirty="0">
                <a:latin typeface="Times New Roman"/>
                <a:cs typeface="Times New Roman"/>
              </a:rPr>
              <a:t>a </a:t>
            </a:r>
            <a:r>
              <a:rPr sz="2000" i="1" spc="-20" dirty="0">
                <a:latin typeface="Times New Roman"/>
                <a:cs typeface="Times New Roman"/>
              </a:rPr>
              <a:t>bee.</a:t>
            </a:r>
            <a:endParaRPr sz="2000" dirty="0">
              <a:latin typeface="Times New Roman"/>
              <a:cs typeface="Times New Roman"/>
            </a:endParaRPr>
          </a:p>
        </p:txBody>
      </p:sp>
      <p:sp>
        <p:nvSpPr>
          <p:cNvPr id="5" name="object 6"/>
          <p:cNvSpPr txBox="1"/>
          <p:nvPr/>
        </p:nvSpPr>
        <p:spPr>
          <a:xfrm>
            <a:off x="1253833" y="1695255"/>
            <a:ext cx="2828925" cy="3347711"/>
          </a:xfrm>
          <a:prstGeom prst="rect">
            <a:avLst/>
          </a:prstGeom>
        </p:spPr>
        <p:txBody>
          <a:bodyPr vert="horz" wrap="square" lIns="0" tIns="38735" rIns="0" bIns="0" rtlCol="0">
            <a:spAutoFit/>
          </a:bodyPr>
          <a:lstStyle/>
          <a:p>
            <a:pPr marL="299085" marR="166370" indent="-287020">
              <a:spcBef>
                <a:spcPts val="305"/>
              </a:spcBef>
              <a:buSzPct val="75000"/>
              <a:buFont typeface="Symbol"/>
              <a:buChar char=""/>
              <a:tabLst>
                <a:tab pos="299085" algn="l"/>
              </a:tabLst>
            </a:pPr>
            <a:r>
              <a:rPr sz="2000" dirty="0">
                <a:latin typeface="Times New Roman"/>
                <a:cs typeface="Times New Roman"/>
              </a:rPr>
              <a:t>Scientist</a:t>
            </a:r>
            <a:r>
              <a:rPr sz="2000" spc="-20" dirty="0">
                <a:latin typeface="Times New Roman"/>
                <a:cs typeface="Times New Roman"/>
              </a:rPr>
              <a:t> </a:t>
            </a:r>
            <a:r>
              <a:rPr sz="2000" dirty="0">
                <a:latin typeface="Times New Roman"/>
                <a:cs typeface="Times New Roman"/>
              </a:rPr>
              <a:t>records</a:t>
            </a:r>
            <a:r>
              <a:rPr sz="2000" spc="-90" dirty="0">
                <a:latin typeface="Times New Roman"/>
                <a:cs typeface="Times New Roman"/>
              </a:rPr>
              <a:t> </a:t>
            </a:r>
            <a:r>
              <a:rPr sz="2000" spc="-20" dirty="0">
                <a:latin typeface="Times New Roman"/>
                <a:cs typeface="Times New Roman"/>
              </a:rPr>
              <a:t>where </a:t>
            </a:r>
            <a:r>
              <a:rPr sz="2000" dirty="0">
                <a:latin typeface="Times New Roman"/>
                <a:cs typeface="Times New Roman"/>
              </a:rPr>
              <a:t>he</a:t>
            </a:r>
            <a:r>
              <a:rPr sz="2000" spc="-35" dirty="0">
                <a:latin typeface="Times New Roman"/>
                <a:cs typeface="Times New Roman"/>
              </a:rPr>
              <a:t> </a:t>
            </a:r>
            <a:r>
              <a:rPr sz="2000" dirty="0">
                <a:latin typeface="Times New Roman"/>
                <a:cs typeface="Times New Roman"/>
              </a:rPr>
              <a:t>was</a:t>
            </a:r>
            <a:r>
              <a:rPr sz="2000" spc="20" dirty="0">
                <a:latin typeface="Times New Roman"/>
                <a:cs typeface="Times New Roman"/>
              </a:rPr>
              <a:t> </a:t>
            </a:r>
            <a:r>
              <a:rPr sz="2000" dirty="0">
                <a:latin typeface="Times New Roman"/>
                <a:cs typeface="Times New Roman"/>
              </a:rPr>
              <a:t>in</a:t>
            </a:r>
            <a:r>
              <a:rPr sz="2000" spc="-50" dirty="0">
                <a:latin typeface="Times New Roman"/>
                <a:cs typeface="Times New Roman"/>
              </a:rPr>
              <a:t> </a:t>
            </a:r>
            <a:r>
              <a:rPr sz="2000" dirty="0">
                <a:latin typeface="Times New Roman"/>
                <a:cs typeface="Times New Roman"/>
              </a:rPr>
              <a:t>the</a:t>
            </a:r>
            <a:r>
              <a:rPr sz="2000" spc="-10" dirty="0">
                <a:latin typeface="Times New Roman"/>
                <a:cs typeface="Times New Roman"/>
              </a:rPr>
              <a:t> recipe</a:t>
            </a:r>
            <a:endParaRPr sz="2000" dirty="0">
              <a:latin typeface="Times New Roman"/>
              <a:cs typeface="Times New Roman"/>
            </a:endParaRPr>
          </a:p>
          <a:p>
            <a:pPr marL="299085" marR="45085" indent="-287020">
              <a:spcBef>
                <a:spcPts val="1420"/>
              </a:spcBef>
              <a:buSzPct val="75000"/>
              <a:buFont typeface="Symbol"/>
              <a:buChar char=""/>
              <a:tabLst>
                <a:tab pos="299085" algn="l"/>
              </a:tabLst>
            </a:pPr>
            <a:r>
              <a:rPr sz="2000" dirty="0">
                <a:latin typeface="Times New Roman"/>
                <a:cs typeface="Times New Roman"/>
              </a:rPr>
              <a:t>Reach</a:t>
            </a:r>
            <a:r>
              <a:rPr sz="2000" spc="-15" dirty="0">
                <a:latin typeface="Times New Roman"/>
                <a:cs typeface="Times New Roman"/>
              </a:rPr>
              <a:t> </a:t>
            </a:r>
            <a:r>
              <a:rPr sz="2000" dirty="0">
                <a:latin typeface="Times New Roman"/>
                <a:cs typeface="Times New Roman"/>
              </a:rPr>
              <a:t>first</a:t>
            </a:r>
            <a:r>
              <a:rPr sz="2000" spc="-30" dirty="0">
                <a:latin typeface="Times New Roman"/>
                <a:cs typeface="Times New Roman"/>
              </a:rPr>
              <a:t> </a:t>
            </a:r>
            <a:r>
              <a:rPr sz="2000" dirty="0">
                <a:latin typeface="Times New Roman"/>
                <a:cs typeface="Times New Roman"/>
              </a:rPr>
              <a:t>aid</a:t>
            </a:r>
            <a:r>
              <a:rPr sz="2000" spc="-15" dirty="0">
                <a:latin typeface="Times New Roman"/>
                <a:cs typeface="Times New Roman"/>
              </a:rPr>
              <a:t> </a:t>
            </a:r>
            <a:r>
              <a:rPr sz="2000" dirty="0" smtClean="0">
                <a:latin typeface="Times New Roman"/>
                <a:cs typeface="Times New Roman"/>
              </a:rPr>
              <a:t>bo</a:t>
            </a:r>
            <a:r>
              <a:rPr lang="en-US" sz="2000" dirty="0" smtClean="0">
                <a:latin typeface="Times New Roman"/>
                <a:cs typeface="Times New Roman"/>
              </a:rPr>
              <a:t>x</a:t>
            </a:r>
            <a:r>
              <a:rPr sz="2000" spc="-60" dirty="0" smtClean="0">
                <a:latin typeface="Times New Roman"/>
                <a:cs typeface="Times New Roman"/>
              </a:rPr>
              <a:t> </a:t>
            </a:r>
            <a:r>
              <a:rPr sz="2000" spc="-25" dirty="0">
                <a:latin typeface="Times New Roman"/>
                <a:cs typeface="Times New Roman"/>
              </a:rPr>
              <a:t>and </a:t>
            </a:r>
            <a:r>
              <a:rPr sz="2000" spc="-10" dirty="0">
                <a:latin typeface="Times New Roman"/>
                <a:cs typeface="Times New Roman"/>
              </a:rPr>
              <a:t>materials</a:t>
            </a:r>
            <a:endParaRPr sz="2000" dirty="0">
              <a:latin typeface="Times New Roman"/>
              <a:cs typeface="Times New Roman"/>
            </a:endParaRPr>
          </a:p>
          <a:p>
            <a:pPr marL="299085" marR="5080" indent="-287020">
              <a:spcBef>
                <a:spcPts val="1395"/>
              </a:spcBef>
              <a:buSzPct val="75000"/>
              <a:buFont typeface="Symbol"/>
              <a:buChar char=""/>
              <a:tabLst>
                <a:tab pos="299085" algn="l"/>
              </a:tabLst>
            </a:pPr>
            <a:r>
              <a:rPr sz="2000" dirty="0">
                <a:latin typeface="Times New Roman"/>
                <a:cs typeface="Times New Roman"/>
              </a:rPr>
              <a:t>Follow</a:t>
            </a:r>
            <a:r>
              <a:rPr sz="2000" spc="-2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first</a:t>
            </a:r>
            <a:r>
              <a:rPr sz="2000" spc="-25" dirty="0">
                <a:latin typeface="Times New Roman"/>
                <a:cs typeface="Times New Roman"/>
              </a:rPr>
              <a:t> aid </a:t>
            </a:r>
            <a:r>
              <a:rPr sz="2000" dirty="0">
                <a:latin typeface="Times New Roman"/>
                <a:cs typeface="Times New Roman"/>
              </a:rPr>
              <a:t>action</a:t>
            </a:r>
            <a:r>
              <a:rPr sz="2000" spc="-35" dirty="0">
                <a:latin typeface="Times New Roman"/>
                <a:cs typeface="Times New Roman"/>
              </a:rPr>
              <a:t> </a:t>
            </a:r>
            <a:r>
              <a:rPr sz="2000" dirty="0">
                <a:latin typeface="Times New Roman"/>
                <a:cs typeface="Times New Roman"/>
              </a:rPr>
              <a:t>(high</a:t>
            </a:r>
            <a:r>
              <a:rPr sz="2000" spc="-15" dirty="0">
                <a:latin typeface="Times New Roman"/>
                <a:cs typeface="Times New Roman"/>
              </a:rPr>
              <a:t> </a:t>
            </a:r>
            <a:r>
              <a:rPr sz="2000" dirty="0">
                <a:latin typeface="Times New Roman"/>
                <a:cs typeface="Times New Roman"/>
              </a:rPr>
              <a:t>priority</a:t>
            </a:r>
            <a:r>
              <a:rPr sz="2000" spc="-55" dirty="0">
                <a:latin typeface="Times New Roman"/>
                <a:cs typeface="Times New Roman"/>
              </a:rPr>
              <a:t> </a:t>
            </a:r>
            <a:r>
              <a:rPr sz="2000" spc="-20" dirty="0">
                <a:latin typeface="Times New Roman"/>
                <a:cs typeface="Times New Roman"/>
              </a:rPr>
              <a:t>job)</a:t>
            </a:r>
            <a:endParaRPr sz="2000" dirty="0">
              <a:latin typeface="Times New Roman"/>
              <a:cs typeface="Times New Roman"/>
            </a:endParaRPr>
          </a:p>
          <a:p>
            <a:pPr marL="299085" marR="94615" indent="-287020">
              <a:spcBef>
                <a:spcPts val="1400"/>
              </a:spcBef>
              <a:buSzPct val="75000"/>
              <a:buFont typeface="Symbol"/>
              <a:buChar char=""/>
              <a:tabLst>
                <a:tab pos="299085" algn="l"/>
              </a:tabLst>
            </a:pPr>
            <a:r>
              <a:rPr sz="2000" dirty="0">
                <a:latin typeface="Times New Roman"/>
                <a:cs typeface="Times New Roman"/>
              </a:rPr>
              <a:t>On</a:t>
            </a:r>
            <a:r>
              <a:rPr sz="2000" spc="-20" dirty="0">
                <a:latin typeface="Times New Roman"/>
                <a:cs typeface="Times New Roman"/>
              </a:rPr>
              <a:t> </a:t>
            </a:r>
            <a:r>
              <a:rPr sz="2000" dirty="0">
                <a:latin typeface="Times New Roman"/>
                <a:cs typeface="Times New Roman"/>
              </a:rPr>
              <a:t>completion</a:t>
            </a:r>
            <a:r>
              <a:rPr sz="2000" spc="-15" dirty="0">
                <a:latin typeface="Times New Roman"/>
                <a:cs typeface="Times New Roman"/>
              </a:rPr>
              <a:t> </a:t>
            </a:r>
            <a:r>
              <a:rPr sz="2000" dirty="0">
                <a:latin typeface="Times New Roman"/>
                <a:cs typeface="Times New Roman"/>
              </a:rPr>
              <a:t>of</a:t>
            </a:r>
            <a:r>
              <a:rPr sz="2000" spc="-35" dirty="0">
                <a:latin typeface="Times New Roman"/>
                <a:cs typeface="Times New Roman"/>
              </a:rPr>
              <a:t> </a:t>
            </a:r>
            <a:r>
              <a:rPr sz="2000" spc="-20" dirty="0">
                <a:latin typeface="Times New Roman"/>
                <a:cs typeface="Times New Roman"/>
              </a:rPr>
              <a:t>aid, </a:t>
            </a:r>
            <a:r>
              <a:rPr sz="2000" dirty="0">
                <a:latin typeface="Times New Roman"/>
                <a:cs typeface="Times New Roman"/>
              </a:rPr>
              <a:t>cake</a:t>
            </a:r>
            <a:r>
              <a:rPr sz="2000" spc="-40" dirty="0">
                <a:latin typeface="Times New Roman"/>
                <a:cs typeface="Times New Roman"/>
              </a:rPr>
              <a:t> </a:t>
            </a:r>
            <a:r>
              <a:rPr sz="2000" dirty="0">
                <a:latin typeface="Times New Roman"/>
                <a:cs typeface="Times New Roman"/>
              </a:rPr>
              <a:t>baking</a:t>
            </a:r>
            <a:r>
              <a:rPr sz="2000" spc="-15" dirty="0">
                <a:latin typeface="Times New Roman"/>
                <a:cs typeface="Times New Roman"/>
              </a:rPr>
              <a:t> </a:t>
            </a:r>
            <a:r>
              <a:rPr sz="2000" dirty="0">
                <a:latin typeface="Times New Roman"/>
                <a:cs typeface="Times New Roman"/>
              </a:rPr>
              <a:t>starts</a:t>
            </a:r>
            <a:r>
              <a:rPr sz="2000" spc="-50" dirty="0">
                <a:latin typeface="Times New Roman"/>
                <a:cs typeface="Times New Roman"/>
              </a:rPr>
              <a:t> </a:t>
            </a:r>
            <a:r>
              <a:rPr sz="2000" spc="-20" dirty="0">
                <a:latin typeface="Times New Roman"/>
                <a:cs typeface="Times New Roman"/>
              </a:rPr>
              <a:t>again </a:t>
            </a:r>
            <a:r>
              <a:rPr sz="2000" dirty="0">
                <a:latin typeface="Times New Roman"/>
                <a:cs typeface="Times New Roman"/>
              </a:rPr>
              <a:t>from</a:t>
            </a:r>
            <a:r>
              <a:rPr sz="2000" spc="-60" dirty="0">
                <a:latin typeface="Times New Roman"/>
                <a:cs typeface="Times New Roman"/>
              </a:rPr>
              <a:t> </a:t>
            </a:r>
            <a:r>
              <a:rPr sz="2000" dirty="0">
                <a:latin typeface="Times New Roman"/>
                <a:cs typeface="Times New Roman"/>
              </a:rPr>
              <a:t>where</a:t>
            </a:r>
            <a:r>
              <a:rPr sz="2000" spc="20" dirty="0">
                <a:latin typeface="Times New Roman"/>
                <a:cs typeface="Times New Roman"/>
              </a:rPr>
              <a:t> </a:t>
            </a:r>
            <a:r>
              <a:rPr sz="2000" dirty="0">
                <a:latin typeface="Times New Roman"/>
                <a:cs typeface="Times New Roman"/>
              </a:rPr>
              <a:t>it</a:t>
            </a:r>
            <a:r>
              <a:rPr sz="2000" spc="-65" dirty="0">
                <a:latin typeface="Times New Roman"/>
                <a:cs typeface="Times New Roman"/>
              </a:rPr>
              <a:t> </a:t>
            </a:r>
            <a:r>
              <a:rPr sz="2000" dirty="0">
                <a:latin typeface="Times New Roman"/>
                <a:cs typeface="Times New Roman"/>
              </a:rPr>
              <a:t>was</a:t>
            </a:r>
            <a:r>
              <a:rPr sz="2000" spc="10" dirty="0">
                <a:latin typeface="Times New Roman"/>
                <a:cs typeface="Times New Roman"/>
              </a:rPr>
              <a:t> </a:t>
            </a:r>
            <a:r>
              <a:rPr sz="2000" spc="-20" dirty="0">
                <a:latin typeface="Times New Roman"/>
                <a:cs typeface="Times New Roman"/>
              </a:rPr>
              <a:t>left</a:t>
            </a:r>
            <a:endParaRPr sz="2000" dirty="0">
              <a:latin typeface="Times New Roman"/>
              <a:cs typeface="Times New Roman"/>
            </a:endParaRPr>
          </a:p>
        </p:txBody>
      </p:sp>
      <p:sp>
        <p:nvSpPr>
          <p:cNvPr id="6" name="object 7"/>
          <p:cNvSpPr txBox="1"/>
          <p:nvPr/>
        </p:nvSpPr>
        <p:spPr>
          <a:xfrm>
            <a:off x="5303011" y="1680018"/>
            <a:ext cx="2992120" cy="676910"/>
          </a:xfrm>
          <a:prstGeom prst="rect">
            <a:avLst/>
          </a:prstGeom>
        </p:spPr>
        <p:txBody>
          <a:bodyPr vert="horz" wrap="square" lIns="0" tIns="80645" rIns="0" bIns="0" rtlCol="0">
            <a:spAutoFit/>
          </a:bodyPr>
          <a:lstStyle/>
          <a:p>
            <a:pPr marL="469900" marR="5080" indent="-457200">
              <a:lnSpc>
                <a:spcPts val="2330"/>
              </a:lnSpc>
              <a:spcBef>
                <a:spcPts val="635"/>
              </a:spcBef>
            </a:pPr>
            <a:r>
              <a:rPr sz="2400" dirty="0">
                <a:latin typeface="Times New Roman"/>
                <a:cs typeface="Times New Roman"/>
              </a:rPr>
              <a:t>-</a:t>
            </a:r>
            <a:r>
              <a:rPr sz="2400" spc="-5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state</a:t>
            </a:r>
            <a:r>
              <a:rPr sz="2000" spc="-25" dirty="0">
                <a:latin typeface="Times New Roman"/>
                <a:cs typeface="Times New Roman"/>
              </a:rPr>
              <a:t> </a:t>
            </a:r>
            <a:r>
              <a:rPr sz="2000" dirty="0">
                <a:latin typeface="Times New Roman"/>
                <a:cs typeface="Times New Roman"/>
              </a:rPr>
              <a:t>of</a:t>
            </a:r>
            <a:r>
              <a:rPr sz="2000" spc="-40" dirty="0">
                <a:latin typeface="Times New Roman"/>
                <a:cs typeface="Times New Roman"/>
              </a:rPr>
              <a:t> </a:t>
            </a:r>
            <a:r>
              <a:rPr sz="2000" dirty="0">
                <a:latin typeface="Times New Roman"/>
                <a:cs typeface="Times New Roman"/>
              </a:rPr>
              <a:t>running </a:t>
            </a:r>
            <a:r>
              <a:rPr sz="2000" spc="-10" dirty="0">
                <a:latin typeface="Times New Roman"/>
                <a:cs typeface="Times New Roman"/>
              </a:rPr>
              <a:t>process saved</a:t>
            </a:r>
            <a:endParaRPr sz="2000" dirty="0">
              <a:latin typeface="Times New Roman"/>
              <a:cs typeface="Times New Roman"/>
            </a:endParaRPr>
          </a:p>
        </p:txBody>
      </p:sp>
      <p:sp>
        <p:nvSpPr>
          <p:cNvPr id="7" name="object 8"/>
          <p:cNvSpPr txBox="1"/>
          <p:nvPr/>
        </p:nvSpPr>
        <p:spPr>
          <a:xfrm>
            <a:off x="5370246" y="2473395"/>
            <a:ext cx="2620645" cy="329565"/>
          </a:xfrm>
          <a:prstGeom prst="rect">
            <a:avLst/>
          </a:prstGeom>
        </p:spPr>
        <p:txBody>
          <a:bodyPr vert="horz" wrap="square" lIns="0" tIns="11430" rIns="0" bIns="0" rtlCol="0">
            <a:spAutoFit/>
          </a:bodyPr>
          <a:lstStyle/>
          <a:p>
            <a:pPr marL="12700">
              <a:lnSpc>
                <a:spcPct val="100000"/>
              </a:lnSpc>
              <a:spcBef>
                <a:spcPts val="90"/>
              </a:spcBef>
            </a:pPr>
            <a:r>
              <a:rPr sz="2000" dirty="0">
                <a:latin typeface="Times New Roman"/>
                <a:cs typeface="Times New Roman"/>
              </a:rPr>
              <a:t>-</a:t>
            </a:r>
            <a:r>
              <a:rPr sz="2000" spc="-125" dirty="0">
                <a:latin typeface="Times New Roman"/>
                <a:cs typeface="Times New Roman"/>
              </a:rPr>
              <a:t> </a:t>
            </a:r>
            <a:r>
              <a:rPr sz="2000" dirty="0">
                <a:latin typeface="Times New Roman"/>
                <a:cs typeface="Times New Roman"/>
              </a:rPr>
              <a:t>Another</a:t>
            </a:r>
            <a:r>
              <a:rPr sz="2000" spc="-20" dirty="0">
                <a:latin typeface="Times New Roman"/>
                <a:cs typeface="Times New Roman"/>
              </a:rPr>
              <a:t> </a:t>
            </a:r>
            <a:r>
              <a:rPr sz="2000" dirty="0">
                <a:latin typeface="Times New Roman"/>
                <a:cs typeface="Times New Roman"/>
              </a:rPr>
              <a:t>process</a:t>
            </a:r>
            <a:r>
              <a:rPr sz="2000" spc="-65" dirty="0">
                <a:latin typeface="Times New Roman"/>
                <a:cs typeface="Times New Roman"/>
              </a:rPr>
              <a:t> </a:t>
            </a:r>
            <a:r>
              <a:rPr sz="2000" spc="-10" dirty="0">
                <a:latin typeface="Times New Roman"/>
                <a:cs typeface="Times New Roman"/>
              </a:rPr>
              <a:t>fetched</a:t>
            </a:r>
            <a:endParaRPr sz="2000" dirty="0">
              <a:latin typeface="Times New Roman"/>
              <a:cs typeface="Times New Roman"/>
            </a:endParaRPr>
          </a:p>
        </p:txBody>
      </p:sp>
      <p:sp>
        <p:nvSpPr>
          <p:cNvPr id="8" name="object 9"/>
          <p:cNvSpPr txBox="1"/>
          <p:nvPr/>
        </p:nvSpPr>
        <p:spPr>
          <a:xfrm>
            <a:off x="5303011" y="3215134"/>
            <a:ext cx="2966720" cy="612775"/>
          </a:xfrm>
          <a:prstGeom prst="rect">
            <a:avLst/>
          </a:prstGeom>
        </p:spPr>
        <p:txBody>
          <a:bodyPr vert="horz" wrap="square" lIns="0" tIns="38735" rIns="0" bIns="0" rtlCol="0">
            <a:spAutoFit/>
          </a:bodyPr>
          <a:lstStyle/>
          <a:p>
            <a:pPr marL="469900" marR="5080" indent="-457200">
              <a:lnSpc>
                <a:spcPts val="2230"/>
              </a:lnSpc>
              <a:spcBef>
                <a:spcPts val="305"/>
              </a:spcBef>
            </a:pPr>
            <a:r>
              <a:rPr sz="2000" dirty="0">
                <a:latin typeface="Times New Roman"/>
                <a:cs typeface="Times New Roman"/>
              </a:rPr>
              <a:t>-</a:t>
            </a:r>
            <a:r>
              <a:rPr sz="2000" spc="-55" dirty="0">
                <a:latin typeface="Times New Roman"/>
                <a:cs typeface="Times New Roman"/>
              </a:rPr>
              <a:t> </a:t>
            </a:r>
            <a:r>
              <a:rPr sz="2000" dirty="0">
                <a:latin typeface="Times New Roman"/>
                <a:cs typeface="Times New Roman"/>
              </a:rPr>
              <a:t>Processor</a:t>
            </a:r>
            <a:r>
              <a:rPr sz="2000" spc="-55" dirty="0">
                <a:latin typeface="Times New Roman"/>
                <a:cs typeface="Times New Roman"/>
              </a:rPr>
              <a:t> </a:t>
            </a:r>
            <a:r>
              <a:rPr sz="2000" dirty="0">
                <a:latin typeface="Times New Roman"/>
                <a:cs typeface="Times New Roman"/>
              </a:rPr>
              <a:t>switched</a:t>
            </a:r>
            <a:r>
              <a:rPr sz="2000" spc="15"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spc="-25" dirty="0">
                <a:latin typeface="Times New Roman"/>
                <a:cs typeface="Times New Roman"/>
              </a:rPr>
              <a:t>new </a:t>
            </a:r>
            <a:r>
              <a:rPr sz="2000" spc="-10" dirty="0">
                <a:latin typeface="Times New Roman"/>
                <a:cs typeface="Times New Roman"/>
              </a:rPr>
              <a:t>process</a:t>
            </a:r>
            <a:endParaRPr sz="2000" dirty="0">
              <a:latin typeface="Times New Roman"/>
              <a:cs typeface="Times New Roman"/>
            </a:endParaRPr>
          </a:p>
        </p:txBody>
      </p:sp>
      <p:sp>
        <p:nvSpPr>
          <p:cNvPr id="9" name="object 10"/>
          <p:cNvSpPr txBox="1"/>
          <p:nvPr/>
        </p:nvSpPr>
        <p:spPr>
          <a:xfrm>
            <a:off x="5303011" y="4092420"/>
            <a:ext cx="3756025" cy="612775"/>
          </a:xfrm>
          <a:prstGeom prst="rect">
            <a:avLst/>
          </a:prstGeom>
        </p:spPr>
        <p:txBody>
          <a:bodyPr vert="horz" wrap="square" lIns="0" tIns="11430" rIns="0" bIns="0" rtlCol="0">
            <a:spAutoFit/>
          </a:bodyPr>
          <a:lstStyle/>
          <a:p>
            <a:pPr marL="12700">
              <a:lnSpc>
                <a:spcPts val="2315"/>
              </a:lnSpc>
              <a:spcBef>
                <a:spcPts val="90"/>
              </a:spcBef>
            </a:pPr>
            <a:r>
              <a:rPr sz="2000" dirty="0">
                <a:latin typeface="Times New Roman"/>
                <a:cs typeface="Times New Roman"/>
              </a:rPr>
              <a:t>-</a:t>
            </a:r>
            <a:r>
              <a:rPr sz="2000" spc="-50" dirty="0">
                <a:latin typeface="Times New Roman"/>
                <a:cs typeface="Times New Roman"/>
              </a:rPr>
              <a:t> </a:t>
            </a:r>
            <a:r>
              <a:rPr sz="2000" dirty="0">
                <a:latin typeface="Times New Roman"/>
                <a:cs typeface="Times New Roman"/>
              </a:rPr>
              <a:t>Completion</a:t>
            </a:r>
            <a:r>
              <a:rPr sz="2000" spc="-5" dirty="0">
                <a:latin typeface="Times New Roman"/>
                <a:cs typeface="Times New Roman"/>
              </a:rPr>
              <a:t> </a:t>
            </a:r>
            <a:r>
              <a:rPr sz="2000" dirty="0">
                <a:latin typeface="Times New Roman"/>
                <a:cs typeface="Times New Roman"/>
              </a:rPr>
              <a:t>of</a:t>
            </a:r>
            <a:r>
              <a:rPr sz="2000" spc="-45" dirty="0">
                <a:latin typeface="Times New Roman"/>
                <a:cs typeface="Times New Roman"/>
              </a:rPr>
              <a:t> </a:t>
            </a:r>
            <a:r>
              <a:rPr sz="2000" dirty="0">
                <a:latin typeface="Times New Roman"/>
                <a:cs typeface="Times New Roman"/>
              </a:rPr>
              <a:t>high </a:t>
            </a:r>
            <a:r>
              <a:rPr sz="2000" spc="-10" dirty="0">
                <a:latin typeface="Times New Roman"/>
                <a:cs typeface="Times New Roman"/>
              </a:rPr>
              <a:t>priority</a:t>
            </a:r>
            <a:endParaRPr sz="2000" dirty="0">
              <a:latin typeface="Times New Roman"/>
              <a:cs typeface="Times New Roman"/>
            </a:endParaRPr>
          </a:p>
          <a:p>
            <a:pPr marL="469900">
              <a:lnSpc>
                <a:spcPts val="2315"/>
              </a:lnSpc>
            </a:pPr>
            <a:r>
              <a:rPr sz="2000" dirty="0">
                <a:latin typeface="Times New Roman"/>
                <a:cs typeface="Times New Roman"/>
              </a:rPr>
              <a:t>job</a:t>
            </a:r>
            <a:r>
              <a:rPr sz="2000" spc="-55" dirty="0">
                <a:latin typeface="Times New Roman"/>
                <a:cs typeface="Times New Roman"/>
              </a:rPr>
              <a:t> </a:t>
            </a:r>
            <a:r>
              <a:rPr sz="2000" dirty="0">
                <a:latin typeface="Times New Roman"/>
                <a:cs typeface="Times New Roman"/>
              </a:rPr>
              <a:t>&amp;</a:t>
            </a:r>
            <a:r>
              <a:rPr sz="2000" spc="-5" dirty="0">
                <a:latin typeface="Times New Roman"/>
                <a:cs typeface="Times New Roman"/>
              </a:rPr>
              <a:t> </a:t>
            </a:r>
            <a:r>
              <a:rPr sz="2000" dirty="0">
                <a:latin typeface="Times New Roman"/>
                <a:cs typeface="Times New Roman"/>
              </a:rPr>
              <a:t>return</a:t>
            </a:r>
            <a:r>
              <a:rPr sz="2000" spc="-30" dirty="0">
                <a:latin typeface="Times New Roman"/>
                <a:cs typeface="Times New Roman"/>
              </a:rPr>
              <a:t> </a:t>
            </a:r>
            <a:r>
              <a:rPr sz="2000" dirty="0">
                <a:latin typeface="Times New Roman"/>
                <a:cs typeface="Times New Roman"/>
              </a:rPr>
              <a:t>back</a:t>
            </a:r>
            <a:r>
              <a:rPr sz="2000" spc="-30" dirty="0">
                <a:latin typeface="Times New Roman"/>
                <a:cs typeface="Times New Roman"/>
              </a:rPr>
              <a:t> </a:t>
            </a:r>
            <a:r>
              <a:rPr sz="2000" dirty="0">
                <a:latin typeface="Times New Roman"/>
                <a:cs typeface="Times New Roman"/>
              </a:rPr>
              <a:t>to</a:t>
            </a:r>
            <a:r>
              <a:rPr sz="2000" spc="-30"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last</a:t>
            </a:r>
            <a:r>
              <a:rPr sz="2000" spc="-20" dirty="0">
                <a:latin typeface="Times New Roman"/>
                <a:cs typeface="Times New Roman"/>
              </a:rPr>
              <a:t> </a:t>
            </a:r>
            <a:r>
              <a:rPr sz="2000" spc="-25" dirty="0">
                <a:latin typeface="Times New Roman"/>
                <a:cs typeface="Times New Roman"/>
              </a:rPr>
              <a:t>one</a:t>
            </a:r>
            <a:endParaRPr sz="2000" dirty="0">
              <a:latin typeface="Times New Roman"/>
              <a:cs typeface="Times New Roman"/>
            </a:endParaRPr>
          </a:p>
        </p:txBody>
      </p:sp>
      <p:sp>
        <p:nvSpPr>
          <p:cNvPr id="10" name="object 11"/>
          <p:cNvSpPr txBox="1"/>
          <p:nvPr/>
        </p:nvSpPr>
        <p:spPr>
          <a:xfrm>
            <a:off x="1453027" y="5396964"/>
            <a:ext cx="7992109" cy="329565"/>
          </a:xfrm>
          <a:prstGeom prst="rect">
            <a:avLst/>
          </a:prstGeom>
        </p:spPr>
        <p:txBody>
          <a:bodyPr vert="horz" wrap="square" lIns="0" tIns="11430" rIns="0" bIns="0" rtlCol="0">
            <a:spAutoFit/>
          </a:bodyPr>
          <a:lstStyle/>
          <a:p>
            <a:pPr marL="12700">
              <a:lnSpc>
                <a:spcPct val="100000"/>
              </a:lnSpc>
              <a:spcBef>
                <a:spcPts val="90"/>
              </a:spcBef>
            </a:pPr>
            <a:r>
              <a:rPr sz="2000" b="1" i="1" dirty="0">
                <a:solidFill>
                  <a:srgbClr val="0099FF"/>
                </a:solidFill>
                <a:latin typeface="Times New Roman"/>
                <a:cs typeface="Times New Roman"/>
              </a:rPr>
              <a:t>A</a:t>
            </a:r>
            <a:r>
              <a:rPr sz="2000" b="1" i="1" spc="-114" dirty="0">
                <a:solidFill>
                  <a:srgbClr val="0099FF"/>
                </a:solidFill>
                <a:latin typeface="Times New Roman"/>
                <a:cs typeface="Times New Roman"/>
              </a:rPr>
              <a:t> </a:t>
            </a:r>
            <a:r>
              <a:rPr sz="2000" b="1" i="1" dirty="0">
                <a:solidFill>
                  <a:srgbClr val="0099FF"/>
                </a:solidFill>
                <a:latin typeface="Times New Roman"/>
                <a:cs typeface="Times New Roman"/>
              </a:rPr>
              <a:t>process</a:t>
            </a:r>
            <a:r>
              <a:rPr sz="2000" b="1" i="1" spc="-25" dirty="0">
                <a:solidFill>
                  <a:srgbClr val="0099FF"/>
                </a:solidFill>
                <a:latin typeface="Times New Roman"/>
                <a:cs typeface="Times New Roman"/>
              </a:rPr>
              <a:t> </a:t>
            </a:r>
            <a:r>
              <a:rPr sz="2000" b="1" i="1" dirty="0">
                <a:solidFill>
                  <a:srgbClr val="0099FF"/>
                </a:solidFill>
                <a:latin typeface="Times New Roman"/>
                <a:cs typeface="Times New Roman"/>
              </a:rPr>
              <a:t>is</a:t>
            </a:r>
            <a:r>
              <a:rPr sz="2000" b="1" i="1" spc="-25" dirty="0">
                <a:solidFill>
                  <a:srgbClr val="0099FF"/>
                </a:solidFill>
                <a:latin typeface="Times New Roman"/>
                <a:cs typeface="Times New Roman"/>
              </a:rPr>
              <a:t> </a:t>
            </a:r>
            <a:r>
              <a:rPr sz="2000" b="1" i="1" dirty="0">
                <a:solidFill>
                  <a:srgbClr val="0099FF"/>
                </a:solidFill>
                <a:latin typeface="Times New Roman"/>
                <a:cs typeface="Times New Roman"/>
              </a:rPr>
              <a:t>an</a:t>
            </a:r>
            <a:r>
              <a:rPr sz="2000" b="1" i="1" spc="-15" dirty="0">
                <a:solidFill>
                  <a:srgbClr val="0099FF"/>
                </a:solidFill>
                <a:latin typeface="Times New Roman"/>
                <a:cs typeface="Times New Roman"/>
              </a:rPr>
              <a:t> </a:t>
            </a:r>
            <a:r>
              <a:rPr sz="2000" b="1" i="1" dirty="0">
                <a:solidFill>
                  <a:srgbClr val="0099FF"/>
                </a:solidFill>
                <a:latin typeface="Times New Roman"/>
                <a:cs typeface="Times New Roman"/>
              </a:rPr>
              <a:t>activity</a:t>
            </a:r>
            <a:r>
              <a:rPr sz="2000" b="1" i="1" spc="-40" dirty="0">
                <a:solidFill>
                  <a:srgbClr val="0099FF"/>
                </a:solidFill>
                <a:latin typeface="Times New Roman"/>
                <a:cs typeface="Times New Roman"/>
              </a:rPr>
              <a:t> </a:t>
            </a:r>
            <a:r>
              <a:rPr sz="2000" b="1" i="1" dirty="0">
                <a:solidFill>
                  <a:srgbClr val="0099FF"/>
                </a:solidFill>
                <a:latin typeface="Times New Roman"/>
                <a:cs typeface="Times New Roman"/>
              </a:rPr>
              <a:t>of</a:t>
            </a:r>
            <a:r>
              <a:rPr sz="2000" b="1" i="1" spc="-30" dirty="0">
                <a:solidFill>
                  <a:srgbClr val="0099FF"/>
                </a:solidFill>
                <a:latin typeface="Times New Roman"/>
                <a:cs typeface="Times New Roman"/>
              </a:rPr>
              <a:t> </a:t>
            </a:r>
            <a:r>
              <a:rPr sz="2000" b="1" i="1" dirty="0">
                <a:solidFill>
                  <a:srgbClr val="0099FF"/>
                </a:solidFill>
                <a:latin typeface="Times New Roman"/>
                <a:cs typeface="Times New Roman"/>
              </a:rPr>
              <a:t>some</a:t>
            </a:r>
            <a:r>
              <a:rPr sz="2000" b="1" i="1" spc="-65" dirty="0">
                <a:solidFill>
                  <a:srgbClr val="0099FF"/>
                </a:solidFill>
                <a:latin typeface="Times New Roman"/>
                <a:cs typeface="Times New Roman"/>
              </a:rPr>
              <a:t> </a:t>
            </a:r>
            <a:r>
              <a:rPr sz="2000" b="1" i="1" dirty="0">
                <a:solidFill>
                  <a:srgbClr val="0099FF"/>
                </a:solidFill>
                <a:latin typeface="Times New Roman"/>
                <a:cs typeface="Times New Roman"/>
              </a:rPr>
              <a:t>kind,</a:t>
            </a:r>
            <a:r>
              <a:rPr sz="2000" b="1" i="1" spc="-5" dirty="0">
                <a:solidFill>
                  <a:srgbClr val="0099FF"/>
                </a:solidFill>
                <a:latin typeface="Times New Roman"/>
                <a:cs typeface="Times New Roman"/>
              </a:rPr>
              <a:t> </a:t>
            </a:r>
            <a:r>
              <a:rPr sz="2000" b="1" i="1" dirty="0">
                <a:solidFill>
                  <a:srgbClr val="0099FF"/>
                </a:solidFill>
                <a:latin typeface="Times New Roman"/>
                <a:cs typeface="Times New Roman"/>
              </a:rPr>
              <a:t>it</a:t>
            </a:r>
            <a:r>
              <a:rPr sz="2000" b="1" i="1" spc="-40" dirty="0">
                <a:solidFill>
                  <a:srgbClr val="0099FF"/>
                </a:solidFill>
                <a:latin typeface="Times New Roman"/>
                <a:cs typeface="Times New Roman"/>
              </a:rPr>
              <a:t> </a:t>
            </a:r>
            <a:r>
              <a:rPr sz="2000" b="1" i="1" dirty="0">
                <a:solidFill>
                  <a:srgbClr val="0099FF"/>
                </a:solidFill>
                <a:latin typeface="Times New Roman"/>
                <a:cs typeface="Times New Roman"/>
              </a:rPr>
              <a:t>has program,</a:t>
            </a:r>
            <a:r>
              <a:rPr sz="2000" b="1" i="1" spc="-80" dirty="0">
                <a:solidFill>
                  <a:srgbClr val="0099FF"/>
                </a:solidFill>
                <a:latin typeface="Times New Roman"/>
                <a:cs typeface="Times New Roman"/>
              </a:rPr>
              <a:t> </a:t>
            </a:r>
            <a:r>
              <a:rPr sz="2000" b="1" i="1" dirty="0">
                <a:solidFill>
                  <a:srgbClr val="0099FF"/>
                </a:solidFill>
                <a:latin typeface="Times New Roman"/>
                <a:cs typeface="Times New Roman"/>
              </a:rPr>
              <a:t>input,</a:t>
            </a:r>
            <a:r>
              <a:rPr sz="2000" b="1" i="1" spc="-5" dirty="0">
                <a:solidFill>
                  <a:srgbClr val="0099FF"/>
                </a:solidFill>
                <a:latin typeface="Times New Roman"/>
                <a:cs typeface="Times New Roman"/>
              </a:rPr>
              <a:t> </a:t>
            </a:r>
            <a:r>
              <a:rPr sz="2000" b="1" i="1" dirty="0">
                <a:solidFill>
                  <a:srgbClr val="0099FF"/>
                </a:solidFill>
                <a:latin typeface="Times New Roman"/>
                <a:cs typeface="Times New Roman"/>
              </a:rPr>
              <a:t>output</a:t>
            </a:r>
            <a:r>
              <a:rPr sz="2000" b="1" i="1" spc="-20" dirty="0">
                <a:solidFill>
                  <a:srgbClr val="0099FF"/>
                </a:solidFill>
                <a:latin typeface="Times New Roman"/>
                <a:cs typeface="Times New Roman"/>
              </a:rPr>
              <a:t> </a:t>
            </a:r>
            <a:r>
              <a:rPr sz="2000" b="1" i="1" dirty="0">
                <a:solidFill>
                  <a:srgbClr val="0099FF"/>
                </a:solidFill>
                <a:latin typeface="Times New Roman"/>
                <a:cs typeface="Times New Roman"/>
              </a:rPr>
              <a:t>and</a:t>
            </a:r>
            <a:r>
              <a:rPr sz="2000" b="1" i="1" spc="-30" dirty="0">
                <a:solidFill>
                  <a:srgbClr val="0099FF"/>
                </a:solidFill>
                <a:latin typeface="Times New Roman"/>
                <a:cs typeface="Times New Roman"/>
              </a:rPr>
              <a:t> </a:t>
            </a:r>
            <a:r>
              <a:rPr sz="2000" b="1" i="1" spc="-10" dirty="0">
                <a:solidFill>
                  <a:srgbClr val="0099FF"/>
                </a:solidFill>
                <a:latin typeface="Times New Roman"/>
                <a:cs typeface="Times New Roman"/>
              </a:rPr>
              <a:t>state</a:t>
            </a:r>
            <a:r>
              <a:rPr sz="1800" b="1" i="1" spc="-10" dirty="0">
                <a:solidFill>
                  <a:srgbClr val="0099FF"/>
                </a:solidFill>
                <a:latin typeface="Times New Roman"/>
                <a:cs typeface="Times New Roman"/>
              </a:rPr>
              <a:t>.</a:t>
            </a:r>
            <a:endParaRPr sz="1800" dirty="0">
              <a:latin typeface="Times New Roman"/>
              <a:cs typeface="Times New Roman"/>
            </a:endParaRPr>
          </a:p>
        </p:txBody>
      </p:sp>
    </p:spTree>
    <p:extLst>
      <p:ext uri="{BB962C8B-B14F-4D97-AF65-F5344CB8AC3E}">
        <p14:creationId xmlns:p14="http://schemas.microsoft.com/office/powerpoint/2010/main" val="306957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9D7BA7-1649-481D-A06E-03734E7DF926}"/>
              </a:ext>
            </a:extLst>
          </p:cNvPr>
          <p:cNvSpPr>
            <a:spLocks noGrp="1"/>
          </p:cNvSpPr>
          <p:nvPr>
            <p:ph type="title"/>
          </p:nvPr>
        </p:nvSpPr>
        <p:spPr>
          <a:xfrm>
            <a:off x="838200" y="365126"/>
            <a:ext cx="10515600" cy="823594"/>
          </a:xfrm>
        </p:spPr>
        <p:txBody>
          <a:bodyPr/>
          <a:lstStyle/>
          <a:p>
            <a:pPr algn="ctr"/>
            <a:r>
              <a:rPr lang="en-US" b="1" dirty="0" smtClean="0">
                <a:solidFill>
                  <a:srgbClr val="FF0000"/>
                </a:solidFill>
                <a:latin typeface="Times New Roman" pitchFamily="18" charset="0"/>
                <a:cs typeface="Times New Roman" pitchFamily="18" charset="0"/>
              </a:rPr>
              <a:t>Programs and Processes</a:t>
            </a:r>
            <a:endParaRPr lang="en-US" b="1" dirty="0">
              <a:solidFill>
                <a:srgbClr val="FF0000"/>
              </a:solidFill>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3B09F963-73AB-414F-9388-413DEEF53D5A}"/>
              </a:ext>
            </a:extLst>
          </p:cNvPr>
          <p:cNvSpPr>
            <a:spLocks noGrp="1"/>
          </p:cNvSpPr>
          <p:nvPr>
            <p:ph idx="1"/>
          </p:nvPr>
        </p:nvSpPr>
        <p:spPr>
          <a:xfrm>
            <a:off x="838200" y="1267097"/>
            <a:ext cx="10515600" cy="4909866"/>
          </a:xfrm>
        </p:spPr>
        <p:txBody>
          <a:bodyPr/>
          <a:lstStyle/>
          <a:p>
            <a:r>
              <a:rPr lang="en-US" dirty="0" smtClean="0">
                <a:latin typeface="Times New Roman" pitchFamily="18" charset="0"/>
                <a:cs typeface="Times New Roman" pitchFamily="18" charset="0"/>
              </a:rPr>
              <a:t>A process is different than a program.</a:t>
            </a:r>
          </a:p>
          <a:p>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201780" y="2037806"/>
          <a:ext cx="9392196" cy="4049484"/>
        </p:xfrm>
        <a:graphic>
          <a:graphicData uri="http://schemas.openxmlformats.org/drawingml/2006/table">
            <a:tbl>
              <a:tblPr firstRow="1" bandRow="1">
                <a:tableStyleId>{5C22544A-7EE6-4342-B048-85BDC9FD1C3A}</a:tableStyleId>
              </a:tblPr>
              <a:tblGrid>
                <a:gridCol w="4696098"/>
                <a:gridCol w="4696098"/>
              </a:tblGrid>
              <a:tr h="674914">
                <a:tc>
                  <a:txBody>
                    <a:bodyPr/>
                    <a:lstStyle/>
                    <a:p>
                      <a:pPr algn="ctr"/>
                      <a:r>
                        <a:rPr lang="en-US" dirty="0" smtClean="0">
                          <a:latin typeface="Times New Roman" pitchFamily="18" charset="0"/>
                          <a:cs typeface="Times New Roman" pitchFamily="18" charset="0"/>
                        </a:rPr>
                        <a:t>Process</a:t>
                      </a:r>
                      <a:endParaRPr lang="en-US" dirty="0">
                        <a:latin typeface="Times New Roman" pitchFamily="18" charset="0"/>
                        <a:cs typeface="Times New Roman" pitchFamily="18" charset="0"/>
                      </a:endParaRPr>
                    </a:p>
                  </a:txBody>
                  <a:tcPr/>
                </a:tc>
                <a:tc>
                  <a:txBody>
                    <a:bodyPr/>
                    <a:lstStyle/>
                    <a:p>
                      <a:pPr algn="ctr"/>
                      <a:r>
                        <a:rPr lang="en-US" dirty="0" smtClean="0">
                          <a:latin typeface="Times New Roman" pitchFamily="18" charset="0"/>
                          <a:cs typeface="Times New Roman" pitchFamily="18" charset="0"/>
                        </a:rPr>
                        <a:t>Program</a:t>
                      </a:r>
                      <a:endParaRPr lang="en-US" dirty="0">
                        <a:latin typeface="Times New Roman" pitchFamily="18" charset="0"/>
                        <a:cs typeface="Times New Roman" pitchFamily="18" charset="0"/>
                      </a:endParaRPr>
                    </a:p>
                  </a:txBody>
                  <a:tcPr/>
                </a:tc>
              </a:tr>
              <a:tr h="674914">
                <a:tc>
                  <a:txBody>
                    <a:bodyPr/>
                    <a:lstStyle/>
                    <a:p>
                      <a:pPr algn="just"/>
                      <a:r>
                        <a:rPr lang="en-US" dirty="0" smtClean="0">
                          <a:latin typeface="Times New Roman" pitchFamily="18" charset="0"/>
                          <a:cs typeface="Times New Roman" pitchFamily="18" charset="0"/>
                        </a:rPr>
                        <a:t>Process is sequence of information</a:t>
                      </a:r>
                      <a:r>
                        <a:rPr lang="en-US" baseline="0" dirty="0" smtClean="0">
                          <a:latin typeface="Times New Roman" pitchFamily="18" charset="0"/>
                          <a:cs typeface="Times New Roman" pitchFamily="18" charset="0"/>
                        </a:rPr>
                        <a:t> execution</a:t>
                      </a:r>
                      <a:endParaRPr lang="en-US" dirty="0">
                        <a:latin typeface="Times New Roman" pitchFamily="18" charset="0"/>
                        <a:cs typeface="Times New Roman" pitchFamily="18" charset="0"/>
                      </a:endParaRPr>
                    </a:p>
                  </a:txBody>
                  <a:tcPr/>
                </a:tc>
                <a:tc>
                  <a:txBody>
                    <a:bodyPr/>
                    <a:lstStyle/>
                    <a:p>
                      <a:pPr algn="just"/>
                      <a:r>
                        <a:rPr lang="en-US" sz="1800" b="0" i="0" kern="1200" dirty="0" smtClean="0">
                          <a:solidFill>
                            <a:schemeClr val="dk1"/>
                          </a:solidFill>
                          <a:latin typeface="Times New Roman" pitchFamily="18" charset="0"/>
                          <a:ea typeface="+mn-ea"/>
                          <a:cs typeface="Times New Roman" pitchFamily="18" charset="0"/>
                        </a:rPr>
                        <a:t>Program is a set of instruction</a:t>
                      </a:r>
                      <a:endParaRPr lang="en-US" dirty="0">
                        <a:latin typeface="Times New Roman" pitchFamily="18" charset="0"/>
                        <a:cs typeface="Times New Roman" pitchFamily="18" charset="0"/>
                      </a:endParaRPr>
                    </a:p>
                  </a:txBody>
                  <a:tcPr/>
                </a:tc>
              </a:tr>
              <a:tr h="674914">
                <a:tc>
                  <a:txBody>
                    <a:bodyPr/>
                    <a:lstStyle/>
                    <a:p>
                      <a:pPr algn="just"/>
                      <a:r>
                        <a:rPr lang="en-US" dirty="0" smtClean="0">
                          <a:latin typeface="Times New Roman" pitchFamily="18" charset="0"/>
                          <a:cs typeface="Times New Roman" pitchFamily="18" charset="0"/>
                        </a:rPr>
                        <a:t>Process is dynamic object</a:t>
                      </a:r>
                      <a:endParaRPr lang="en-US"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Program is static object that exist in file</a:t>
                      </a:r>
                      <a:endParaRPr lang="en-US" dirty="0">
                        <a:latin typeface="Times New Roman" pitchFamily="18" charset="0"/>
                        <a:cs typeface="Times New Roman" pitchFamily="18" charset="0"/>
                      </a:endParaRPr>
                    </a:p>
                  </a:txBody>
                  <a:tcPr/>
                </a:tc>
              </a:tr>
              <a:tr h="674914">
                <a:tc>
                  <a:txBody>
                    <a:bodyPr/>
                    <a:lstStyle/>
                    <a:p>
                      <a:pPr algn="just"/>
                      <a:r>
                        <a:rPr lang="en-US" dirty="0" smtClean="0">
                          <a:latin typeface="Times New Roman" pitchFamily="18" charset="0"/>
                          <a:cs typeface="Times New Roman" pitchFamily="18" charset="0"/>
                        </a:rPr>
                        <a:t>Process is loaded into main memory</a:t>
                      </a:r>
                      <a:endParaRPr lang="en-US"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It is loaded into the secondary storage device</a:t>
                      </a:r>
                      <a:endParaRPr lang="en-US" dirty="0">
                        <a:latin typeface="Times New Roman" pitchFamily="18" charset="0"/>
                        <a:cs typeface="Times New Roman" pitchFamily="18" charset="0"/>
                      </a:endParaRPr>
                    </a:p>
                  </a:txBody>
                  <a:tcPr/>
                </a:tc>
              </a:tr>
              <a:tr h="674914">
                <a:tc>
                  <a:txBody>
                    <a:bodyPr/>
                    <a:lstStyle/>
                    <a:p>
                      <a:pPr algn="just"/>
                      <a:r>
                        <a:rPr lang="en-US" dirty="0" smtClean="0">
                          <a:latin typeface="Times New Roman" pitchFamily="18" charset="0"/>
                          <a:cs typeface="Times New Roman" pitchFamily="18" charset="0"/>
                        </a:rPr>
                        <a:t>Time span of process is limited.</a:t>
                      </a:r>
                      <a:endParaRPr lang="en-US"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Time span of program is unlimited</a:t>
                      </a:r>
                      <a:endParaRPr lang="en-US" dirty="0">
                        <a:latin typeface="Times New Roman" pitchFamily="18" charset="0"/>
                        <a:cs typeface="Times New Roman" pitchFamily="18" charset="0"/>
                      </a:endParaRPr>
                    </a:p>
                  </a:txBody>
                  <a:tcPr/>
                </a:tc>
              </a:tr>
              <a:tr h="674914">
                <a:tc>
                  <a:txBody>
                    <a:bodyPr/>
                    <a:lstStyle/>
                    <a:p>
                      <a:pPr algn="just"/>
                      <a:r>
                        <a:rPr lang="en-US" dirty="0" smtClean="0">
                          <a:latin typeface="Times New Roman" pitchFamily="18" charset="0"/>
                          <a:cs typeface="Times New Roman" pitchFamily="18" charset="0"/>
                        </a:rPr>
                        <a:t>Process is an active entity</a:t>
                      </a:r>
                      <a:endParaRPr lang="en-US" dirty="0">
                        <a:latin typeface="Times New Roman" pitchFamily="18" charset="0"/>
                        <a:cs typeface="Times New Roman" pitchFamily="18" charset="0"/>
                      </a:endParaRPr>
                    </a:p>
                  </a:txBody>
                  <a:tcPr/>
                </a:tc>
                <a:tc>
                  <a:txBody>
                    <a:bodyPr/>
                    <a:lstStyle/>
                    <a:p>
                      <a:pPr algn="just"/>
                      <a:r>
                        <a:rPr lang="en-US" dirty="0" smtClean="0">
                          <a:latin typeface="Times New Roman" pitchFamily="18" charset="0"/>
                          <a:cs typeface="Times New Roman" pitchFamily="18" charset="0"/>
                        </a:rPr>
                        <a:t>Program is passive entity</a:t>
                      </a:r>
                      <a:endParaRPr lang="en-US"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680252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0714"/>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Process State</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31966"/>
            <a:ext cx="10515600" cy="5144997"/>
          </a:xfrm>
        </p:spPr>
        <p:txBody>
          <a:bodyPr/>
          <a:lstStyle/>
          <a:p>
            <a:r>
              <a:rPr lang="en-US" i="1" dirty="0" smtClean="0"/>
              <a:t>A process goes through a series of discrete process states.</a:t>
            </a:r>
            <a:endParaRPr lang="en-US" dirty="0"/>
          </a:p>
        </p:txBody>
      </p:sp>
      <p:pic>
        <p:nvPicPr>
          <p:cNvPr id="6" name="Picture 2"/>
          <p:cNvPicPr>
            <a:picLocks noChangeAspect="1" noChangeArrowheads="1"/>
          </p:cNvPicPr>
          <p:nvPr/>
        </p:nvPicPr>
        <p:blipFill>
          <a:blip r:embed="rId2"/>
          <a:srcRect/>
          <a:stretch>
            <a:fillRect/>
          </a:stretch>
        </p:blipFill>
        <p:spPr bwMode="auto">
          <a:xfrm>
            <a:off x="1303686" y="2011679"/>
            <a:ext cx="9122652" cy="3866607"/>
          </a:xfrm>
          <a:prstGeom prst="rect">
            <a:avLst/>
          </a:prstGeom>
          <a:noFill/>
          <a:ln w="9525">
            <a:noFill/>
            <a:miter lim="800000"/>
            <a:headEnd/>
            <a:tailEnd/>
          </a:ln>
          <a:effectLst/>
        </p:spPr>
      </p:pic>
    </p:spTree>
    <p:extLst>
      <p:ext uri="{BB962C8B-B14F-4D97-AF65-F5344CB8AC3E}">
        <p14:creationId xmlns:p14="http://schemas.microsoft.com/office/powerpoint/2010/main" val="4009054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6206"/>
            <a:ext cx="10515600" cy="5510757"/>
          </a:xfrm>
        </p:spPr>
        <p:txBody>
          <a:bodyPr>
            <a:normAutofit fontScale="85000" lnSpcReduction="20000"/>
          </a:bodyPr>
          <a:lstStyle/>
          <a:p>
            <a:pPr algn="just">
              <a:lnSpc>
                <a:spcPct val="150000"/>
              </a:lnSpc>
            </a:pPr>
            <a:r>
              <a:rPr lang="en-US" dirty="0" smtClean="0">
                <a:latin typeface="Times New Roman" pitchFamily="18" charset="0"/>
                <a:cs typeface="Times New Roman" pitchFamily="18" charset="0"/>
              </a:rPr>
              <a:t>As a process executes, it changes state</a:t>
            </a:r>
          </a:p>
          <a:p>
            <a:pPr marL="514350" indent="-514350" algn="just">
              <a:lnSpc>
                <a:spcPct val="150000"/>
              </a:lnSpc>
              <a:buFont typeface="+mj-lt"/>
              <a:buAutoNum type="arabicPeriod"/>
            </a:pPr>
            <a:r>
              <a:rPr lang="en-US" b="1" dirty="0" smtClean="0">
                <a:latin typeface="Times New Roman" pitchFamily="18" charset="0"/>
                <a:cs typeface="Times New Roman" pitchFamily="18" charset="0"/>
              </a:rPr>
              <a:t>New</a:t>
            </a:r>
            <a:r>
              <a:rPr lang="en-US" dirty="0" smtClean="0">
                <a:latin typeface="Times New Roman" pitchFamily="18" charset="0"/>
                <a:cs typeface="Times New Roman" pitchFamily="18" charset="0"/>
              </a:rPr>
              <a:t>: A process that just been created.</a:t>
            </a:r>
          </a:p>
          <a:p>
            <a:pPr marL="514350" indent="-514350" algn="just">
              <a:lnSpc>
                <a:spcPct val="150000"/>
              </a:lnSpc>
              <a:buFont typeface="+mj-lt"/>
              <a:buAutoNum type="arabicPeriod"/>
            </a:pPr>
            <a:r>
              <a:rPr lang="en-US" b="1" dirty="0" smtClean="0">
                <a:latin typeface="Times New Roman" pitchFamily="18" charset="0"/>
                <a:cs typeface="Times New Roman" pitchFamily="18" charset="0"/>
              </a:rPr>
              <a:t>Ready</a:t>
            </a:r>
            <a:r>
              <a:rPr lang="en-US" dirty="0" smtClean="0">
                <a:latin typeface="Times New Roman" pitchFamily="18" charset="0"/>
                <a:cs typeface="Times New Roman" pitchFamily="18" charset="0"/>
              </a:rPr>
              <a:t>:  Ready processes are waiting to have the processor allocated to them by operating system  so that they can run.</a:t>
            </a:r>
          </a:p>
          <a:p>
            <a:pPr marL="514350" indent="-514350" algn="just">
              <a:lnSpc>
                <a:spcPct val="150000"/>
              </a:lnSpc>
              <a:buFont typeface="+mj-lt"/>
              <a:buAutoNum type="arabicPeriod"/>
            </a:pPr>
            <a:r>
              <a:rPr lang="en-US" b="1" dirty="0" smtClean="0">
                <a:latin typeface="Times New Roman" pitchFamily="18" charset="0"/>
                <a:cs typeface="Times New Roman" pitchFamily="18" charset="0"/>
              </a:rPr>
              <a:t>Running</a:t>
            </a:r>
            <a:r>
              <a:rPr lang="en-US" dirty="0" smtClean="0">
                <a:latin typeface="Times New Roman" pitchFamily="18" charset="0"/>
                <a:cs typeface="Times New Roman" pitchFamily="18" charset="0"/>
              </a:rPr>
              <a:t>: The process that is currently being executed. A running process possesses all the resources needed for its execution, including the processor.</a:t>
            </a:r>
          </a:p>
          <a:p>
            <a:pPr marL="514350" indent="-514350" algn="just">
              <a:lnSpc>
                <a:spcPct val="150000"/>
              </a:lnSpc>
              <a:buFont typeface="+mj-lt"/>
              <a:buAutoNum type="arabicPeriod"/>
            </a:pPr>
            <a:r>
              <a:rPr lang="en-US" b="1" dirty="0" smtClean="0">
                <a:latin typeface="Times New Roman" pitchFamily="18" charset="0"/>
                <a:cs typeface="Times New Roman" pitchFamily="18" charset="0"/>
              </a:rPr>
              <a:t>Waiting</a:t>
            </a:r>
            <a:r>
              <a:rPr lang="en-US" dirty="0" smtClean="0">
                <a:latin typeface="Times New Roman" pitchFamily="18" charset="0"/>
                <a:cs typeface="Times New Roman" pitchFamily="18" charset="0"/>
              </a:rPr>
              <a:t> : A process that can not execute until some event occurs such as the completion of an  I/O operation. The running process may become suspended by I/O module</a:t>
            </a:r>
          </a:p>
          <a:p>
            <a:pPr marL="514350" indent="-514350" algn="just">
              <a:lnSpc>
                <a:spcPct val="150000"/>
              </a:lnSpc>
              <a:buFont typeface="+mj-lt"/>
              <a:buAutoNum type="arabicPeriod"/>
            </a:pPr>
            <a:r>
              <a:rPr lang="en-US" b="1" dirty="0" smtClean="0">
                <a:latin typeface="Times New Roman" pitchFamily="18" charset="0"/>
                <a:cs typeface="Times New Roman" pitchFamily="18" charset="0"/>
              </a:rPr>
              <a:t>Terminated</a:t>
            </a:r>
            <a:r>
              <a:rPr lang="en-US" dirty="0" smtClean="0">
                <a:latin typeface="Times New Roman" pitchFamily="18" charset="0"/>
                <a:cs typeface="Times New Roman" pitchFamily="18" charset="0"/>
              </a:rPr>
              <a:t>: A process terminates when it finishes executing its last statement.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37466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023"/>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Process state transitions</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770709"/>
            <a:ext cx="10515600" cy="5734593"/>
          </a:xfrm>
        </p:spPr>
        <p:txBody>
          <a:bodyPr>
            <a:normAutofit fontScale="55000" lnSpcReduction="20000"/>
          </a:bodyPr>
          <a:lstStyle/>
          <a:p>
            <a:pPr algn="just">
              <a:lnSpc>
                <a:spcPct val="170000"/>
              </a:lnSpc>
            </a:pPr>
            <a:r>
              <a:rPr lang="en-US" i="1" dirty="0" smtClean="0">
                <a:latin typeface="Times New Roman" pitchFamily="18" charset="0"/>
                <a:cs typeface="Times New Roman" pitchFamily="18" charset="0"/>
              </a:rPr>
              <a:t>When a job is admitted to the system, a corresponding process is created and normally inserted at the back of the ready list.</a:t>
            </a:r>
          </a:p>
          <a:p>
            <a:pPr algn="just">
              <a:lnSpc>
                <a:spcPct val="170000"/>
              </a:lnSpc>
            </a:pPr>
            <a:r>
              <a:rPr lang="en-US" dirty="0" smtClean="0">
                <a:latin typeface="Times New Roman" pitchFamily="18" charset="0"/>
                <a:cs typeface="Times New Roman" pitchFamily="18" charset="0"/>
              </a:rPr>
              <a:t>When the CPU becomes available, the process is said to make a state transition from ready to running.</a:t>
            </a:r>
          </a:p>
          <a:p>
            <a:pPr algn="just">
              <a:lnSpc>
                <a:spcPct val="170000"/>
              </a:lnSpc>
              <a:buNone/>
            </a:pPr>
            <a:r>
              <a:rPr lang="en-US" b="1" i="1" dirty="0" smtClean="0">
                <a:latin typeface="Times New Roman" pitchFamily="18" charset="0"/>
                <a:cs typeface="Times New Roman" pitchFamily="18" charset="0"/>
              </a:rPr>
              <a:t>				ready -&gt; running.</a:t>
            </a:r>
          </a:p>
          <a:p>
            <a:pPr algn="just">
              <a:lnSpc>
                <a:spcPct val="170000"/>
              </a:lnSpc>
            </a:pPr>
            <a:r>
              <a:rPr lang="en-US" dirty="0" smtClean="0">
                <a:latin typeface="Times New Roman" pitchFamily="18" charset="0"/>
                <a:cs typeface="Times New Roman" pitchFamily="18" charset="0"/>
              </a:rPr>
              <a:t>To prevent any one process from monopolizing the CPU, OS specify a time period(quantum) for the process. When the quantum expire or interrupt to CPU makes state transition running to ready.</a:t>
            </a:r>
          </a:p>
          <a:p>
            <a:pPr algn="just">
              <a:lnSpc>
                <a:spcPct val="170000"/>
              </a:lnSpc>
              <a:buNone/>
            </a:pPr>
            <a:r>
              <a:rPr lang="en-US" b="1" i="1" dirty="0" smtClean="0">
                <a:latin typeface="Times New Roman" pitchFamily="18" charset="0"/>
                <a:cs typeface="Times New Roman" pitchFamily="18" charset="0"/>
              </a:rPr>
              <a:t>				running -&gt; ready.</a:t>
            </a:r>
          </a:p>
          <a:p>
            <a:pPr algn="just">
              <a:lnSpc>
                <a:spcPct val="170000"/>
              </a:lnSpc>
            </a:pPr>
            <a:r>
              <a:rPr lang="en-US" dirty="0" smtClean="0">
                <a:latin typeface="Times New Roman" pitchFamily="18" charset="0"/>
                <a:cs typeface="Times New Roman" pitchFamily="18" charset="0"/>
              </a:rPr>
              <a:t>When the process requires an I/O operation before quantum expire or interrupt, the process voluntarily relinquishes the CPU and changed to the wait state.</a:t>
            </a:r>
          </a:p>
          <a:p>
            <a:pPr algn="just">
              <a:lnSpc>
                <a:spcPct val="170000"/>
              </a:lnSpc>
              <a:buNone/>
            </a:pPr>
            <a:r>
              <a:rPr lang="en-US" b="1" i="1" dirty="0" smtClean="0">
                <a:latin typeface="Times New Roman" pitchFamily="18" charset="0"/>
                <a:cs typeface="Times New Roman" pitchFamily="18" charset="0"/>
              </a:rPr>
              <a:t>				running -&gt; wait.</a:t>
            </a:r>
          </a:p>
          <a:p>
            <a:pPr algn="just">
              <a:lnSpc>
                <a:spcPct val="170000"/>
              </a:lnSpc>
            </a:pPr>
            <a:r>
              <a:rPr lang="en-US" dirty="0" smtClean="0">
                <a:latin typeface="Times New Roman" pitchFamily="18" charset="0"/>
                <a:cs typeface="Times New Roman" pitchFamily="18" charset="0"/>
              </a:rPr>
              <a:t>When an I/O operation completes. The process make the transition from wait state to ready state.</a:t>
            </a:r>
          </a:p>
          <a:p>
            <a:pPr algn="just">
              <a:lnSpc>
                <a:spcPct val="170000"/>
              </a:lnSpc>
              <a:buNone/>
            </a:pPr>
            <a:r>
              <a:rPr lang="en-US" b="1" dirty="0" smtClean="0">
                <a:latin typeface="Times New Roman" pitchFamily="18" charset="0"/>
                <a:cs typeface="Times New Roman" pitchFamily="18" charset="0"/>
              </a:rPr>
              <a:t>				wait </a:t>
            </a:r>
            <a:r>
              <a:rPr lang="en-US" b="1" i="1" dirty="0" smtClean="0">
                <a:latin typeface="Times New Roman" pitchFamily="18" charset="0"/>
                <a:cs typeface="Times New Roman" pitchFamily="18" charset="0"/>
              </a:rPr>
              <a:t>-&gt; ready.</a:t>
            </a:r>
          </a:p>
          <a:p>
            <a:pPr algn="just">
              <a:lnSpc>
                <a:spcPct val="170000"/>
              </a:lnSpc>
            </a:pPr>
            <a:r>
              <a:rPr lang="en-US" dirty="0" smtClean="0">
                <a:latin typeface="Times New Roman" pitchFamily="18" charset="0"/>
                <a:cs typeface="Times New Roman" pitchFamily="18" charset="0"/>
              </a:rPr>
              <a:t>When process finished execution it will terminated</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483992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9091"/>
          </a:xfrm>
        </p:spPr>
        <p:txBody>
          <a:bodyPr/>
          <a:lstStyle/>
          <a:p>
            <a:pPr algn="ctr"/>
            <a:r>
              <a:rPr lang="en-US" b="1" dirty="0" smtClean="0">
                <a:solidFill>
                  <a:srgbClr val="FF0000"/>
                </a:solidFill>
                <a:latin typeface="Times New Roman" pitchFamily="18" charset="0"/>
                <a:cs typeface="Times New Roman" pitchFamily="18" charset="0"/>
              </a:rPr>
              <a:t>Process Control Block</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1049000" cy="5079683"/>
          </a:xfrm>
        </p:spPr>
        <p:txBody>
          <a:bodyPr>
            <a:normAutofit fontScale="70000" lnSpcReduction="20000"/>
          </a:bodyPr>
          <a:lstStyle/>
          <a:p>
            <a:pPr algn="just">
              <a:lnSpc>
                <a:spcPct val="150000"/>
              </a:lnSpc>
            </a:pPr>
            <a:r>
              <a:rPr lang="en-US" dirty="0" smtClean="0">
                <a:latin typeface="Times New Roman" pitchFamily="18" charset="0"/>
                <a:cs typeface="Times New Roman" pitchFamily="18" charset="0"/>
              </a:rPr>
              <a:t>The PCB is the data structure containing certain important information about the process -also called process table or processor descriptor.</a:t>
            </a:r>
          </a:p>
          <a:p>
            <a:pPr algn="just">
              <a:lnSpc>
                <a:spcPct val="150000"/>
              </a:lnSpc>
            </a:pPr>
            <a:r>
              <a:rPr lang="en-US" b="1" i="1" dirty="0" smtClean="0">
                <a:latin typeface="Times New Roman" pitchFamily="18" charset="0"/>
                <a:cs typeface="Times New Roman" pitchFamily="18" charset="0"/>
              </a:rPr>
              <a:t>Process Id</a:t>
            </a:r>
            <a:r>
              <a:rPr lang="en-US" i="1" dirty="0" smtClean="0">
                <a:latin typeface="Times New Roman" pitchFamily="18" charset="0"/>
                <a:cs typeface="Times New Roman" pitchFamily="18" charset="0"/>
              </a:rPr>
              <a:t>: Each  process is given Id number at the time of creation</a:t>
            </a:r>
            <a:r>
              <a:rPr lang="en-US" dirty="0" smtClean="0">
                <a:latin typeface="Times New Roman" pitchFamily="18" charset="0"/>
                <a:cs typeface="Times New Roman" pitchFamily="18" charset="0"/>
              </a:rPr>
              <a:t>.</a:t>
            </a:r>
          </a:p>
          <a:p>
            <a:pPr algn="just">
              <a:lnSpc>
                <a:spcPct val="150000"/>
              </a:lnSpc>
            </a:pPr>
            <a:r>
              <a:rPr lang="en-US" b="1" i="1" dirty="0" smtClean="0">
                <a:latin typeface="Times New Roman" pitchFamily="18" charset="0"/>
                <a:cs typeface="Times New Roman" pitchFamily="18" charset="0"/>
              </a:rPr>
              <a:t>Process state</a:t>
            </a:r>
            <a:r>
              <a:rPr lang="en-US" i="1" dirty="0" smtClean="0">
                <a:latin typeface="Times New Roman" pitchFamily="18" charset="0"/>
                <a:cs typeface="Times New Roman" pitchFamily="18" charset="0"/>
              </a:rPr>
              <a:t>: running, ready, blocked.</a:t>
            </a:r>
          </a:p>
          <a:p>
            <a:pPr algn="just">
              <a:lnSpc>
                <a:spcPct val="150000"/>
              </a:lnSpc>
            </a:pPr>
            <a:r>
              <a:rPr lang="en-US" b="1" i="1" dirty="0" smtClean="0">
                <a:latin typeface="Times New Roman" pitchFamily="18" charset="0"/>
                <a:cs typeface="Times New Roman" pitchFamily="18" charset="0"/>
              </a:rPr>
              <a:t>Program counter</a:t>
            </a:r>
            <a:r>
              <a:rPr lang="en-US" i="1" dirty="0" smtClean="0">
                <a:latin typeface="Times New Roman" pitchFamily="18" charset="0"/>
                <a:cs typeface="Times New Roman" pitchFamily="18" charset="0"/>
              </a:rPr>
              <a:t>: Address of next instruction for the process.</a:t>
            </a:r>
          </a:p>
          <a:p>
            <a:pPr algn="just">
              <a:lnSpc>
                <a:spcPct val="150000"/>
              </a:lnSpc>
            </a:pPr>
            <a:r>
              <a:rPr lang="en-US" b="1" i="1" dirty="0" smtClean="0">
                <a:latin typeface="Times New Roman" pitchFamily="18" charset="0"/>
                <a:cs typeface="Times New Roman" pitchFamily="18" charset="0"/>
              </a:rPr>
              <a:t>Registers</a:t>
            </a:r>
            <a:r>
              <a:rPr lang="en-US" i="1" dirty="0" smtClean="0">
                <a:latin typeface="Times New Roman" pitchFamily="18" charset="0"/>
                <a:cs typeface="Times New Roman" pitchFamily="18" charset="0"/>
              </a:rPr>
              <a:t>: Stack pointer, accumulator,  indexed register etc.</a:t>
            </a:r>
          </a:p>
          <a:p>
            <a:pPr algn="just">
              <a:lnSpc>
                <a:spcPct val="150000"/>
              </a:lnSpc>
            </a:pPr>
            <a:r>
              <a:rPr lang="en-US" b="1" i="1" dirty="0" smtClean="0">
                <a:latin typeface="Times New Roman" pitchFamily="18" charset="0"/>
                <a:cs typeface="Times New Roman" pitchFamily="18" charset="0"/>
              </a:rPr>
              <a:t>Scheduling information</a:t>
            </a:r>
            <a:r>
              <a:rPr lang="en-US" i="1" dirty="0" smtClean="0">
                <a:latin typeface="Times New Roman" pitchFamily="18" charset="0"/>
                <a:cs typeface="Times New Roman" pitchFamily="18" charset="0"/>
              </a:rPr>
              <a:t>: Process priority, pointer to scheduling queue etc.</a:t>
            </a:r>
          </a:p>
          <a:p>
            <a:pPr algn="just">
              <a:lnSpc>
                <a:spcPct val="150000"/>
              </a:lnSpc>
            </a:pPr>
            <a:r>
              <a:rPr lang="en-US" b="1" i="1" dirty="0" smtClean="0">
                <a:latin typeface="Times New Roman" pitchFamily="18" charset="0"/>
                <a:cs typeface="Times New Roman" pitchFamily="18" charset="0"/>
              </a:rPr>
              <a:t>Memory-allocation</a:t>
            </a:r>
            <a:r>
              <a:rPr lang="en-US" i="1" dirty="0" smtClean="0">
                <a:latin typeface="Times New Roman" pitchFamily="18" charset="0"/>
                <a:cs typeface="Times New Roman" pitchFamily="18" charset="0"/>
              </a:rPr>
              <a:t>: value of base and limit register, page table, segment </a:t>
            </a:r>
            <a:r>
              <a:rPr lang="en-US" dirty="0" smtClean="0">
                <a:latin typeface="Times New Roman" pitchFamily="18" charset="0"/>
                <a:cs typeface="Times New Roman" pitchFamily="18" charset="0"/>
              </a:rPr>
              <a:t>table etc.</a:t>
            </a:r>
          </a:p>
          <a:p>
            <a:pPr algn="just">
              <a:lnSpc>
                <a:spcPct val="150000"/>
              </a:lnSpc>
            </a:pPr>
            <a:r>
              <a:rPr lang="en-US" b="1" i="1" dirty="0" smtClean="0">
                <a:latin typeface="Times New Roman" pitchFamily="18" charset="0"/>
                <a:cs typeface="Times New Roman" pitchFamily="18" charset="0"/>
              </a:rPr>
              <a:t>Accounting information</a:t>
            </a:r>
            <a:r>
              <a:rPr lang="en-US" i="1" dirty="0" smtClean="0">
                <a:latin typeface="Times New Roman" pitchFamily="18" charset="0"/>
                <a:cs typeface="Times New Roman" pitchFamily="18" charset="0"/>
              </a:rPr>
              <a:t>: time limit, process numbers etc.</a:t>
            </a:r>
          </a:p>
          <a:p>
            <a:pPr algn="just">
              <a:lnSpc>
                <a:spcPct val="150000"/>
              </a:lnSpc>
            </a:pPr>
            <a:r>
              <a:rPr lang="en-US" b="1" i="1" dirty="0" smtClean="0">
                <a:latin typeface="Times New Roman" pitchFamily="18" charset="0"/>
                <a:cs typeface="Times New Roman" pitchFamily="18" charset="0"/>
              </a:rPr>
              <a:t>Status information</a:t>
            </a:r>
            <a:r>
              <a:rPr lang="en-US" i="1" dirty="0" smtClean="0">
                <a:latin typeface="Times New Roman" pitchFamily="18" charset="0"/>
                <a:cs typeface="Times New Roman" pitchFamily="18" charset="0"/>
              </a:rPr>
              <a:t>: list of I/O devices, list of open files etc.</a:t>
            </a:r>
            <a:endParaRPr lang="en-US" dirty="0">
              <a:latin typeface="Times New Roman" pitchFamily="18" charset="0"/>
              <a:cs typeface="Times New Roman" pitchFamily="18" charset="0"/>
            </a:endParaRPr>
          </a:p>
        </p:txBody>
      </p:sp>
      <p:pic>
        <p:nvPicPr>
          <p:cNvPr id="4" name="Picture 3" descr="Capture.PNG"/>
          <p:cNvPicPr>
            <a:picLocks noChangeAspect="1"/>
          </p:cNvPicPr>
          <p:nvPr/>
        </p:nvPicPr>
        <p:blipFill>
          <a:blip r:embed="rId2"/>
          <a:stretch>
            <a:fillRect/>
          </a:stretch>
        </p:blipFill>
        <p:spPr>
          <a:xfrm>
            <a:off x="9593977" y="1672411"/>
            <a:ext cx="2095793" cy="4505954"/>
          </a:xfrm>
          <a:prstGeom prst="rect">
            <a:avLst/>
          </a:prstGeom>
        </p:spPr>
      </p:pic>
    </p:spTree>
    <p:extLst>
      <p:ext uri="{BB962C8B-B14F-4D97-AF65-F5344CB8AC3E}">
        <p14:creationId xmlns:p14="http://schemas.microsoft.com/office/powerpoint/2010/main" val="731090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83961"/>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CPU switch from process to process</a:t>
            </a:r>
            <a:endParaRPr lang="en-US" b="1" dirty="0">
              <a:solidFill>
                <a:srgbClr val="FF0000"/>
              </a:solidFill>
              <a:latin typeface="Times New Roman" pitchFamily="18" charset="0"/>
              <a:cs typeface="Times New Roman" pitchFamily="18" charset="0"/>
            </a:endParaRPr>
          </a:p>
        </p:txBody>
      </p:sp>
      <p:pic>
        <p:nvPicPr>
          <p:cNvPr id="5122" name="Picture 2"/>
          <p:cNvPicPr>
            <a:picLocks noGrp="1" noChangeAspect="1" noChangeArrowheads="1"/>
          </p:cNvPicPr>
          <p:nvPr>
            <p:ph idx="1"/>
          </p:nvPr>
        </p:nvPicPr>
        <p:blipFill>
          <a:blip r:embed="rId2"/>
          <a:srcRect/>
          <a:stretch>
            <a:fillRect/>
          </a:stretch>
        </p:blipFill>
        <p:spPr bwMode="auto">
          <a:xfrm>
            <a:off x="757647" y="966788"/>
            <a:ext cx="10633164" cy="5238069"/>
          </a:xfrm>
          <a:prstGeom prst="rect">
            <a:avLst/>
          </a:prstGeom>
          <a:noFill/>
          <a:ln w="9525">
            <a:noFill/>
            <a:miter lim="800000"/>
            <a:headEnd/>
            <a:tailEnd/>
          </a:ln>
          <a:effectLst/>
        </p:spPr>
      </p:pic>
    </p:spTree>
    <p:extLst>
      <p:ext uri="{BB962C8B-B14F-4D97-AF65-F5344CB8AC3E}">
        <p14:creationId xmlns:p14="http://schemas.microsoft.com/office/powerpoint/2010/main" val="3129485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Operations on Processes</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84217"/>
            <a:ext cx="10515600" cy="5368834"/>
          </a:xfrm>
        </p:spPr>
        <p:txBody>
          <a:bodyPr>
            <a:normAutofit fontScale="77500" lnSpcReduction="20000"/>
          </a:bodyPr>
          <a:lstStyle/>
          <a:p>
            <a:pPr algn="just">
              <a:lnSpc>
                <a:spcPct val="150000"/>
              </a:lnSpc>
            </a:pPr>
            <a:r>
              <a:rPr lang="en-US" dirty="0" smtClean="0">
                <a:latin typeface="Times New Roman" pitchFamily="18" charset="0"/>
                <a:cs typeface="Times New Roman" pitchFamily="18" charset="0"/>
              </a:rPr>
              <a:t>The processes in the system can execute concurrently, and they must be created and deleted dynamically. </a:t>
            </a:r>
          </a:p>
          <a:p>
            <a:pPr algn="just">
              <a:lnSpc>
                <a:spcPct val="150000"/>
              </a:lnSpc>
            </a:pPr>
            <a:r>
              <a:rPr lang="en-US" dirty="0" smtClean="0">
                <a:latin typeface="Times New Roman" pitchFamily="18" charset="0"/>
                <a:cs typeface="Times New Roman" pitchFamily="18" charset="0"/>
              </a:rPr>
              <a:t>OS provide the mechanism for process </a:t>
            </a:r>
            <a:r>
              <a:rPr lang="en-US" i="1" dirty="0" smtClean="0">
                <a:latin typeface="Times New Roman" pitchFamily="18" charset="0"/>
                <a:cs typeface="Times New Roman" pitchFamily="18" charset="0"/>
              </a:rPr>
              <a:t>creation and termination.</a:t>
            </a:r>
          </a:p>
          <a:p>
            <a:pPr algn="just">
              <a:lnSpc>
                <a:spcPct val="150000"/>
              </a:lnSpc>
              <a:buNone/>
            </a:pPr>
            <a:r>
              <a:rPr lang="en-US" b="1" dirty="0" smtClean="0">
                <a:latin typeface="Times New Roman" pitchFamily="18" charset="0"/>
                <a:cs typeface="Times New Roman" pitchFamily="18" charset="0"/>
              </a:rPr>
              <a:t>Process Creation.</a:t>
            </a:r>
          </a:p>
          <a:p>
            <a:pPr algn="just">
              <a:lnSpc>
                <a:spcPct val="150000"/>
              </a:lnSpc>
            </a:pPr>
            <a:r>
              <a:rPr lang="en-US" dirty="0" smtClean="0">
                <a:latin typeface="Times New Roman" pitchFamily="18" charset="0"/>
                <a:cs typeface="Times New Roman" pitchFamily="18" charset="0"/>
              </a:rPr>
              <a:t>Process creation is a task of creating new processes.</a:t>
            </a:r>
          </a:p>
          <a:p>
            <a:pPr algn="just">
              <a:lnSpc>
                <a:spcPct val="150000"/>
              </a:lnSpc>
            </a:pPr>
            <a:r>
              <a:rPr lang="en-US" dirty="0" smtClean="0">
                <a:latin typeface="Times New Roman" pitchFamily="18" charset="0"/>
                <a:cs typeface="Times New Roman" pitchFamily="18" charset="0"/>
              </a:rPr>
              <a:t>There are four principal events that cause the process to be created</a:t>
            </a:r>
          </a:p>
          <a:p>
            <a:pPr lvl="1" algn="just">
              <a:lnSpc>
                <a:spcPct val="150000"/>
              </a:lnSpc>
            </a:pPr>
            <a:r>
              <a:rPr lang="en-US" sz="2800" dirty="0" smtClean="0">
                <a:latin typeface="Times New Roman" pitchFamily="18" charset="0"/>
                <a:cs typeface="Times New Roman" pitchFamily="18" charset="0"/>
              </a:rPr>
              <a:t>System initialization.</a:t>
            </a:r>
          </a:p>
          <a:p>
            <a:pPr lvl="1" algn="just">
              <a:lnSpc>
                <a:spcPct val="150000"/>
              </a:lnSpc>
            </a:pPr>
            <a:r>
              <a:rPr lang="en-US" sz="2800" dirty="0" smtClean="0">
                <a:latin typeface="Times New Roman" pitchFamily="18" charset="0"/>
                <a:cs typeface="Times New Roman" pitchFamily="18" charset="0"/>
              </a:rPr>
              <a:t> Execution of a process creation system call.</a:t>
            </a:r>
          </a:p>
          <a:p>
            <a:pPr lvl="1" algn="just">
              <a:lnSpc>
                <a:spcPct val="150000"/>
              </a:lnSpc>
            </a:pPr>
            <a:r>
              <a:rPr lang="en-US" sz="2800" dirty="0" smtClean="0">
                <a:latin typeface="Times New Roman" pitchFamily="18" charset="0"/>
                <a:cs typeface="Times New Roman" pitchFamily="18" charset="0"/>
              </a:rPr>
              <a:t> User request to create a new process.</a:t>
            </a:r>
          </a:p>
          <a:p>
            <a:pPr lvl="1" algn="just">
              <a:lnSpc>
                <a:spcPct val="150000"/>
              </a:lnSpc>
            </a:pPr>
            <a:r>
              <a:rPr lang="en-US" sz="2800" dirty="0" smtClean="0">
                <a:latin typeface="Times New Roman" pitchFamily="18" charset="0"/>
                <a:cs typeface="Times New Roman" pitchFamily="18" charset="0"/>
              </a:rPr>
              <a:t> Initiation of a batch job.</a:t>
            </a:r>
          </a:p>
        </p:txBody>
      </p:sp>
    </p:spTree>
    <p:extLst>
      <p:ext uri="{BB962C8B-B14F-4D97-AF65-F5344CB8AC3E}">
        <p14:creationId xmlns:p14="http://schemas.microsoft.com/office/powerpoint/2010/main" val="17248123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09451"/>
            <a:ext cx="10515600" cy="5667512"/>
          </a:xfrm>
        </p:spPr>
        <p:txBody>
          <a:bodyPr/>
          <a:lstStyle/>
          <a:p>
            <a:pPr algn="just">
              <a:lnSpc>
                <a:spcPct val="150000"/>
              </a:lnSpc>
            </a:pPr>
            <a:r>
              <a:rPr lang="en-US" i="1" dirty="0" smtClean="0">
                <a:latin typeface="Times New Roman" pitchFamily="18" charset="0"/>
                <a:cs typeface="Times New Roman" pitchFamily="18" charset="0"/>
              </a:rPr>
              <a:t>A process may create several new processes forming tree of process during the course of execution. </a:t>
            </a:r>
          </a:p>
          <a:p>
            <a:pPr algn="just">
              <a:lnSpc>
                <a:spcPct val="150000"/>
              </a:lnSpc>
            </a:pPr>
            <a:r>
              <a:rPr lang="en-US" i="1" dirty="0" smtClean="0">
                <a:latin typeface="Times New Roman" pitchFamily="18" charset="0"/>
                <a:cs typeface="Times New Roman" pitchFamily="18" charset="0"/>
              </a:rPr>
              <a:t>The creating process is called a parent process, where as the new processes are called children of that process.</a:t>
            </a:r>
          </a:p>
          <a:p>
            <a:pPr algn="just">
              <a:lnSpc>
                <a:spcPct val="150000"/>
              </a:lnSpc>
            </a:pPr>
            <a:r>
              <a:rPr lang="en-US" dirty="0" smtClean="0">
                <a:latin typeface="Times New Roman" pitchFamily="18" charset="0"/>
                <a:cs typeface="Times New Roman" pitchFamily="18" charset="0"/>
              </a:rPr>
              <a:t>UNIX examples: fork system call creates new process exec system call</a:t>
            </a:r>
          </a:p>
          <a:p>
            <a:pPr algn="just">
              <a:lnSpc>
                <a:spcPct val="150000"/>
              </a:lnSpc>
            </a:pPr>
            <a:endParaRPr lang="en-US" dirty="0" smtClean="0">
              <a:latin typeface="Times New Roman" pitchFamily="18" charset="0"/>
              <a:cs typeface="Times New Roman" pitchFamily="18" charset="0"/>
            </a:endParaRPr>
          </a:p>
          <a:p>
            <a:pPr algn="just">
              <a:lnSpc>
                <a:spcPct val="150000"/>
              </a:lnSpc>
            </a:pPr>
            <a:endParaRPr lang="en-US" dirty="0">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1080543" y="4101737"/>
            <a:ext cx="9534525" cy="1970042"/>
          </a:xfrm>
          <a:prstGeom prst="rect">
            <a:avLst/>
          </a:prstGeom>
          <a:noFill/>
          <a:ln w="9525">
            <a:noFill/>
            <a:miter lim="800000"/>
            <a:headEnd/>
            <a:tailEnd/>
          </a:ln>
          <a:effectLst/>
        </p:spPr>
      </p:pic>
    </p:spTree>
    <p:extLst>
      <p:ext uri="{BB962C8B-B14F-4D97-AF65-F5344CB8AC3E}">
        <p14:creationId xmlns:p14="http://schemas.microsoft.com/office/powerpoint/2010/main" val="32798145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838200" y="343264"/>
            <a:ext cx="10515600" cy="646972"/>
          </a:xfrm>
          <a:prstGeom prst="rect">
            <a:avLst/>
          </a:prstGeom>
        </p:spPr>
        <p:txBody>
          <a:bodyPr vert="horz" wrap="square" lIns="0" tIns="15875" rIns="0" bIns="0" rtlCol="0">
            <a:spAutoFit/>
          </a:bodyPr>
          <a:lstStyle/>
          <a:p>
            <a:pPr marL="12700" algn="ctr">
              <a:lnSpc>
                <a:spcPct val="100000"/>
              </a:lnSpc>
              <a:spcBef>
                <a:spcPts val="125"/>
              </a:spcBef>
            </a:pPr>
            <a:r>
              <a:rPr sz="4100" dirty="0">
                <a:solidFill>
                  <a:srgbClr val="00007F"/>
                </a:solidFill>
                <a:latin typeface="Times New Roman" panose="02020603050405020304" pitchFamily="18" charset="0"/>
                <a:cs typeface="Times New Roman" panose="02020603050405020304" pitchFamily="18" charset="0"/>
              </a:rPr>
              <a:t>Unix</a:t>
            </a:r>
            <a:r>
              <a:rPr sz="4100" spc="30" dirty="0">
                <a:solidFill>
                  <a:srgbClr val="00007F"/>
                </a:solidFill>
                <a:latin typeface="Times New Roman" panose="02020603050405020304" pitchFamily="18" charset="0"/>
                <a:cs typeface="Times New Roman" panose="02020603050405020304" pitchFamily="18" charset="0"/>
              </a:rPr>
              <a:t> </a:t>
            </a:r>
            <a:r>
              <a:rPr sz="4100" dirty="0">
                <a:solidFill>
                  <a:srgbClr val="00007F"/>
                </a:solidFill>
                <a:latin typeface="Times New Roman" panose="02020603050405020304" pitchFamily="18" charset="0"/>
                <a:cs typeface="Times New Roman" panose="02020603050405020304" pitchFamily="18" charset="0"/>
              </a:rPr>
              <a:t>Process</a:t>
            </a:r>
            <a:r>
              <a:rPr sz="4100" spc="30" dirty="0">
                <a:solidFill>
                  <a:srgbClr val="00007F"/>
                </a:solidFill>
                <a:latin typeface="Times New Roman" panose="02020603050405020304" pitchFamily="18" charset="0"/>
                <a:cs typeface="Times New Roman" panose="02020603050405020304" pitchFamily="18" charset="0"/>
              </a:rPr>
              <a:t> </a:t>
            </a:r>
            <a:r>
              <a:rPr sz="4100" dirty="0">
                <a:solidFill>
                  <a:srgbClr val="00007F"/>
                </a:solidFill>
                <a:latin typeface="Times New Roman" panose="02020603050405020304" pitchFamily="18" charset="0"/>
                <a:cs typeface="Times New Roman" panose="02020603050405020304" pitchFamily="18" charset="0"/>
              </a:rPr>
              <a:t>Creation</a:t>
            </a:r>
            <a:r>
              <a:rPr sz="4100" spc="40" dirty="0">
                <a:solidFill>
                  <a:srgbClr val="00007F"/>
                </a:solidFill>
                <a:latin typeface="Times New Roman" panose="02020603050405020304" pitchFamily="18" charset="0"/>
                <a:cs typeface="Times New Roman" panose="02020603050405020304" pitchFamily="18" charset="0"/>
              </a:rPr>
              <a:t> </a:t>
            </a:r>
            <a:r>
              <a:rPr sz="4100" spc="-10" dirty="0">
                <a:solidFill>
                  <a:srgbClr val="00007F"/>
                </a:solidFill>
                <a:latin typeface="Times New Roman" panose="02020603050405020304" pitchFamily="18" charset="0"/>
                <a:cs typeface="Times New Roman" panose="02020603050405020304" pitchFamily="18" charset="0"/>
              </a:rPr>
              <a:t>Example</a:t>
            </a:r>
            <a:endParaRPr sz="41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541494" y="1131821"/>
            <a:ext cx="6607207" cy="5410455"/>
          </a:xfrm>
          <a:prstGeom prst="rect">
            <a:avLst/>
          </a:prstGeom>
        </p:spPr>
        <p:txBody>
          <a:bodyPr vert="horz" wrap="square" lIns="0" tIns="11430" rIns="0" bIns="0" rtlCol="0">
            <a:spAutoFit/>
          </a:bodyPr>
          <a:lstStyle/>
          <a:p>
            <a:pPr marL="12700">
              <a:lnSpc>
                <a:spcPts val="2315"/>
              </a:lnSpc>
              <a:spcBef>
                <a:spcPts val="90"/>
              </a:spcBef>
            </a:pPr>
            <a:r>
              <a:rPr sz="2000" spc="-10" dirty="0">
                <a:latin typeface="Times New Roman"/>
                <a:cs typeface="Times New Roman"/>
              </a:rPr>
              <a:t>#include&lt;stdio.h&gt;</a:t>
            </a:r>
            <a:endParaRPr sz="2000" dirty="0">
              <a:latin typeface="Times New Roman"/>
              <a:cs typeface="Times New Roman"/>
            </a:endParaRPr>
          </a:p>
          <a:p>
            <a:pPr marL="12700">
              <a:lnSpc>
                <a:spcPts val="2230"/>
              </a:lnSpc>
            </a:pPr>
            <a:r>
              <a:rPr sz="2000" dirty="0">
                <a:latin typeface="Times New Roman"/>
                <a:cs typeface="Times New Roman"/>
              </a:rPr>
              <a:t>int</a:t>
            </a:r>
            <a:r>
              <a:rPr sz="2000" spc="-70" dirty="0">
                <a:latin typeface="Times New Roman"/>
                <a:cs typeface="Times New Roman"/>
              </a:rPr>
              <a:t> </a:t>
            </a:r>
            <a:r>
              <a:rPr sz="2000" dirty="0">
                <a:latin typeface="Times New Roman"/>
                <a:cs typeface="Times New Roman"/>
              </a:rPr>
              <a:t>main(int</a:t>
            </a:r>
            <a:r>
              <a:rPr sz="2000" spc="-25" dirty="0">
                <a:latin typeface="Times New Roman"/>
                <a:cs typeface="Times New Roman"/>
              </a:rPr>
              <a:t> </a:t>
            </a:r>
            <a:r>
              <a:rPr sz="2000" dirty="0">
                <a:latin typeface="Times New Roman"/>
                <a:cs typeface="Times New Roman"/>
              </a:rPr>
              <a:t>argc,</a:t>
            </a:r>
            <a:r>
              <a:rPr sz="2000" spc="-40" dirty="0">
                <a:latin typeface="Times New Roman"/>
                <a:cs typeface="Times New Roman"/>
              </a:rPr>
              <a:t> </a:t>
            </a:r>
            <a:r>
              <a:rPr sz="2000" dirty="0">
                <a:latin typeface="Times New Roman"/>
                <a:cs typeface="Times New Roman"/>
              </a:rPr>
              <a:t>char</a:t>
            </a:r>
            <a:r>
              <a:rPr sz="2000" spc="-60" dirty="0">
                <a:latin typeface="Times New Roman"/>
                <a:cs typeface="Times New Roman"/>
              </a:rPr>
              <a:t> </a:t>
            </a:r>
            <a:r>
              <a:rPr sz="2000" spc="-10" dirty="0">
                <a:latin typeface="Times New Roman"/>
                <a:cs typeface="Times New Roman"/>
              </a:rPr>
              <a:t>*argv[])</a:t>
            </a:r>
            <a:endParaRPr sz="2000" dirty="0">
              <a:latin typeface="Times New Roman"/>
              <a:cs typeface="Times New Roman"/>
            </a:endParaRPr>
          </a:p>
          <a:p>
            <a:pPr marL="692150">
              <a:lnSpc>
                <a:spcPts val="2230"/>
              </a:lnSpc>
            </a:pPr>
            <a:r>
              <a:rPr sz="2000" spc="-50" dirty="0">
                <a:latin typeface="Times New Roman"/>
                <a:cs typeface="Times New Roman"/>
              </a:rPr>
              <a:t>{</a:t>
            </a:r>
            <a:endParaRPr sz="2000" dirty="0">
              <a:latin typeface="Times New Roman"/>
              <a:cs typeface="Times New Roman"/>
            </a:endParaRPr>
          </a:p>
          <a:p>
            <a:pPr marL="692150">
              <a:lnSpc>
                <a:spcPts val="2230"/>
              </a:lnSpc>
            </a:pPr>
            <a:r>
              <a:rPr sz="2000" dirty="0">
                <a:latin typeface="Times New Roman"/>
                <a:cs typeface="Times New Roman"/>
              </a:rPr>
              <a:t>int</a:t>
            </a:r>
            <a:r>
              <a:rPr sz="2000" spc="-35" dirty="0">
                <a:latin typeface="Times New Roman"/>
                <a:cs typeface="Times New Roman"/>
              </a:rPr>
              <a:t> </a:t>
            </a:r>
            <a:r>
              <a:rPr sz="2000" spc="-20" dirty="0">
                <a:latin typeface="Times New Roman"/>
                <a:cs typeface="Times New Roman"/>
              </a:rPr>
              <a:t>pid;</a:t>
            </a:r>
            <a:endParaRPr sz="2000" dirty="0">
              <a:latin typeface="Times New Roman"/>
              <a:cs typeface="Times New Roman"/>
            </a:endParaRPr>
          </a:p>
          <a:p>
            <a:pPr marL="1371600" marR="907415">
              <a:lnSpc>
                <a:spcPts val="2230"/>
              </a:lnSpc>
              <a:spcBef>
                <a:spcPts val="135"/>
              </a:spcBef>
              <a:tabLst>
                <a:tab pos="2734310" algn="l"/>
              </a:tabLst>
            </a:pPr>
            <a:r>
              <a:rPr sz="2000" dirty="0">
                <a:latin typeface="Times New Roman"/>
                <a:cs typeface="Times New Roman"/>
              </a:rPr>
              <a:t>pid</a:t>
            </a:r>
            <a:r>
              <a:rPr sz="2000" spc="-35" dirty="0">
                <a:latin typeface="Times New Roman"/>
                <a:cs typeface="Times New Roman"/>
              </a:rPr>
              <a:t> </a:t>
            </a:r>
            <a:r>
              <a:rPr sz="2000" dirty="0">
                <a:latin typeface="Times New Roman"/>
                <a:cs typeface="Times New Roman"/>
              </a:rPr>
              <a:t>=</a:t>
            </a:r>
            <a:r>
              <a:rPr sz="2000" spc="-15" dirty="0">
                <a:latin typeface="Times New Roman"/>
                <a:cs typeface="Times New Roman"/>
              </a:rPr>
              <a:t> </a:t>
            </a:r>
            <a:r>
              <a:rPr sz="2000" dirty="0">
                <a:latin typeface="Times New Roman"/>
                <a:cs typeface="Times New Roman"/>
              </a:rPr>
              <a:t>fork();</a:t>
            </a:r>
            <a:r>
              <a:rPr sz="2000" spc="300" dirty="0">
                <a:latin typeface="Times New Roman"/>
                <a:cs typeface="Times New Roman"/>
              </a:rPr>
              <a:t> </a:t>
            </a:r>
            <a:r>
              <a:rPr sz="2000" dirty="0">
                <a:latin typeface="Times New Roman"/>
                <a:cs typeface="Times New Roman"/>
              </a:rPr>
              <a:t>/*</a:t>
            </a:r>
            <a:r>
              <a:rPr sz="2000" spc="-30" dirty="0">
                <a:latin typeface="Times New Roman"/>
                <a:cs typeface="Times New Roman"/>
              </a:rPr>
              <a:t> </a:t>
            </a:r>
            <a:r>
              <a:rPr sz="2000" dirty="0">
                <a:latin typeface="Times New Roman"/>
                <a:cs typeface="Times New Roman"/>
              </a:rPr>
              <a:t>create</a:t>
            </a:r>
            <a:r>
              <a:rPr sz="2000" spc="-15" dirty="0">
                <a:latin typeface="Times New Roman"/>
                <a:cs typeface="Times New Roman"/>
              </a:rPr>
              <a:t> </a:t>
            </a:r>
            <a:r>
              <a:rPr sz="2000" dirty="0">
                <a:latin typeface="Times New Roman"/>
                <a:cs typeface="Times New Roman"/>
              </a:rPr>
              <a:t>new process</a:t>
            </a:r>
            <a:r>
              <a:rPr sz="2000" spc="-45" dirty="0">
                <a:latin typeface="Times New Roman"/>
                <a:cs typeface="Times New Roman"/>
              </a:rPr>
              <a:t> </a:t>
            </a:r>
            <a:r>
              <a:rPr sz="2000" spc="-25" dirty="0">
                <a:latin typeface="Times New Roman"/>
                <a:cs typeface="Times New Roman"/>
              </a:rPr>
              <a:t>*/ </a:t>
            </a:r>
            <a:r>
              <a:rPr sz="2000" dirty="0">
                <a:latin typeface="Times New Roman"/>
                <a:cs typeface="Times New Roman"/>
              </a:rPr>
              <a:t>if(pid</a:t>
            </a:r>
            <a:r>
              <a:rPr sz="2000" spc="-25" dirty="0">
                <a:latin typeface="Times New Roman"/>
                <a:cs typeface="Times New Roman"/>
              </a:rPr>
              <a:t> </a:t>
            </a:r>
            <a:r>
              <a:rPr sz="2000" dirty="0">
                <a:latin typeface="Times New Roman"/>
                <a:cs typeface="Times New Roman"/>
              </a:rPr>
              <a:t>&lt;</a:t>
            </a:r>
            <a:r>
              <a:rPr sz="2000" spc="-5" dirty="0">
                <a:latin typeface="Times New Roman"/>
                <a:cs typeface="Times New Roman"/>
              </a:rPr>
              <a:t> </a:t>
            </a:r>
            <a:r>
              <a:rPr sz="2000" dirty="0">
                <a:latin typeface="Times New Roman"/>
                <a:cs typeface="Times New Roman"/>
              </a:rPr>
              <a:t>0)</a:t>
            </a:r>
            <a:r>
              <a:rPr sz="2000" spc="-30" dirty="0">
                <a:latin typeface="Times New Roman"/>
                <a:cs typeface="Times New Roman"/>
              </a:rPr>
              <a:t> </a:t>
            </a:r>
            <a:r>
              <a:rPr sz="2000" spc="-50" dirty="0">
                <a:latin typeface="Times New Roman"/>
                <a:cs typeface="Times New Roman"/>
              </a:rPr>
              <a:t>{</a:t>
            </a:r>
            <a:r>
              <a:rPr sz="2000" dirty="0">
                <a:latin typeface="Times New Roman"/>
                <a:cs typeface="Times New Roman"/>
              </a:rPr>
              <a:t>	/*</a:t>
            </a:r>
            <a:r>
              <a:rPr sz="2000" spc="-35" dirty="0">
                <a:latin typeface="Times New Roman"/>
                <a:cs typeface="Times New Roman"/>
              </a:rPr>
              <a:t> </a:t>
            </a:r>
            <a:r>
              <a:rPr sz="2000" dirty="0">
                <a:latin typeface="Times New Roman"/>
                <a:cs typeface="Times New Roman"/>
              </a:rPr>
              <a:t>error</a:t>
            </a:r>
            <a:r>
              <a:rPr sz="2000" spc="-35" dirty="0">
                <a:latin typeface="Times New Roman"/>
                <a:cs typeface="Times New Roman"/>
              </a:rPr>
              <a:t> </a:t>
            </a:r>
            <a:r>
              <a:rPr sz="2000" dirty="0">
                <a:latin typeface="Times New Roman"/>
                <a:cs typeface="Times New Roman"/>
              </a:rPr>
              <a:t>occurred</a:t>
            </a:r>
            <a:r>
              <a:rPr sz="2000" spc="-35" dirty="0">
                <a:latin typeface="Times New Roman"/>
                <a:cs typeface="Times New Roman"/>
              </a:rPr>
              <a:t> </a:t>
            </a:r>
            <a:r>
              <a:rPr sz="2000" spc="-25" dirty="0">
                <a:latin typeface="Times New Roman"/>
                <a:cs typeface="Times New Roman"/>
              </a:rPr>
              <a:t>*/</a:t>
            </a:r>
            <a:endParaRPr sz="2000" dirty="0">
              <a:latin typeface="Times New Roman"/>
              <a:cs typeface="Times New Roman"/>
            </a:endParaRPr>
          </a:p>
          <a:p>
            <a:pPr marL="2054860" marR="1152525">
              <a:lnSpc>
                <a:spcPts val="2230"/>
              </a:lnSpc>
            </a:pPr>
            <a:r>
              <a:rPr sz="2000" spc="-10" dirty="0">
                <a:latin typeface="Times New Roman"/>
                <a:cs typeface="Times New Roman"/>
              </a:rPr>
              <a:t>fprintf(stderr,</a:t>
            </a:r>
            <a:r>
              <a:rPr sz="2000" spc="-35" dirty="0">
                <a:latin typeface="Times New Roman"/>
                <a:cs typeface="Times New Roman"/>
              </a:rPr>
              <a:t> </a:t>
            </a:r>
            <a:r>
              <a:rPr sz="2000" dirty="0">
                <a:latin typeface="Times New Roman"/>
                <a:cs typeface="Times New Roman"/>
              </a:rPr>
              <a:t>“fork</a:t>
            </a:r>
            <a:r>
              <a:rPr sz="2000" spc="-5" dirty="0">
                <a:latin typeface="Times New Roman"/>
                <a:cs typeface="Times New Roman"/>
              </a:rPr>
              <a:t> </a:t>
            </a:r>
            <a:r>
              <a:rPr sz="2000" spc="-10" dirty="0">
                <a:latin typeface="Times New Roman"/>
                <a:cs typeface="Times New Roman"/>
              </a:rPr>
              <a:t>failed”); </a:t>
            </a:r>
            <a:endParaRPr lang="en-US" sz="2000" spc="-10" dirty="0">
              <a:latin typeface="Times New Roman"/>
              <a:cs typeface="Times New Roman"/>
            </a:endParaRPr>
          </a:p>
          <a:p>
            <a:pPr marL="2054860" marR="1152525">
              <a:lnSpc>
                <a:spcPts val="2230"/>
              </a:lnSpc>
            </a:pPr>
            <a:r>
              <a:rPr lang="en-US" sz="2000" spc="-10" dirty="0">
                <a:latin typeface="Times New Roman"/>
                <a:cs typeface="Times New Roman"/>
              </a:rPr>
              <a:t>r</a:t>
            </a:r>
            <a:r>
              <a:rPr lang="en-US" sz="2000" spc="-10" dirty="0" smtClean="0">
                <a:latin typeface="Times New Roman"/>
                <a:cs typeface="Times New Roman"/>
              </a:rPr>
              <a:t>eturn 1;</a:t>
            </a:r>
            <a:endParaRPr sz="2000" dirty="0">
              <a:latin typeface="Times New Roman"/>
              <a:cs typeface="Times New Roman"/>
            </a:endParaRPr>
          </a:p>
          <a:p>
            <a:pPr marL="2734310">
              <a:lnSpc>
                <a:spcPts val="2105"/>
              </a:lnSpc>
            </a:pPr>
            <a:r>
              <a:rPr sz="2000" spc="-50" dirty="0">
                <a:latin typeface="Times New Roman"/>
                <a:cs typeface="Times New Roman"/>
              </a:rPr>
              <a:t>}</a:t>
            </a:r>
            <a:endParaRPr sz="2000" dirty="0">
              <a:latin typeface="Times New Roman"/>
              <a:cs typeface="Times New Roman"/>
            </a:endParaRPr>
          </a:p>
          <a:p>
            <a:pPr marL="2054860" marR="744855" indent="-683260">
              <a:lnSpc>
                <a:spcPts val="2230"/>
              </a:lnSpc>
              <a:spcBef>
                <a:spcPts val="135"/>
              </a:spcBef>
              <a:tabLst>
                <a:tab pos="3481070" algn="l"/>
              </a:tabLst>
            </a:pPr>
            <a:r>
              <a:rPr sz="2000" dirty="0">
                <a:latin typeface="Times New Roman"/>
                <a:cs typeface="Times New Roman"/>
              </a:rPr>
              <a:t>else</a:t>
            </a:r>
            <a:r>
              <a:rPr sz="2000" spc="-25" dirty="0">
                <a:latin typeface="Times New Roman"/>
                <a:cs typeface="Times New Roman"/>
              </a:rPr>
              <a:t> </a:t>
            </a:r>
            <a:r>
              <a:rPr sz="2000" dirty="0">
                <a:latin typeface="Times New Roman"/>
                <a:cs typeface="Times New Roman"/>
              </a:rPr>
              <a:t>if(pid</a:t>
            </a:r>
            <a:r>
              <a:rPr sz="2000" spc="-35" dirty="0">
                <a:latin typeface="Times New Roman"/>
                <a:cs typeface="Times New Roman"/>
              </a:rPr>
              <a:t> </a:t>
            </a:r>
            <a:r>
              <a:rPr sz="2000" dirty="0">
                <a:latin typeface="Times New Roman"/>
                <a:cs typeface="Times New Roman"/>
              </a:rPr>
              <a:t>==</a:t>
            </a:r>
            <a:r>
              <a:rPr sz="2000" spc="-25" dirty="0">
                <a:latin typeface="Times New Roman"/>
                <a:cs typeface="Times New Roman"/>
              </a:rPr>
              <a:t> 0){</a:t>
            </a:r>
            <a:r>
              <a:rPr sz="2000" dirty="0">
                <a:latin typeface="Times New Roman"/>
                <a:cs typeface="Times New Roman"/>
              </a:rPr>
              <a:t>	/*</a:t>
            </a:r>
            <a:r>
              <a:rPr sz="2000" spc="-35" dirty="0">
                <a:latin typeface="Times New Roman"/>
                <a:cs typeface="Times New Roman"/>
              </a:rPr>
              <a:t> </a:t>
            </a:r>
            <a:r>
              <a:rPr sz="2000" dirty="0">
                <a:latin typeface="Times New Roman"/>
                <a:cs typeface="Times New Roman"/>
              </a:rPr>
              <a:t>child</a:t>
            </a:r>
            <a:r>
              <a:rPr sz="2000" spc="-10" dirty="0">
                <a:latin typeface="Times New Roman"/>
                <a:cs typeface="Times New Roman"/>
              </a:rPr>
              <a:t> </a:t>
            </a:r>
            <a:r>
              <a:rPr sz="2000" dirty="0">
                <a:latin typeface="Times New Roman"/>
                <a:cs typeface="Times New Roman"/>
              </a:rPr>
              <a:t>process</a:t>
            </a:r>
            <a:r>
              <a:rPr sz="2000" spc="-30" dirty="0">
                <a:latin typeface="Times New Roman"/>
                <a:cs typeface="Times New Roman"/>
              </a:rPr>
              <a:t> </a:t>
            </a:r>
            <a:r>
              <a:rPr sz="2000" spc="-25" dirty="0">
                <a:latin typeface="Times New Roman"/>
                <a:cs typeface="Times New Roman"/>
              </a:rPr>
              <a:t>*/ </a:t>
            </a:r>
            <a:r>
              <a:rPr sz="2000" dirty="0">
                <a:latin typeface="Times New Roman"/>
                <a:cs typeface="Times New Roman"/>
              </a:rPr>
              <a:t>execlp(“/bin/ls”,</a:t>
            </a:r>
            <a:r>
              <a:rPr sz="2000" spc="-55" dirty="0">
                <a:latin typeface="Times New Roman"/>
                <a:cs typeface="Times New Roman"/>
              </a:rPr>
              <a:t> </a:t>
            </a:r>
            <a:r>
              <a:rPr sz="2000" dirty="0">
                <a:latin typeface="Times New Roman"/>
                <a:cs typeface="Times New Roman"/>
              </a:rPr>
              <a:t>“ls”,</a:t>
            </a:r>
            <a:r>
              <a:rPr sz="2000" spc="-55" dirty="0">
                <a:latin typeface="Times New Roman"/>
                <a:cs typeface="Times New Roman"/>
              </a:rPr>
              <a:t> </a:t>
            </a:r>
            <a:r>
              <a:rPr sz="2000" dirty="0">
                <a:latin typeface="Times New Roman"/>
                <a:cs typeface="Times New Roman"/>
              </a:rPr>
              <a:t>Null);</a:t>
            </a:r>
            <a:r>
              <a:rPr sz="2000" spc="-75" dirty="0">
                <a:latin typeface="Times New Roman"/>
                <a:cs typeface="Times New Roman"/>
              </a:rPr>
              <a:t> </a:t>
            </a:r>
            <a:endParaRPr lang="en-US" sz="2000" spc="-75" dirty="0" smtClean="0">
              <a:latin typeface="Times New Roman"/>
              <a:cs typeface="Times New Roman"/>
            </a:endParaRPr>
          </a:p>
          <a:p>
            <a:pPr marL="2054860" marR="744855" indent="-683260">
              <a:lnSpc>
                <a:spcPts val="2230"/>
              </a:lnSpc>
              <a:spcBef>
                <a:spcPts val="135"/>
              </a:spcBef>
              <a:tabLst>
                <a:tab pos="3481070" algn="l"/>
              </a:tabLst>
            </a:pPr>
            <a:r>
              <a:rPr sz="2000" spc="-50" dirty="0" smtClean="0">
                <a:latin typeface="Times New Roman"/>
                <a:cs typeface="Times New Roman"/>
              </a:rPr>
              <a:t>}</a:t>
            </a:r>
            <a:endParaRPr sz="2000" dirty="0">
              <a:latin typeface="Times New Roman"/>
              <a:cs typeface="Times New Roman"/>
            </a:endParaRPr>
          </a:p>
          <a:p>
            <a:pPr marL="2054860" marR="5080" indent="-683260">
              <a:lnSpc>
                <a:spcPts val="2230"/>
              </a:lnSpc>
              <a:spcBef>
                <a:spcPts val="5"/>
              </a:spcBef>
              <a:tabLst>
                <a:tab pos="4096385" algn="l"/>
              </a:tabLst>
            </a:pPr>
            <a:r>
              <a:rPr sz="2000" dirty="0">
                <a:latin typeface="Times New Roman"/>
                <a:cs typeface="Times New Roman"/>
              </a:rPr>
              <a:t>else</a:t>
            </a:r>
            <a:r>
              <a:rPr sz="2000" spc="-30" dirty="0">
                <a:latin typeface="Times New Roman"/>
                <a:cs typeface="Times New Roman"/>
              </a:rPr>
              <a:t> </a:t>
            </a:r>
            <a:r>
              <a:rPr sz="2000" spc="-50" dirty="0">
                <a:latin typeface="Times New Roman"/>
                <a:cs typeface="Times New Roman"/>
              </a:rPr>
              <a:t>{</a:t>
            </a:r>
            <a:r>
              <a:rPr sz="2000" dirty="0">
                <a:latin typeface="Times New Roman"/>
                <a:cs typeface="Times New Roman"/>
              </a:rPr>
              <a:t>	</a:t>
            </a:r>
            <a:r>
              <a:rPr sz="2000" dirty="0" smtClean="0">
                <a:latin typeface="Times New Roman"/>
                <a:cs typeface="Times New Roman"/>
              </a:rPr>
              <a:t>/*</a:t>
            </a:r>
            <a:r>
              <a:rPr sz="2000" spc="-40" dirty="0" smtClean="0">
                <a:latin typeface="Times New Roman"/>
                <a:cs typeface="Times New Roman"/>
              </a:rPr>
              <a:t> </a:t>
            </a:r>
            <a:r>
              <a:rPr sz="2000" dirty="0">
                <a:latin typeface="Times New Roman"/>
                <a:cs typeface="Times New Roman"/>
              </a:rPr>
              <a:t>parent</a:t>
            </a:r>
            <a:r>
              <a:rPr sz="2000" spc="-25" dirty="0">
                <a:latin typeface="Times New Roman"/>
                <a:cs typeface="Times New Roman"/>
              </a:rPr>
              <a:t> </a:t>
            </a:r>
            <a:r>
              <a:rPr sz="2000" dirty="0">
                <a:latin typeface="Times New Roman"/>
                <a:cs typeface="Times New Roman"/>
              </a:rPr>
              <a:t>process</a:t>
            </a:r>
            <a:r>
              <a:rPr sz="2000" spc="-55" dirty="0">
                <a:latin typeface="Times New Roman"/>
                <a:cs typeface="Times New Roman"/>
              </a:rPr>
              <a:t> </a:t>
            </a:r>
            <a:r>
              <a:rPr sz="2000" spc="-25" dirty="0" smtClean="0">
                <a:latin typeface="Times New Roman"/>
                <a:cs typeface="Times New Roman"/>
              </a:rPr>
              <a:t>*/</a:t>
            </a:r>
            <a:endParaRPr lang="en-US" sz="2000" spc="-25" dirty="0" smtClean="0">
              <a:latin typeface="Times New Roman"/>
              <a:cs typeface="Times New Roman"/>
            </a:endParaRPr>
          </a:p>
          <a:p>
            <a:pPr marL="2054860" marR="5080" indent="-683260">
              <a:lnSpc>
                <a:spcPts val="2230"/>
              </a:lnSpc>
              <a:spcBef>
                <a:spcPts val="5"/>
              </a:spcBef>
              <a:tabLst>
                <a:tab pos="4096385" algn="l"/>
              </a:tabLst>
            </a:pPr>
            <a:r>
              <a:rPr lang="en-US" sz="2000" spc="-25" dirty="0">
                <a:latin typeface="Times New Roman"/>
                <a:cs typeface="Times New Roman"/>
              </a:rPr>
              <a:t> </a:t>
            </a:r>
            <a:r>
              <a:rPr lang="en-US" sz="2000" spc="-25" dirty="0" smtClean="0">
                <a:latin typeface="Times New Roman"/>
                <a:cs typeface="Times New Roman"/>
              </a:rPr>
              <a:t>        </a:t>
            </a:r>
            <a:r>
              <a:rPr sz="2000" spc="-25" dirty="0" smtClean="0">
                <a:latin typeface="Times New Roman"/>
                <a:cs typeface="Times New Roman"/>
              </a:rPr>
              <a:t> </a:t>
            </a:r>
            <a:r>
              <a:rPr sz="2000" spc="-10" dirty="0">
                <a:latin typeface="Times New Roman"/>
                <a:cs typeface="Times New Roman"/>
              </a:rPr>
              <a:t>wait(Null);</a:t>
            </a:r>
            <a:endParaRPr sz="2000" dirty="0">
              <a:latin typeface="Times New Roman"/>
              <a:cs typeface="Times New Roman"/>
            </a:endParaRPr>
          </a:p>
          <a:p>
            <a:pPr marL="2054860" marR="1381125">
              <a:lnSpc>
                <a:spcPts val="2230"/>
              </a:lnSpc>
            </a:pPr>
            <a:r>
              <a:rPr sz="2000" dirty="0">
                <a:latin typeface="Times New Roman"/>
                <a:cs typeface="Times New Roman"/>
              </a:rPr>
              <a:t>printf(“Child</a:t>
            </a:r>
            <a:r>
              <a:rPr sz="2000" spc="-55" dirty="0">
                <a:latin typeface="Times New Roman"/>
                <a:cs typeface="Times New Roman"/>
              </a:rPr>
              <a:t> </a:t>
            </a:r>
            <a:r>
              <a:rPr sz="2000" spc="-10" dirty="0">
                <a:latin typeface="Times New Roman"/>
                <a:cs typeface="Times New Roman"/>
              </a:rPr>
              <a:t>Complete”); exit(0);</a:t>
            </a:r>
            <a:endParaRPr sz="2000" dirty="0">
              <a:latin typeface="Times New Roman"/>
              <a:cs typeface="Times New Roman"/>
            </a:endParaRPr>
          </a:p>
          <a:p>
            <a:pPr marL="2054860">
              <a:lnSpc>
                <a:spcPts val="2105"/>
              </a:lnSpc>
            </a:pPr>
            <a:r>
              <a:rPr sz="2000" spc="-50" dirty="0">
                <a:latin typeface="Times New Roman"/>
                <a:cs typeface="Times New Roman"/>
              </a:rPr>
              <a:t>}</a:t>
            </a:r>
            <a:endParaRPr sz="2000" dirty="0">
              <a:latin typeface="Times New Roman"/>
              <a:cs typeface="Times New Roman"/>
            </a:endParaRPr>
          </a:p>
          <a:p>
            <a:pPr marL="1371600">
              <a:lnSpc>
                <a:spcPts val="2230"/>
              </a:lnSpc>
            </a:pPr>
            <a:r>
              <a:rPr sz="2000" dirty="0">
                <a:latin typeface="Times New Roman"/>
                <a:cs typeface="Times New Roman"/>
              </a:rPr>
              <a:t>return</a:t>
            </a:r>
            <a:r>
              <a:rPr sz="2000" spc="-50" dirty="0">
                <a:latin typeface="Times New Roman"/>
                <a:cs typeface="Times New Roman"/>
              </a:rPr>
              <a:t> </a:t>
            </a:r>
            <a:r>
              <a:rPr sz="2000" spc="-25" dirty="0">
                <a:latin typeface="Times New Roman"/>
                <a:cs typeface="Times New Roman"/>
              </a:rPr>
              <a:t>0;</a:t>
            </a:r>
            <a:endParaRPr sz="2000" dirty="0">
              <a:latin typeface="Times New Roman"/>
              <a:cs typeface="Times New Roman"/>
            </a:endParaRPr>
          </a:p>
          <a:p>
            <a:pPr marL="692150">
              <a:lnSpc>
                <a:spcPts val="2315"/>
              </a:lnSpc>
            </a:pPr>
            <a:r>
              <a:rPr sz="2000" spc="-50" dirty="0">
                <a:latin typeface="Times New Roman"/>
                <a:cs typeface="Times New Roman"/>
              </a:rPr>
              <a:t>}</a:t>
            </a:r>
            <a:endParaRPr sz="2000" dirty="0">
              <a:latin typeface="Times New Roman"/>
              <a:cs typeface="Times New Roman"/>
            </a:endParaRPr>
          </a:p>
        </p:txBody>
      </p:sp>
    </p:spTree>
    <p:extLst>
      <p:ext uri="{BB962C8B-B14F-4D97-AF65-F5344CB8AC3E}">
        <p14:creationId xmlns:p14="http://schemas.microsoft.com/office/powerpoint/2010/main" val="523034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9634"/>
            <a:ext cx="10515600" cy="6139543"/>
          </a:xfrm>
        </p:spPr>
        <p:txBody>
          <a:bodyPr>
            <a:normAutofit fontScale="55000" lnSpcReduction="20000"/>
          </a:bodyPr>
          <a:lstStyle/>
          <a:p>
            <a:pPr>
              <a:buNone/>
            </a:pPr>
            <a:r>
              <a:rPr lang="en-US" b="1" dirty="0" smtClean="0">
                <a:latin typeface="Times New Roman" pitchFamily="18" charset="0"/>
                <a:cs typeface="Times New Roman" pitchFamily="18" charset="0"/>
              </a:rPr>
              <a:t>Process Termination:</a:t>
            </a:r>
          </a:p>
          <a:p>
            <a:pPr algn="just">
              <a:lnSpc>
                <a:spcPct val="170000"/>
              </a:lnSpc>
            </a:pPr>
            <a:r>
              <a:rPr lang="en-US" dirty="0" smtClean="0">
                <a:latin typeface="Times New Roman" pitchFamily="18" charset="0"/>
                <a:cs typeface="Times New Roman" pitchFamily="18" charset="0"/>
              </a:rPr>
              <a:t>Process termination is an operation in which a process is terminated after the execution of its last instruction. </a:t>
            </a:r>
          </a:p>
          <a:p>
            <a:pPr algn="just">
              <a:lnSpc>
                <a:spcPct val="170000"/>
              </a:lnSpc>
            </a:pPr>
            <a:r>
              <a:rPr lang="en-US" dirty="0" smtClean="0">
                <a:latin typeface="Times New Roman" pitchFamily="18" charset="0"/>
                <a:cs typeface="Times New Roman" pitchFamily="18" charset="0"/>
              </a:rPr>
              <a:t>When a process is terminated, the resources that were being utilized by the process are released by the operating system.</a:t>
            </a:r>
          </a:p>
          <a:p>
            <a:pPr algn="just">
              <a:lnSpc>
                <a:spcPct val="170000"/>
              </a:lnSpc>
            </a:pPr>
            <a:r>
              <a:rPr lang="en-US" dirty="0" smtClean="0">
                <a:latin typeface="Times New Roman" pitchFamily="18" charset="0"/>
                <a:cs typeface="Times New Roman" pitchFamily="18" charset="0"/>
              </a:rPr>
              <a:t>Process are terminated on the following conditions</a:t>
            </a:r>
          </a:p>
          <a:p>
            <a:pPr algn="just">
              <a:lnSpc>
                <a:spcPct val="170000"/>
              </a:lnSpc>
              <a:buNone/>
            </a:pPr>
            <a:r>
              <a:rPr lang="en-US" b="1" dirty="0" smtClean="0">
                <a:latin typeface="Times New Roman" pitchFamily="18" charset="0"/>
                <a:cs typeface="Times New Roman" pitchFamily="18" charset="0"/>
              </a:rPr>
              <a:t>1. Normal exit.</a:t>
            </a:r>
          </a:p>
          <a:p>
            <a:pPr algn="just">
              <a:lnSpc>
                <a:spcPct val="170000"/>
              </a:lnSpc>
            </a:pPr>
            <a:r>
              <a:rPr lang="en-US" dirty="0" smtClean="0">
                <a:latin typeface="Times New Roman" pitchFamily="18" charset="0"/>
                <a:cs typeface="Times New Roman" pitchFamily="18" charset="0"/>
              </a:rPr>
              <a:t>A process terminates when it finishes executing its final statement and asks the OS to delete it by using the  </a:t>
            </a:r>
            <a:r>
              <a:rPr lang="en-US" b="1" dirty="0" smtClean="0">
                <a:latin typeface="Times New Roman" pitchFamily="18" charset="0"/>
                <a:cs typeface="Times New Roman" pitchFamily="18" charset="0"/>
              </a:rPr>
              <a:t>exit</a:t>
            </a:r>
            <a:r>
              <a:rPr lang="en-US" dirty="0" smtClean="0">
                <a:latin typeface="Times New Roman" pitchFamily="18" charset="0"/>
                <a:cs typeface="Times New Roman" pitchFamily="18" charset="0"/>
              </a:rPr>
              <a:t> system call.</a:t>
            </a:r>
          </a:p>
          <a:p>
            <a:pPr algn="just">
              <a:lnSpc>
                <a:spcPct val="170000"/>
              </a:lnSpc>
              <a:buNone/>
            </a:pPr>
            <a:r>
              <a:rPr lang="en-US" b="1" dirty="0" smtClean="0">
                <a:latin typeface="Times New Roman" pitchFamily="18" charset="0"/>
                <a:cs typeface="Times New Roman" pitchFamily="18" charset="0"/>
              </a:rPr>
              <a:t>2. Error exit.</a:t>
            </a:r>
          </a:p>
          <a:p>
            <a:pPr algn="just">
              <a:lnSpc>
                <a:spcPct val="170000"/>
              </a:lnSpc>
            </a:pPr>
            <a:r>
              <a:rPr lang="en-US" dirty="0" smtClean="0">
                <a:latin typeface="Times New Roman" pitchFamily="18" charset="0"/>
                <a:cs typeface="Times New Roman" pitchFamily="18" charset="0"/>
              </a:rPr>
              <a:t>An error caused by the process, often due to a program bug</a:t>
            </a:r>
          </a:p>
          <a:p>
            <a:pPr algn="just">
              <a:lnSpc>
                <a:spcPct val="170000"/>
              </a:lnSpc>
              <a:buNone/>
            </a:pPr>
            <a:r>
              <a:rPr lang="en-US" b="1" dirty="0" smtClean="0">
                <a:latin typeface="Times New Roman" pitchFamily="18" charset="0"/>
                <a:cs typeface="Times New Roman" pitchFamily="18" charset="0"/>
              </a:rPr>
              <a:t>3. Fatal error.</a:t>
            </a:r>
          </a:p>
          <a:p>
            <a:pPr algn="just">
              <a:lnSpc>
                <a:spcPct val="170000"/>
              </a:lnSpc>
            </a:pPr>
            <a:r>
              <a:rPr lang="en-US" dirty="0" smtClean="0">
                <a:latin typeface="Times New Roman" pitchFamily="18" charset="0"/>
                <a:cs typeface="Times New Roman" pitchFamily="18" charset="0"/>
              </a:rPr>
              <a:t>no such file exists during the compilation.</a:t>
            </a:r>
          </a:p>
          <a:p>
            <a:pPr algn="just">
              <a:lnSpc>
                <a:spcPct val="170000"/>
              </a:lnSpc>
              <a:buNone/>
            </a:pPr>
            <a:r>
              <a:rPr lang="en-US" b="1" dirty="0" smtClean="0">
                <a:latin typeface="Times New Roman" pitchFamily="18" charset="0"/>
                <a:cs typeface="Times New Roman" pitchFamily="18" charset="0"/>
              </a:rPr>
              <a:t>4. Killed by another process.</a:t>
            </a:r>
          </a:p>
          <a:p>
            <a:pPr algn="just">
              <a:lnSpc>
                <a:spcPct val="170000"/>
              </a:lnSpc>
            </a:pPr>
            <a:r>
              <a:rPr lang="en-US" dirty="0" smtClean="0">
                <a:latin typeface="Times New Roman" pitchFamily="18" charset="0"/>
                <a:cs typeface="Times New Roman" pitchFamily="18" charset="0"/>
              </a:rPr>
              <a:t>A process can cause the termination of another process via </a:t>
            </a:r>
            <a:r>
              <a:rPr lang="en-US" b="1" i="1" dirty="0" smtClean="0">
                <a:latin typeface="Times New Roman" pitchFamily="18" charset="0"/>
                <a:cs typeface="Times New Roman" pitchFamily="18" charset="0"/>
              </a:rPr>
              <a:t>kill </a:t>
            </a:r>
            <a:r>
              <a:rPr lang="en-US" i="1" dirty="0" smtClean="0">
                <a:latin typeface="Times New Roman" pitchFamily="18" charset="0"/>
                <a:cs typeface="Times New Roman" pitchFamily="18" charset="0"/>
              </a:rPr>
              <a:t>system call.</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4304162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pPr algn="ctr"/>
            <a:r>
              <a:rPr lang="en-US" altLang="en-US" b="1" dirty="0" smtClean="0">
                <a:solidFill>
                  <a:srgbClr val="FF0000"/>
                </a:solidFill>
                <a:latin typeface="Times New Roman" pitchFamily="18" charset="0"/>
                <a:cs typeface="Times New Roman" pitchFamily="18" charset="0"/>
              </a:rPr>
              <a:t>Interprocess Communication</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227909"/>
            <a:ext cx="10515600" cy="4949054"/>
          </a:xfrm>
        </p:spPr>
        <p:txBody>
          <a:bodyPr>
            <a:normAutofit fontScale="85000" lnSpcReduction="10000"/>
          </a:bodyPr>
          <a:lstStyle/>
          <a:p>
            <a:pPr algn="just">
              <a:lnSpc>
                <a:spcPct val="150000"/>
              </a:lnSpc>
            </a:pPr>
            <a:r>
              <a:rPr lang="en-US" dirty="0" smtClean="0">
                <a:latin typeface="Times New Roman" pitchFamily="18" charset="0"/>
                <a:cs typeface="Times New Roman" pitchFamily="18" charset="0"/>
              </a:rPr>
              <a:t>Processes executing concurrently in the operating system may be either independent processes or cooperating processes.</a:t>
            </a:r>
          </a:p>
          <a:p>
            <a:pPr algn="just">
              <a:lnSpc>
                <a:spcPct val="150000"/>
              </a:lnSpc>
            </a:pPr>
            <a:r>
              <a:rPr lang="en-US" dirty="0" smtClean="0">
                <a:latin typeface="Times New Roman" pitchFamily="18" charset="0"/>
                <a:cs typeface="Times New Roman" pitchFamily="18" charset="0"/>
              </a:rPr>
              <a:t>A process is </a:t>
            </a:r>
            <a:r>
              <a:rPr lang="en-US" b="1" dirty="0" smtClean="0">
                <a:solidFill>
                  <a:srgbClr val="FF0000"/>
                </a:solidFill>
                <a:latin typeface="Times New Roman" pitchFamily="18" charset="0"/>
                <a:cs typeface="Times New Roman" pitchFamily="18" charset="0"/>
              </a:rPr>
              <a:t>independent</a:t>
            </a:r>
            <a:r>
              <a:rPr lang="en-US" dirty="0" smtClean="0">
                <a:latin typeface="Times New Roman" pitchFamily="18" charset="0"/>
                <a:cs typeface="Times New Roman" pitchFamily="18" charset="0"/>
              </a:rPr>
              <a:t> if it cannot affect or be affected by the other processes executing in the system.</a:t>
            </a:r>
          </a:p>
          <a:p>
            <a:pPr algn="just">
              <a:lnSpc>
                <a:spcPct val="150000"/>
              </a:lnSpc>
            </a:pPr>
            <a:r>
              <a:rPr lang="en-US" dirty="0" smtClean="0">
                <a:latin typeface="Times New Roman" pitchFamily="18" charset="0"/>
                <a:cs typeface="Times New Roman" pitchFamily="18" charset="0"/>
              </a:rPr>
              <a:t>Any process that does not share data with any other process is independent.</a:t>
            </a:r>
          </a:p>
          <a:p>
            <a:pPr algn="just">
              <a:lnSpc>
                <a:spcPct val="150000"/>
              </a:lnSpc>
            </a:pPr>
            <a:r>
              <a:rPr lang="en-US" dirty="0" smtClean="0">
                <a:latin typeface="Times New Roman" pitchFamily="18" charset="0"/>
                <a:cs typeface="Times New Roman" pitchFamily="18" charset="0"/>
              </a:rPr>
              <a:t>A process is </a:t>
            </a:r>
            <a:r>
              <a:rPr lang="en-US" b="1" dirty="0" smtClean="0">
                <a:solidFill>
                  <a:srgbClr val="FF0000"/>
                </a:solidFill>
                <a:latin typeface="Times New Roman" pitchFamily="18" charset="0"/>
                <a:cs typeface="Times New Roman" pitchFamily="18" charset="0"/>
              </a:rPr>
              <a:t>cooperating</a:t>
            </a:r>
            <a:r>
              <a:rPr lang="en-US" dirty="0" smtClean="0">
                <a:latin typeface="Times New Roman" pitchFamily="18" charset="0"/>
                <a:cs typeface="Times New Roman" pitchFamily="18" charset="0"/>
              </a:rPr>
              <a:t> if it can affect or be affected by the other processes executing in the system. </a:t>
            </a:r>
          </a:p>
          <a:p>
            <a:pPr algn="just">
              <a:lnSpc>
                <a:spcPct val="150000"/>
              </a:lnSpc>
            </a:pPr>
            <a:r>
              <a:rPr lang="en-US" dirty="0" smtClean="0">
                <a:latin typeface="Times New Roman" pitchFamily="18" charset="0"/>
                <a:cs typeface="Times New Roman" pitchFamily="18" charset="0"/>
              </a:rPr>
              <a:t>Clearly, any process that shares data with other processes is a cooperating process.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906388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5577"/>
            <a:ext cx="10515600" cy="5641386"/>
          </a:xfrm>
        </p:spPr>
        <p:txBody>
          <a:bodyPr>
            <a:normAutofit lnSpcReduction="10000"/>
          </a:bodyPr>
          <a:lstStyle/>
          <a:p>
            <a:pPr algn="just">
              <a:lnSpc>
                <a:spcPct val="150000"/>
              </a:lnSpc>
            </a:pPr>
            <a:r>
              <a:rPr lang="en-US" altLang="en-US" dirty="0" smtClean="0">
                <a:latin typeface="Times New Roman" pitchFamily="18" charset="0"/>
                <a:cs typeface="Times New Roman" pitchFamily="18" charset="0"/>
              </a:rPr>
              <a:t>Reasons for cooperating processes:</a:t>
            </a:r>
          </a:p>
          <a:p>
            <a:pPr lvl="1" algn="just">
              <a:lnSpc>
                <a:spcPct val="150000"/>
              </a:lnSpc>
            </a:pPr>
            <a:r>
              <a:rPr lang="en-US" altLang="en-US" dirty="0" smtClean="0">
                <a:latin typeface="Times New Roman" pitchFamily="18" charset="0"/>
                <a:cs typeface="Times New Roman" pitchFamily="18" charset="0"/>
              </a:rPr>
              <a:t>Information sharing</a:t>
            </a:r>
          </a:p>
          <a:p>
            <a:pPr lvl="1" algn="just">
              <a:lnSpc>
                <a:spcPct val="150000"/>
              </a:lnSpc>
            </a:pPr>
            <a:r>
              <a:rPr lang="en-US" altLang="en-US" dirty="0" smtClean="0">
                <a:latin typeface="Times New Roman" pitchFamily="18" charset="0"/>
                <a:cs typeface="Times New Roman" pitchFamily="18" charset="0"/>
              </a:rPr>
              <a:t>Computation speedup</a:t>
            </a:r>
          </a:p>
          <a:p>
            <a:pPr lvl="1" algn="just">
              <a:lnSpc>
                <a:spcPct val="150000"/>
              </a:lnSpc>
            </a:pPr>
            <a:r>
              <a:rPr lang="en-US" altLang="en-US" dirty="0" smtClean="0">
                <a:latin typeface="Times New Roman" pitchFamily="18" charset="0"/>
                <a:cs typeface="Times New Roman" pitchFamily="18" charset="0"/>
              </a:rPr>
              <a:t>Modularity</a:t>
            </a:r>
          </a:p>
          <a:p>
            <a:pPr lvl="1" algn="just">
              <a:lnSpc>
                <a:spcPct val="150000"/>
              </a:lnSpc>
            </a:pPr>
            <a:r>
              <a:rPr lang="en-US" altLang="en-US" dirty="0" smtClean="0">
                <a:latin typeface="Times New Roman" pitchFamily="18" charset="0"/>
                <a:cs typeface="Times New Roman" pitchFamily="18" charset="0"/>
              </a:rPr>
              <a:t>Convenience</a:t>
            </a:r>
          </a:p>
          <a:p>
            <a:pPr algn="just">
              <a:lnSpc>
                <a:spcPct val="150000"/>
              </a:lnSpc>
            </a:pPr>
            <a:r>
              <a:rPr lang="en-US" altLang="en-US" dirty="0" smtClean="0">
                <a:latin typeface="Times New Roman" pitchFamily="18" charset="0"/>
                <a:cs typeface="Times New Roman" pitchFamily="18" charset="0"/>
              </a:rPr>
              <a:t>Cooperating processes need </a:t>
            </a:r>
            <a:r>
              <a:rPr lang="en-US" altLang="en-US" b="1" dirty="0" smtClean="0">
                <a:solidFill>
                  <a:srgbClr val="3366FF"/>
                </a:solidFill>
                <a:latin typeface="Times New Roman" pitchFamily="18" charset="0"/>
                <a:cs typeface="Times New Roman" pitchFamily="18" charset="0"/>
              </a:rPr>
              <a:t>intercrosses communication </a:t>
            </a:r>
            <a:r>
              <a:rPr lang="en-US" altLang="en-US" dirty="0" smtClean="0">
                <a:latin typeface="Times New Roman" pitchFamily="18" charset="0"/>
                <a:cs typeface="Times New Roman" pitchFamily="18" charset="0"/>
              </a:rPr>
              <a:t>(</a:t>
            </a:r>
            <a:r>
              <a:rPr lang="en-US" altLang="en-US" b="1" dirty="0" smtClean="0">
                <a:solidFill>
                  <a:srgbClr val="3366FF"/>
                </a:solidFill>
                <a:latin typeface="Times New Roman" pitchFamily="18" charset="0"/>
                <a:cs typeface="Times New Roman" pitchFamily="18" charset="0"/>
              </a:rPr>
              <a:t>IPC</a:t>
            </a:r>
            <a:r>
              <a:rPr lang="en-US" altLang="en-US" dirty="0" smtClean="0">
                <a:latin typeface="Times New Roman" pitchFamily="18" charset="0"/>
                <a:cs typeface="Times New Roman" pitchFamily="18" charset="0"/>
              </a:rPr>
              <a:t>)</a:t>
            </a:r>
          </a:p>
          <a:p>
            <a:pPr algn="just">
              <a:lnSpc>
                <a:spcPct val="150000"/>
              </a:lnSpc>
            </a:pPr>
            <a:r>
              <a:rPr lang="en-US" altLang="en-US" dirty="0" smtClean="0">
                <a:latin typeface="Times New Roman" pitchFamily="18" charset="0"/>
                <a:cs typeface="Times New Roman" pitchFamily="18" charset="0"/>
              </a:rPr>
              <a:t>Two models of IPC</a:t>
            </a:r>
          </a:p>
          <a:p>
            <a:pPr lvl="1" algn="just">
              <a:lnSpc>
                <a:spcPct val="150000"/>
              </a:lnSpc>
            </a:pPr>
            <a:r>
              <a:rPr lang="en-US" altLang="en-US" b="1" dirty="0" smtClean="0">
                <a:solidFill>
                  <a:srgbClr val="3366FF"/>
                </a:solidFill>
                <a:latin typeface="Times New Roman" pitchFamily="18" charset="0"/>
                <a:cs typeface="Times New Roman" pitchFamily="18" charset="0"/>
              </a:rPr>
              <a:t>Shared memory</a:t>
            </a:r>
          </a:p>
          <a:p>
            <a:pPr lvl="1" algn="just">
              <a:lnSpc>
                <a:spcPct val="150000"/>
              </a:lnSpc>
            </a:pPr>
            <a:r>
              <a:rPr lang="en-US" altLang="en-US" b="1" dirty="0" smtClean="0">
                <a:solidFill>
                  <a:srgbClr val="3366FF"/>
                </a:solidFill>
                <a:latin typeface="Times New Roman" pitchFamily="18" charset="0"/>
                <a:cs typeface="Times New Roman" pitchFamily="18" charset="0"/>
              </a:rPr>
              <a:t>Message passing</a:t>
            </a:r>
            <a:endParaRPr lang="en-US" alt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4542376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7646"/>
            <a:ext cx="10515600" cy="5419317"/>
          </a:xfrm>
        </p:spPr>
        <p:txBody>
          <a:bodyPr/>
          <a:lstStyle/>
          <a:p>
            <a:pPr>
              <a:buNone/>
            </a:pPr>
            <a:r>
              <a:rPr lang="en-US" altLang="en-US" b="1" dirty="0" smtClean="0">
                <a:solidFill>
                  <a:srgbClr val="000000"/>
                </a:solidFill>
                <a:latin typeface="Courier New" pitchFamily="49" charset="0"/>
                <a:cs typeface="Courier New" pitchFamily="49" charset="0"/>
              </a:rPr>
              <a:t>   (</a:t>
            </a:r>
            <a:r>
              <a:rPr lang="en-US" altLang="en-US" dirty="0" smtClean="0">
                <a:solidFill>
                  <a:srgbClr val="000000"/>
                </a:solidFill>
                <a:latin typeface="Courier New" pitchFamily="49" charset="0"/>
                <a:cs typeface="Courier New" pitchFamily="49" charset="0"/>
              </a:rPr>
              <a:t>a) Message passing.  (b) shared memory. </a:t>
            </a:r>
            <a:r>
              <a:rPr lang="en-US" altLang="en-US" dirty="0" smtClean="0">
                <a:cs typeface="Courier New" pitchFamily="49" charset="0"/>
              </a:rPr>
              <a:t> </a:t>
            </a:r>
          </a:p>
          <a:p>
            <a:pPr>
              <a:buNone/>
            </a:pPr>
            <a:endParaRPr lang="en-US" dirty="0"/>
          </a:p>
        </p:txBody>
      </p:sp>
      <p:pic>
        <p:nvPicPr>
          <p:cNvPr id="1026" name="Picture 2"/>
          <p:cNvPicPr>
            <a:picLocks noChangeAspect="1" noChangeArrowheads="1"/>
          </p:cNvPicPr>
          <p:nvPr/>
        </p:nvPicPr>
        <p:blipFill>
          <a:blip r:embed="rId2"/>
          <a:srcRect/>
          <a:stretch>
            <a:fillRect/>
          </a:stretch>
        </p:blipFill>
        <p:spPr bwMode="auto">
          <a:xfrm>
            <a:off x="1763486" y="1580606"/>
            <a:ext cx="8987245" cy="4362859"/>
          </a:xfrm>
          <a:prstGeom prst="rect">
            <a:avLst/>
          </a:prstGeom>
          <a:noFill/>
          <a:ln w="9525">
            <a:noFill/>
            <a:miter lim="800000"/>
            <a:headEnd/>
            <a:tailEnd/>
          </a:ln>
          <a:effectLst/>
        </p:spPr>
      </p:pic>
    </p:spTree>
    <p:extLst>
      <p:ext uri="{BB962C8B-B14F-4D97-AF65-F5344CB8AC3E}">
        <p14:creationId xmlns:p14="http://schemas.microsoft.com/office/powerpoint/2010/main" val="41370064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Shared Memory System</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04949" y="940526"/>
            <a:ext cx="11299371" cy="5499463"/>
          </a:xfrm>
        </p:spPr>
        <p:txBody>
          <a:bodyPr>
            <a:noAutofit/>
          </a:bodyPr>
          <a:lstStyle/>
          <a:p>
            <a:pPr algn="just">
              <a:lnSpc>
                <a:spcPct val="160000"/>
              </a:lnSpc>
            </a:pPr>
            <a:r>
              <a:rPr lang="en-US" sz="2000" dirty="0" smtClean="0">
                <a:latin typeface="Times New Roman" pitchFamily="18" charset="0"/>
                <a:cs typeface="Times New Roman" pitchFamily="18" charset="0"/>
              </a:rPr>
              <a:t>Interprocess communication using shared memory requires communicating processes to establish a region of shared  memory.</a:t>
            </a:r>
          </a:p>
          <a:p>
            <a:pPr algn="just">
              <a:lnSpc>
                <a:spcPct val="100000"/>
              </a:lnSpc>
            </a:pPr>
            <a:r>
              <a:rPr lang="en-US" sz="2000" dirty="0" smtClean="0">
                <a:latin typeface="Times New Roman" pitchFamily="18" charset="0"/>
                <a:cs typeface="Times New Roman" pitchFamily="18" charset="0"/>
              </a:rPr>
              <a:t>Typically, a shared-memory region resides in the address space of the process creating the shared-memory segment.</a:t>
            </a:r>
          </a:p>
          <a:p>
            <a:pPr algn="just">
              <a:lnSpc>
                <a:spcPct val="100000"/>
              </a:lnSpc>
            </a:pPr>
            <a:r>
              <a:rPr lang="en-US" sz="2000" dirty="0" smtClean="0">
                <a:latin typeface="Times New Roman" pitchFamily="18" charset="0"/>
                <a:cs typeface="Times New Roman" pitchFamily="18" charset="0"/>
              </a:rPr>
              <a:t>Other processes that wish to communicate using this shared-memory segment must attach it to their address space.</a:t>
            </a:r>
          </a:p>
          <a:p>
            <a:pPr algn="just">
              <a:lnSpc>
                <a:spcPct val="160000"/>
              </a:lnSpc>
            </a:pPr>
            <a:r>
              <a:rPr lang="en-US" sz="2000" dirty="0" smtClean="0">
                <a:latin typeface="Times New Roman" pitchFamily="18" charset="0"/>
                <a:cs typeface="Times New Roman" pitchFamily="18" charset="0"/>
              </a:rPr>
              <a:t>They can then exchange information by reading and writing data in the shared areas. </a:t>
            </a:r>
          </a:p>
          <a:p>
            <a:pPr algn="just">
              <a:lnSpc>
                <a:spcPct val="160000"/>
              </a:lnSpc>
            </a:pPr>
            <a:r>
              <a:rPr lang="en-US" sz="2000" dirty="0" smtClean="0">
                <a:latin typeface="Times New Roman" pitchFamily="18" charset="0"/>
                <a:cs typeface="Times New Roman" pitchFamily="18" charset="0"/>
              </a:rPr>
              <a:t>The form of the data and the location are determined by these processes and are not under the operating system’s control. </a:t>
            </a:r>
          </a:p>
          <a:p>
            <a:pPr algn="just">
              <a:lnSpc>
                <a:spcPct val="160000"/>
              </a:lnSpc>
            </a:pPr>
            <a:r>
              <a:rPr lang="en-US" sz="2000" dirty="0" smtClean="0">
                <a:latin typeface="Times New Roman" pitchFamily="18" charset="0"/>
                <a:cs typeface="Times New Roman" pitchFamily="18" charset="0"/>
              </a:rPr>
              <a:t>The processes are also responsible for ensuring that they are not writing to the same location simultaneously.</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9657307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9"/>
            <a:ext cx="10515600" cy="941294"/>
          </a:xfrm>
        </p:spPr>
        <p:txBody>
          <a:bodyPr>
            <a:noAutofit/>
          </a:bodyPr>
          <a:lstStyle/>
          <a:p>
            <a:pPr algn="ctr"/>
            <a:r>
              <a:rPr lang="en-US" sz="3200" b="1" dirty="0" smtClean="0">
                <a:solidFill>
                  <a:srgbClr val="FF0000"/>
                </a:solidFill>
                <a:latin typeface="Times New Roman" pitchFamily="18" charset="0"/>
                <a:cs typeface="Times New Roman" pitchFamily="18" charset="0"/>
              </a:rPr>
              <a:t>Shared Memory: Example</a:t>
            </a:r>
            <a:br>
              <a:rPr lang="en-US" sz="3200" b="1" dirty="0" smtClean="0">
                <a:solidFill>
                  <a:srgbClr val="FF0000"/>
                </a:solidFill>
                <a:latin typeface="Times New Roman" pitchFamily="18" charset="0"/>
                <a:cs typeface="Times New Roman" pitchFamily="18" charset="0"/>
              </a:rPr>
            </a:br>
            <a:r>
              <a:rPr lang="en-US" sz="3200" b="1" dirty="0" smtClean="0">
                <a:solidFill>
                  <a:srgbClr val="FF0000"/>
                </a:solidFill>
                <a:latin typeface="Times New Roman" pitchFamily="18" charset="0"/>
                <a:cs typeface="Times New Roman" pitchFamily="18" charset="0"/>
              </a:rPr>
              <a:t>Producer Consumer problem</a:t>
            </a:r>
            <a:endParaRPr lang="en-US" sz="3200" dirty="0"/>
          </a:p>
        </p:txBody>
      </p:sp>
      <p:sp>
        <p:nvSpPr>
          <p:cNvPr id="4" name="object 17"/>
          <p:cNvSpPr txBox="1">
            <a:spLocks noGrp="1"/>
          </p:cNvSpPr>
          <p:nvPr>
            <p:ph idx="1"/>
          </p:nvPr>
        </p:nvSpPr>
        <p:spPr>
          <a:xfrm>
            <a:off x="838200" y="1223963"/>
            <a:ext cx="10510093" cy="319318"/>
          </a:xfrm>
          <a:prstGeom prst="rect">
            <a:avLst/>
          </a:prstGeom>
        </p:spPr>
        <p:txBody>
          <a:bodyPr vert="horz" wrap="square" lIns="0" tIns="11430" rIns="0" bIns="0" rtlCol="0">
            <a:spAutoFit/>
          </a:bodyPr>
          <a:lstStyle/>
          <a:p>
            <a:pPr marL="12700" marR="5080">
              <a:lnSpc>
                <a:spcPct val="100000"/>
              </a:lnSpc>
              <a:spcBef>
                <a:spcPts val="90"/>
              </a:spcBef>
              <a:tabLst>
                <a:tab pos="6840220" algn="l"/>
              </a:tabLst>
            </a:pPr>
            <a:r>
              <a:rPr sz="2000" dirty="0">
                <a:latin typeface="Times New Roman"/>
                <a:cs typeface="Times New Roman"/>
              </a:rPr>
              <a:t>Suppose</a:t>
            </a:r>
            <a:r>
              <a:rPr sz="2000" spc="-60" dirty="0">
                <a:latin typeface="Times New Roman"/>
                <a:cs typeface="Times New Roman"/>
              </a:rPr>
              <a:t> </a:t>
            </a:r>
            <a:r>
              <a:rPr sz="2000" dirty="0">
                <a:latin typeface="Times New Roman"/>
                <a:cs typeface="Times New Roman"/>
              </a:rPr>
              <a:t>one</a:t>
            </a:r>
            <a:r>
              <a:rPr sz="2000" spc="-55" dirty="0">
                <a:latin typeface="Times New Roman"/>
                <a:cs typeface="Times New Roman"/>
              </a:rPr>
              <a:t> </a:t>
            </a:r>
            <a:r>
              <a:rPr sz="2000" dirty="0">
                <a:latin typeface="Times New Roman"/>
                <a:cs typeface="Times New Roman"/>
              </a:rPr>
              <a:t>process,</a:t>
            </a:r>
            <a:r>
              <a:rPr sz="2000" spc="-70" dirty="0">
                <a:latin typeface="Times New Roman"/>
                <a:cs typeface="Times New Roman"/>
              </a:rPr>
              <a:t> </a:t>
            </a:r>
            <a:r>
              <a:rPr sz="2000" dirty="0">
                <a:latin typeface="Times New Roman"/>
                <a:cs typeface="Times New Roman"/>
              </a:rPr>
              <a:t>producer,</a:t>
            </a:r>
            <a:r>
              <a:rPr sz="2000" spc="-75" dirty="0">
                <a:latin typeface="Times New Roman"/>
                <a:cs typeface="Times New Roman"/>
              </a:rPr>
              <a:t> </a:t>
            </a:r>
            <a:r>
              <a:rPr sz="2000" dirty="0">
                <a:latin typeface="Times New Roman"/>
                <a:cs typeface="Times New Roman"/>
              </a:rPr>
              <a:t>is</a:t>
            </a:r>
            <a:r>
              <a:rPr sz="2000" spc="-65" dirty="0">
                <a:latin typeface="Times New Roman"/>
                <a:cs typeface="Times New Roman"/>
              </a:rPr>
              <a:t> </a:t>
            </a:r>
            <a:r>
              <a:rPr sz="2000" dirty="0">
                <a:latin typeface="Times New Roman"/>
                <a:cs typeface="Times New Roman"/>
              </a:rPr>
              <a:t>generating</a:t>
            </a:r>
            <a:r>
              <a:rPr sz="2000" spc="-30" dirty="0">
                <a:latin typeface="Times New Roman"/>
                <a:cs typeface="Times New Roman"/>
              </a:rPr>
              <a:t> </a:t>
            </a:r>
            <a:r>
              <a:rPr sz="2000" dirty="0">
                <a:latin typeface="Times New Roman"/>
                <a:cs typeface="Times New Roman"/>
              </a:rPr>
              <a:t>information</a:t>
            </a:r>
            <a:r>
              <a:rPr sz="2000" spc="-30" dirty="0">
                <a:latin typeface="Times New Roman"/>
                <a:cs typeface="Times New Roman"/>
              </a:rPr>
              <a:t> </a:t>
            </a:r>
            <a:r>
              <a:rPr sz="2000" dirty="0">
                <a:latin typeface="Times New Roman"/>
                <a:cs typeface="Times New Roman"/>
              </a:rPr>
              <a:t>that</a:t>
            </a:r>
            <a:r>
              <a:rPr sz="2000" spc="-60" dirty="0">
                <a:latin typeface="Times New Roman"/>
                <a:cs typeface="Times New Roman"/>
              </a:rPr>
              <a:t> </a:t>
            </a:r>
            <a:r>
              <a:rPr sz="2000" spc="-25" dirty="0">
                <a:latin typeface="Times New Roman"/>
                <a:cs typeface="Times New Roman"/>
              </a:rPr>
              <a:t>the</a:t>
            </a:r>
            <a:r>
              <a:rPr sz="2000" dirty="0">
                <a:latin typeface="Times New Roman"/>
                <a:cs typeface="Times New Roman"/>
              </a:rPr>
              <a:t>	second</a:t>
            </a:r>
            <a:r>
              <a:rPr sz="2000" spc="-50" dirty="0">
                <a:latin typeface="Times New Roman"/>
                <a:cs typeface="Times New Roman"/>
              </a:rPr>
              <a:t> </a:t>
            </a:r>
            <a:r>
              <a:rPr sz="2000" spc="-10" dirty="0">
                <a:latin typeface="Times New Roman"/>
                <a:cs typeface="Times New Roman"/>
              </a:rPr>
              <a:t>process, consumer, </a:t>
            </a:r>
            <a:r>
              <a:rPr sz="2000" dirty="0">
                <a:latin typeface="Times New Roman"/>
                <a:cs typeface="Times New Roman"/>
              </a:rPr>
              <a:t>is</a:t>
            </a:r>
            <a:r>
              <a:rPr sz="2000" spc="-60" dirty="0">
                <a:latin typeface="Times New Roman"/>
                <a:cs typeface="Times New Roman"/>
              </a:rPr>
              <a:t> </a:t>
            </a:r>
            <a:r>
              <a:rPr sz="2000" spc="-10" dirty="0">
                <a:latin typeface="Times New Roman"/>
                <a:cs typeface="Times New Roman"/>
              </a:rPr>
              <a:t>using.</a:t>
            </a:r>
            <a:endParaRPr sz="2000" dirty="0">
              <a:latin typeface="Times New Roman"/>
              <a:cs typeface="Times New Roman"/>
            </a:endParaRPr>
          </a:p>
        </p:txBody>
      </p:sp>
      <p:sp>
        <p:nvSpPr>
          <p:cNvPr id="6" name="object 6"/>
          <p:cNvSpPr txBox="1"/>
          <p:nvPr/>
        </p:nvSpPr>
        <p:spPr>
          <a:xfrm>
            <a:off x="914965" y="1647209"/>
            <a:ext cx="1498600" cy="571500"/>
          </a:xfrm>
          <a:prstGeom prst="rect">
            <a:avLst/>
          </a:prstGeom>
        </p:spPr>
        <p:txBody>
          <a:bodyPr vert="horz" wrap="square" lIns="0" tIns="23495" rIns="0" bIns="0" rtlCol="0">
            <a:spAutoFit/>
          </a:bodyPr>
          <a:lstStyle/>
          <a:p>
            <a:pPr marL="103505" marR="5080" indent="-91440">
              <a:lnSpc>
                <a:spcPts val="2140"/>
              </a:lnSpc>
              <a:spcBef>
                <a:spcPts val="185"/>
              </a:spcBef>
            </a:pPr>
            <a:r>
              <a:rPr sz="1800" dirty="0">
                <a:latin typeface="Calibri"/>
                <a:cs typeface="Calibri"/>
              </a:rPr>
              <a:t>#define</a:t>
            </a:r>
            <a:r>
              <a:rPr sz="1800" spc="35" dirty="0">
                <a:latin typeface="Calibri"/>
                <a:cs typeface="Calibri"/>
              </a:rPr>
              <a:t> </a:t>
            </a:r>
            <a:r>
              <a:rPr sz="1800" dirty="0">
                <a:latin typeface="Calibri"/>
                <a:cs typeface="Calibri"/>
              </a:rPr>
              <a:t>N</a:t>
            </a:r>
            <a:r>
              <a:rPr sz="1800" spc="-55" dirty="0">
                <a:latin typeface="Calibri"/>
                <a:cs typeface="Calibri"/>
              </a:rPr>
              <a:t> </a:t>
            </a:r>
            <a:r>
              <a:rPr sz="1800" dirty="0">
                <a:latin typeface="Calibri"/>
                <a:cs typeface="Calibri"/>
              </a:rPr>
              <a:t>=</a:t>
            </a:r>
            <a:r>
              <a:rPr sz="1800" spc="-30" dirty="0">
                <a:latin typeface="Calibri"/>
                <a:cs typeface="Calibri"/>
              </a:rPr>
              <a:t> </a:t>
            </a:r>
            <a:r>
              <a:rPr sz="1800" spc="-25" dirty="0">
                <a:latin typeface="Calibri"/>
                <a:cs typeface="Calibri"/>
              </a:rPr>
              <a:t>100 </a:t>
            </a:r>
            <a:r>
              <a:rPr sz="1800" dirty="0">
                <a:latin typeface="Calibri"/>
                <a:cs typeface="Calibri"/>
              </a:rPr>
              <a:t>int</a:t>
            </a:r>
            <a:r>
              <a:rPr sz="1800" spc="-35" dirty="0">
                <a:latin typeface="Calibri"/>
                <a:cs typeface="Calibri"/>
              </a:rPr>
              <a:t> </a:t>
            </a:r>
            <a:r>
              <a:rPr sz="1800" dirty="0">
                <a:latin typeface="Calibri"/>
                <a:cs typeface="Calibri"/>
              </a:rPr>
              <a:t>count</a:t>
            </a:r>
            <a:r>
              <a:rPr sz="1800" spc="-30" dirty="0">
                <a:latin typeface="Calibri"/>
                <a:cs typeface="Calibri"/>
              </a:rPr>
              <a:t> </a:t>
            </a:r>
            <a:r>
              <a:rPr sz="1800" dirty="0">
                <a:latin typeface="Calibri"/>
                <a:cs typeface="Calibri"/>
              </a:rPr>
              <a:t>=</a:t>
            </a:r>
            <a:r>
              <a:rPr sz="1800" spc="-30" dirty="0">
                <a:latin typeface="Calibri"/>
                <a:cs typeface="Calibri"/>
              </a:rPr>
              <a:t> </a:t>
            </a:r>
            <a:r>
              <a:rPr sz="1800" spc="-25" dirty="0">
                <a:latin typeface="Calibri"/>
                <a:cs typeface="Calibri"/>
              </a:rPr>
              <a:t>0;</a:t>
            </a:r>
            <a:endParaRPr sz="1800" dirty="0">
              <a:latin typeface="Calibri"/>
              <a:cs typeface="Calibri"/>
            </a:endParaRPr>
          </a:p>
        </p:txBody>
      </p:sp>
      <p:sp>
        <p:nvSpPr>
          <p:cNvPr id="7" name="object 7"/>
          <p:cNvSpPr txBox="1"/>
          <p:nvPr/>
        </p:nvSpPr>
        <p:spPr>
          <a:xfrm>
            <a:off x="2438595" y="1620315"/>
            <a:ext cx="3194050" cy="571500"/>
          </a:xfrm>
          <a:prstGeom prst="rect">
            <a:avLst/>
          </a:prstGeom>
        </p:spPr>
        <p:txBody>
          <a:bodyPr vert="horz" wrap="square" lIns="0" tIns="12700" rIns="0" bIns="0" rtlCol="0">
            <a:spAutoFit/>
          </a:bodyPr>
          <a:lstStyle/>
          <a:p>
            <a:pPr marL="61594">
              <a:lnSpc>
                <a:spcPts val="2150"/>
              </a:lnSpc>
              <a:spcBef>
                <a:spcPts val="100"/>
              </a:spcBef>
            </a:pPr>
            <a:r>
              <a:rPr sz="1800" dirty="0">
                <a:latin typeface="Calibri"/>
                <a:cs typeface="Calibri"/>
              </a:rPr>
              <a:t>/*</a:t>
            </a:r>
            <a:r>
              <a:rPr sz="1800" spc="-15" dirty="0">
                <a:latin typeface="Calibri"/>
                <a:cs typeface="Calibri"/>
              </a:rPr>
              <a:t> </a:t>
            </a:r>
            <a:r>
              <a:rPr sz="1800" dirty="0">
                <a:latin typeface="Calibri"/>
                <a:cs typeface="Calibri"/>
              </a:rPr>
              <a:t>number</a:t>
            </a:r>
            <a:r>
              <a:rPr sz="1800" spc="15"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slots</a:t>
            </a:r>
            <a:r>
              <a:rPr sz="1800" spc="-35" dirty="0">
                <a:latin typeface="Calibri"/>
                <a:cs typeface="Calibri"/>
              </a:rPr>
              <a:t> </a:t>
            </a:r>
            <a:r>
              <a:rPr sz="1800" dirty="0">
                <a:latin typeface="Calibri"/>
                <a:cs typeface="Calibri"/>
              </a:rPr>
              <a:t>in</a:t>
            </a:r>
            <a:r>
              <a:rPr sz="1800" spc="-15" dirty="0">
                <a:latin typeface="Calibri"/>
                <a:cs typeface="Calibri"/>
              </a:rPr>
              <a:t> </a:t>
            </a:r>
            <a:r>
              <a:rPr sz="1800" dirty="0">
                <a:latin typeface="Calibri"/>
                <a:cs typeface="Calibri"/>
              </a:rPr>
              <a:t>the</a:t>
            </a:r>
            <a:r>
              <a:rPr sz="1800" spc="-15" dirty="0">
                <a:latin typeface="Calibri"/>
                <a:cs typeface="Calibri"/>
              </a:rPr>
              <a:t> </a:t>
            </a:r>
            <a:r>
              <a:rPr sz="1800" spc="-10" dirty="0">
                <a:latin typeface="Calibri"/>
                <a:cs typeface="Calibri"/>
              </a:rPr>
              <a:t>buffer*/</a:t>
            </a:r>
            <a:endParaRPr sz="1800" dirty="0">
              <a:latin typeface="Calibri"/>
              <a:cs typeface="Calibri"/>
            </a:endParaRPr>
          </a:p>
          <a:p>
            <a:pPr marL="12700">
              <a:lnSpc>
                <a:spcPts val="2150"/>
              </a:lnSpc>
            </a:pPr>
            <a:r>
              <a:rPr sz="1800" dirty="0">
                <a:latin typeface="Calibri"/>
                <a:cs typeface="Calibri"/>
              </a:rPr>
              <a:t>/*</a:t>
            </a:r>
            <a:r>
              <a:rPr sz="1800" spc="-45" dirty="0">
                <a:latin typeface="Calibri"/>
                <a:cs typeface="Calibri"/>
              </a:rPr>
              <a:t> </a:t>
            </a:r>
            <a:r>
              <a:rPr sz="1800" dirty="0">
                <a:latin typeface="Calibri"/>
                <a:cs typeface="Calibri"/>
              </a:rPr>
              <a:t>number</a:t>
            </a:r>
            <a:r>
              <a:rPr sz="1800" spc="30"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item</a:t>
            </a:r>
            <a:r>
              <a:rPr sz="1800" spc="-10" dirty="0">
                <a:latin typeface="Calibri"/>
                <a:cs typeface="Calibri"/>
              </a:rPr>
              <a:t> </a:t>
            </a:r>
            <a:r>
              <a:rPr sz="1800" dirty="0">
                <a:latin typeface="Calibri"/>
                <a:cs typeface="Calibri"/>
              </a:rPr>
              <a:t>in</a:t>
            </a:r>
            <a:r>
              <a:rPr sz="1800" spc="-15" dirty="0">
                <a:latin typeface="Calibri"/>
                <a:cs typeface="Calibri"/>
              </a:rPr>
              <a:t> </a:t>
            </a:r>
            <a:r>
              <a:rPr sz="1800" dirty="0">
                <a:latin typeface="Calibri"/>
                <a:cs typeface="Calibri"/>
              </a:rPr>
              <a:t>the </a:t>
            </a:r>
            <a:r>
              <a:rPr sz="1800" spc="-10" dirty="0">
                <a:latin typeface="Calibri"/>
                <a:cs typeface="Calibri"/>
              </a:rPr>
              <a:t>buffer*/</a:t>
            </a:r>
            <a:endParaRPr sz="1800" dirty="0">
              <a:latin typeface="Calibri"/>
              <a:cs typeface="Calibri"/>
            </a:endParaRPr>
          </a:p>
        </p:txBody>
      </p:sp>
      <p:sp>
        <p:nvSpPr>
          <p:cNvPr id="8" name="object 8"/>
          <p:cNvSpPr txBox="1"/>
          <p:nvPr/>
        </p:nvSpPr>
        <p:spPr>
          <a:xfrm>
            <a:off x="979510" y="2235651"/>
            <a:ext cx="18478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void</a:t>
            </a:r>
            <a:r>
              <a:rPr sz="1800" spc="-45" dirty="0">
                <a:latin typeface="Calibri"/>
                <a:cs typeface="Calibri"/>
              </a:rPr>
              <a:t> </a:t>
            </a:r>
            <a:r>
              <a:rPr sz="1800" spc="-10" dirty="0">
                <a:latin typeface="Calibri"/>
                <a:cs typeface="Calibri"/>
              </a:rPr>
              <a:t>producer(void)</a:t>
            </a:r>
            <a:endParaRPr sz="1800" dirty="0">
              <a:latin typeface="Calibri"/>
              <a:cs typeface="Calibri"/>
            </a:endParaRPr>
          </a:p>
        </p:txBody>
      </p:sp>
      <p:sp>
        <p:nvSpPr>
          <p:cNvPr id="10" name="object 9"/>
          <p:cNvSpPr txBox="1"/>
          <p:nvPr/>
        </p:nvSpPr>
        <p:spPr>
          <a:xfrm>
            <a:off x="992721" y="2513896"/>
            <a:ext cx="141237" cy="289823"/>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a:t>
            </a:r>
            <a:endParaRPr sz="1800" dirty="0">
              <a:latin typeface="Calibri"/>
              <a:cs typeface="Calibri"/>
            </a:endParaRPr>
          </a:p>
        </p:txBody>
      </p:sp>
      <p:sp>
        <p:nvSpPr>
          <p:cNvPr id="11" name="object 10"/>
          <p:cNvSpPr txBox="1"/>
          <p:nvPr/>
        </p:nvSpPr>
        <p:spPr>
          <a:xfrm>
            <a:off x="1099457" y="2678688"/>
            <a:ext cx="4497705" cy="2796540"/>
          </a:xfrm>
          <a:prstGeom prst="rect">
            <a:avLst/>
          </a:prstGeom>
        </p:spPr>
        <p:txBody>
          <a:bodyPr vert="horz" wrap="square" lIns="0" tIns="12700" rIns="0" bIns="0" rtlCol="0">
            <a:spAutoFit/>
          </a:bodyPr>
          <a:lstStyle/>
          <a:p>
            <a:pPr marL="67310">
              <a:lnSpc>
                <a:spcPts val="2065"/>
              </a:lnSpc>
              <a:spcBef>
                <a:spcPts val="100"/>
              </a:spcBef>
            </a:pPr>
            <a:r>
              <a:rPr sz="1800" dirty="0">
                <a:latin typeface="Calibri"/>
                <a:cs typeface="Calibri"/>
              </a:rPr>
              <a:t>int</a:t>
            </a:r>
            <a:r>
              <a:rPr sz="1800" spc="-30" dirty="0">
                <a:latin typeface="Calibri"/>
                <a:cs typeface="Calibri"/>
              </a:rPr>
              <a:t> </a:t>
            </a:r>
            <a:r>
              <a:rPr sz="1800" spc="-10" dirty="0">
                <a:latin typeface="Calibri"/>
                <a:cs typeface="Calibri"/>
              </a:rPr>
              <a:t>item;</a:t>
            </a:r>
            <a:endParaRPr sz="1800" dirty="0">
              <a:latin typeface="Calibri"/>
              <a:cs typeface="Calibri"/>
            </a:endParaRPr>
          </a:p>
          <a:p>
            <a:pPr marL="12700">
              <a:lnSpc>
                <a:spcPts val="1970"/>
              </a:lnSpc>
              <a:tabLst>
                <a:tab pos="1532255" algn="l"/>
              </a:tabLst>
            </a:pPr>
            <a:r>
              <a:rPr sz="1800" spc="-10" dirty="0">
                <a:latin typeface="Calibri"/>
                <a:cs typeface="Calibri"/>
              </a:rPr>
              <a:t>while(TRUE){</a:t>
            </a:r>
            <a:r>
              <a:rPr sz="1800" dirty="0">
                <a:latin typeface="Calibri"/>
                <a:cs typeface="Calibri"/>
              </a:rPr>
              <a:t>	/*</a:t>
            </a:r>
            <a:r>
              <a:rPr sz="1800" spc="-55" dirty="0">
                <a:latin typeface="Calibri"/>
                <a:cs typeface="Calibri"/>
              </a:rPr>
              <a:t> </a:t>
            </a:r>
            <a:r>
              <a:rPr sz="1800" dirty="0">
                <a:latin typeface="Calibri"/>
                <a:cs typeface="Calibri"/>
              </a:rPr>
              <a:t>repeat</a:t>
            </a:r>
            <a:r>
              <a:rPr sz="1800" spc="-30" dirty="0">
                <a:latin typeface="Calibri"/>
                <a:cs typeface="Calibri"/>
              </a:rPr>
              <a:t> </a:t>
            </a:r>
            <a:r>
              <a:rPr sz="1800" spc="-10" dirty="0">
                <a:latin typeface="Calibri"/>
                <a:cs typeface="Calibri"/>
              </a:rPr>
              <a:t>forever*/</a:t>
            </a:r>
            <a:endParaRPr sz="1800" dirty="0">
              <a:latin typeface="Calibri"/>
              <a:cs typeface="Calibri"/>
            </a:endParaRPr>
          </a:p>
          <a:p>
            <a:pPr marL="119380" marR="5080">
              <a:lnSpc>
                <a:spcPts val="1970"/>
              </a:lnSpc>
              <a:spcBef>
                <a:spcPts val="125"/>
              </a:spcBef>
            </a:pPr>
            <a:r>
              <a:rPr sz="1800" dirty="0">
                <a:latin typeface="Calibri"/>
                <a:cs typeface="Calibri"/>
              </a:rPr>
              <a:t>item</a:t>
            </a:r>
            <a:r>
              <a:rPr sz="1800" spc="-40" dirty="0">
                <a:latin typeface="Calibri"/>
                <a:cs typeface="Calibri"/>
              </a:rPr>
              <a:t> </a:t>
            </a:r>
            <a:r>
              <a:rPr sz="1800" dirty="0">
                <a:latin typeface="Calibri"/>
                <a:cs typeface="Calibri"/>
              </a:rPr>
              <a:t>=</a:t>
            </a:r>
            <a:r>
              <a:rPr sz="1800" spc="-70" dirty="0">
                <a:latin typeface="Calibri"/>
                <a:cs typeface="Calibri"/>
              </a:rPr>
              <a:t> </a:t>
            </a:r>
            <a:r>
              <a:rPr sz="1800" spc="-10" dirty="0">
                <a:latin typeface="Calibri"/>
                <a:cs typeface="Calibri"/>
              </a:rPr>
              <a:t>produce_item();</a:t>
            </a:r>
            <a:r>
              <a:rPr sz="1800" dirty="0">
                <a:latin typeface="Calibri"/>
                <a:cs typeface="Calibri"/>
              </a:rPr>
              <a:t> </a:t>
            </a:r>
            <a:r>
              <a:rPr sz="1800" spc="-10" dirty="0">
                <a:latin typeface="Calibri"/>
                <a:cs typeface="Calibri"/>
              </a:rPr>
              <a:t>/*generate</a:t>
            </a:r>
            <a:r>
              <a:rPr sz="1800" spc="30" dirty="0">
                <a:latin typeface="Calibri"/>
                <a:cs typeface="Calibri"/>
              </a:rPr>
              <a:t> </a:t>
            </a:r>
            <a:r>
              <a:rPr sz="1800" dirty="0">
                <a:latin typeface="Calibri"/>
                <a:cs typeface="Calibri"/>
              </a:rPr>
              <a:t>next</a:t>
            </a:r>
            <a:r>
              <a:rPr sz="1800" spc="-20" dirty="0">
                <a:latin typeface="Calibri"/>
                <a:cs typeface="Calibri"/>
              </a:rPr>
              <a:t> </a:t>
            </a:r>
            <a:r>
              <a:rPr sz="1800" spc="-10" dirty="0">
                <a:latin typeface="Calibri"/>
                <a:cs typeface="Calibri"/>
              </a:rPr>
              <a:t>item*/ </a:t>
            </a:r>
            <a:r>
              <a:rPr sz="1800" dirty="0">
                <a:latin typeface="Calibri"/>
                <a:cs typeface="Calibri"/>
              </a:rPr>
              <a:t>if</a:t>
            </a:r>
            <a:r>
              <a:rPr sz="1800" spc="-60" dirty="0">
                <a:latin typeface="Calibri"/>
                <a:cs typeface="Calibri"/>
              </a:rPr>
              <a:t> </a:t>
            </a:r>
            <a:r>
              <a:rPr sz="1800" dirty="0">
                <a:latin typeface="Calibri"/>
                <a:cs typeface="Calibri"/>
              </a:rPr>
              <a:t>(count</a:t>
            </a:r>
            <a:r>
              <a:rPr sz="1800" spc="-40" dirty="0">
                <a:latin typeface="Calibri"/>
                <a:cs typeface="Calibri"/>
              </a:rPr>
              <a:t> </a:t>
            </a:r>
            <a:r>
              <a:rPr sz="1800" dirty="0">
                <a:latin typeface="Calibri"/>
                <a:cs typeface="Calibri"/>
              </a:rPr>
              <a:t>==</a:t>
            </a:r>
            <a:r>
              <a:rPr sz="1800" spc="-25" dirty="0">
                <a:latin typeface="Calibri"/>
                <a:cs typeface="Calibri"/>
              </a:rPr>
              <a:t> </a:t>
            </a:r>
            <a:r>
              <a:rPr sz="1800" dirty="0">
                <a:latin typeface="Calibri"/>
                <a:cs typeface="Calibri"/>
              </a:rPr>
              <a:t>N)</a:t>
            </a:r>
            <a:r>
              <a:rPr sz="1800" spc="-55" dirty="0">
                <a:latin typeface="Calibri"/>
                <a:cs typeface="Calibri"/>
              </a:rPr>
              <a:t> </a:t>
            </a:r>
            <a:r>
              <a:rPr sz="1800" dirty="0">
                <a:latin typeface="Calibri"/>
                <a:cs typeface="Calibri"/>
              </a:rPr>
              <a:t>sleep();</a:t>
            </a:r>
            <a:r>
              <a:rPr sz="1800" spc="-20" dirty="0">
                <a:latin typeface="Calibri"/>
                <a:cs typeface="Calibri"/>
              </a:rPr>
              <a:t> </a:t>
            </a:r>
            <a:r>
              <a:rPr sz="1800" dirty="0">
                <a:latin typeface="Calibri"/>
                <a:cs typeface="Calibri"/>
              </a:rPr>
              <a:t>/*if</a:t>
            </a:r>
            <a:r>
              <a:rPr sz="1800" spc="-35" dirty="0">
                <a:latin typeface="Calibri"/>
                <a:cs typeface="Calibri"/>
              </a:rPr>
              <a:t> </a:t>
            </a:r>
            <a:r>
              <a:rPr sz="1800" dirty="0">
                <a:latin typeface="Calibri"/>
                <a:cs typeface="Calibri"/>
              </a:rPr>
              <a:t>buffer</a:t>
            </a:r>
            <a:r>
              <a:rPr sz="1800" spc="-20" dirty="0">
                <a:latin typeface="Calibri"/>
                <a:cs typeface="Calibri"/>
              </a:rPr>
              <a:t> </a:t>
            </a:r>
            <a:r>
              <a:rPr sz="1800" spc="-25" dirty="0">
                <a:latin typeface="Calibri"/>
                <a:cs typeface="Calibri"/>
              </a:rPr>
              <a:t>is</a:t>
            </a:r>
            <a:endParaRPr sz="1800" dirty="0">
              <a:latin typeface="Calibri"/>
              <a:cs typeface="Calibri"/>
            </a:endParaRPr>
          </a:p>
          <a:p>
            <a:pPr marL="1896110">
              <a:lnSpc>
                <a:spcPts val="1835"/>
              </a:lnSpc>
            </a:pPr>
            <a:r>
              <a:rPr sz="1800" dirty="0">
                <a:latin typeface="Calibri"/>
                <a:cs typeface="Calibri"/>
              </a:rPr>
              <a:t>full</a:t>
            </a:r>
            <a:r>
              <a:rPr sz="1800" spc="-30" dirty="0">
                <a:latin typeface="Calibri"/>
                <a:cs typeface="Calibri"/>
              </a:rPr>
              <a:t> </a:t>
            </a:r>
            <a:r>
              <a:rPr sz="1800" dirty="0">
                <a:latin typeface="Calibri"/>
                <a:cs typeface="Calibri"/>
              </a:rPr>
              <a:t>go</a:t>
            </a:r>
            <a:r>
              <a:rPr sz="1800" spc="-30" dirty="0">
                <a:latin typeface="Calibri"/>
                <a:cs typeface="Calibri"/>
              </a:rPr>
              <a:t> </a:t>
            </a:r>
            <a:r>
              <a:rPr sz="1800" dirty="0">
                <a:latin typeface="Calibri"/>
                <a:cs typeface="Calibri"/>
              </a:rPr>
              <a:t>to</a:t>
            </a:r>
            <a:r>
              <a:rPr sz="1800" spc="-30" dirty="0">
                <a:latin typeface="Calibri"/>
                <a:cs typeface="Calibri"/>
              </a:rPr>
              <a:t> </a:t>
            </a:r>
            <a:r>
              <a:rPr sz="1800" spc="-10" dirty="0">
                <a:latin typeface="Calibri"/>
                <a:cs typeface="Calibri"/>
              </a:rPr>
              <a:t>sleep*/</a:t>
            </a:r>
            <a:endParaRPr sz="1800" dirty="0">
              <a:latin typeface="Calibri"/>
              <a:cs typeface="Calibri"/>
            </a:endParaRPr>
          </a:p>
          <a:p>
            <a:pPr marL="119380" marR="477520">
              <a:lnSpc>
                <a:spcPts val="1970"/>
              </a:lnSpc>
              <a:spcBef>
                <a:spcPts val="130"/>
              </a:spcBef>
            </a:pPr>
            <a:r>
              <a:rPr sz="1800" spc="-10" dirty="0">
                <a:latin typeface="Calibri"/>
                <a:cs typeface="Calibri"/>
              </a:rPr>
              <a:t>insert_item(item);</a:t>
            </a:r>
            <a:r>
              <a:rPr sz="1800" spc="35" dirty="0">
                <a:latin typeface="Calibri"/>
                <a:cs typeface="Calibri"/>
              </a:rPr>
              <a:t> </a:t>
            </a:r>
            <a:r>
              <a:rPr sz="1800" dirty="0">
                <a:latin typeface="Calibri"/>
                <a:cs typeface="Calibri"/>
              </a:rPr>
              <a:t>/*</a:t>
            </a:r>
            <a:r>
              <a:rPr sz="1800" spc="-55" dirty="0">
                <a:latin typeface="Calibri"/>
                <a:cs typeface="Calibri"/>
              </a:rPr>
              <a:t> </a:t>
            </a:r>
            <a:r>
              <a:rPr sz="1800" dirty="0">
                <a:latin typeface="Calibri"/>
                <a:cs typeface="Calibri"/>
              </a:rPr>
              <a:t>put</a:t>
            </a:r>
            <a:r>
              <a:rPr sz="1800" spc="-5" dirty="0">
                <a:latin typeface="Calibri"/>
                <a:cs typeface="Calibri"/>
              </a:rPr>
              <a:t> </a:t>
            </a:r>
            <a:r>
              <a:rPr sz="1800" dirty="0">
                <a:latin typeface="Calibri"/>
                <a:cs typeface="Calibri"/>
              </a:rPr>
              <a:t>item</a:t>
            </a:r>
            <a:r>
              <a:rPr sz="1800" spc="-25" dirty="0">
                <a:latin typeface="Calibri"/>
                <a:cs typeface="Calibri"/>
              </a:rPr>
              <a:t> </a:t>
            </a:r>
            <a:r>
              <a:rPr sz="1800" dirty="0">
                <a:latin typeface="Calibri"/>
                <a:cs typeface="Calibri"/>
              </a:rPr>
              <a:t>in</a:t>
            </a:r>
            <a:r>
              <a:rPr sz="1800" spc="-35" dirty="0">
                <a:latin typeface="Calibri"/>
                <a:cs typeface="Calibri"/>
              </a:rPr>
              <a:t> </a:t>
            </a:r>
            <a:r>
              <a:rPr sz="1800" dirty="0">
                <a:latin typeface="Calibri"/>
                <a:cs typeface="Calibri"/>
              </a:rPr>
              <a:t>buffer</a:t>
            </a:r>
            <a:r>
              <a:rPr sz="1800" spc="-5" dirty="0">
                <a:latin typeface="Calibri"/>
                <a:cs typeface="Calibri"/>
              </a:rPr>
              <a:t> </a:t>
            </a:r>
            <a:r>
              <a:rPr sz="1800" spc="-25" dirty="0">
                <a:latin typeface="Calibri"/>
                <a:cs typeface="Calibri"/>
              </a:rPr>
              <a:t>*/ </a:t>
            </a:r>
            <a:r>
              <a:rPr sz="1800" dirty="0">
                <a:latin typeface="Calibri"/>
                <a:cs typeface="Calibri"/>
              </a:rPr>
              <a:t>count</a:t>
            </a:r>
            <a:r>
              <a:rPr sz="1800" spc="-60" dirty="0">
                <a:latin typeface="Calibri"/>
                <a:cs typeface="Calibri"/>
              </a:rPr>
              <a:t> </a:t>
            </a:r>
            <a:r>
              <a:rPr sz="1800" dirty="0">
                <a:latin typeface="Calibri"/>
                <a:cs typeface="Calibri"/>
              </a:rPr>
              <a:t>=</a:t>
            </a:r>
            <a:r>
              <a:rPr sz="1800" spc="-65" dirty="0">
                <a:latin typeface="Calibri"/>
                <a:cs typeface="Calibri"/>
              </a:rPr>
              <a:t> </a:t>
            </a:r>
            <a:r>
              <a:rPr sz="1800" dirty="0">
                <a:latin typeface="Calibri"/>
                <a:cs typeface="Calibri"/>
              </a:rPr>
              <a:t>count</a:t>
            </a:r>
            <a:r>
              <a:rPr sz="1800" spc="-60" dirty="0">
                <a:latin typeface="Calibri"/>
                <a:cs typeface="Calibri"/>
              </a:rPr>
              <a:t> </a:t>
            </a:r>
            <a:r>
              <a:rPr sz="1800" dirty="0">
                <a:latin typeface="Calibri"/>
                <a:cs typeface="Calibri"/>
              </a:rPr>
              <a:t>+1;</a:t>
            </a:r>
            <a:r>
              <a:rPr sz="1800" spc="-60" dirty="0">
                <a:latin typeface="Calibri"/>
                <a:cs typeface="Calibri"/>
              </a:rPr>
              <a:t> </a:t>
            </a:r>
            <a:r>
              <a:rPr sz="1800" dirty="0">
                <a:latin typeface="Calibri"/>
                <a:cs typeface="Calibri"/>
              </a:rPr>
              <a:t>/*increment count</a:t>
            </a:r>
            <a:r>
              <a:rPr sz="1800" spc="-60" dirty="0">
                <a:latin typeface="Calibri"/>
                <a:cs typeface="Calibri"/>
              </a:rPr>
              <a:t> </a:t>
            </a:r>
            <a:r>
              <a:rPr sz="1800" spc="-25" dirty="0">
                <a:latin typeface="Calibri"/>
                <a:cs typeface="Calibri"/>
              </a:rPr>
              <a:t>*/</a:t>
            </a:r>
            <a:endParaRPr sz="1800" dirty="0">
              <a:latin typeface="Calibri"/>
              <a:cs typeface="Calibri"/>
            </a:endParaRPr>
          </a:p>
          <a:p>
            <a:pPr marL="119380">
              <a:lnSpc>
                <a:spcPts val="1835"/>
              </a:lnSpc>
            </a:pPr>
            <a:r>
              <a:rPr sz="1800" dirty="0">
                <a:latin typeface="Calibri"/>
                <a:cs typeface="Calibri"/>
              </a:rPr>
              <a:t>if</a:t>
            </a:r>
            <a:r>
              <a:rPr sz="1800" spc="-40" dirty="0">
                <a:latin typeface="Calibri"/>
                <a:cs typeface="Calibri"/>
              </a:rPr>
              <a:t> </a:t>
            </a:r>
            <a:r>
              <a:rPr sz="1800" dirty="0">
                <a:latin typeface="Calibri"/>
                <a:cs typeface="Calibri"/>
              </a:rPr>
              <a:t>(count</a:t>
            </a:r>
            <a:r>
              <a:rPr sz="1800" spc="-15" dirty="0">
                <a:latin typeface="Calibri"/>
                <a:cs typeface="Calibri"/>
              </a:rPr>
              <a:t> </a:t>
            </a:r>
            <a:r>
              <a:rPr sz="1800" dirty="0">
                <a:latin typeface="Calibri"/>
                <a:cs typeface="Calibri"/>
              </a:rPr>
              <a:t>== 1)</a:t>
            </a:r>
            <a:r>
              <a:rPr sz="1800" spc="-35" dirty="0">
                <a:latin typeface="Calibri"/>
                <a:cs typeface="Calibri"/>
              </a:rPr>
              <a:t> </a:t>
            </a:r>
            <a:r>
              <a:rPr sz="1800" spc="-10" dirty="0">
                <a:latin typeface="Calibri"/>
                <a:cs typeface="Calibri"/>
              </a:rPr>
              <a:t>wakeup(consumer);</a:t>
            </a:r>
            <a:endParaRPr sz="1800" dirty="0">
              <a:latin typeface="Calibri"/>
              <a:cs typeface="Calibri"/>
            </a:endParaRPr>
          </a:p>
          <a:p>
            <a:pPr marL="1737360">
              <a:lnSpc>
                <a:spcPts val="1955"/>
              </a:lnSpc>
            </a:pPr>
            <a:r>
              <a:rPr sz="1800" dirty="0">
                <a:latin typeface="Calibri"/>
                <a:cs typeface="Calibri"/>
              </a:rPr>
              <a:t>/*</a:t>
            </a:r>
            <a:r>
              <a:rPr sz="1800" spc="-55" dirty="0">
                <a:latin typeface="Calibri"/>
                <a:cs typeface="Calibri"/>
              </a:rPr>
              <a:t> </a:t>
            </a:r>
            <a:r>
              <a:rPr sz="1800" dirty="0">
                <a:latin typeface="Calibri"/>
                <a:cs typeface="Calibri"/>
              </a:rPr>
              <a:t>was</a:t>
            </a:r>
            <a:r>
              <a:rPr sz="1800" spc="-70" dirty="0">
                <a:latin typeface="Calibri"/>
                <a:cs typeface="Calibri"/>
              </a:rPr>
              <a:t> </a:t>
            </a:r>
            <a:r>
              <a:rPr sz="1800" dirty="0">
                <a:latin typeface="Calibri"/>
                <a:cs typeface="Calibri"/>
              </a:rPr>
              <a:t>buffer</a:t>
            </a:r>
            <a:r>
              <a:rPr sz="1800" spc="-25" dirty="0">
                <a:latin typeface="Calibri"/>
                <a:cs typeface="Calibri"/>
              </a:rPr>
              <a:t> </a:t>
            </a:r>
            <a:r>
              <a:rPr sz="1800" spc="-10" dirty="0">
                <a:latin typeface="Calibri"/>
                <a:cs typeface="Calibri"/>
              </a:rPr>
              <a:t>empty*/</a:t>
            </a:r>
            <a:endParaRPr sz="1800" dirty="0">
              <a:latin typeface="Calibri"/>
              <a:cs typeface="Calibri"/>
            </a:endParaRPr>
          </a:p>
          <a:p>
            <a:pPr marL="170815">
              <a:lnSpc>
                <a:spcPts val="1955"/>
              </a:lnSpc>
            </a:pPr>
            <a:r>
              <a:rPr sz="1800" spc="-50" dirty="0">
                <a:latin typeface="Calibri"/>
                <a:cs typeface="Calibri"/>
              </a:rPr>
              <a:t>}</a:t>
            </a:r>
            <a:endParaRPr sz="1800" dirty="0">
              <a:latin typeface="Calibri"/>
              <a:cs typeface="Calibri"/>
            </a:endParaRPr>
          </a:p>
          <a:p>
            <a:pPr marL="119380">
              <a:lnSpc>
                <a:spcPts val="2065"/>
              </a:lnSpc>
            </a:pPr>
            <a:r>
              <a:rPr sz="1800" spc="-50" dirty="0">
                <a:latin typeface="Calibri"/>
                <a:cs typeface="Calibri"/>
              </a:rPr>
              <a:t>}</a:t>
            </a:r>
            <a:endParaRPr sz="1800" dirty="0">
              <a:latin typeface="Calibri"/>
              <a:cs typeface="Calibri"/>
            </a:endParaRPr>
          </a:p>
        </p:txBody>
      </p:sp>
      <p:sp>
        <p:nvSpPr>
          <p:cNvPr id="12" name="object 11"/>
          <p:cNvSpPr txBox="1"/>
          <p:nvPr/>
        </p:nvSpPr>
        <p:spPr>
          <a:xfrm>
            <a:off x="7282055" y="2347889"/>
            <a:ext cx="1924685" cy="800100"/>
          </a:xfrm>
          <a:prstGeom prst="rect">
            <a:avLst/>
          </a:prstGeom>
        </p:spPr>
        <p:txBody>
          <a:bodyPr vert="horz" wrap="square" lIns="0" tIns="12700" rIns="0" bIns="0" rtlCol="0">
            <a:spAutoFit/>
          </a:bodyPr>
          <a:lstStyle/>
          <a:p>
            <a:pPr marL="12700">
              <a:lnSpc>
                <a:spcPts val="2065"/>
              </a:lnSpc>
              <a:spcBef>
                <a:spcPts val="100"/>
              </a:spcBef>
            </a:pPr>
            <a:r>
              <a:rPr sz="1800" dirty="0">
                <a:latin typeface="Calibri"/>
                <a:cs typeface="Calibri"/>
              </a:rPr>
              <a:t>void</a:t>
            </a:r>
            <a:r>
              <a:rPr sz="1800" spc="-25" dirty="0">
                <a:latin typeface="Calibri"/>
                <a:cs typeface="Calibri"/>
              </a:rPr>
              <a:t> </a:t>
            </a:r>
            <a:r>
              <a:rPr sz="1800" spc="-10" dirty="0">
                <a:latin typeface="Calibri"/>
                <a:cs typeface="Calibri"/>
              </a:rPr>
              <a:t>consumer(void)</a:t>
            </a:r>
            <a:endParaRPr sz="1800" dirty="0">
              <a:latin typeface="Calibri"/>
              <a:cs typeface="Calibri"/>
            </a:endParaRPr>
          </a:p>
          <a:p>
            <a:pPr marL="12700">
              <a:lnSpc>
                <a:spcPts val="1970"/>
              </a:lnSpc>
            </a:pPr>
            <a:r>
              <a:rPr sz="1800" spc="-50" dirty="0">
                <a:latin typeface="Calibri"/>
                <a:cs typeface="Calibri"/>
              </a:rPr>
              <a:t>{</a:t>
            </a:r>
            <a:endParaRPr sz="1800" dirty="0">
              <a:latin typeface="Calibri"/>
              <a:cs typeface="Calibri"/>
            </a:endParaRPr>
          </a:p>
          <a:p>
            <a:pPr marL="12700">
              <a:lnSpc>
                <a:spcPts val="2065"/>
              </a:lnSpc>
            </a:pPr>
            <a:r>
              <a:rPr sz="1800" dirty="0">
                <a:latin typeface="Calibri"/>
                <a:cs typeface="Calibri"/>
              </a:rPr>
              <a:t>int</a:t>
            </a:r>
            <a:r>
              <a:rPr sz="1800" spc="-30" dirty="0">
                <a:latin typeface="Calibri"/>
                <a:cs typeface="Calibri"/>
              </a:rPr>
              <a:t> </a:t>
            </a:r>
            <a:r>
              <a:rPr sz="1800" spc="-10" dirty="0">
                <a:latin typeface="Calibri"/>
                <a:cs typeface="Calibri"/>
              </a:rPr>
              <a:t>item;</a:t>
            </a:r>
            <a:endParaRPr sz="1800" dirty="0">
              <a:latin typeface="Calibri"/>
              <a:cs typeface="Calibri"/>
            </a:endParaRPr>
          </a:p>
        </p:txBody>
      </p:sp>
      <p:sp>
        <p:nvSpPr>
          <p:cNvPr id="13" name="object 12"/>
          <p:cNvSpPr txBox="1"/>
          <p:nvPr/>
        </p:nvSpPr>
        <p:spPr>
          <a:xfrm>
            <a:off x="7389630" y="3202226"/>
            <a:ext cx="3229610" cy="299720"/>
          </a:xfrm>
          <a:prstGeom prst="rect">
            <a:avLst/>
          </a:prstGeom>
        </p:spPr>
        <p:txBody>
          <a:bodyPr vert="horz" wrap="square" lIns="0" tIns="12700" rIns="0" bIns="0" rtlCol="0">
            <a:spAutoFit/>
          </a:bodyPr>
          <a:lstStyle/>
          <a:p>
            <a:pPr marL="12700">
              <a:lnSpc>
                <a:spcPct val="100000"/>
              </a:lnSpc>
              <a:spcBef>
                <a:spcPts val="100"/>
              </a:spcBef>
              <a:tabLst>
                <a:tab pos="1428750" algn="l"/>
              </a:tabLst>
            </a:pPr>
            <a:r>
              <a:rPr sz="1800" spc="-10" dirty="0">
                <a:latin typeface="Calibri"/>
                <a:cs typeface="Calibri"/>
              </a:rPr>
              <a:t>while(TRUE){</a:t>
            </a:r>
            <a:r>
              <a:rPr sz="1800" dirty="0">
                <a:latin typeface="Calibri"/>
                <a:cs typeface="Calibri"/>
              </a:rPr>
              <a:t>	/*</a:t>
            </a:r>
            <a:r>
              <a:rPr sz="1800" spc="-75" dirty="0">
                <a:latin typeface="Calibri"/>
                <a:cs typeface="Calibri"/>
              </a:rPr>
              <a:t> </a:t>
            </a:r>
            <a:r>
              <a:rPr sz="1800" dirty="0">
                <a:latin typeface="Calibri"/>
                <a:cs typeface="Calibri"/>
              </a:rPr>
              <a:t>repeat</a:t>
            </a:r>
            <a:r>
              <a:rPr sz="1800" spc="-10" dirty="0">
                <a:latin typeface="Calibri"/>
                <a:cs typeface="Calibri"/>
              </a:rPr>
              <a:t> forever*/</a:t>
            </a:r>
            <a:endParaRPr sz="1800" dirty="0">
              <a:latin typeface="Calibri"/>
              <a:cs typeface="Calibri"/>
            </a:endParaRPr>
          </a:p>
        </p:txBody>
      </p:sp>
      <p:sp>
        <p:nvSpPr>
          <p:cNvPr id="15" name="object 13"/>
          <p:cNvSpPr txBox="1"/>
          <p:nvPr/>
        </p:nvSpPr>
        <p:spPr>
          <a:xfrm>
            <a:off x="7648783" y="3598364"/>
            <a:ext cx="3699510" cy="1863725"/>
          </a:xfrm>
          <a:prstGeom prst="rect">
            <a:avLst/>
          </a:prstGeom>
        </p:spPr>
        <p:txBody>
          <a:bodyPr vert="horz" wrap="square" lIns="0" tIns="12700" rIns="0" bIns="0" rtlCol="0">
            <a:spAutoFit/>
          </a:bodyPr>
          <a:lstStyle/>
          <a:p>
            <a:pPr marL="12700">
              <a:lnSpc>
                <a:spcPts val="2065"/>
              </a:lnSpc>
              <a:spcBef>
                <a:spcPts val="100"/>
              </a:spcBef>
            </a:pPr>
            <a:r>
              <a:rPr sz="1800" dirty="0">
                <a:latin typeface="Calibri"/>
                <a:cs typeface="Calibri"/>
              </a:rPr>
              <a:t>if(count</a:t>
            </a:r>
            <a:r>
              <a:rPr sz="1800" spc="-25" dirty="0">
                <a:latin typeface="Calibri"/>
                <a:cs typeface="Calibri"/>
              </a:rPr>
              <a:t> </a:t>
            </a:r>
            <a:r>
              <a:rPr sz="1800" dirty="0">
                <a:latin typeface="Calibri"/>
                <a:cs typeface="Calibri"/>
              </a:rPr>
              <a:t>==</a:t>
            </a:r>
            <a:r>
              <a:rPr sz="1800" spc="-50" dirty="0">
                <a:latin typeface="Calibri"/>
                <a:cs typeface="Calibri"/>
              </a:rPr>
              <a:t> </a:t>
            </a:r>
            <a:r>
              <a:rPr sz="1800" dirty="0">
                <a:latin typeface="Calibri"/>
                <a:cs typeface="Calibri"/>
              </a:rPr>
              <a:t>0)sleep();</a:t>
            </a:r>
            <a:r>
              <a:rPr sz="1800" spc="-25" dirty="0">
                <a:latin typeface="Calibri"/>
                <a:cs typeface="Calibri"/>
              </a:rPr>
              <a:t> </a:t>
            </a:r>
            <a:r>
              <a:rPr sz="1800" dirty="0">
                <a:latin typeface="Calibri"/>
                <a:cs typeface="Calibri"/>
              </a:rPr>
              <a:t>/*</a:t>
            </a:r>
            <a:r>
              <a:rPr sz="1800" spc="-50" dirty="0">
                <a:latin typeface="Calibri"/>
                <a:cs typeface="Calibri"/>
              </a:rPr>
              <a:t> </a:t>
            </a:r>
            <a:r>
              <a:rPr sz="1800" dirty="0">
                <a:latin typeface="Calibri"/>
                <a:cs typeface="Calibri"/>
              </a:rPr>
              <a:t>if</a:t>
            </a:r>
            <a:r>
              <a:rPr sz="1800" spc="-60" dirty="0">
                <a:latin typeface="Calibri"/>
                <a:cs typeface="Calibri"/>
              </a:rPr>
              <a:t> </a:t>
            </a:r>
            <a:r>
              <a:rPr sz="1800" dirty="0">
                <a:latin typeface="Calibri"/>
                <a:cs typeface="Calibri"/>
              </a:rPr>
              <a:t>buffer</a:t>
            </a:r>
            <a:r>
              <a:rPr sz="1800" spc="-25" dirty="0">
                <a:latin typeface="Calibri"/>
                <a:cs typeface="Calibri"/>
              </a:rPr>
              <a:t> is</a:t>
            </a:r>
            <a:endParaRPr sz="1800" dirty="0">
              <a:latin typeface="Calibri"/>
              <a:cs typeface="Calibri"/>
            </a:endParaRPr>
          </a:p>
          <a:p>
            <a:pPr marL="12700" marR="93345" indent="1724660">
              <a:lnSpc>
                <a:spcPts val="1970"/>
              </a:lnSpc>
              <a:spcBef>
                <a:spcPts val="125"/>
              </a:spcBef>
            </a:pPr>
            <a:r>
              <a:rPr sz="1800" dirty="0">
                <a:latin typeface="Calibri"/>
                <a:cs typeface="Calibri"/>
              </a:rPr>
              <a:t>empty</a:t>
            </a:r>
            <a:r>
              <a:rPr sz="1800" spc="-30" dirty="0">
                <a:latin typeface="Calibri"/>
                <a:cs typeface="Calibri"/>
              </a:rPr>
              <a:t> </a:t>
            </a:r>
            <a:r>
              <a:rPr sz="1800" dirty="0">
                <a:latin typeface="Calibri"/>
                <a:cs typeface="Calibri"/>
              </a:rPr>
              <a:t>go</a:t>
            </a:r>
            <a:r>
              <a:rPr sz="1800" spc="-35" dirty="0">
                <a:latin typeface="Calibri"/>
                <a:cs typeface="Calibri"/>
              </a:rPr>
              <a:t> </a:t>
            </a:r>
            <a:r>
              <a:rPr sz="1800" dirty="0">
                <a:latin typeface="Calibri"/>
                <a:cs typeface="Calibri"/>
              </a:rPr>
              <a:t>to</a:t>
            </a:r>
            <a:r>
              <a:rPr sz="1800" spc="-35" dirty="0">
                <a:latin typeface="Calibri"/>
                <a:cs typeface="Calibri"/>
              </a:rPr>
              <a:t> </a:t>
            </a:r>
            <a:r>
              <a:rPr sz="1800" spc="-10" dirty="0">
                <a:latin typeface="Calibri"/>
                <a:cs typeface="Calibri"/>
              </a:rPr>
              <a:t>sleep*/ </a:t>
            </a:r>
            <a:r>
              <a:rPr sz="1800" dirty="0">
                <a:latin typeface="Calibri"/>
                <a:cs typeface="Calibri"/>
              </a:rPr>
              <a:t>item</a:t>
            </a:r>
            <a:r>
              <a:rPr sz="1800" spc="-30" dirty="0">
                <a:latin typeface="Calibri"/>
                <a:cs typeface="Calibri"/>
              </a:rPr>
              <a:t> </a:t>
            </a:r>
            <a:r>
              <a:rPr sz="1800" dirty="0">
                <a:latin typeface="Calibri"/>
                <a:cs typeface="Calibri"/>
              </a:rPr>
              <a:t>=</a:t>
            </a:r>
            <a:r>
              <a:rPr sz="1800" spc="-35" dirty="0">
                <a:latin typeface="Calibri"/>
                <a:cs typeface="Calibri"/>
              </a:rPr>
              <a:t> </a:t>
            </a:r>
            <a:r>
              <a:rPr sz="1800" spc="-10" dirty="0">
                <a:latin typeface="Calibri"/>
                <a:cs typeface="Calibri"/>
              </a:rPr>
              <a:t>remove_item(); /*take</a:t>
            </a:r>
            <a:r>
              <a:rPr sz="1800" spc="-35" dirty="0">
                <a:latin typeface="Calibri"/>
                <a:cs typeface="Calibri"/>
              </a:rPr>
              <a:t> </a:t>
            </a:r>
            <a:r>
              <a:rPr sz="1800" dirty="0">
                <a:latin typeface="Calibri"/>
                <a:cs typeface="Calibri"/>
              </a:rPr>
              <a:t>item</a:t>
            </a:r>
            <a:r>
              <a:rPr sz="1800" spc="-25" dirty="0">
                <a:latin typeface="Calibri"/>
                <a:cs typeface="Calibri"/>
              </a:rPr>
              <a:t> out</a:t>
            </a:r>
            <a:endParaRPr sz="1800" dirty="0">
              <a:latin typeface="Calibri"/>
              <a:cs typeface="Calibri"/>
            </a:endParaRPr>
          </a:p>
          <a:p>
            <a:pPr marL="2679700">
              <a:lnSpc>
                <a:spcPts val="1835"/>
              </a:lnSpc>
            </a:pPr>
            <a:r>
              <a:rPr sz="1800" dirty="0">
                <a:latin typeface="Calibri"/>
                <a:cs typeface="Calibri"/>
              </a:rPr>
              <a:t>of</a:t>
            </a:r>
            <a:r>
              <a:rPr sz="1800" spc="-5" dirty="0">
                <a:latin typeface="Calibri"/>
                <a:cs typeface="Calibri"/>
              </a:rPr>
              <a:t> </a:t>
            </a:r>
            <a:r>
              <a:rPr sz="1800" spc="-10" dirty="0">
                <a:latin typeface="Calibri"/>
                <a:cs typeface="Calibri"/>
              </a:rPr>
              <a:t>buffer*/</a:t>
            </a:r>
            <a:endParaRPr sz="1800" dirty="0">
              <a:latin typeface="Calibri"/>
              <a:cs typeface="Calibri"/>
            </a:endParaRPr>
          </a:p>
          <a:p>
            <a:pPr marL="12700" marR="43815">
              <a:lnSpc>
                <a:spcPts val="1970"/>
              </a:lnSpc>
              <a:spcBef>
                <a:spcPts val="130"/>
              </a:spcBef>
            </a:pPr>
            <a:r>
              <a:rPr sz="1800" dirty="0">
                <a:latin typeface="Calibri"/>
                <a:cs typeface="Calibri"/>
              </a:rPr>
              <a:t>count</a:t>
            </a:r>
            <a:r>
              <a:rPr sz="1800" spc="-20" dirty="0">
                <a:latin typeface="Calibri"/>
                <a:cs typeface="Calibri"/>
              </a:rPr>
              <a:t> </a:t>
            </a:r>
            <a:r>
              <a:rPr sz="1800" dirty="0">
                <a:latin typeface="Calibri"/>
                <a:cs typeface="Calibri"/>
              </a:rPr>
              <a:t>=</a:t>
            </a:r>
            <a:r>
              <a:rPr sz="1800" spc="-60" dirty="0">
                <a:latin typeface="Calibri"/>
                <a:cs typeface="Calibri"/>
              </a:rPr>
              <a:t> </a:t>
            </a:r>
            <a:r>
              <a:rPr sz="1800" dirty="0">
                <a:latin typeface="Calibri"/>
                <a:cs typeface="Calibri"/>
              </a:rPr>
              <a:t>count</a:t>
            </a:r>
            <a:r>
              <a:rPr sz="1800" spc="-25" dirty="0">
                <a:latin typeface="Calibri"/>
                <a:cs typeface="Calibri"/>
              </a:rPr>
              <a:t> </a:t>
            </a:r>
            <a:r>
              <a:rPr sz="1800" dirty="0">
                <a:latin typeface="Calibri"/>
                <a:cs typeface="Calibri"/>
              </a:rPr>
              <a:t>-1;</a:t>
            </a:r>
            <a:r>
              <a:rPr sz="1800" spc="-60" dirty="0">
                <a:latin typeface="Calibri"/>
                <a:cs typeface="Calibri"/>
              </a:rPr>
              <a:t> </a:t>
            </a:r>
            <a:r>
              <a:rPr sz="1800" spc="-10" dirty="0">
                <a:latin typeface="Calibri"/>
                <a:cs typeface="Calibri"/>
              </a:rPr>
              <a:t>/*decrement</a:t>
            </a:r>
            <a:r>
              <a:rPr sz="1800" spc="25" dirty="0">
                <a:latin typeface="Calibri"/>
                <a:cs typeface="Calibri"/>
              </a:rPr>
              <a:t> </a:t>
            </a:r>
            <a:r>
              <a:rPr sz="1800" spc="-10" dirty="0">
                <a:latin typeface="Calibri"/>
                <a:cs typeface="Calibri"/>
              </a:rPr>
              <a:t>count*/ </a:t>
            </a:r>
            <a:r>
              <a:rPr sz="1800" dirty="0">
                <a:latin typeface="Calibri"/>
                <a:cs typeface="Calibri"/>
              </a:rPr>
              <a:t>if</a:t>
            </a:r>
            <a:r>
              <a:rPr sz="1800" spc="-20" dirty="0">
                <a:latin typeface="Calibri"/>
                <a:cs typeface="Calibri"/>
              </a:rPr>
              <a:t> </a:t>
            </a:r>
            <a:r>
              <a:rPr sz="1800" dirty="0">
                <a:latin typeface="Calibri"/>
                <a:cs typeface="Calibri"/>
              </a:rPr>
              <a:t>(count</a:t>
            </a:r>
            <a:r>
              <a:rPr sz="1800" spc="-20" dirty="0">
                <a:latin typeface="Calibri"/>
                <a:cs typeface="Calibri"/>
              </a:rPr>
              <a:t> </a:t>
            </a:r>
            <a:r>
              <a:rPr sz="1800" dirty="0">
                <a:latin typeface="Calibri"/>
                <a:cs typeface="Calibri"/>
              </a:rPr>
              <a:t>==</a:t>
            </a:r>
            <a:r>
              <a:rPr sz="1800" spc="-25" dirty="0">
                <a:latin typeface="Calibri"/>
                <a:cs typeface="Calibri"/>
              </a:rPr>
              <a:t> </a:t>
            </a:r>
            <a:r>
              <a:rPr sz="1800" spc="-20" dirty="0">
                <a:latin typeface="Calibri"/>
                <a:cs typeface="Calibri"/>
              </a:rPr>
              <a:t>N-</a:t>
            </a:r>
            <a:r>
              <a:rPr sz="1800" spc="-10" dirty="0">
                <a:latin typeface="Calibri"/>
                <a:cs typeface="Calibri"/>
              </a:rPr>
              <a:t>1)wakeup(producer);</a:t>
            </a:r>
            <a:endParaRPr sz="1800" dirty="0">
              <a:latin typeface="Calibri"/>
              <a:cs typeface="Calibri"/>
            </a:endParaRPr>
          </a:p>
          <a:p>
            <a:pPr marL="433070">
              <a:lnSpc>
                <a:spcPct val="100000"/>
              </a:lnSpc>
              <a:spcBef>
                <a:spcPts val="275"/>
              </a:spcBef>
            </a:pPr>
            <a:r>
              <a:rPr sz="1800" dirty="0">
                <a:latin typeface="Calibri"/>
                <a:cs typeface="Calibri"/>
              </a:rPr>
              <a:t>/*was</a:t>
            </a:r>
            <a:r>
              <a:rPr sz="1800" spc="-65" dirty="0">
                <a:latin typeface="Calibri"/>
                <a:cs typeface="Calibri"/>
              </a:rPr>
              <a:t> </a:t>
            </a:r>
            <a:r>
              <a:rPr sz="1800" dirty="0">
                <a:latin typeface="Calibri"/>
                <a:cs typeface="Calibri"/>
              </a:rPr>
              <a:t>buffer</a:t>
            </a:r>
            <a:r>
              <a:rPr sz="1800" spc="-35" dirty="0">
                <a:latin typeface="Calibri"/>
                <a:cs typeface="Calibri"/>
              </a:rPr>
              <a:t> </a:t>
            </a:r>
            <a:r>
              <a:rPr sz="1800" dirty="0">
                <a:latin typeface="Calibri"/>
                <a:cs typeface="Calibri"/>
              </a:rPr>
              <a:t>full</a:t>
            </a:r>
            <a:r>
              <a:rPr sz="1800" spc="-60" dirty="0">
                <a:latin typeface="Calibri"/>
                <a:cs typeface="Calibri"/>
              </a:rPr>
              <a:t> </a:t>
            </a:r>
            <a:r>
              <a:rPr sz="1800" spc="-25" dirty="0">
                <a:latin typeface="Calibri"/>
                <a:cs typeface="Calibri"/>
              </a:rPr>
              <a:t>?*/</a:t>
            </a:r>
            <a:endParaRPr sz="1800" dirty="0">
              <a:latin typeface="Calibri"/>
              <a:cs typeface="Calibri"/>
            </a:endParaRPr>
          </a:p>
        </p:txBody>
      </p:sp>
      <p:sp>
        <p:nvSpPr>
          <p:cNvPr id="16" name="object 14"/>
          <p:cNvSpPr txBox="1"/>
          <p:nvPr/>
        </p:nvSpPr>
        <p:spPr>
          <a:xfrm>
            <a:off x="7735310" y="5450931"/>
            <a:ext cx="3247390" cy="299720"/>
          </a:xfrm>
          <a:prstGeom prst="rect">
            <a:avLst/>
          </a:prstGeom>
        </p:spPr>
        <p:txBody>
          <a:bodyPr vert="horz" wrap="square" lIns="0" tIns="12700" rIns="0" bIns="0" rtlCol="0">
            <a:spAutoFit/>
          </a:bodyPr>
          <a:lstStyle/>
          <a:p>
            <a:pPr marL="12700">
              <a:lnSpc>
                <a:spcPct val="100000"/>
              </a:lnSpc>
              <a:spcBef>
                <a:spcPts val="100"/>
              </a:spcBef>
              <a:tabLst>
                <a:tab pos="1908175" algn="l"/>
              </a:tabLst>
            </a:pPr>
            <a:r>
              <a:rPr sz="1800" spc="-10" dirty="0">
                <a:latin typeface="Calibri"/>
                <a:cs typeface="Calibri"/>
              </a:rPr>
              <a:t>consume_item();</a:t>
            </a:r>
            <a:r>
              <a:rPr sz="1800" dirty="0">
                <a:latin typeface="Calibri"/>
                <a:cs typeface="Calibri"/>
              </a:rPr>
              <a:t>	/*print</a:t>
            </a:r>
            <a:r>
              <a:rPr sz="1800" spc="-35" dirty="0">
                <a:latin typeface="Calibri"/>
                <a:cs typeface="Calibri"/>
              </a:rPr>
              <a:t> </a:t>
            </a:r>
            <a:r>
              <a:rPr sz="1800" spc="-10" dirty="0">
                <a:latin typeface="Calibri"/>
                <a:cs typeface="Calibri"/>
              </a:rPr>
              <a:t>item*/</a:t>
            </a:r>
            <a:endParaRPr sz="1800" dirty="0">
              <a:latin typeface="Calibri"/>
              <a:cs typeface="Calibri"/>
            </a:endParaRPr>
          </a:p>
        </p:txBody>
      </p:sp>
      <p:sp>
        <p:nvSpPr>
          <p:cNvPr id="17" name="object 15"/>
          <p:cNvSpPr txBox="1"/>
          <p:nvPr/>
        </p:nvSpPr>
        <p:spPr>
          <a:xfrm>
            <a:off x="7658576" y="5714314"/>
            <a:ext cx="9779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a:t>
            </a:r>
            <a:endParaRPr sz="1800" dirty="0">
              <a:latin typeface="Calibri"/>
              <a:cs typeface="Calibri"/>
            </a:endParaRPr>
          </a:p>
        </p:txBody>
      </p:sp>
      <p:sp>
        <p:nvSpPr>
          <p:cNvPr id="18" name="object 15"/>
          <p:cNvSpPr txBox="1"/>
          <p:nvPr/>
        </p:nvSpPr>
        <p:spPr>
          <a:xfrm>
            <a:off x="7550997" y="5929466"/>
            <a:ext cx="9779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Calibri"/>
                <a:cs typeface="Calibri"/>
              </a:rPr>
              <a:t>}</a:t>
            </a:r>
            <a:endParaRPr sz="1800" dirty="0">
              <a:latin typeface="Calibri"/>
              <a:cs typeface="Calibri"/>
            </a:endParaRPr>
          </a:p>
        </p:txBody>
      </p:sp>
      <p:sp>
        <p:nvSpPr>
          <p:cNvPr id="19" name="object 18"/>
          <p:cNvSpPr txBox="1"/>
          <p:nvPr/>
        </p:nvSpPr>
        <p:spPr>
          <a:xfrm>
            <a:off x="1230702" y="6127588"/>
            <a:ext cx="8658225" cy="329565"/>
          </a:xfrm>
          <a:prstGeom prst="rect">
            <a:avLst/>
          </a:prstGeom>
        </p:spPr>
        <p:txBody>
          <a:bodyPr vert="horz" wrap="square" lIns="0" tIns="11430" rIns="0" bIns="0" rtlCol="0">
            <a:spAutoFit/>
          </a:bodyPr>
          <a:lstStyle/>
          <a:p>
            <a:pPr marL="12700">
              <a:lnSpc>
                <a:spcPct val="100000"/>
              </a:lnSpc>
              <a:spcBef>
                <a:spcPts val="90"/>
              </a:spcBef>
              <a:tabLst>
                <a:tab pos="3376929" algn="l"/>
              </a:tabLst>
            </a:pPr>
            <a:r>
              <a:rPr sz="2000" i="1" dirty="0">
                <a:latin typeface="Times New Roman"/>
                <a:cs typeface="Times New Roman"/>
              </a:rPr>
              <a:t>What</a:t>
            </a:r>
            <a:r>
              <a:rPr sz="2000" i="1" spc="-40" dirty="0">
                <a:latin typeface="Times New Roman"/>
                <a:cs typeface="Times New Roman"/>
              </a:rPr>
              <a:t> </a:t>
            </a:r>
            <a:r>
              <a:rPr sz="2000" i="1" dirty="0">
                <a:latin typeface="Times New Roman"/>
                <a:cs typeface="Times New Roman"/>
              </a:rPr>
              <a:t>happened</a:t>
            </a:r>
            <a:r>
              <a:rPr sz="2000" i="1" spc="-75" dirty="0">
                <a:latin typeface="Times New Roman"/>
                <a:cs typeface="Times New Roman"/>
              </a:rPr>
              <a:t> </a:t>
            </a:r>
            <a:r>
              <a:rPr sz="2000" i="1" dirty="0">
                <a:latin typeface="Times New Roman"/>
                <a:cs typeface="Times New Roman"/>
              </a:rPr>
              <a:t>when</a:t>
            </a:r>
            <a:r>
              <a:rPr sz="2000" i="1" spc="-25" dirty="0">
                <a:latin typeface="Times New Roman"/>
                <a:cs typeface="Times New Roman"/>
              </a:rPr>
              <a:t> </a:t>
            </a:r>
            <a:r>
              <a:rPr sz="2000" i="1" spc="-10" dirty="0">
                <a:latin typeface="Times New Roman"/>
                <a:cs typeface="Times New Roman"/>
              </a:rPr>
              <a:t>consumer</a:t>
            </a:r>
            <a:r>
              <a:rPr sz="2000" i="1" dirty="0">
                <a:latin typeface="Times New Roman"/>
                <a:cs typeface="Times New Roman"/>
              </a:rPr>
              <a:t>	try</a:t>
            </a:r>
            <a:r>
              <a:rPr sz="2000" i="1" spc="-40" dirty="0">
                <a:latin typeface="Times New Roman"/>
                <a:cs typeface="Times New Roman"/>
              </a:rPr>
              <a:t> </a:t>
            </a:r>
            <a:r>
              <a:rPr sz="2000" i="1" dirty="0">
                <a:latin typeface="Times New Roman"/>
                <a:cs typeface="Times New Roman"/>
              </a:rPr>
              <a:t>to</a:t>
            </a:r>
            <a:r>
              <a:rPr sz="2000" i="1" spc="-50" dirty="0">
                <a:latin typeface="Times New Roman"/>
                <a:cs typeface="Times New Roman"/>
              </a:rPr>
              <a:t> </a:t>
            </a:r>
            <a:r>
              <a:rPr sz="2000" i="1" dirty="0">
                <a:latin typeface="Times New Roman"/>
                <a:cs typeface="Times New Roman"/>
              </a:rPr>
              <a:t>consume</a:t>
            </a:r>
            <a:r>
              <a:rPr sz="2000" i="1" spc="-40" dirty="0">
                <a:latin typeface="Times New Roman"/>
                <a:cs typeface="Times New Roman"/>
              </a:rPr>
              <a:t> </a:t>
            </a:r>
            <a:r>
              <a:rPr sz="2000" i="1" dirty="0">
                <a:latin typeface="Times New Roman"/>
                <a:cs typeface="Times New Roman"/>
              </a:rPr>
              <a:t>the</a:t>
            </a:r>
            <a:r>
              <a:rPr sz="2000" i="1" spc="-60" dirty="0">
                <a:latin typeface="Times New Roman"/>
                <a:cs typeface="Times New Roman"/>
              </a:rPr>
              <a:t> </a:t>
            </a:r>
            <a:r>
              <a:rPr sz="2000" i="1" dirty="0">
                <a:latin typeface="Times New Roman"/>
                <a:cs typeface="Times New Roman"/>
              </a:rPr>
              <a:t>item</a:t>
            </a:r>
            <a:r>
              <a:rPr sz="2000" i="1" spc="-40" dirty="0">
                <a:latin typeface="Times New Roman"/>
                <a:cs typeface="Times New Roman"/>
              </a:rPr>
              <a:t> </a:t>
            </a:r>
            <a:r>
              <a:rPr sz="2000" i="1" dirty="0">
                <a:latin typeface="Times New Roman"/>
                <a:cs typeface="Times New Roman"/>
              </a:rPr>
              <a:t>before</a:t>
            </a:r>
            <a:r>
              <a:rPr sz="2000" i="1" spc="-60" dirty="0">
                <a:latin typeface="Times New Roman"/>
                <a:cs typeface="Times New Roman"/>
              </a:rPr>
              <a:t> </a:t>
            </a:r>
            <a:r>
              <a:rPr sz="2000" i="1" spc="-10" dirty="0">
                <a:latin typeface="Times New Roman"/>
                <a:cs typeface="Times New Roman"/>
              </a:rPr>
              <a:t>producer</a:t>
            </a:r>
            <a:r>
              <a:rPr sz="2000" i="1" spc="-70" dirty="0">
                <a:latin typeface="Times New Roman"/>
                <a:cs typeface="Times New Roman"/>
              </a:rPr>
              <a:t> </a:t>
            </a:r>
            <a:r>
              <a:rPr sz="2000" i="1" dirty="0">
                <a:latin typeface="Times New Roman"/>
                <a:cs typeface="Times New Roman"/>
              </a:rPr>
              <a:t>produce</a:t>
            </a:r>
            <a:r>
              <a:rPr sz="2000" i="1" spc="-60" dirty="0">
                <a:latin typeface="Times New Roman"/>
                <a:cs typeface="Times New Roman"/>
              </a:rPr>
              <a:t> </a:t>
            </a:r>
            <a:r>
              <a:rPr sz="2000" i="1" spc="-25" dirty="0">
                <a:latin typeface="Times New Roman"/>
                <a:cs typeface="Times New Roman"/>
              </a:rPr>
              <a:t>it?</a:t>
            </a:r>
            <a:endParaRPr sz="2000" dirty="0">
              <a:latin typeface="Times New Roman"/>
              <a:cs typeface="Times New Roman"/>
            </a:endParaRPr>
          </a:p>
        </p:txBody>
      </p:sp>
    </p:spTree>
    <p:extLst>
      <p:ext uri="{BB962C8B-B14F-4D97-AF65-F5344CB8AC3E}">
        <p14:creationId xmlns:p14="http://schemas.microsoft.com/office/powerpoint/2010/main" val="2492348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Message Passing System</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58091"/>
            <a:ext cx="10515600" cy="5118872"/>
          </a:xfrm>
        </p:spPr>
        <p:txBody>
          <a:bodyPr>
            <a:normAutofit fontScale="77500" lnSpcReduction="20000"/>
          </a:bodyPr>
          <a:lstStyle/>
          <a:p>
            <a:pPr algn="just">
              <a:lnSpc>
                <a:spcPct val="150000"/>
              </a:lnSpc>
            </a:pPr>
            <a:r>
              <a:rPr lang="en-US" dirty="0" smtClean="0">
                <a:latin typeface="Times New Roman" pitchFamily="18" charset="0"/>
                <a:cs typeface="Times New Roman" pitchFamily="18" charset="0"/>
              </a:rPr>
              <a:t>Message passing provides a mechanism to allow processes to  communicate and to synchronize their actions without sharing the same address space</a:t>
            </a:r>
          </a:p>
          <a:p>
            <a:r>
              <a:rPr lang="en-US" dirty="0" smtClean="0">
                <a:latin typeface="Times New Roman" pitchFamily="18" charset="0"/>
                <a:cs typeface="Times New Roman" pitchFamily="18" charset="0"/>
              </a:rPr>
              <a:t>Used for distributed environment</a:t>
            </a:r>
          </a:p>
          <a:p>
            <a:pPr algn="just">
              <a:lnSpc>
                <a:spcPct val="150000"/>
              </a:lnSpc>
            </a:pPr>
            <a:r>
              <a:rPr lang="en-US" dirty="0" smtClean="0">
                <a:latin typeface="Times New Roman" pitchFamily="18" charset="0"/>
                <a:cs typeface="Times New Roman" pitchFamily="18" charset="0"/>
              </a:rPr>
              <a:t>A message-passing facility provides at least two operations:</a:t>
            </a:r>
          </a:p>
          <a:p>
            <a:pPr algn="just">
              <a:lnSpc>
                <a:spcPct val="150000"/>
              </a:lnSpc>
              <a:buNone/>
            </a:pPr>
            <a:r>
              <a:rPr lang="en-US" dirty="0" smtClean="0">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send(message)			 receive(message</a:t>
            </a:r>
            <a:r>
              <a:rPr lang="en-US" dirty="0" smtClean="0">
                <a:latin typeface="Times New Roman" pitchFamily="18" charset="0"/>
                <a:cs typeface="Times New Roman" pitchFamily="18" charset="0"/>
              </a:rPr>
              <a:t>)</a:t>
            </a:r>
          </a:p>
          <a:p>
            <a:pPr algn="just">
              <a:lnSpc>
                <a:spcPct val="150000"/>
              </a:lnSpc>
            </a:pPr>
            <a:r>
              <a:rPr lang="en-US" dirty="0" smtClean="0">
                <a:latin typeface="Times New Roman" pitchFamily="18" charset="0"/>
                <a:cs typeface="Times New Roman" pitchFamily="18" charset="0"/>
              </a:rPr>
              <a:t>If processes P and Q want to communicate, they must send messages to and receive messages from each other: a communication link must exist between them.</a:t>
            </a:r>
          </a:p>
          <a:p>
            <a:pPr algn="just">
              <a:lnSpc>
                <a:spcPct val="150000"/>
              </a:lnSpc>
            </a:pPr>
            <a:r>
              <a:rPr lang="en-US" dirty="0" smtClean="0">
                <a:latin typeface="Times New Roman" pitchFamily="18" charset="0"/>
                <a:cs typeface="Times New Roman" pitchFamily="18" charset="0"/>
              </a:rPr>
              <a:t>The send() and receive() primitives are defined as:</a:t>
            </a:r>
          </a:p>
          <a:p>
            <a:pPr lvl="1" algn="just">
              <a:lnSpc>
                <a:spcPct val="150000"/>
              </a:lnSpc>
              <a:buNone/>
            </a:pPr>
            <a:r>
              <a:rPr lang="en-US" b="1" dirty="0" smtClean="0">
                <a:latin typeface="Times New Roman" pitchFamily="18" charset="0"/>
                <a:cs typeface="Times New Roman" pitchFamily="18" charset="0"/>
              </a:rPr>
              <a:t>• send(P, message)—Send a message to process P.</a:t>
            </a:r>
          </a:p>
          <a:p>
            <a:pPr lvl="1" algn="just">
              <a:lnSpc>
                <a:spcPct val="150000"/>
              </a:lnSpc>
              <a:buNone/>
            </a:pPr>
            <a:r>
              <a:rPr lang="en-US" b="1" dirty="0" smtClean="0">
                <a:latin typeface="Times New Roman" pitchFamily="18" charset="0"/>
                <a:cs typeface="Times New Roman" pitchFamily="18" charset="0"/>
              </a:rPr>
              <a:t>• receive(Q, message)—Receive a message from process Q.</a:t>
            </a:r>
          </a:p>
        </p:txBody>
      </p:sp>
    </p:spTree>
    <p:extLst>
      <p:ext uri="{BB962C8B-B14F-4D97-AF65-F5344CB8AC3E}">
        <p14:creationId xmlns:p14="http://schemas.microsoft.com/office/powerpoint/2010/main" val="4013715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47569"/>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Multithreading</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820271"/>
            <a:ext cx="10515600" cy="5476026"/>
          </a:xfrm>
        </p:spPr>
        <p:txBody>
          <a:bodyPr>
            <a:normAutofit fontScale="70000" lnSpcReduction="20000"/>
          </a:bodyPr>
          <a:lstStyle/>
          <a:p>
            <a:pPr marL="0" indent="0" algn="just">
              <a:lnSpc>
                <a:spcPct val="170000"/>
              </a:lnSpc>
              <a:buNone/>
            </a:pPr>
            <a:r>
              <a:rPr lang="en-US" b="1" dirty="0">
                <a:solidFill>
                  <a:srgbClr val="FF0000"/>
                </a:solidFill>
                <a:latin typeface="Times New Roman" pitchFamily="18" charset="0"/>
                <a:cs typeface="Times New Roman" pitchFamily="18" charset="0"/>
              </a:rPr>
              <a:t>W</a:t>
            </a:r>
            <a:r>
              <a:rPr lang="en-US" b="1" dirty="0" smtClean="0">
                <a:solidFill>
                  <a:srgbClr val="FF0000"/>
                </a:solidFill>
                <a:latin typeface="Times New Roman" pitchFamily="18" charset="0"/>
                <a:cs typeface="Times New Roman" pitchFamily="18" charset="0"/>
              </a:rPr>
              <a:t>hat is Thread?</a:t>
            </a:r>
            <a:endParaRPr lang="en-US" dirty="0" smtClean="0">
              <a:latin typeface="Times New Roman" pitchFamily="18" charset="0"/>
              <a:cs typeface="Times New Roman" pitchFamily="18" charset="0"/>
            </a:endParaRPr>
          </a:p>
          <a:p>
            <a:pPr algn="just">
              <a:lnSpc>
                <a:spcPct val="170000"/>
              </a:lnSpc>
            </a:pPr>
            <a:r>
              <a:rPr lang="en-US" dirty="0" smtClean="0">
                <a:latin typeface="Times New Roman" pitchFamily="18" charset="0"/>
                <a:cs typeface="Times New Roman" pitchFamily="18" charset="0"/>
              </a:rPr>
              <a:t>A thread is a path of execution within a process. A process can contain multiple threads</a:t>
            </a:r>
          </a:p>
          <a:p>
            <a:pPr algn="just">
              <a:lnSpc>
                <a:spcPct val="170000"/>
              </a:lnSpc>
            </a:pPr>
            <a:r>
              <a:rPr lang="en-US" dirty="0" smtClean="0">
                <a:latin typeface="Times New Roman" pitchFamily="18" charset="0"/>
                <a:cs typeface="Times New Roman" pitchFamily="18" charset="0"/>
              </a:rPr>
              <a:t>A thread is a flow of execution through the process code, with its own program counter, system register and stack</a:t>
            </a:r>
          </a:p>
          <a:p>
            <a:pPr algn="just">
              <a:lnSpc>
                <a:spcPct val="170000"/>
              </a:lnSpc>
            </a:pPr>
            <a:r>
              <a:rPr lang="en-US" dirty="0" smtClean="0">
                <a:latin typeface="Times New Roman" pitchFamily="18" charset="0"/>
                <a:cs typeface="Times New Roman" pitchFamily="18" charset="0"/>
              </a:rPr>
              <a:t>A thread is also called light weight process exist within process.</a:t>
            </a:r>
          </a:p>
          <a:p>
            <a:pPr algn="just">
              <a:lnSpc>
                <a:spcPct val="170000"/>
              </a:lnSpc>
            </a:pPr>
            <a:r>
              <a:rPr lang="en-US" dirty="0" smtClean="0">
                <a:latin typeface="Times New Roman" pitchFamily="18" charset="0"/>
                <a:cs typeface="Times New Roman" pitchFamily="18" charset="0"/>
              </a:rPr>
              <a:t>Threads provide a way to improve application performance through parallelism</a:t>
            </a:r>
          </a:p>
          <a:p>
            <a:pPr algn="just">
              <a:lnSpc>
                <a:spcPct val="170000"/>
              </a:lnSpc>
            </a:pPr>
            <a:r>
              <a:rPr lang="en-US" dirty="0" smtClean="0">
                <a:latin typeface="Times New Roman" pitchFamily="18" charset="0"/>
                <a:cs typeface="Times New Roman" pitchFamily="18" charset="0"/>
              </a:rPr>
              <a:t>Each thread belong to exactly one process and no thread can exist outside a process.</a:t>
            </a:r>
          </a:p>
          <a:p>
            <a:pPr algn="just">
              <a:lnSpc>
                <a:spcPct val="170000"/>
              </a:lnSpc>
            </a:pPr>
            <a:r>
              <a:rPr lang="en-US" dirty="0" smtClean="0">
                <a:latin typeface="Times New Roman" pitchFamily="18" charset="0"/>
                <a:cs typeface="Times New Roman" pitchFamily="18" charset="0"/>
              </a:rPr>
              <a:t>A traditional/ heavy weight process has a single thread of control.</a:t>
            </a:r>
          </a:p>
          <a:p>
            <a:pPr algn="just">
              <a:lnSpc>
                <a:spcPct val="170000"/>
              </a:lnSpc>
            </a:pPr>
            <a:r>
              <a:rPr lang="en-US" dirty="0" smtClean="0">
                <a:latin typeface="Times New Roman" pitchFamily="18" charset="0"/>
                <a:cs typeface="Times New Roman" pitchFamily="18" charset="0"/>
              </a:rPr>
              <a:t>If  a process has multiple threads of control, it can perform more than one task at a time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374615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5577"/>
            <a:ext cx="10515600" cy="5641386"/>
          </a:xfrm>
        </p:spPr>
        <p:txBody>
          <a:bodyPr>
            <a:normAutofit/>
          </a:bodyPr>
          <a:lstStyle/>
          <a:p>
            <a:pPr algn="just">
              <a:lnSpc>
                <a:spcPct val="150000"/>
              </a:lnSpc>
            </a:pPr>
            <a:r>
              <a:rPr lang="en-US" sz="2000" dirty="0" smtClean="0">
                <a:latin typeface="Times New Roman" pitchFamily="18" charset="0"/>
                <a:cs typeface="Times New Roman" pitchFamily="18" charset="0"/>
              </a:rPr>
              <a:t>It shares with other threads belonging to the same process its code section, data section and other operating-system resources such as open files and signal</a:t>
            </a:r>
          </a:p>
          <a:p>
            <a:pPr algn="just">
              <a:lnSpc>
                <a:spcPct val="150000"/>
              </a:lnSpc>
            </a:pPr>
            <a:r>
              <a:rPr lang="en-US" sz="2000" dirty="0" smtClean="0">
                <a:latin typeface="Times New Roman" pitchFamily="18" charset="0"/>
                <a:cs typeface="Times New Roman" pitchFamily="18" charset="0"/>
              </a:rPr>
              <a:t>Single threaded process and Multi-threaded Process</a:t>
            </a:r>
          </a:p>
          <a:p>
            <a:pPr algn="just">
              <a:lnSpc>
                <a:spcPct val="150000"/>
              </a:lnSpc>
            </a:pPr>
            <a:endParaRPr lang="en-US" sz="20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srcRect/>
          <a:stretch>
            <a:fillRect/>
          </a:stretch>
        </p:blipFill>
        <p:spPr bwMode="auto">
          <a:xfrm>
            <a:off x="1397725" y="2187756"/>
            <a:ext cx="8046720" cy="4291421"/>
          </a:xfrm>
          <a:prstGeom prst="rect">
            <a:avLst/>
          </a:prstGeom>
          <a:noFill/>
          <a:ln w="9525">
            <a:noFill/>
            <a:miter lim="800000"/>
            <a:headEnd/>
            <a:tailEnd/>
          </a:ln>
          <a:effectLst/>
        </p:spPr>
      </p:pic>
    </p:spTree>
    <p:extLst>
      <p:ext uri="{BB962C8B-B14F-4D97-AF65-F5344CB8AC3E}">
        <p14:creationId xmlns:p14="http://schemas.microsoft.com/office/powerpoint/2010/main" val="1280091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
            </a:r>
            <a:br>
              <a:rPr lang="en-US" b="1" dirty="0" smtClean="0">
                <a:solidFill>
                  <a:srgbClr val="FF0000"/>
                </a:solidFill>
                <a:latin typeface="Times New Roman" pitchFamily="18" charset="0"/>
                <a:cs typeface="Times New Roman" pitchFamily="18" charset="0"/>
              </a:rPr>
            </a:br>
            <a:r>
              <a:rPr lang="en-US" b="1" dirty="0" smtClean="0">
                <a:solidFill>
                  <a:srgbClr val="FF0000"/>
                </a:solidFill>
                <a:latin typeface="Times New Roman" pitchFamily="18" charset="0"/>
                <a:cs typeface="Times New Roman" pitchFamily="18" charset="0"/>
              </a:rPr>
              <a:t>Multithreading Benefits</a:t>
            </a:r>
            <a:br>
              <a:rPr lang="en-US" b="1" dirty="0" smtClean="0">
                <a:solidFill>
                  <a:srgbClr val="FF0000"/>
                </a:solidFill>
                <a:latin typeface="Times New Roman" pitchFamily="18" charset="0"/>
                <a:cs typeface="Times New Roman" pitchFamily="18" charset="0"/>
              </a:rPr>
            </a:b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306286"/>
            <a:ext cx="10515600" cy="4870677"/>
          </a:xfrm>
        </p:spPr>
        <p:txBody>
          <a:bodyPr/>
          <a:lstStyle/>
          <a:p>
            <a:pPr algn="just">
              <a:lnSpc>
                <a:spcPct val="150000"/>
              </a:lnSpc>
            </a:pPr>
            <a:r>
              <a:rPr lang="en-US" dirty="0" smtClean="0">
                <a:latin typeface="Times New Roman" pitchFamily="18" charset="0"/>
                <a:cs typeface="Times New Roman" pitchFamily="18" charset="0"/>
              </a:rPr>
              <a:t>In modern operating system multithreading has several benefits as :</a:t>
            </a:r>
          </a:p>
          <a:p>
            <a:pPr lvl="1" algn="just">
              <a:lnSpc>
                <a:spcPct val="15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Responsiveness</a:t>
            </a:r>
            <a:r>
              <a:rPr lang="en-US" dirty="0" smtClean="0">
                <a:latin typeface="Times New Roman" pitchFamily="18" charset="0"/>
                <a:cs typeface="Times New Roman" pitchFamily="18" charset="0"/>
              </a:rPr>
              <a:t> – program can run continuously even if the part of it is blocked</a:t>
            </a:r>
          </a:p>
          <a:p>
            <a:pPr lvl="1" algn="just">
              <a:lnSpc>
                <a:spcPct val="150000"/>
              </a:lnSpc>
              <a:buNone/>
            </a:pPr>
            <a:r>
              <a:rPr lang="en-US" b="1" dirty="0" smtClean="0">
                <a:latin typeface="Times New Roman" pitchFamily="18" charset="0"/>
                <a:cs typeface="Times New Roman" pitchFamily="18" charset="0"/>
              </a:rPr>
              <a:t>• Resource Sharing </a:t>
            </a:r>
            <a:r>
              <a:rPr lang="en-US" dirty="0" smtClean="0">
                <a:latin typeface="Times New Roman" pitchFamily="18" charset="0"/>
                <a:cs typeface="Times New Roman" pitchFamily="18" charset="0"/>
              </a:rPr>
              <a:t>– Share the code and data</a:t>
            </a:r>
          </a:p>
          <a:p>
            <a:pPr lvl="1" algn="just">
              <a:lnSpc>
                <a:spcPct val="150000"/>
              </a:lnSpc>
              <a:buNone/>
            </a:pPr>
            <a:r>
              <a:rPr lang="en-US" b="1" dirty="0" smtClean="0">
                <a:latin typeface="Times New Roman" pitchFamily="18" charset="0"/>
                <a:cs typeface="Times New Roman" pitchFamily="18" charset="0"/>
              </a:rPr>
              <a:t>• Economy </a:t>
            </a:r>
            <a:r>
              <a:rPr lang="en-US" dirty="0" smtClean="0">
                <a:latin typeface="Times New Roman" pitchFamily="18" charset="0"/>
                <a:cs typeface="Times New Roman" pitchFamily="18" charset="0"/>
              </a:rPr>
              <a:t>– economic in resources and context switching</a:t>
            </a:r>
          </a:p>
          <a:p>
            <a:pPr lvl="1" algn="just">
              <a:lnSpc>
                <a:spcPct val="150000"/>
              </a:lnSpc>
              <a:buNone/>
            </a:pPr>
            <a:r>
              <a:rPr lang="en-US" b="1" dirty="0" smtClean="0">
                <a:latin typeface="Times New Roman" pitchFamily="18" charset="0"/>
                <a:cs typeface="Times New Roman" pitchFamily="18" charset="0"/>
              </a:rPr>
              <a:t>• Scalability </a:t>
            </a:r>
            <a:r>
              <a:rPr lang="en-US" dirty="0" smtClean="0">
                <a:latin typeface="Times New Roman" pitchFamily="18" charset="0"/>
                <a:cs typeface="Times New Roman" pitchFamily="18" charset="0"/>
              </a:rPr>
              <a:t>– supports multiprocessor architecture that increase concurrency</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0943110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pPr algn="ctr"/>
            <a:r>
              <a:rPr lang="en-US" dirty="0" smtClean="0">
                <a:solidFill>
                  <a:srgbClr val="FF0000"/>
                </a:solidFill>
                <a:latin typeface="Times New Roman" pitchFamily="18" charset="0"/>
                <a:cs typeface="Times New Roman" pitchFamily="18" charset="0"/>
              </a:rPr>
              <a:t>Users and Kernel Threads</a:t>
            </a: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123406"/>
            <a:ext cx="10515600" cy="5053557"/>
          </a:xfrm>
        </p:spPr>
        <p:txBody>
          <a:bodyPr>
            <a:normAutofit/>
          </a:bodyPr>
          <a:lstStyle/>
          <a:p>
            <a:pPr>
              <a:lnSpc>
                <a:spcPct val="150000"/>
              </a:lnSpc>
              <a:buNone/>
            </a:pPr>
            <a:r>
              <a:rPr lang="en-US" sz="2000" b="1" dirty="0" smtClean="0">
                <a:solidFill>
                  <a:srgbClr val="FF0000"/>
                </a:solidFill>
              </a:rPr>
              <a:t>User Threads:</a:t>
            </a:r>
          </a:p>
          <a:p>
            <a:pPr>
              <a:lnSpc>
                <a:spcPct val="150000"/>
              </a:lnSpc>
            </a:pPr>
            <a:r>
              <a:rPr lang="en-US" sz="2000" dirty="0" smtClean="0"/>
              <a:t>Thread management done by user-level threads library.</a:t>
            </a:r>
          </a:p>
          <a:p>
            <a:pPr>
              <a:lnSpc>
                <a:spcPct val="150000"/>
              </a:lnSpc>
            </a:pPr>
            <a:r>
              <a:rPr lang="en-US" sz="2000" dirty="0" smtClean="0"/>
              <a:t>Implemented as a library</a:t>
            </a:r>
          </a:p>
          <a:p>
            <a:pPr>
              <a:lnSpc>
                <a:spcPct val="150000"/>
              </a:lnSpc>
            </a:pPr>
            <a:r>
              <a:rPr lang="en-US" sz="2000" dirty="0" smtClean="0"/>
              <a:t> Library provides support for thread creation, </a:t>
            </a:r>
          </a:p>
          <a:p>
            <a:pPr>
              <a:lnSpc>
                <a:spcPct val="150000"/>
              </a:lnSpc>
              <a:buNone/>
            </a:pPr>
            <a:r>
              <a:rPr lang="en-US" sz="2000" dirty="0" smtClean="0"/>
              <a:t>      scheduling and management with no support from the kernel.</a:t>
            </a:r>
          </a:p>
          <a:p>
            <a:pPr>
              <a:lnSpc>
                <a:spcPct val="150000"/>
              </a:lnSpc>
            </a:pPr>
            <a:r>
              <a:rPr lang="en-US" sz="2000" dirty="0" smtClean="0"/>
              <a:t> Fast to create</a:t>
            </a:r>
          </a:p>
          <a:p>
            <a:pPr>
              <a:lnSpc>
                <a:spcPct val="150000"/>
              </a:lnSpc>
            </a:pPr>
            <a:r>
              <a:rPr lang="en-US" sz="2000" dirty="0" smtClean="0"/>
              <a:t> If kernel is single threaded, blocking system calls will cause the entire process to block.</a:t>
            </a:r>
          </a:p>
          <a:p>
            <a:pPr>
              <a:lnSpc>
                <a:spcPct val="150000"/>
              </a:lnSpc>
            </a:pPr>
            <a:r>
              <a:rPr lang="en-US" sz="2000" dirty="0" smtClean="0"/>
              <a:t>Examples: POSIX </a:t>
            </a:r>
            <a:r>
              <a:rPr lang="en-US" sz="2000" dirty="0" err="1" smtClean="0"/>
              <a:t>Pthreads</a:t>
            </a:r>
            <a:r>
              <a:rPr lang="en-US" sz="2000" dirty="0" smtClean="0"/>
              <a:t>, Win32 API threads, Java threads</a:t>
            </a:r>
            <a:endParaRPr lang="en-US" sz="2000" dirty="0"/>
          </a:p>
        </p:txBody>
      </p:sp>
      <p:pic>
        <p:nvPicPr>
          <p:cNvPr id="2051" name="Picture 3"/>
          <p:cNvPicPr>
            <a:picLocks noChangeAspect="1" noChangeArrowheads="1"/>
          </p:cNvPicPr>
          <p:nvPr/>
        </p:nvPicPr>
        <p:blipFill>
          <a:blip r:embed="rId2"/>
          <a:srcRect/>
          <a:stretch>
            <a:fillRect/>
          </a:stretch>
        </p:blipFill>
        <p:spPr bwMode="auto">
          <a:xfrm>
            <a:off x="7680960" y="1123406"/>
            <a:ext cx="3788230" cy="3448594"/>
          </a:xfrm>
          <a:prstGeom prst="rect">
            <a:avLst/>
          </a:prstGeom>
          <a:noFill/>
          <a:ln w="9525">
            <a:noFill/>
            <a:miter lim="800000"/>
            <a:headEnd/>
            <a:tailEnd/>
          </a:ln>
          <a:effectLst/>
        </p:spPr>
      </p:pic>
    </p:spTree>
    <p:extLst>
      <p:ext uri="{BB962C8B-B14F-4D97-AF65-F5344CB8AC3E}">
        <p14:creationId xmlns:p14="http://schemas.microsoft.com/office/powerpoint/2010/main" val="140178895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3954"/>
            <a:ext cx="10515600" cy="5563009"/>
          </a:xfrm>
        </p:spPr>
        <p:txBody>
          <a:bodyPr>
            <a:normAutofit fontScale="85000" lnSpcReduction="20000"/>
          </a:bodyPr>
          <a:lstStyle/>
          <a:p>
            <a:pPr>
              <a:lnSpc>
                <a:spcPct val="200000"/>
              </a:lnSpc>
              <a:buNone/>
            </a:pPr>
            <a:r>
              <a:rPr lang="en-US" sz="2400" b="1" dirty="0" smtClean="0">
                <a:solidFill>
                  <a:srgbClr val="FF0000"/>
                </a:solidFill>
                <a:latin typeface="Times New Roman" pitchFamily="18" charset="0"/>
                <a:cs typeface="Times New Roman" pitchFamily="18" charset="0"/>
              </a:rPr>
              <a:t>Kernel Threads:</a:t>
            </a:r>
          </a:p>
          <a:p>
            <a:pPr>
              <a:lnSpc>
                <a:spcPct val="200000"/>
              </a:lnSpc>
            </a:pPr>
            <a:r>
              <a:rPr lang="en-US" sz="2400" dirty="0" smtClean="0">
                <a:latin typeface="Times New Roman" pitchFamily="18" charset="0"/>
                <a:cs typeface="Times New Roman" pitchFamily="18" charset="0"/>
              </a:rPr>
              <a:t>Supported by the Kernel</a:t>
            </a:r>
          </a:p>
          <a:p>
            <a:pPr>
              <a:lnSpc>
                <a:spcPct val="200000"/>
              </a:lnSpc>
            </a:pPr>
            <a:r>
              <a:rPr lang="en-US" sz="2400" dirty="0" smtClean="0">
                <a:latin typeface="Times New Roman" pitchFamily="18" charset="0"/>
                <a:cs typeface="Times New Roman" pitchFamily="18" charset="0"/>
              </a:rPr>
              <a:t>Kernel performs thread creation, </a:t>
            </a:r>
          </a:p>
          <a:p>
            <a:pPr>
              <a:lnSpc>
                <a:spcPct val="200000"/>
              </a:lnSpc>
              <a:buNone/>
            </a:pPr>
            <a:r>
              <a:rPr lang="en-US" sz="2400" dirty="0" smtClean="0">
                <a:latin typeface="Times New Roman" pitchFamily="18" charset="0"/>
                <a:cs typeface="Times New Roman" pitchFamily="18" charset="0"/>
              </a:rPr>
              <a:t>      scheduling and management in kernel space.</a:t>
            </a:r>
          </a:p>
          <a:p>
            <a:pPr>
              <a:lnSpc>
                <a:spcPct val="200000"/>
              </a:lnSpc>
            </a:pPr>
            <a:r>
              <a:rPr lang="en-US" sz="2400" dirty="0" smtClean="0">
                <a:latin typeface="Times New Roman" pitchFamily="18" charset="0"/>
                <a:cs typeface="Times New Roman" pitchFamily="18" charset="0"/>
              </a:rPr>
              <a:t>Slower to create and manage</a:t>
            </a:r>
          </a:p>
          <a:p>
            <a:pPr>
              <a:lnSpc>
                <a:spcPct val="200000"/>
              </a:lnSpc>
            </a:pPr>
            <a:r>
              <a:rPr lang="en-US" sz="2400" dirty="0" smtClean="0">
                <a:latin typeface="Times New Roman" pitchFamily="18" charset="0"/>
                <a:cs typeface="Times New Roman" pitchFamily="18" charset="0"/>
              </a:rPr>
              <a:t>Blocking system calls are no problem</a:t>
            </a:r>
          </a:p>
          <a:p>
            <a:pPr>
              <a:lnSpc>
                <a:spcPct val="200000"/>
              </a:lnSpc>
            </a:pPr>
            <a:r>
              <a:rPr lang="en-US" sz="2400" dirty="0" smtClean="0">
                <a:latin typeface="Times New Roman" pitchFamily="18" charset="0"/>
                <a:cs typeface="Times New Roman" pitchFamily="18" charset="0"/>
              </a:rPr>
              <a:t>Most OS’s support these threads</a:t>
            </a:r>
          </a:p>
          <a:p>
            <a:pPr>
              <a:lnSpc>
                <a:spcPct val="200000"/>
              </a:lnSpc>
            </a:pPr>
            <a:r>
              <a:rPr lang="en-US" sz="2400" dirty="0" smtClean="0">
                <a:latin typeface="Times New Roman" pitchFamily="18" charset="0"/>
                <a:cs typeface="Times New Roman" pitchFamily="18" charset="0"/>
              </a:rPr>
              <a:t>Examples: Windows XP/2000, Solaris, Linux, Tru64 UNIX, Mac OS X</a:t>
            </a:r>
            <a:endParaRPr lang="en-US" sz="24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6230983" y="796835"/>
            <a:ext cx="4885508" cy="4585062"/>
          </a:xfrm>
          <a:prstGeom prst="rect">
            <a:avLst/>
          </a:prstGeom>
          <a:noFill/>
          <a:ln w="9525">
            <a:noFill/>
            <a:miter lim="800000"/>
            <a:headEnd/>
            <a:tailEnd/>
          </a:ln>
          <a:effectLst/>
        </p:spPr>
      </p:pic>
    </p:spTree>
    <p:extLst>
      <p:ext uri="{BB962C8B-B14F-4D97-AF65-F5344CB8AC3E}">
        <p14:creationId xmlns:p14="http://schemas.microsoft.com/office/powerpoint/2010/main" val="41696326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Multi-Threading Models :</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0515600" cy="5079683"/>
          </a:xfrm>
        </p:spPr>
        <p:txBody>
          <a:bodyPr/>
          <a:lstStyle/>
          <a:p>
            <a:pPr algn="just">
              <a:lnSpc>
                <a:spcPct val="150000"/>
              </a:lnSpc>
            </a:pPr>
            <a:r>
              <a:rPr lang="en-US" dirty="0" smtClean="0">
                <a:latin typeface="Times New Roman" pitchFamily="18" charset="0"/>
                <a:cs typeface="Times New Roman" pitchFamily="18" charset="0"/>
              </a:rPr>
              <a:t>Some operating system provides a combined user level thread and kernel level thread facility. Solaris is a good example of this combined approach.</a:t>
            </a:r>
          </a:p>
          <a:p>
            <a:pPr algn="just">
              <a:lnSpc>
                <a:spcPct val="150000"/>
              </a:lnSpc>
            </a:pPr>
            <a:r>
              <a:rPr lang="en-US" dirty="0" smtClean="0">
                <a:latin typeface="Times New Roman" pitchFamily="18" charset="0"/>
                <a:cs typeface="Times New Roman" pitchFamily="18" charset="0"/>
              </a:rPr>
              <a:t>Multi-Threading models are three types.</a:t>
            </a:r>
          </a:p>
          <a:p>
            <a:pPr lvl="1" algn="just">
              <a:lnSpc>
                <a:spcPct val="150000"/>
              </a:lnSpc>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Many-to-One Model</a:t>
            </a:r>
          </a:p>
          <a:p>
            <a:pPr lvl="1" algn="just">
              <a:lnSpc>
                <a:spcPct val="150000"/>
              </a:lnSpc>
              <a:buNone/>
            </a:pPr>
            <a:r>
              <a:rPr lang="en-US" b="1" dirty="0" smtClean="0">
                <a:latin typeface="Times New Roman" pitchFamily="18" charset="0"/>
                <a:cs typeface="Times New Roman" pitchFamily="18" charset="0"/>
              </a:rPr>
              <a:t>• One-to-One Model</a:t>
            </a:r>
          </a:p>
          <a:p>
            <a:pPr lvl="1" algn="just">
              <a:lnSpc>
                <a:spcPct val="150000"/>
              </a:lnSpc>
              <a:buNone/>
            </a:pPr>
            <a:r>
              <a:rPr lang="en-US" b="1" dirty="0" smtClean="0">
                <a:latin typeface="Times New Roman" pitchFamily="18" charset="0"/>
                <a:cs typeface="Times New Roman" pitchFamily="18" charset="0"/>
              </a:rPr>
              <a:t>• Many-to-Many Model</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9851595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Many-to-One Model</a:t>
            </a:r>
            <a:endParaRPr lang="en-US" dirty="0">
              <a:solidFill>
                <a:srgbClr val="FF0000"/>
              </a:solidFill>
            </a:endParaRPr>
          </a:p>
        </p:txBody>
      </p:sp>
      <p:sp>
        <p:nvSpPr>
          <p:cNvPr id="3" name="Content Placeholder 2"/>
          <p:cNvSpPr>
            <a:spLocks noGrp="1"/>
          </p:cNvSpPr>
          <p:nvPr>
            <p:ph idx="1"/>
          </p:nvPr>
        </p:nvSpPr>
        <p:spPr>
          <a:xfrm>
            <a:off x="838200" y="953590"/>
            <a:ext cx="10515600" cy="5223374"/>
          </a:xfrm>
        </p:spPr>
        <p:txBody>
          <a:bodyPr>
            <a:normAutofit fontScale="70000" lnSpcReduction="20000"/>
          </a:bodyPr>
          <a:lstStyle/>
          <a:p>
            <a:pPr>
              <a:lnSpc>
                <a:spcPct val="160000"/>
              </a:lnSpc>
            </a:pPr>
            <a:r>
              <a:rPr lang="en-US" dirty="0" smtClean="0">
                <a:latin typeface="Times New Roman" pitchFamily="18" charset="0"/>
                <a:cs typeface="Times New Roman" pitchFamily="18" charset="0"/>
              </a:rPr>
              <a:t>In the many-to-one model, many user-level threads are all mapped onto a single kernel thread.</a:t>
            </a:r>
          </a:p>
          <a:p>
            <a:pPr>
              <a:lnSpc>
                <a:spcPct val="160000"/>
              </a:lnSpc>
            </a:pPr>
            <a:r>
              <a:rPr lang="en-US" dirty="0" smtClean="0">
                <a:latin typeface="Times New Roman" pitchFamily="18" charset="0"/>
                <a:cs typeface="Times New Roman" pitchFamily="18" charset="0"/>
              </a:rPr>
              <a:t>Thread management is handled by the thread library in user space, which is very efficient.</a:t>
            </a:r>
          </a:p>
          <a:p>
            <a:pPr>
              <a:lnSpc>
                <a:spcPct val="160000"/>
              </a:lnSpc>
            </a:pPr>
            <a:r>
              <a:rPr lang="en-US" dirty="0" smtClean="0">
                <a:latin typeface="Times New Roman" pitchFamily="18" charset="0"/>
                <a:cs typeface="Times New Roman" pitchFamily="18" charset="0"/>
              </a:rPr>
              <a:t>One thread blocking causes all to block.</a:t>
            </a:r>
          </a:p>
          <a:p>
            <a:pPr>
              <a:lnSpc>
                <a:spcPct val="160000"/>
              </a:lnSpc>
            </a:pPr>
            <a:r>
              <a:rPr lang="en-US" dirty="0" smtClean="0">
                <a:latin typeface="Times New Roman" pitchFamily="18" charset="0"/>
                <a:cs typeface="Times New Roman" pitchFamily="18" charset="0"/>
              </a:rPr>
              <a:t>Multiple threads may not run in parallel on </a:t>
            </a:r>
            <a:r>
              <a:rPr lang="en-US" dirty="0" err="1" smtClean="0">
                <a:latin typeface="Times New Roman" pitchFamily="18" charset="0"/>
                <a:cs typeface="Times New Roman" pitchFamily="18" charset="0"/>
              </a:rPr>
              <a:t>multicore</a:t>
            </a:r>
            <a:r>
              <a:rPr lang="en-US" dirty="0" smtClean="0">
                <a:latin typeface="Times New Roman" pitchFamily="18" charset="0"/>
                <a:cs typeface="Times New Roman" pitchFamily="18" charset="0"/>
              </a:rPr>
              <a:t> system because only one may be in kernel at a time.</a:t>
            </a:r>
          </a:p>
          <a:p>
            <a:pPr>
              <a:lnSpc>
                <a:spcPct val="160000"/>
              </a:lnSpc>
            </a:pPr>
            <a:r>
              <a:rPr lang="en-US" dirty="0" smtClean="0">
                <a:latin typeface="Times New Roman" pitchFamily="18" charset="0"/>
                <a:cs typeface="Times New Roman" pitchFamily="18" charset="0"/>
              </a:rPr>
              <a:t>Few system currently use this model</a:t>
            </a:r>
          </a:p>
          <a:p>
            <a:pPr>
              <a:lnSpc>
                <a:spcPct val="160000"/>
              </a:lnSpc>
            </a:pPr>
            <a:r>
              <a:rPr lang="en-US" dirty="0" smtClean="0">
                <a:latin typeface="Times New Roman" pitchFamily="18" charset="0"/>
                <a:cs typeface="Times New Roman" pitchFamily="18" charset="0"/>
              </a:rPr>
              <a:t>Example</a:t>
            </a:r>
          </a:p>
          <a:p>
            <a:pPr lvl="1">
              <a:lnSpc>
                <a:spcPct val="160000"/>
              </a:lnSpc>
            </a:pPr>
            <a:r>
              <a:rPr lang="en-US" b="1" dirty="0" smtClean="0">
                <a:latin typeface="Times New Roman" pitchFamily="18" charset="0"/>
                <a:cs typeface="Times New Roman" pitchFamily="18" charset="0"/>
              </a:rPr>
              <a:t>Solaris green threads</a:t>
            </a:r>
          </a:p>
          <a:p>
            <a:pPr lvl="1">
              <a:lnSpc>
                <a:spcPct val="160000"/>
              </a:lnSpc>
            </a:pPr>
            <a:r>
              <a:rPr lang="en-US" b="1" dirty="0" smtClean="0">
                <a:latin typeface="Times New Roman" pitchFamily="18" charset="0"/>
                <a:cs typeface="Times New Roman" pitchFamily="18" charset="0"/>
              </a:rPr>
              <a:t>GNU portable threads </a:t>
            </a:r>
          </a:p>
          <a:p>
            <a:pPr>
              <a:lnSpc>
                <a:spcPct val="160000"/>
              </a:lnSpc>
            </a:pPr>
            <a:endParaRPr lang="en-US" dirty="0">
              <a:latin typeface="Times New Roman" pitchFamily="18" charset="0"/>
              <a:cs typeface="Times New Roman" pitchFamily="18" charset="0"/>
            </a:endParaRPr>
          </a:p>
        </p:txBody>
      </p:sp>
      <p:pic>
        <p:nvPicPr>
          <p:cNvPr id="4098" name="Picture 2" descr="https://www.cs.uic.edu/~jbell/CourseNotes/OperatingSystems/images/Chapter4/4_05_ManyToOne.jpg"/>
          <p:cNvPicPr>
            <a:picLocks noChangeAspect="1" noChangeArrowheads="1"/>
          </p:cNvPicPr>
          <p:nvPr/>
        </p:nvPicPr>
        <p:blipFill>
          <a:blip r:embed="rId2"/>
          <a:srcRect/>
          <a:stretch>
            <a:fillRect/>
          </a:stretch>
        </p:blipFill>
        <p:spPr bwMode="auto">
          <a:xfrm>
            <a:off x="6021977" y="3213464"/>
            <a:ext cx="4676503" cy="2892424"/>
          </a:xfrm>
          <a:prstGeom prst="rect">
            <a:avLst/>
          </a:prstGeom>
          <a:noFill/>
        </p:spPr>
      </p:pic>
    </p:spTree>
    <p:extLst>
      <p:ext uri="{BB962C8B-B14F-4D97-AF65-F5344CB8AC3E}">
        <p14:creationId xmlns:p14="http://schemas.microsoft.com/office/powerpoint/2010/main" val="177109851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5"/>
          </a:xfrm>
        </p:spPr>
        <p:txBody>
          <a:bodyPr>
            <a:noAutofit/>
          </a:bodyPr>
          <a:lstStyle/>
          <a:p>
            <a:pPr lvl="1" algn="ctr" rtl="0">
              <a:lnSpc>
                <a:spcPct val="90000"/>
              </a:lnSpc>
              <a:spcBef>
                <a:spcPct val="0"/>
              </a:spcBef>
            </a:pPr>
            <a:r>
              <a:rPr lang="en-US" sz="3600" b="1" dirty="0" smtClean="0">
                <a:solidFill>
                  <a:srgbClr val="FF0000"/>
                </a:solidFill>
                <a:latin typeface="Times New Roman" pitchFamily="18" charset="0"/>
                <a:cs typeface="Times New Roman" pitchFamily="18" charset="0"/>
              </a:rPr>
              <a:t/>
            </a:r>
            <a:br>
              <a:rPr lang="en-US" sz="3600" b="1" dirty="0" smtClean="0">
                <a:solidFill>
                  <a:srgbClr val="FF0000"/>
                </a:solidFill>
                <a:latin typeface="Times New Roman" pitchFamily="18" charset="0"/>
                <a:cs typeface="Times New Roman" pitchFamily="18" charset="0"/>
              </a:rPr>
            </a:br>
            <a:r>
              <a:rPr lang="en-US" sz="3600" b="1" dirty="0" smtClean="0">
                <a:solidFill>
                  <a:srgbClr val="FF0000"/>
                </a:solidFill>
                <a:latin typeface="Times New Roman" pitchFamily="18" charset="0"/>
                <a:cs typeface="Times New Roman" pitchFamily="18" charset="0"/>
              </a:rPr>
              <a:t>One-to-One Model</a:t>
            </a:r>
            <a:br>
              <a:rPr lang="en-US" sz="3600" b="1" dirty="0" smtClean="0">
                <a:solidFill>
                  <a:srgbClr val="FF0000"/>
                </a:solidFill>
                <a:latin typeface="Times New Roman" pitchFamily="18" charset="0"/>
                <a:cs typeface="Times New Roman" pitchFamily="18" charset="0"/>
              </a:rPr>
            </a:br>
            <a:endParaRPr lang="en-US" sz="3600" dirty="0">
              <a:solidFill>
                <a:srgbClr val="FF0000"/>
              </a:solidFill>
            </a:endParaRPr>
          </a:p>
        </p:txBody>
      </p:sp>
      <p:sp>
        <p:nvSpPr>
          <p:cNvPr id="3" name="Content Placeholder 2"/>
          <p:cNvSpPr>
            <a:spLocks noGrp="1"/>
          </p:cNvSpPr>
          <p:nvPr>
            <p:ph idx="1"/>
          </p:nvPr>
        </p:nvSpPr>
        <p:spPr>
          <a:xfrm>
            <a:off x="838200" y="1031966"/>
            <a:ext cx="10515600" cy="5144997"/>
          </a:xfrm>
        </p:spPr>
        <p:txBody>
          <a:bodyPr>
            <a:normAutofit fontScale="85000" lnSpcReduction="10000"/>
          </a:bodyPr>
          <a:lstStyle/>
          <a:p>
            <a:pPr>
              <a:lnSpc>
                <a:spcPct val="150000"/>
              </a:lnSpc>
            </a:pPr>
            <a:r>
              <a:rPr lang="en-US" dirty="0" smtClean="0">
                <a:latin typeface="Times New Roman" pitchFamily="18" charset="0"/>
                <a:cs typeface="Times New Roman" pitchFamily="18" charset="0"/>
              </a:rPr>
              <a:t>The one-to-one model creates a separate kernel thread to handle each user thread.</a:t>
            </a:r>
          </a:p>
          <a:p>
            <a:pPr>
              <a:lnSpc>
                <a:spcPct val="150000"/>
              </a:lnSpc>
            </a:pPr>
            <a:r>
              <a:rPr lang="en-US" dirty="0" smtClean="0">
                <a:latin typeface="Times New Roman" pitchFamily="18" charset="0"/>
                <a:cs typeface="Times New Roman" pitchFamily="18" charset="0"/>
              </a:rPr>
              <a:t>Each user-level thread maps to kernel thread.</a:t>
            </a:r>
          </a:p>
          <a:p>
            <a:pPr>
              <a:lnSpc>
                <a:spcPct val="150000"/>
              </a:lnSpc>
            </a:pPr>
            <a:r>
              <a:rPr lang="en-US" dirty="0" smtClean="0">
                <a:latin typeface="Times New Roman" pitchFamily="18" charset="0"/>
                <a:cs typeface="Times New Roman" pitchFamily="18" charset="0"/>
              </a:rPr>
              <a:t>Number of threads per process sometimes restricted due to overhead.</a:t>
            </a:r>
          </a:p>
          <a:p>
            <a:pPr>
              <a:lnSpc>
                <a:spcPct val="150000"/>
              </a:lnSpc>
            </a:pPr>
            <a:r>
              <a:rPr lang="en-US" dirty="0" smtClean="0">
                <a:latin typeface="Times New Roman" pitchFamily="18" charset="0"/>
                <a:cs typeface="Times New Roman" pitchFamily="18" charset="0"/>
              </a:rPr>
              <a:t>More concurrency than many to-to-one</a:t>
            </a:r>
          </a:p>
          <a:p>
            <a:pPr>
              <a:lnSpc>
                <a:spcPct val="150000"/>
              </a:lnSpc>
            </a:pPr>
            <a:r>
              <a:rPr lang="en-US" dirty="0" smtClean="0">
                <a:latin typeface="Times New Roman" pitchFamily="18" charset="0"/>
                <a:cs typeface="Times New Roman" pitchFamily="18" charset="0"/>
              </a:rPr>
              <a:t>Examples:</a:t>
            </a:r>
          </a:p>
          <a:p>
            <a:pPr lvl="1">
              <a:lnSpc>
                <a:spcPct val="150000"/>
              </a:lnSpc>
            </a:pPr>
            <a:r>
              <a:rPr lang="en-US" b="1" dirty="0" smtClean="0">
                <a:latin typeface="Times New Roman" pitchFamily="18" charset="0"/>
                <a:cs typeface="Times New Roman" pitchFamily="18" charset="0"/>
              </a:rPr>
              <a:t>Windows</a:t>
            </a:r>
          </a:p>
          <a:p>
            <a:pPr lvl="1">
              <a:lnSpc>
                <a:spcPct val="150000"/>
              </a:lnSpc>
            </a:pPr>
            <a:r>
              <a:rPr lang="en-US" b="1" dirty="0" smtClean="0">
                <a:latin typeface="Times New Roman" pitchFamily="18" charset="0"/>
                <a:cs typeface="Times New Roman" pitchFamily="18" charset="0"/>
              </a:rPr>
              <a:t>Linux</a:t>
            </a:r>
          </a:p>
          <a:p>
            <a:pPr lvl="1">
              <a:lnSpc>
                <a:spcPct val="150000"/>
              </a:lnSpc>
            </a:pPr>
            <a:r>
              <a:rPr lang="en-US" b="1" dirty="0" smtClean="0">
                <a:latin typeface="Times New Roman" pitchFamily="18" charset="0"/>
                <a:cs typeface="Times New Roman" pitchFamily="18" charset="0"/>
              </a:rPr>
              <a:t>Solaris  9 and later</a:t>
            </a:r>
            <a:endParaRPr lang="en-US" b="1" dirty="0">
              <a:latin typeface="Times New Roman" pitchFamily="18" charset="0"/>
              <a:cs typeface="Times New Roman" pitchFamily="18" charset="0"/>
            </a:endParaRPr>
          </a:p>
        </p:txBody>
      </p:sp>
      <p:pic>
        <p:nvPicPr>
          <p:cNvPr id="59394" name="Picture 2" descr="https://www.cs.uic.edu/~jbell/CourseNotes/OperatingSystems/images/Chapter4/4_06_OneToOne.jpg"/>
          <p:cNvPicPr>
            <a:picLocks noChangeAspect="1" noChangeArrowheads="1"/>
          </p:cNvPicPr>
          <p:nvPr/>
        </p:nvPicPr>
        <p:blipFill>
          <a:blip r:embed="rId2"/>
          <a:srcRect/>
          <a:stretch>
            <a:fillRect/>
          </a:stretch>
        </p:blipFill>
        <p:spPr bwMode="auto">
          <a:xfrm>
            <a:off x="5668099" y="3422470"/>
            <a:ext cx="5134883" cy="2338250"/>
          </a:xfrm>
          <a:prstGeom prst="rect">
            <a:avLst/>
          </a:prstGeom>
          <a:noFill/>
        </p:spPr>
      </p:pic>
    </p:spTree>
    <p:extLst>
      <p:ext uri="{BB962C8B-B14F-4D97-AF65-F5344CB8AC3E}">
        <p14:creationId xmlns:p14="http://schemas.microsoft.com/office/powerpoint/2010/main" val="41408233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Many-to-Many Model</a:t>
            </a:r>
            <a:endParaRPr lang="en-US" dirty="0">
              <a:solidFill>
                <a:srgbClr val="FF0000"/>
              </a:solidFill>
            </a:endParaRPr>
          </a:p>
        </p:txBody>
      </p:sp>
      <p:sp>
        <p:nvSpPr>
          <p:cNvPr id="3" name="Content Placeholder 2"/>
          <p:cNvSpPr>
            <a:spLocks noGrp="1"/>
          </p:cNvSpPr>
          <p:nvPr>
            <p:ph idx="1"/>
          </p:nvPr>
        </p:nvSpPr>
        <p:spPr>
          <a:xfrm>
            <a:off x="838200" y="1071154"/>
            <a:ext cx="10515600" cy="5105809"/>
          </a:xfrm>
        </p:spPr>
        <p:txBody>
          <a:bodyPr>
            <a:normAutofit fontScale="70000" lnSpcReduction="20000"/>
          </a:bodyPr>
          <a:lstStyle/>
          <a:p>
            <a:pPr>
              <a:lnSpc>
                <a:spcPct val="170000"/>
              </a:lnSpc>
            </a:pPr>
            <a:r>
              <a:rPr lang="en-US" dirty="0" smtClean="0">
                <a:latin typeface="Times New Roman" pitchFamily="18" charset="0"/>
                <a:cs typeface="Times New Roman" pitchFamily="18" charset="0"/>
              </a:rPr>
              <a:t>The many-to-many model multiplexes any number of user threads onto an equal or smaller number of  kernel threads, combining the best features of the one-to-one and many-to-one models.</a:t>
            </a:r>
          </a:p>
          <a:p>
            <a:pPr>
              <a:lnSpc>
                <a:spcPct val="170000"/>
              </a:lnSpc>
            </a:pPr>
            <a:r>
              <a:rPr lang="en-US" dirty="0" smtClean="0">
                <a:latin typeface="Times New Roman" pitchFamily="18" charset="0"/>
                <a:cs typeface="Times New Roman" pitchFamily="18" charset="0"/>
              </a:rPr>
              <a:t>Allows many user level threads to be mapped to many kernel threads.</a:t>
            </a:r>
          </a:p>
          <a:p>
            <a:pPr>
              <a:lnSpc>
                <a:spcPct val="170000"/>
              </a:lnSpc>
            </a:pPr>
            <a:r>
              <a:rPr lang="en-US" dirty="0" smtClean="0">
                <a:latin typeface="Times New Roman" pitchFamily="18" charset="0"/>
                <a:cs typeface="Times New Roman" pitchFamily="18" charset="0"/>
              </a:rPr>
              <a:t>Allows operating system to create a sufficient number to kernel  threads.</a:t>
            </a:r>
          </a:p>
          <a:p>
            <a:pPr>
              <a:lnSpc>
                <a:spcPct val="170000"/>
              </a:lnSpc>
            </a:pPr>
            <a:r>
              <a:rPr lang="en-US" dirty="0" smtClean="0">
                <a:latin typeface="Times New Roman" pitchFamily="18" charset="0"/>
                <a:cs typeface="Times New Roman" pitchFamily="18" charset="0"/>
              </a:rPr>
              <a:t>Users have no restrictions on the number of threads created.</a:t>
            </a:r>
          </a:p>
          <a:p>
            <a:pPr>
              <a:lnSpc>
                <a:spcPct val="170000"/>
              </a:lnSpc>
            </a:pPr>
            <a:r>
              <a:rPr lang="en-US" dirty="0" smtClean="0">
                <a:latin typeface="Times New Roman" pitchFamily="18" charset="0"/>
                <a:cs typeface="Times New Roman" pitchFamily="18" charset="0"/>
              </a:rPr>
              <a:t>Examples:</a:t>
            </a:r>
          </a:p>
          <a:p>
            <a:pPr lvl="1">
              <a:lnSpc>
                <a:spcPct val="170000"/>
              </a:lnSpc>
            </a:pPr>
            <a:r>
              <a:rPr lang="en-US" b="1" dirty="0" smtClean="0">
                <a:latin typeface="Times New Roman" pitchFamily="18" charset="0"/>
                <a:cs typeface="Times New Roman" pitchFamily="18" charset="0"/>
              </a:rPr>
              <a:t>Solaris prior to Solaris 9.</a:t>
            </a:r>
          </a:p>
          <a:p>
            <a:pPr lvl="1">
              <a:lnSpc>
                <a:spcPct val="170000"/>
              </a:lnSpc>
            </a:pPr>
            <a:r>
              <a:rPr lang="en-US" b="1" dirty="0" smtClean="0">
                <a:latin typeface="Times New Roman" pitchFamily="18" charset="0"/>
                <a:cs typeface="Times New Roman" pitchFamily="18" charset="0"/>
              </a:rPr>
              <a:t>Windows with </a:t>
            </a:r>
            <a:r>
              <a:rPr lang="en-US" b="1" dirty="0" err="1" smtClean="0">
                <a:latin typeface="Times New Roman" pitchFamily="18" charset="0"/>
                <a:cs typeface="Times New Roman" pitchFamily="18" charset="0"/>
              </a:rPr>
              <a:t>ThreadFiber</a:t>
            </a:r>
            <a:r>
              <a:rPr lang="en-US" b="1" dirty="0" smtClean="0">
                <a:latin typeface="Times New Roman" pitchFamily="18" charset="0"/>
                <a:cs typeface="Times New Roman" pitchFamily="18" charset="0"/>
              </a:rPr>
              <a:t> package</a:t>
            </a:r>
            <a:endParaRPr lang="en-US" b="1" dirty="0">
              <a:latin typeface="Times New Roman" pitchFamily="18" charset="0"/>
              <a:cs typeface="Times New Roman" pitchFamily="18" charset="0"/>
            </a:endParaRPr>
          </a:p>
        </p:txBody>
      </p:sp>
      <p:pic>
        <p:nvPicPr>
          <p:cNvPr id="60418" name="Picture 2" descr="https://www.cs.uic.edu/~jbell/CourseNotes/OperatingSystems/images/Chapter4/4_07_ManyToMany.jpg"/>
          <p:cNvPicPr>
            <a:picLocks noChangeAspect="1" noChangeArrowheads="1"/>
          </p:cNvPicPr>
          <p:nvPr/>
        </p:nvPicPr>
        <p:blipFill>
          <a:blip r:embed="rId2"/>
          <a:srcRect/>
          <a:stretch>
            <a:fillRect/>
          </a:stretch>
        </p:blipFill>
        <p:spPr bwMode="auto">
          <a:xfrm>
            <a:off x="7302137" y="3161211"/>
            <a:ext cx="4074160" cy="2776448"/>
          </a:xfrm>
          <a:prstGeom prst="rect">
            <a:avLst/>
          </a:prstGeom>
          <a:noFill/>
        </p:spPr>
      </p:pic>
    </p:spTree>
    <p:extLst>
      <p:ext uri="{BB962C8B-B14F-4D97-AF65-F5344CB8AC3E}">
        <p14:creationId xmlns:p14="http://schemas.microsoft.com/office/powerpoint/2010/main" val="40796180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Process Scheduling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ctr">
              <a:lnSpc>
                <a:spcPct val="150000"/>
              </a:lnSpc>
              <a:buNone/>
            </a:pPr>
            <a:r>
              <a:rPr lang="en-US" sz="3200" b="1" dirty="0" smtClean="0">
                <a:latin typeface="Times New Roman" pitchFamily="18" charset="0"/>
                <a:cs typeface="Times New Roman" pitchFamily="18" charset="0"/>
              </a:rPr>
              <a:t>Which process is given control of the CPU and how long?</a:t>
            </a:r>
          </a:p>
          <a:p>
            <a:pPr algn="ctr">
              <a:lnSpc>
                <a:spcPct val="150000"/>
              </a:lnSpc>
              <a:buNone/>
            </a:pPr>
            <a:endParaRPr lang="en-US" b="1" dirty="0" smtClean="0"/>
          </a:p>
          <a:p>
            <a:pPr algn="ctr">
              <a:lnSpc>
                <a:spcPct val="150000"/>
              </a:lnSpc>
              <a:buNone/>
            </a:pPr>
            <a:r>
              <a:rPr lang="en-US" dirty="0" smtClean="0"/>
              <a:t> </a:t>
            </a:r>
            <a:r>
              <a:rPr lang="en-US" dirty="0" smtClean="0">
                <a:latin typeface="Times New Roman" pitchFamily="18" charset="0"/>
                <a:cs typeface="Times New Roman" pitchFamily="18" charset="0"/>
              </a:rPr>
              <a:t>By switching the processor among the processes, the OS can make the computer more productive – basic objective for multiprogrammed operating systems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28458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589" y="378189"/>
            <a:ext cx="9616440" cy="1058726"/>
          </a:xfrm>
        </p:spPr>
        <p:txBody>
          <a:bodyPr/>
          <a:lstStyle/>
          <a:p>
            <a:pPr algn="ctr"/>
            <a:r>
              <a:rPr lang="en-US" b="1" dirty="0" smtClean="0">
                <a:solidFill>
                  <a:srgbClr val="FF0000"/>
                </a:solidFill>
                <a:latin typeface="Times New Roman" pitchFamily="18" charset="0"/>
                <a:cs typeface="Times New Roman" pitchFamily="18" charset="0"/>
              </a:rPr>
              <a:t>CPU-I/O Burst</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214846"/>
            <a:ext cx="10839994" cy="5264331"/>
          </a:xfrm>
        </p:spPr>
        <p:txBody>
          <a:bodyPr>
            <a:normAutofit fontScale="92500" lnSpcReduction="20000"/>
          </a:bodyPr>
          <a:lstStyle/>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Process execution consists of a cycle of CPU execution and I/O wait.</a:t>
            </a:r>
          </a:p>
          <a:p>
            <a:r>
              <a:rPr lang="en-US" sz="2400" dirty="0" smtClean="0">
                <a:latin typeface="Times New Roman" pitchFamily="18" charset="0"/>
                <a:cs typeface="Times New Roman" pitchFamily="18" charset="0"/>
              </a:rPr>
              <a:t> Process execution begins with a CPU burst that is followed by I/O burst, then another CPU burst, then another I/O burst........ </a:t>
            </a:r>
          </a:p>
          <a:p>
            <a:r>
              <a:rPr lang="en-US" sz="2400" dirty="0" smtClean="0">
                <a:latin typeface="Times New Roman" pitchFamily="18" charset="0"/>
                <a:cs typeface="Times New Roman" pitchFamily="18" charset="0"/>
              </a:rPr>
              <a:t>CPU-bound: Processes that use CPU until the quantum expire.</a:t>
            </a:r>
          </a:p>
          <a:p>
            <a:r>
              <a:rPr lang="en-US" sz="2400" dirty="0" smtClean="0">
                <a:latin typeface="Times New Roman" pitchFamily="18" charset="0"/>
                <a:cs typeface="Times New Roman" pitchFamily="18" charset="0"/>
              </a:rPr>
              <a:t> I/O-bound: Processes that use CPU briefly and generate I/O request. </a:t>
            </a:r>
          </a:p>
          <a:p>
            <a:r>
              <a:rPr lang="en-US" sz="2400" dirty="0" smtClean="0">
                <a:latin typeface="Times New Roman" pitchFamily="18" charset="0"/>
                <a:cs typeface="Times New Roman" pitchFamily="18" charset="0"/>
              </a:rPr>
              <a:t>CPU-bound processes have a long CPU-burst while I/O-bound processes have short CPU burst.</a:t>
            </a:r>
          </a:p>
          <a:p>
            <a:r>
              <a:rPr lang="en-US" sz="2400" dirty="0" smtClean="0">
                <a:latin typeface="Times New Roman" pitchFamily="18" charset="0"/>
                <a:cs typeface="Times New Roman" pitchFamily="18" charset="0"/>
              </a:rPr>
              <a:t> Key idea: when I/O bound process wants to run, it should get a chance quickly.</a:t>
            </a:r>
            <a:endParaRPr lang="en-US" sz="2400" dirty="0">
              <a:latin typeface="Times New Roman" pitchFamily="18" charset="0"/>
              <a:cs typeface="Times New Roman" pitchFamily="18" charset="0"/>
            </a:endParaRPr>
          </a:p>
        </p:txBody>
      </p:sp>
      <p:pic>
        <p:nvPicPr>
          <p:cNvPr id="6" name="Picture 5" descr="Capture.PNG"/>
          <p:cNvPicPr>
            <a:picLocks noChangeAspect="1"/>
          </p:cNvPicPr>
          <p:nvPr/>
        </p:nvPicPr>
        <p:blipFill>
          <a:blip r:embed="rId2"/>
          <a:stretch>
            <a:fillRect/>
          </a:stretch>
        </p:blipFill>
        <p:spPr>
          <a:xfrm>
            <a:off x="1319039" y="1522339"/>
            <a:ext cx="8948367" cy="1887067"/>
          </a:xfrm>
          <a:prstGeom prst="rect">
            <a:avLst/>
          </a:prstGeom>
        </p:spPr>
      </p:pic>
    </p:spTree>
    <p:extLst>
      <p:ext uri="{BB962C8B-B14F-4D97-AF65-F5344CB8AC3E}">
        <p14:creationId xmlns:p14="http://schemas.microsoft.com/office/powerpoint/2010/main" val="1926558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9634"/>
            <a:ext cx="10515600" cy="5837329"/>
          </a:xfrm>
        </p:spPr>
        <p:txBody>
          <a:bodyPr>
            <a:normAutofit fontScale="92500" lnSpcReduction="20000"/>
          </a:bodyPr>
          <a:lstStyle/>
          <a:p>
            <a:pPr algn="ctr">
              <a:lnSpc>
                <a:spcPct val="150000"/>
              </a:lnSpc>
              <a:buNone/>
            </a:pPr>
            <a:r>
              <a:rPr lang="en-US" sz="3500" b="1" dirty="0" smtClean="0">
                <a:solidFill>
                  <a:srgbClr val="FF0000"/>
                </a:solidFill>
                <a:latin typeface="Times New Roman" pitchFamily="18" charset="0"/>
                <a:cs typeface="Times New Roman" pitchFamily="18" charset="0"/>
              </a:rPr>
              <a:t>When to Schedule</a:t>
            </a:r>
          </a:p>
          <a:p>
            <a:pPr>
              <a:lnSpc>
                <a:spcPct val="150000"/>
              </a:lnSpc>
              <a:buNone/>
            </a:pPr>
            <a:r>
              <a:rPr lang="en-US" dirty="0" smtClean="0">
                <a:latin typeface="Times New Roman" pitchFamily="18" charset="0"/>
                <a:cs typeface="Times New Roman" pitchFamily="18" charset="0"/>
              </a:rPr>
              <a:t>  1. When a new process is created. </a:t>
            </a:r>
          </a:p>
          <a:p>
            <a:pPr>
              <a:lnSpc>
                <a:spcPct val="150000"/>
              </a:lnSpc>
              <a:buNone/>
            </a:pPr>
            <a:r>
              <a:rPr lang="en-US" dirty="0" smtClean="0">
                <a:latin typeface="Times New Roman" pitchFamily="18" charset="0"/>
                <a:cs typeface="Times New Roman" pitchFamily="18" charset="0"/>
              </a:rPr>
              <a:t>  2. When a process terminates. </a:t>
            </a:r>
          </a:p>
          <a:p>
            <a:pPr>
              <a:lnSpc>
                <a:spcPct val="150000"/>
              </a:lnSpc>
              <a:buNone/>
            </a:pPr>
            <a:r>
              <a:rPr lang="en-US" dirty="0" smtClean="0">
                <a:latin typeface="Times New Roman" pitchFamily="18" charset="0"/>
                <a:cs typeface="Times New Roman" pitchFamily="18" charset="0"/>
              </a:rPr>
              <a:t>  3. When a process blocks on I/O, on semaphore, waiting for child termination etc. </a:t>
            </a:r>
          </a:p>
          <a:p>
            <a:pPr>
              <a:lnSpc>
                <a:spcPct val="150000"/>
              </a:lnSpc>
              <a:buNone/>
            </a:pPr>
            <a:r>
              <a:rPr lang="en-US" dirty="0" smtClean="0">
                <a:latin typeface="Times New Roman" pitchFamily="18" charset="0"/>
                <a:cs typeface="Times New Roman" pitchFamily="18" charset="0"/>
              </a:rPr>
              <a:t>  4. When an I/O interrupt occurs. </a:t>
            </a:r>
          </a:p>
          <a:p>
            <a:pPr>
              <a:lnSpc>
                <a:spcPct val="150000"/>
              </a:lnSpc>
              <a:buNone/>
            </a:pPr>
            <a:r>
              <a:rPr lang="en-US" dirty="0" smtClean="0">
                <a:latin typeface="Times New Roman" pitchFamily="18" charset="0"/>
                <a:cs typeface="Times New Roman" pitchFamily="18" charset="0"/>
              </a:rPr>
              <a:t>  5. When quantum expires.</a:t>
            </a:r>
          </a:p>
          <a:p>
            <a:pPr>
              <a:lnSpc>
                <a:spcPct val="150000"/>
              </a:lnSpc>
              <a:buNone/>
            </a:pPr>
            <a:r>
              <a:rPr lang="en-US" dirty="0" smtClean="0">
                <a:latin typeface="Times New Roman" pitchFamily="18" charset="0"/>
                <a:cs typeface="Times New Roman" pitchFamily="18" charset="0"/>
              </a:rPr>
              <a:t>   Once a process has been given the CPU, it runs until blocks for I/O or termination is known as non-preemptive, otherwise it is preemptive.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07874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Scheduler</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979714"/>
            <a:ext cx="10515600" cy="5197249"/>
          </a:xfrm>
        </p:spPr>
        <p:txBody>
          <a:bodyPr>
            <a:normAutofit fontScale="70000" lnSpcReduction="20000"/>
          </a:bodyPr>
          <a:lstStyle/>
          <a:p>
            <a:pPr algn="just">
              <a:lnSpc>
                <a:spcPct val="170000"/>
              </a:lnSpc>
            </a:pPr>
            <a:r>
              <a:rPr lang="en-US" dirty="0" smtClean="0">
                <a:latin typeface="Times New Roman" pitchFamily="18" charset="0"/>
                <a:cs typeface="Times New Roman" pitchFamily="18" charset="0"/>
              </a:rPr>
              <a:t>A scheduler is a type of system software that allows you to handle process scheduling.</a:t>
            </a:r>
          </a:p>
          <a:p>
            <a:pPr algn="just">
              <a:lnSpc>
                <a:spcPct val="170000"/>
              </a:lnSpc>
            </a:pPr>
            <a:r>
              <a:rPr lang="en-US" dirty="0" smtClean="0">
                <a:latin typeface="Times New Roman" pitchFamily="18" charset="0"/>
                <a:cs typeface="Times New Roman" pitchFamily="18" charset="0"/>
              </a:rPr>
              <a:t>Scheduler is an OS program or module that selects the next job to be admitted for execution.</a:t>
            </a:r>
          </a:p>
          <a:p>
            <a:pPr algn="just">
              <a:lnSpc>
                <a:spcPct val="170000"/>
              </a:lnSpc>
            </a:pPr>
            <a:r>
              <a:rPr lang="en-US" dirty="0" smtClean="0">
                <a:latin typeface="Times New Roman" pitchFamily="18" charset="0"/>
                <a:cs typeface="Times New Roman" pitchFamily="18" charset="0"/>
              </a:rPr>
              <a:t>There are three types of scheduler:</a:t>
            </a:r>
          </a:p>
          <a:p>
            <a:pPr lvl="1" algn="just">
              <a:lnSpc>
                <a:spcPct val="170000"/>
              </a:lnSpc>
            </a:pPr>
            <a:r>
              <a:rPr lang="en-US" b="1" dirty="0" smtClean="0">
                <a:latin typeface="Times New Roman" pitchFamily="18" charset="0"/>
                <a:cs typeface="Times New Roman" pitchFamily="18" charset="0"/>
              </a:rPr>
              <a:t>Long-term scheduler</a:t>
            </a:r>
          </a:p>
          <a:p>
            <a:pPr lvl="1" algn="just">
              <a:lnSpc>
                <a:spcPct val="170000"/>
              </a:lnSpc>
            </a:pPr>
            <a:r>
              <a:rPr lang="en-US" b="1" dirty="0" smtClean="0">
                <a:latin typeface="Times New Roman" pitchFamily="18" charset="0"/>
                <a:cs typeface="Times New Roman" pitchFamily="18" charset="0"/>
              </a:rPr>
              <a:t>Short term scheduler</a:t>
            </a:r>
          </a:p>
          <a:p>
            <a:pPr lvl="1" algn="just">
              <a:lnSpc>
                <a:spcPct val="170000"/>
              </a:lnSpc>
            </a:pPr>
            <a:r>
              <a:rPr lang="en-US" b="1" dirty="0" smtClean="0">
                <a:latin typeface="Times New Roman" pitchFamily="18" charset="0"/>
                <a:cs typeface="Times New Roman" pitchFamily="18" charset="0"/>
              </a:rPr>
              <a:t>Medium term Scheduler</a:t>
            </a:r>
          </a:p>
          <a:p>
            <a:pPr algn="just">
              <a:lnSpc>
                <a:spcPct val="170000"/>
              </a:lnSpc>
              <a:buNone/>
            </a:pPr>
            <a:r>
              <a:rPr lang="en-US" b="1" dirty="0" smtClean="0">
                <a:latin typeface="Times New Roman" pitchFamily="18" charset="0"/>
                <a:cs typeface="Times New Roman" pitchFamily="18" charset="0"/>
              </a:rPr>
              <a:t>Long Term Scheduler</a:t>
            </a:r>
          </a:p>
          <a:p>
            <a:pPr algn="just">
              <a:lnSpc>
                <a:spcPct val="170000"/>
              </a:lnSpc>
            </a:pPr>
            <a:r>
              <a:rPr lang="en-US" dirty="0" smtClean="0">
                <a:latin typeface="Times New Roman" pitchFamily="18" charset="0"/>
                <a:cs typeface="Times New Roman" pitchFamily="18" charset="0"/>
              </a:rPr>
              <a:t>Long term scheduler is also known as a </a:t>
            </a:r>
            <a:r>
              <a:rPr lang="en-US" b="1" dirty="0" smtClean="0">
                <a:latin typeface="Times New Roman" pitchFamily="18" charset="0"/>
                <a:cs typeface="Times New Roman" pitchFamily="18" charset="0"/>
              </a:rPr>
              <a:t>job scheduler</a:t>
            </a:r>
            <a:r>
              <a:rPr lang="en-US" dirty="0" smtClean="0">
                <a:latin typeface="Times New Roman" pitchFamily="18" charset="0"/>
                <a:cs typeface="Times New Roman" pitchFamily="18" charset="0"/>
              </a:rPr>
              <a:t>. This scheduler regulates the program and select process from the queue and loads them into memory for execution. It also regulates the degree of multi-</a:t>
            </a:r>
            <a:r>
              <a:rPr lang="en-US" dirty="0" err="1" smtClean="0">
                <a:latin typeface="Times New Roman" pitchFamily="18" charset="0"/>
                <a:cs typeface="Times New Roman" pitchFamily="18" charset="0"/>
              </a:rPr>
              <a:t>programing</a:t>
            </a:r>
            <a:r>
              <a:rPr lang="en-US" dirty="0" smtClean="0">
                <a:latin typeface="Times New Roman" pitchFamily="18" charset="0"/>
                <a:cs typeface="Times New Roman" pitchFamily="18" charset="0"/>
              </a:rPr>
              <a:t>.</a:t>
            </a:r>
          </a:p>
          <a:p>
            <a:pPr algn="just">
              <a:lnSpc>
                <a:spcPct val="170000"/>
              </a:lnSpc>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626698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9634"/>
            <a:ext cx="10515600" cy="6270172"/>
          </a:xfrm>
        </p:spPr>
        <p:txBody>
          <a:bodyPr>
            <a:normAutofit fontScale="55000" lnSpcReduction="20000"/>
          </a:bodyPr>
          <a:lstStyle/>
          <a:p>
            <a:pPr algn="just">
              <a:lnSpc>
                <a:spcPct val="170000"/>
              </a:lnSpc>
              <a:buNone/>
            </a:pPr>
            <a:r>
              <a:rPr lang="en-US" b="1" dirty="0" smtClean="0">
                <a:latin typeface="Times New Roman" pitchFamily="18" charset="0"/>
                <a:cs typeface="Times New Roman" pitchFamily="18" charset="0"/>
              </a:rPr>
              <a:t>Short Term Scheduler</a:t>
            </a:r>
          </a:p>
          <a:p>
            <a:pPr algn="just">
              <a:lnSpc>
                <a:spcPct val="170000"/>
              </a:lnSpc>
            </a:pPr>
            <a:r>
              <a:rPr lang="en-US" dirty="0" smtClean="0">
                <a:latin typeface="Times New Roman" pitchFamily="18" charset="0"/>
                <a:cs typeface="Times New Roman" pitchFamily="18" charset="0"/>
              </a:rPr>
              <a:t>Short term scheduling is also known as </a:t>
            </a:r>
            <a:r>
              <a:rPr lang="en-US" b="1" dirty="0" smtClean="0">
                <a:latin typeface="Times New Roman" pitchFamily="18" charset="0"/>
                <a:cs typeface="Times New Roman" pitchFamily="18" charset="0"/>
              </a:rPr>
              <a:t>CPU scheduler</a:t>
            </a:r>
            <a:r>
              <a:rPr lang="en-US" dirty="0" smtClean="0">
                <a:latin typeface="Times New Roman" pitchFamily="18" charset="0"/>
                <a:cs typeface="Times New Roman" pitchFamily="18" charset="0"/>
              </a:rPr>
              <a:t>. The main goal of this scheduler is to boost the system performance according to set criteria. This helps you to select from a group of processes that are ready to execute and allocates CPU to one of them. The dispatcher gives control of the CPU to the process selected by the short term scheduler.</a:t>
            </a:r>
          </a:p>
          <a:p>
            <a:pPr algn="just">
              <a:lnSpc>
                <a:spcPct val="170000"/>
              </a:lnSpc>
              <a:buNone/>
            </a:pPr>
            <a:r>
              <a:rPr lang="en-US" b="1" dirty="0" smtClean="0">
                <a:latin typeface="Times New Roman" pitchFamily="18" charset="0"/>
                <a:cs typeface="Times New Roman" pitchFamily="18" charset="0"/>
              </a:rPr>
              <a:t>Medium Term Scheduler</a:t>
            </a:r>
          </a:p>
          <a:p>
            <a:pPr algn="just">
              <a:lnSpc>
                <a:spcPct val="170000"/>
              </a:lnSpc>
            </a:pPr>
            <a:r>
              <a:rPr lang="en-US" dirty="0" smtClean="0">
                <a:latin typeface="Times New Roman" pitchFamily="18" charset="0"/>
                <a:cs typeface="Times New Roman" pitchFamily="18" charset="0"/>
              </a:rPr>
              <a:t>Medium-term scheduling is an important part of </a:t>
            </a:r>
            <a:r>
              <a:rPr lang="en-US" b="1" dirty="0" smtClean="0">
                <a:latin typeface="Times New Roman" pitchFamily="18" charset="0"/>
                <a:cs typeface="Times New Roman" pitchFamily="18" charset="0"/>
              </a:rPr>
              <a:t>swapping</a:t>
            </a:r>
            <a:r>
              <a:rPr lang="en-US" dirty="0" smtClean="0">
                <a:latin typeface="Times New Roman" pitchFamily="18" charset="0"/>
                <a:cs typeface="Times New Roman" pitchFamily="18" charset="0"/>
              </a:rPr>
              <a:t>. It enables you to handle the swapped out-processes. In this scheduler, a running process can become suspended, which makes an I/O request.</a:t>
            </a:r>
          </a:p>
          <a:p>
            <a:pPr algn="just">
              <a:lnSpc>
                <a:spcPct val="170000"/>
              </a:lnSpc>
              <a:buNone/>
            </a:pPr>
            <a:r>
              <a:rPr lang="en-US" b="1" dirty="0" smtClean="0">
                <a:latin typeface="Times New Roman" pitchFamily="18" charset="0"/>
                <a:cs typeface="Times New Roman" pitchFamily="18" charset="0"/>
              </a:rPr>
              <a:t>Dispatcher </a:t>
            </a:r>
          </a:p>
          <a:p>
            <a:pPr algn="just">
              <a:lnSpc>
                <a:spcPct val="170000"/>
              </a:lnSpc>
              <a:buNone/>
            </a:pPr>
            <a:r>
              <a:rPr lang="en-US" dirty="0" smtClean="0">
                <a:latin typeface="Times New Roman" pitchFamily="18" charset="0"/>
                <a:cs typeface="Times New Roman" pitchFamily="18" charset="0"/>
              </a:rPr>
              <a:t>• Low level mechanism. </a:t>
            </a:r>
          </a:p>
          <a:p>
            <a:pPr algn="just">
              <a:lnSpc>
                <a:spcPct val="170000"/>
              </a:lnSpc>
              <a:buNone/>
            </a:pPr>
            <a:r>
              <a:rPr lang="en-US" dirty="0" smtClean="0">
                <a:latin typeface="Times New Roman" pitchFamily="18" charset="0"/>
                <a:cs typeface="Times New Roman" pitchFamily="18" charset="0"/>
              </a:rPr>
              <a:t>• Responsibility: Context switch</a:t>
            </a:r>
          </a:p>
          <a:p>
            <a:pPr lvl="1" algn="just">
              <a:lnSpc>
                <a:spcPct val="170000"/>
              </a:lnSpc>
              <a:buNone/>
            </a:pPr>
            <a:r>
              <a:rPr lang="en-US" dirty="0" smtClean="0">
                <a:latin typeface="Times New Roman" pitchFamily="18" charset="0"/>
                <a:cs typeface="Times New Roman" pitchFamily="18" charset="0"/>
              </a:rPr>
              <a:t> </a:t>
            </a:r>
            <a:r>
              <a:rPr lang="en-US" sz="2900" dirty="0" smtClean="0">
                <a:latin typeface="Times New Roman" pitchFamily="18" charset="0"/>
                <a:cs typeface="Times New Roman" pitchFamily="18" charset="0"/>
              </a:rPr>
              <a:t>• Save execution state of old process in PCB. </a:t>
            </a:r>
          </a:p>
          <a:p>
            <a:pPr lvl="1" algn="just">
              <a:lnSpc>
                <a:spcPct val="170000"/>
              </a:lnSpc>
              <a:buNone/>
            </a:pPr>
            <a:r>
              <a:rPr lang="en-US" sz="2900" dirty="0" smtClean="0">
                <a:latin typeface="Times New Roman" pitchFamily="18" charset="0"/>
                <a:cs typeface="Times New Roman" pitchFamily="18" charset="0"/>
              </a:rPr>
              <a:t>• Load execution state of new process from PCB to registers. </a:t>
            </a:r>
          </a:p>
          <a:p>
            <a:pPr lvl="1" algn="just">
              <a:lnSpc>
                <a:spcPct val="170000"/>
              </a:lnSpc>
              <a:buNone/>
            </a:pPr>
            <a:r>
              <a:rPr lang="en-US" sz="2900" dirty="0" smtClean="0">
                <a:latin typeface="Times New Roman" pitchFamily="18" charset="0"/>
                <a:cs typeface="Times New Roman" pitchFamily="18" charset="0"/>
              </a:rPr>
              <a:t>• Change the scheduling state of the process (running, ready, blocked)</a:t>
            </a:r>
          </a:p>
          <a:p>
            <a:pPr lvl="1" algn="just">
              <a:lnSpc>
                <a:spcPct val="170000"/>
              </a:lnSpc>
              <a:buNone/>
            </a:pPr>
            <a:r>
              <a:rPr lang="en-US" sz="2900" dirty="0" smtClean="0">
                <a:latin typeface="Times New Roman" pitchFamily="18" charset="0"/>
                <a:cs typeface="Times New Roman" pitchFamily="18" charset="0"/>
              </a:rPr>
              <a:t> • Switch from kernel to user mode. </a:t>
            </a:r>
          </a:p>
          <a:p>
            <a:pPr algn="just">
              <a:lnSpc>
                <a:spcPct val="170000"/>
              </a:lnSpc>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90658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04670"/>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Scheduling Criteria</a:t>
            </a:r>
            <a:endParaRPr lang="en-US" b="1" dirty="0">
              <a:solidFill>
                <a:srgbClr val="FF0000"/>
              </a:solidFill>
              <a:latin typeface="Times New Roman" pitchFamily="18" charset="0"/>
              <a:cs typeface="Times New Roman" pitchFamily="18" charset="0"/>
            </a:endParaRPr>
          </a:p>
        </p:txBody>
      </p:sp>
      <p:sp>
        <p:nvSpPr>
          <p:cNvPr id="4" name="Content Placeholder 3"/>
          <p:cNvSpPr>
            <a:spLocks noGrp="1"/>
          </p:cNvSpPr>
          <p:nvPr>
            <p:ph idx="1"/>
          </p:nvPr>
        </p:nvSpPr>
        <p:spPr>
          <a:xfrm>
            <a:off x="838200" y="959005"/>
            <a:ext cx="10515600" cy="5480984"/>
          </a:xfrm>
        </p:spPr>
        <p:txBody>
          <a:bodyPr>
            <a:normAutofit fontScale="70000" lnSpcReduction="20000"/>
          </a:bodyPr>
          <a:lstStyle/>
          <a:p>
            <a:pPr algn="just">
              <a:lnSpc>
                <a:spcPct val="160000"/>
              </a:lnSpc>
            </a:pPr>
            <a:r>
              <a:rPr lang="en-US" dirty="0" smtClean="0">
                <a:latin typeface="Times New Roman" pitchFamily="18" charset="0"/>
                <a:cs typeface="Times New Roman" pitchFamily="18" charset="0"/>
              </a:rPr>
              <a:t>There are different  criteria to select  the best algorithm in particular situation and environment</a:t>
            </a:r>
          </a:p>
          <a:p>
            <a:pPr algn="just">
              <a:lnSpc>
                <a:spcPct val="160000"/>
              </a:lnSpc>
            </a:pPr>
            <a:r>
              <a:rPr lang="en-US" b="1" dirty="0" smtClean="0">
                <a:latin typeface="Times New Roman" pitchFamily="18" charset="0"/>
                <a:cs typeface="Times New Roman" pitchFamily="18" charset="0"/>
              </a:rPr>
              <a:t>CPU utilization</a:t>
            </a:r>
            <a:r>
              <a:rPr lang="en-US" dirty="0" smtClean="0">
                <a:latin typeface="Times New Roman" pitchFamily="18" charset="0"/>
                <a:cs typeface="Times New Roman" pitchFamily="18" charset="0"/>
              </a:rPr>
              <a:t>:  Average Fraction of time during which CPU is busy, executing either user programs or system modules. (higher to better)</a:t>
            </a:r>
          </a:p>
          <a:p>
            <a:pPr algn="just">
              <a:lnSpc>
                <a:spcPct val="160000"/>
              </a:lnSpc>
            </a:pPr>
            <a:r>
              <a:rPr lang="en-US" b="1" dirty="0" smtClean="0">
                <a:latin typeface="Times New Roman" pitchFamily="18" charset="0"/>
                <a:cs typeface="Times New Roman" pitchFamily="18" charset="0"/>
              </a:rPr>
              <a:t>Throughput</a:t>
            </a:r>
            <a:r>
              <a:rPr lang="en-US" dirty="0" smtClean="0">
                <a:latin typeface="Times New Roman" pitchFamily="18" charset="0"/>
                <a:cs typeface="Times New Roman" pitchFamily="18" charset="0"/>
              </a:rPr>
              <a:t>: the number of process that are completed per unit time.</a:t>
            </a:r>
          </a:p>
          <a:p>
            <a:pPr algn="just">
              <a:lnSpc>
                <a:spcPct val="160000"/>
              </a:lnSpc>
            </a:pPr>
            <a:r>
              <a:rPr lang="en-US" b="1" dirty="0" smtClean="0">
                <a:latin typeface="Times New Roman" pitchFamily="18" charset="0"/>
                <a:cs typeface="Times New Roman" pitchFamily="18" charset="0"/>
              </a:rPr>
              <a:t>Turnaround Time</a:t>
            </a:r>
            <a:r>
              <a:rPr lang="en-US" dirty="0" smtClean="0">
                <a:latin typeface="Times New Roman" pitchFamily="18" charset="0"/>
                <a:cs typeface="Times New Roman" pitchFamily="18" charset="0"/>
              </a:rPr>
              <a:t>: Total time elapsed from time of job submitted to the time job or process is completed.</a:t>
            </a:r>
          </a:p>
          <a:p>
            <a:pPr lvl="1" algn="just">
              <a:lnSpc>
                <a:spcPct val="160000"/>
              </a:lnSpc>
            </a:pPr>
            <a:r>
              <a:rPr lang="en-US" b="1" dirty="0" smtClean="0">
                <a:solidFill>
                  <a:srgbClr val="FF0000"/>
                </a:solidFill>
                <a:latin typeface="Times New Roman" pitchFamily="18" charset="0"/>
                <a:cs typeface="Times New Roman" pitchFamily="18" charset="0"/>
              </a:rPr>
              <a:t>TAT= Process finish time-Process arrival time</a:t>
            </a:r>
          </a:p>
          <a:p>
            <a:pPr algn="just">
              <a:lnSpc>
                <a:spcPct val="160000"/>
              </a:lnSpc>
            </a:pPr>
            <a:r>
              <a:rPr lang="en-US" b="1" dirty="0" smtClean="0">
                <a:latin typeface="Times New Roman" pitchFamily="18" charset="0"/>
                <a:cs typeface="Times New Roman" pitchFamily="18" charset="0"/>
              </a:rPr>
              <a:t>Waiting Time</a:t>
            </a:r>
            <a:r>
              <a:rPr lang="en-US" dirty="0" smtClean="0">
                <a:latin typeface="Times New Roman" pitchFamily="18" charset="0"/>
                <a:cs typeface="Times New Roman" pitchFamily="18" charset="0"/>
              </a:rPr>
              <a:t>: Amount  of time a process has been waiting in the queue.</a:t>
            </a:r>
          </a:p>
          <a:p>
            <a:pPr lvl="1" algn="just">
              <a:lnSpc>
                <a:spcPct val="160000"/>
              </a:lnSpc>
            </a:pPr>
            <a:r>
              <a:rPr lang="en-US" dirty="0" smtClean="0">
                <a:solidFill>
                  <a:srgbClr val="FF0000"/>
                </a:solidFill>
                <a:latin typeface="Times New Roman" pitchFamily="18" charset="0"/>
                <a:cs typeface="Times New Roman" pitchFamily="18" charset="0"/>
              </a:rPr>
              <a:t> </a:t>
            </a:r>
            <a:r>
              <a:rPr lang="en-US" b="1" dirty="0" smtClean="0">
                <a:solidFill>
                  <a:srgbClr val="FF0000"/>
                </a:solidFill>
                <a:latin typeface="Times New Roman" pitchFamily="18" charset="0"/>
                <a:cs typeface="Times New Roman" pitchFamily="18" charset="0"/>
              </a:rPr>
              <a:t>WT= TAT-Processing time</a:t>
            </a:r>
          </a:p>
          <a:p>
            <a:pPr algn="just">
              <a:lnSpc>
                <a:spcPct val="160000"/>
              </a:lnSpc>
            </a:pPr>
            <a:r>
              <a:rPr lang="en-US" b="1" dirty="0" smtClean="0">
                <a:latin typeface="Times New Roman" pitchFamily="18" charset="0"/>
                <a:cs typeface="Times New Roman" pitchFamily="18" charset="0"/>
              </a:rPr>
              <a:t>Response time</a:t>
            </a:r>
            <a:r>
              <a:rPr lang="en-US" dirty="0" smtClean="0">
                <a:latin typeface="Times New Roman" pitchFamily="18" charset="0"/>
                <a:cs typeface="Times New Roman" pitchFamily="18" charset="0"/>
              </a:rPr>
              <a:t>: Amount of time it takes from when a request was submitted until the first response is produced not output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988089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pPr algn="ctr"/>
            <a:r>
              <a:rPr lang="en-US" b="1" dirty="0" smtClean="0">
                <a:latin typeface="Times New Roman" pitchFamily="18" charset="0"/>
                <a:cs typeface="Times New Roman" pitchFamily="18" charset="0"/>
              </a:rPr>
              <a:t>Scheduling algorithms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18903"/>
            <a:ext cx="10515600" cy="5158060"/>
          </a:xfrm>
        </p:spPr>
        <p:txBody>
          <a:bodyPr>
            <a:normAutofit/>
          </a:bodyPr>
          <a:lstStyle/>
          <a:p>
            <a:pPr algn="just">
              <a:lnSpc>
                <a:spcPct val="150000"/>
              </a:lnSpc>
              <a:buNone/>
            </a:pPr>
            <a:r>
              <a:rPr lang="en-US" sz="2000" b="1" dirty="0" smtClean="0">
                <a:latin typeface="Times New Roman" pitchFamily="18" charset="0"/>
                <a:cs typeface="Times New Roman" pitchFamily="18" charset="0"/>
              </a:rPr>
              <a:t>First-Come First-Serve (FCFS)</a:t>
            </a:r>
          </a:p>
          <a:p>
            <a:pPr algn="just">
              <a:lnSpc>
                <a:spcPct val="150000"/>
              </a:lnSpc>
            </a:pPr>
            <a:r>
              <a:rPr lang="en-US" sz="1800" b="1" dirty="0" smtClean="0">
                <a:latin typeface="Times New Roman" pitchFamily="18" charset="0"/>
                <a:cs typeface="Times New Roman" pitchFamily="18" charset="0"/>
              </a:rPr>
              <a:t>First come first serve</a:t>
            </a:r>
            <a:r>
              <a:rPr lang="en-US" sz="1800" dirty="0" smtClean="0">
                <a:latin typeface="Times New Roman" pitchFamily="18" charset="0"/>
                <a:cs typeface="Times New Roman" pitchFamily="18" charset="0"/>
              </a:rPr>
              <a:t> (FCFS) scheduling algorithm simply schedules the jobs according to their arrival time.</a:t>
            </a:r>
          </a:p>
          <a:p>
            <a:pPr algn="just">
              <a:lnSpc>
                <a:spcPct val="150000"/>
              </a:lnSpc>
            </a:pPr>
            <a:r>
              <a:rPr lang="en-US" sz="1800" dirty="0" smtClean="0">
                <a:latin typeface="Times New Roman" pitchFamily="18" charset="0"/>
                <a:cs typeface="Times New Roman" pitchFamily="18" charset="0"/>
              </a:rPr>
              <a:t>The job which comes first in the ready queue will get the CPU first.</a:t>
            </a:r>
          </a:p>
          <a:p>
            <a:pPr algn="just">
              <a:lnSpc>
                <a:spcPct val="150000"/>
              </a:lnSpc>
            </a:pPr>
            <a:r>
              <a:rPr lang="en-US" sz="1800" dirty="0" smtClean="0">
                <a:latin typeface="Times New Roman" pitchFamily="18" charset="0"/>
                <a:cs typeface="Times New Roman" pitchFamily="18" charset="0"/>
              </a:rPr>
              <a:t>Easily implemented, by managing a simple queue or by storing time the process was received. Fair to all processes. </a:t>
            </a:r>
          </a:p>
          <a:p>
            <a:pPr algn="just">
              <a:lnSpc>
                <a:spcPct val="150000"/>
              </a:lnSpc>
            </a:pPr>
            <a:r>
              <a:rPr lang="en-US" sz="1800" b="1" dirty="0" smtClean="0">
                <a:latin typeface="Times New Roman" pitchFamily="18" charset="0"/>
                <a:cs typeface="Times New Roman" pitchFamily="18" charset="0"/>
              </a:rPr>
              <a:t>Problems:</a:t>
            </a:r>
            <a:r>
              <a:rPr lang="en-US" sz="1800" dirty="0" smtClean="0">
                <a:latin typeface="Times New Roman" pitchFamily="18" charset="0"/>
                <a:cs typeface="Times New Roman" pitchFamily="18" charset="0"/>
              </a:rPr>
              <a:t> No guarantee of good response time., Large average waiting time., Not applicable for interactive system.</a:t>
            </a:r>
          </a:p>
          <a:p>
            <a:pPr algn="just">
              <a:lnSpc>
                <a:spcPct val="150000"/>
              </a:lnSpc>
            </a:pPr>
            <a:r>
              <a:rPr lang="en-US" sz="2000" dirty="0" smtClean="0">
                <a:latin typeface="Times New Roman" pitchFamily="18" charset="0"/>
                <a:cs typeface="Times New Roman" pitchFamily="18" charset="0"/>
              </a:rPr>
              <a:t>Consider the following set of process that arrives at time 0, with length of CPU burst given in milliseconds</a:t>
            </a:r>
            <a:endParaRPr lang="en-US" sz="2000"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3853544" y="5108785"/>
          <a:ext cx="5538652" cy="1463040"/>
        </p:xfrm>
        <a:graphic>
          <a:graphicData uri="http://schemas.openxmlformats.org/drawingml/2006/table">
            <a:tbl>
              <a:tblPr firstRow="1" bandRow="1">
                <a:tableStyleId>{5C22544A-7EE6-4342-B048-85BDC9FD1C3A}</a:tableStyleId>
              </a:tblPr>
              <a:tblGrid>
                <a:gridCol w="2769326"/>
                <a:gridCol w="2769326"/>
              </a:tblGrid>
              <a:tr h="232168">
                <a:tc>
                  <a:txBody>
                    <a:bodyPr/>
                    <a:lstStyle/>
                    <a:p>
                      <a:r>
                        <a:rPr lang="en-US" dirty="0" smtClean="0"/>
                        <a:t>Process</a:t>
                      </a:r>
                      <a:endParaRPr lang="en-US" dirty="0"/>
                    </a:p>
                  </a:txBody>
                  <a:tcPr/>
                </a:tc>
                <a:tc>
                  <a:txBody>
                    <a:bodyPr/>
                    <a:lstStyle/>
                    <a:p>
                      <a:r>
                        <a:rPr lang="en-US" dirty="0" smtClean="0"/>
                        <a:t>CPU </a:t>
                      </a:r>
                      <a:r>
                        <a:rPr lang="en-US" baseline="0" dirty="0" smtClean="0"/>
                        <a:t>Burst  time</a:t>
                      </a:r>
                      <a:endParaRPr lang="en-US" dirty="0"/>
                    </a:p>
                  </a:txBody>
                  <a:tcPr/>
                </a:tc>
              </a:tr>
              <a:tr h="232168">
                <a:tc>
                  <a:txBody>
                    <a:bodyPr/>
                    <a:lstStyle/>
                    <a:p>
                      <a:r>
                        <a:rPr lang="en-US" dirty="0" smtClean="0"/>
                        <a:t>p1</a:t>
                      </a:r>
                      <a:endParaRPr lang="en-US" dirty="0"/>
                    </a:p>
                  </a:txBody>
                  <a:tcPr/>
                </a:tc>
                <a:tc>
                  <a:txBody>
                    <a:bodyPr/>
                    <a:lstStyle/>
                    <a:p>
                      <a:r>
                        <a:rPr lang="en-US" dirty="0" smtClean="0"/>
                        <a:t>24</a:t>
                      </a:r>
                      <a:endParaRPr lang="en-US" dirty="0"/>
                    </a:p>
                  </a:txBody>
                  <a:tcPr/>
                </a:tc>
              </a:tr>
              <a:tr h="232168">
                <a:tc>
                  <a:txBody>
                    <a:bodyPr/>
                    <a:lstStyle/>
                    <a:p>
                      <a:r>
                        <a:rPr lang="en-US" dirty="0" smtClean="0"/>
                        <a:t>p2</a:t>
                      </a:r>
                      <a:endParaRPr lang="en-US" dirty="0"/>
                    </a:p>
                  </a:txBody>
                  <a:tcPr/>
                </a:tc>
                <a:tc>
                  <a:txBody>
                    <a:bodyPr/>
                    <a:lstStyle/>
                    <a:p>
                      <a:r>
                        <a:rPr lang="en-US" dirty="0" smtClean="0"/>
                        <a:t>3</a:t>
                      </a:r>
                      <a:endParaRPr lang="en-US" dirty="0"/>
                    </a:p>
                  </a:txBody>
                  <a:tcPr/>
                </a:tc>
              </a:tr>
              <a:tr h="232168">
                <a:tc>
                  <a:txBody>
                    <a:bodyPr/>
                    <a:lstStyle/>
                    <a:p>
                      <a:r>
                        <a:rPr lang="en-US" dirty="0" smtClean="0"/>
                        <a:t>p3</a:t>
                      </a:r>
                      <a:endParaRPr lang="en-US" dirty="0"/>
                    </a:p>
                  </a:txBody>
                  <a:tcPr/>
                </a:tc>
                <a:tc>
                  <a:txBody>
                    <a:bodyPr/>
                    <a:lstStyle/>
                    <a:p>
                      <a:r>
                        <a:rPr lang="en-US" dirty="0" smtClean="0"/>
                        <a:t>3</a:t>
                      </a:r>
                      <a:endParaRPr lang="en-US" dirty="0"/>
                    </a:p>
                  </a:txBody>
                  <a:tcPr/>
                </a:tc>
              </a:tr>
            </a:tbl>
          </a:graphicData>
        </a:graphic>
      </p:graphicFrame>
    </p:spTree>
    <p:extLst>
      <p:ext uri="{BB962C8B-B14F-4D97-AF65-F5344CB8AC3E}">
        <p14:creationId xmlns:p14="http://schemas.microsoft.com/office/powerpoint/2010/main" val="30629108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7383"/>
            <a:ext cx="10515600" cy="5889580"/>
          </a:xfrm>
        </p:spPr>
        <p:txBody>
          <a:bodyPr>
            <a:normAutofit fontScale="92500" lnSpcReduction="20000"/>
          </a:bodyPr>
          <a:lstStyle/>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Case-1: When p1, p2, p3 arrive in order p1</a:t>
            </a:r>
            <a:r>
              <a:rPr lang="en-US" dirty="0" smtClean="0">
                <a:latin typeface="Times New Roman" pitchFamily="18" charset="0"/>
                <a:cs typeface="Times New Roman" pitchFamily="18" charset="0"/>
                <a:sym typeface="Wingdings" pitchFamily="2" charset="2"/>
              </a:rPr>
              <a:t> p2p3.</a:t>
            </a:r>
          </a:p>
          <a:p>
            <a:pPr>
              <a:buNone/>
            </a:pPr>
            <a:r>
              <a:rPr lang="en-US" dirty="0" smtClean="0">
                <a:latin typeface="Times New Roman" pitchFamily="18" charset="0"/>
                <a:cs typeface="Times New Roman" pitchFamily="18" charset="0"/>
                <a:sym typeface="Wingdings" pitchFamily="2" charset="2"/>
              </a:rPr>
              <a:t>Gantt chart:</a:t>
            </a: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r>
              <a:rPr lang="en-US" b="1" i="1" dirty="0" smtClean="0">
                <a:solidFill>
                  <a:srgbClr val="FF0000"/>
                </a:solidFill>
                <a:latin typeface="Times New Roman" pitchFamily="18" charset="0"/>
                <a:cs typeface="Times New Roman" pitchFamily="18" charset="0"/>
              </a:rPr>
              <a:t> </a:t>
            </a:r>
            <a:r>
              <a:rPr lang="en-US" b="1" i="1" dirty="0" smtClean="0">
                <a:solidFill>
                  <a:srgbClr val="FF0000"/>
                </a:solidFill>
              </a:rPr>
              <a:t>Turn Around Time = Completion Time - Arrival Time   </a:t>
            </a:r>
          </a:p>
          <a:p>
            <a:r>
              <a:rPr lang="en-US" b="1" i="1" dirty="0" smtClean="0">
                <a:solidFill>
                  <a:srgbClr val="FF0000"/>
                </a:solidFill>
              </a:rPr>
              <a:t>    Waiting Time = Turnaround time - Burst Time   </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waiting time for P1=0</a:t>
            </a:r>
          </a:p>
          <a:p>
            <a:pPr>
              <a:buNone/>
            </a:pPr>
            <a:r>
              <a:rPr lang="en-US" dirty="0" smtClean="0">
                <a:latin typeface="Times New Roman" pitchFamily="18" charset="0"/>
                <a:cs typeface="Times New Roman" pitchFamily="18" charset="0"/>
              </a:rPr>
              <a:t>     waiting time for p2=24</a:t>
            </a:r>
          </a:p>
          <a:p>
            <a:pPr>
              <a:buNone/>
            </a:pPr>
            <a:r>
              <a:rPr lang="en-US" dirty="0" smtClean="0">
                <a:latin typeface="Times New Roman" pitchFamily="18" charset="0"/>
                <a:cs typeface="Times New Roman" pitchFamily="18" charset="0"/>
              </a:rPr>
              <a:t>      waiting time for p3=27</a:t>
            </a:r>
          </a:p>
          <a:p>
            <a:pPr>
              <a:buNone/>
            </a:pPr>
            <a:r>
              <a:rPr lang="en-US" dirty="0" smtClean="0">
                <a:latin typeface="Times New Roman" pitchFamily="18" charset="0"/>
                <a:cs typeface="Times New Roman" pitchFamily="18" charset="0"/>
              </a:rPr>
              <a:t>      AWT= (0+24+27)/3= 17 ms</a:t>
            </a:r>
          </a:p>
          <a:p>
            <a:pPr>
              <a:buNone/>
            </a:pPr>
            <a:r>
              <a:rPr lang="en-US" dirty="0" smtClean="0">
                <a:latin typeface="Times New Roman" pitchFamily="18" charset="0"/>
                <a:cs typeface="Times New Roman" pitchFamily="18" charset="0"/>
              </a:rPr>
              <a:t>      ATAT=(24+27+30)/3=27 ms</a:t>
            </a:r>
            <a:endParaRPr lang="en-US" dirty="0">
              <a:latin typeface="Times New Roman" pitchFamily="18" charset="0"/>
              <a:cs typeface="Times New Roman" pitchFamily="18" charset="0"/>
            </a:endParaRPr>
          </a:p>
        </p:txBody>
      </p:sp>
      <p:sp>
        <p:nvSpPr>
          <p:cNvPr id="4" name="Rectangle 3"/>
          <p:cNvSpPr/>
          <p:nvPr/>
        </p:nvSpPr>
        <p:spPr>
          <a:xfrm>
            <a:off x="1698172" y="1685109"/>
            <a:ext cx="4807132" cy="535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P1</a:t>
            </a:r>
            <a:endParaRPr lang="en-US" dirty="0"/>
          </a:p>
        </p:txBody>
      </p:sp>
      <p:sp>
        <p:nvSpPr>
          <p:cNvPr id="5" name="Rectangle 4"/>
          <p:cNvSpPr/>
          <p:nvPr/>
        </p:nvSpPr>
        <p:spPr>
          <a:xfrm>
            <a:off x="6514012" y="1680754"/>
            <a:ext cx="2420982" cy="535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530046" y="1689462"/>
            <a:ext cx="1933303" cy="535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P3</a:t>
            </a:r>
            <a:endParaRPr lang="en-US" dirty="0"/>
          </a:p>
        </p:txBody>
      </p:sp>
      <p:sp>
        <p:nvSpPr>
          <p:cNvPr id="7" name="TextBox 6"/>
          <p:cNvSpPr txBox="1"/>
          <p:nvPr/>
        </p:nvSpPr>
        <p:spPr>
          <a:xfrm>
            <a:off x="1711234" y="1345473"/>
            <a:ext cx="301686" cy="369332"/>
          </a:xfrm>
          <a:prstGeom prst="rect">
            <a:avLst/>
          </a:prstGeom>
          <a:noFill/>
        </p:spPr>
        <p:txBody>
          <a:bodyPr wrap="none" rtlCol="0">
            <a:spAutoFit/>
          </a:bodyPr>
          <a:lstStyle/>
          <a:p>
            <a:r>
              <a:rPr lang="en-US" dirty="0" smtClean="0"/>
              <a:t>0</a:t>
            </a:r>
            <a:endParaRPr lang="en-US" dirty="0"/>
          </a:p>
        </p:txBody>
      </p:sp>
      <p:sp>
        <p:nvSpPr>
          <p:cNvPr id="8" name="Rectangle 7"/>
          <p:cNvSpPr/>
          <p:nvPr/>
        </p:nvSpPr>
        <p:spPr>
          <a:xfrm>
            <a:off x="6514012" y="1693817"/>
            <a:ext cx="2198914" cy="535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P2</a:t>
            </a:r>
            <a:endParaRPr lang="en-US" dirty="0"/>
          </a:p>
        </p:txBody>
      </p:sp>
      <p:sp>
        <p:nvSpPr>
          <p:cNvPr id="9" name="TextBox 8"/>
          <p:cNvSpPr txBox="1"/>
          <p:nvPr/>
        </p:nvSpPr>
        <p:spPr>
          <a:xfrm>
            <a:off x="6426926" y="1319347"/>
            <a:ext cx="418704" cy="369332"/>
          </a:xfrm>
          <a:prstGeom prst="rect">
            <a:avLst/>
          </a:prstGeom>
          <a:noFill/>
        </p:spPr>
        <p:txBody>
          <a:bodyPr wrap="none" rtlCol="0">
            <a:spAutoFit/>
          </a:bodyPr>
          <a:lstStyle/>
          <a:p>
            <a:r>
              <a:rPr lang="en-US" dirty="0" smtClean="0"/>
              <a:t>24</a:t>
            </a:r>
            <a:endParaRPr lang="en-US" dirty="0"/>
          </a:p>
        </p:txBody>
      </p:sp>
      <p:sp>
        <p:nvSpPr>
          <p:cNvPr id="12" name="TextBox 11"/>
          <p:cNvSpPr txBox="1"/>
          <p:nvPr/>
        </p:nvSpPr>
        <p:spPr>
          <a:xfrm>
            <a:off x="8538776" y="1314991"/>
            <a:ext cx="418704" cy="369332"/>
          </a:xfrm>
          <a:prstGeom prst="rect">
            <a:avLst/>
          </a:prstGeom>
          <a:noFill/>
        </p:spPr>
        <p:txBody>
          <a:bodyPr wrap="none" rtlCol="0">
            <a:spAutoFit/>
          </a:bodyPr>
          <a:lstStyle/>
          <a:p>
            <a:r>
              <a:rPr lang="en-US" dirty="0" smtClean="0"/>
              <a:t>27</a:t>
            </a:r>
            <a:endParaRPr lang="en-US" dirty="0"/>
          </a:p>
        </p:txBody>
      </p:sp>
      <p:sp>
        <p:nvSpPr>
          <p:cNvPr id="13" name="TextBox 12"/>
          <p:cNvSpPr txBox="1"/>
          <p:nvPr/>
        </p:nvSpPr>
        <p:spPr>
          <a:xfrm>
            <a:off x="10132462" y="1341117"/>
            <a:ext cx="418704" cy="369332"/>
          </a:xfrm>
          <a:prstGeom prst="rect">
            <a:avLst/>
          </a:prstGeom>
          <a:noFill/>
        </p:spPr>
        <p:txBody>
          <a:bodyPr wrap="none" rtlCol="0">
            <a:spAutoFit/>
          </a:bodyPr>
          <a:lstStyle/>
          <a:p>
            <a:r>
              <a:rPr lang="en-US" dirty="0" smtClean="0"/>
              <a:t>30</a:t>
            </a:r>
            <a:endParaRPr lang="en-US" dirty="0"/>
          </a:p>
        </p:txBody>
      </p:sp>
    </p:spTree>
    <p:extLst>
      <p:ext uri="{BB962C8B-B14F-4D97-AF65-F5344CB8AC3E}">
        <p14:creationId xmlns:p14="http://schemas.microsoft.com/office/powerpoint/2010/main" val="35053148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fontScale="90000"/>
          </a:bodyPr>
          <a:lstStyle/>
          <a:p>
            <a:pPr algn="ctr"/>
            <a:r>
              <a:rPr lang="en-US" b="1" dirty="0" smtClean="0">
                <a:latin typeface="Times New Roman" pitchFamily="18" charset="0"/>
                <a:cs typeface="Times New Roman" pitchFamily="18" charset="0"/>
              </a:rPr>
              <a:t>Shortest Job First (SJF)</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018903"/>
            <a:ext cx="10515600" cy="5158060"/>
          </a:xfrm>
        </p:spPr>
        <p:txBody>
          <a:bodyPr>
            <a:normAutofit fontScale="62500" lnSpcReduction="20000"/>
          </a:bodyPr>
          <a:lstStyle/>
          <a:p>
            <a:pPr algn="just">
              <a:lnSpc>
                <a:spcPct val="160000"/>
              </a:lnSpc>
            </a:pPr>
            <a:r>
              <a:rPr lang="en-US" dirty="0" smtClean="0">
                <a:latin typeface="Times New Roman" pitchFamily="18" charset="0"/>
                <a:cs typeface="Times New Roman" pitchFamily="18" charset="0"/>
              </a:rPr>
              <a:t>SJF selects the process with shortest expected processing time.  The processing times are known in advanced. </a:t>
            </a:r>
          </a:p>
          <a:p>
            <a:pPr algn="just">
              <a:lnSpc>
                <a:spcPct val="160000"/>
              </a:lnSpc>
            </a:pPr>
            <a:r>
              <a:rPr lang="en-US" dirty="0" smtClean="0">
                <a:latin typeface="Times New Roman" pitchFamily="18" charset="0"/>
                <a:cs typeface="Times New Roman" pitchFamily="18" charset="0"/>
              </a:rPr>
              <a:t>The decision policies are based on the CPU burst time.</a:t>
            </a:r>
          </a:p>
          <a:p>
            <a:pPr algn="just">
              <a:lnSpc>
                <a:spcPct val="160000"/>
              </a:lnSpc>
              <a:buNone/>
            </a:pPr>
            <a:r>
              <a:rPr lang="en-US" b="1" dirty="0" smtClean="0">
                <a:latin typeface="Times New Roman" pitchFamily="18" charset="0"/>
                <a:cs typeface="Times New Roman" pitchFamily="18" charset="0"/>
              </a:rPr>
              <a:t>Advantages:</a:t>
            </a:r>
          </a:p>
          <a:p>
            <a:pPr algn="just">
              <a:lnSpc>
                <a:spcPct val="160000"/>
              </a:lnSpc>
            </a:pPr>
            <a:r>
              <a:rPr lang="en-US" dirty="0" smtClean="0">
                <a:latin typeface="Times New Roman" pitchFamily="18" charset="0"/>
                <a:cs typeface="Times New Roman" pitchFamily="18" charset="0"/>
              </a:rPr>
              <a:t> Reduces the average waiting time over FCFS. </a:t>
            </a:r>
          </a:p>
          <a:p>
            <a:pPr algn="just">
              <a:lnSpc>
                <a:spcPct val="160000"/>
              </a:lnSpc>
            </a:pPr>
            <a:r>
              <a:rPr lang="en-US" dirty="0" smtClean="0">
                <a:latin typeface="Times New Roman" pitchFamily="18" charset="0"/>
                <a:cs typeface="Times New Roman" pitchFamily="18" charset="0"/>
              </a:rPr>
              <a:t>Favors shorts jobs at the cost of long jobs. </a:t>
            </a:r>
          </a:p>
          <a:p>
            <a:pPr algn="just">
              <a:lnSpc>
                <a:spcPct val="160000"/>
              </a:lnSpc>
              <a:buNone/>
            </a:pPr>
            <a:r>
              <a:rPr lang="en-US" b="1" dirty="0" smtClean="0">
                <a:latin typeface="Times New Roman" pitchFamily="18" charset="0"/>
                <a:cs typeface="Times New Roman" pitchFamily="18" charset="0"/>
              </a:rPr>
              <a:t>Problems:</a:t>
            </a:r>
          </a:p>
          <a:p>
            <a:pPr algn="just">
              <a:lnSpc>
                <a:spcPct val="160000"/>
              </a:lnSpc>
            </a:pPr>
            <a:r>
              <a:rPr lang="en-US" dirty="0" smtClean="0">
                <a:latin typeface="Times New Roman" pitchFamily="18" charset="0"/>
                <a:cs typeface="Times New Roman" pitchFamily="18" charset="0"/>
              </a:rPr>
              <a:t> Estimation of run time to completion. Accuracy?</a:t>
            </a:r>
          </a:p>
          <a:p>
            <a:pPr algn="just">
              <a:lnSpc>
                <a:spcPct val="160000"/>
              </a:lnSpc>
            </a:pPr>
            <a:r>
              <a:rPr lang="en-US" dirty="0" smtClean="0">
                <a:latin typeface="Times New Roman" pitchFamily="18" charset="0"/>
                <a:cs typeface="Times New Roman" pitchFamily="18" charset="0"/>
              </a:rPr>
              <a:t> Not applicable in timesharing system. </a:t>
            </a:r>
          </a:p>
          <a:p>
            <a:pPr algn="just">
              <a:lnSpc>
                <a:spcPct val="160000"/>
              </a:lnSpc>
            </a:pPr>
            <a:r>
              <a:rPr lang="en-US" dirty="0" smtClean="0">
                <a:latin typeface="Times New Roman" pitchFamily="18" charset="0"/>
                <a:cs typeface="Times New Roman" pitchFamily="18" charset="0"/>
              </a:rPr>
              <a:t>Optimal for minimizing queuing time, but impossible to implement. Tries to predict the process to schedule based on previous history.</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0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5760"/>
            <a:ext cx="10515600" cy="5811203"/>
          </a:xfrm>
        </p:spPr>
        <p:txBody>
          <a:bodyPr>
            <a:normAutofit/>
          </a:bodyPr>
          <a:lstStyle/>
          <a:p>
            <a:pPr>
              <a:lnSpc>
                <a:spcPct val="150000"/>
              </a:lnSpc>
              <a:buNone/>
            </a:pPr>
            <a:r>
              <a:rPr lang="en-US" sz="2400" b="1" dirty="0" smtClean="0">
                <a:latin typeface="Times New Roman" pitchFamily="18" charset="0"/>
                <a:cs typeface="Times New Roman" pitchFamily="18" charset="0"/>
              </a:rPr>
              <a:t>Example:</a:t>
            </a:r>
          </a:p>
          <a:p>
            <a:pPr>
              <a:lnSpc>
                <a:spcPct val="150000"/>
              </a:lnSpc>
              <a:buNone/>
            </a:pPr>
            <a:r>
              <a:rPr lang="en-US" sz="2400" dirty="0" smtClean="0">
                <a:latin typeface="Times New Roman" pitchFamily="18" charset="0"/>
                <a:cs typeface="Times New Roman" pitchFamily="18" charset="0"/>
              </a:rPr>
              <a:t>Consider the process P1,P2,P3 and P4 given in the table below, arrives for execution in same order , with arrival time 0 and given burst time , lets find average waiting time and turn around time  using SJF scheduling algorithm.</a:t>
            </a:r>
          </a:p>
          <a:p>
            <a:pPr>
              <a:lnSpc>
                <a:spcPct val="150000"/>
              </a:lnSpc>
            </a:pPr>
            <a:endParaRPr lang="en-US" sz="2400" dirty="0" smtClean="0">
              <a:latin typeface="Times New Roman" pitchFamily="18" charset="0"/>
              <a:cs typeface="Times New Roman" pitchFamily="18" charset="0"/>
            </a:endParaRPr>
          </a:p>
          <a:p>
            <a:pPr>
              <a:lnSpc>
                <a:spcPct val="150000"/>
              </a:lnSpc>
            </a:pPr>
            <a:endParaRPr lang="en-US" sz="2400" dirty="0" smtClean="0">
              <a:latin typeface="Times New Roman" pitchFamily="18" charset="0"/>
              <a:cs typeface="Times New Roman" pitchFamily="18" charset="0"/>
            </a:endParaRPr>
          </a:p>
          <a:p>
            <a:pPr>
              <a:lnSpc>
                <a:spcPct val="150000"/>
              </a:lnSpc>
            </a:pPr>
            <a:endParaRPr lang="en-US" sz="2400" dirty="0" smtClean="0">
              <a:latin typeface="Times New Roman" pitchFamily="18" charset="0"/>
              <a:cs typeface="Times New Roman" pitchFamily="18" charset="0"/>
            </a:endParaRPr>
          </a:p>
          <a:p>
            <a:pPr>
              <a:lnSpc>
                <a:spcPct val="150000"/>
              </a:lnSpc>
              <a:buNone/>
            </a:pPr>
            <a:r>
              <a:rPr lang="en-US" sz="2400" dirty="0" smtClean="0">
                <a:latin typeface="Times New Roman" pitchFamily="18" charset="0"/>
                <a:cs typeface="Times New Roman" pitchFamily="18" charset="0"/>
              </a:rPr>
              <a:t>Gantt Chart:</a:t>
            </a:r>
          </a:p>
          <a:p>
            <a:pPr>
              <a:lnSpc>
                <a:spcPct val="150000"/>
              </a:lnSpc>
              <a:buNone/>
            </a:pPr>
            <a:endParaRPr lang="en-US" sz="2400" dirty="0" smtClean="0">
              <a:latin typeface="Times New Roman" pitchFamily="18" charset="0"/>
              <a:cs typeface="Times New Roman" pitchFamily="18" charset="0"/>
            </a:endParaRPr>
          </a:p>
        </p:txBody>
      </p:sp>
      <p:sp>
        <p:nvSpPr>
          <p:cNvPr id="5" name="TextBox 4"/>
          <p:cNvSpPr txBox="1"/>
          <p:nvPr/>
        </p:nvSpPr>
        <p:spPr>
          <a:xfrm>
            <a:off x="3252650" y="2821577"/>
            <a:ext cx="4284619" cy="1938992"/>
          </a:xfrm>
          <a:prstGeom prst="rect">
            <a:avLst/>
          </a:prstGeom>
          <a:noFill/>
        </p:spPr>
        <p:txBody>
          <a:bodyPr wrap="square" rtlCol="0">
            <a:spAutoFit/>
          </a:bodyPr>
          <a:lstStyle/>
          <a:p>
            <a:r>
              <a:rPr lang="en-US" sz="2400" dirty="0" smtClean="0">
                <a:latin typeface="Times New Roman" pitchFamily="18" charset="0"/>
                <a:cs typeface="Times New Roman" pitchFamily="18" charset="0"/>
              </a:rPr>
              <a:t>Process	Burst Time</a:t>
            </a:r>
          </a:p>
          <a:p>
            <a:r>
              <a:rPr lang="en-US" sz="2400" dirty="0" smtClean="0">
                <a:latin typeface="Times New Roman" pitchFamily="18" charset="0"/>
                <a:cs typeface="Times New Roman" pitchFamily="18" charset="0"/>
              </a:rPr>
              <a:t>    p1		    21</a:t>
            </a:r>
          </a:p>
          <a:p>
            <a:r>
              <a:rPr lang="en-US" sz="2400" dirty="0" smtClean="0">
                <a:latin typeface="Times New Roman" pitchFamily="18" charset="0"/>
                <a:cs typeface="Times New Roman" pitchFamily="18" charset="0"/>
              </a:rPr>
              <a:t>     p2		     3</a:t>
            </a:r>
          </a:p>
          <a:p>
            <a:r>
              <a:rPr lang="en-US" sz="2400" dirty="0" smtClean="0">
                <a:latin typeface="Times New Roman" pitchFamily="18" charset="0"/>
                <a:cs typeface="Times New Roman" pitchFamily="18" charset="0"/>
              </a:rPr>
              <a:t>     p3		     6</a:t>
            </a:r>
          </a:p>
          <a:p>
            <a:r>
              <a:rPr lang="en-US" sz="2400" dirty="0" smtClean="0">
                <a:latin typeface="Times New Roman" pitchFamily="18" charset="0"/>
                <a:cs typeface="Times New Roman" pitchFamily="18" charset="0"/>
              </a:rPr>
              <a:t>     p4	                  2	</a:t>
            </a:r>
            <a:endParaRPr lang="en-US" sz="2400" dirty="0">
              <a:latin typeface="Times New Roman" pitchFamily="18" charset="0"/>
              <a:cs typeface="Times New Roman" pitchFamily="18" charset="0"/>
            </a:endParaRPr>
          </a:p>
        </p:txBody>
      </p:sp>
      <p:pic>
        <p:nvPicPr>
          <p:cNvPr id="10" name="Picture 9" descr="s1.PNG"/>
          <p:cNvPicPr>
            <a:picLocks noChangeAspect="1"/>
          </p:cNvPicPr>
          <p:nvPr/>
        </p:nvPicPr>
        <p:blipFill>
          <a:blip r:embed="rId2"/>
          <a:stretch>
            <a:fillRect/>
          </a:stretch>
        </p:blipFill>
        <p:spPr>
          <a:xfrm>
            <a:off x="2474398" y="5442012"/>
            <a:ext cx="6668431" cy="781159"/>
          </a:xfrm>
          <a:prstGeom prst="rect">
            <a:avLst/>
          </a:prstGeom>
        </p:spPr>
      </p:pic>
    </p:spTree>
    <p:extLst>
      <p:ext uri="{BB962C8B-B14F-4D97-AF65-F5344CB8AC3E}">
        <p14:creationId xmlns:p14="http://schemas.microsoft.com/office/powerpoint/2010/main" val="3539788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Average Waiting time =(11+2+5+0)/4</a:t>
            </a:r>
          </a:p>
          <a:p>
            <a:pPr>
              <a:buNone/>
            </a:pPr>
            <a:r>
              <a:rPr lang="en-US" dirty="0" smtClean="0"/>
              <a:t>                                       =4.5ms</a:t>
            </a:r>
          </a:p>
          <a:p>
            <a:pPr>
              <a:buNone/>
            </a:pPr>
            <a:r>
              <a:rPr lang="en-US" dirty="0" smtClean="0"/>
              <a:t>Average Turnaround time= (32+5+11+2)/4</a:t>
            </a:r>
          </a:p>
          <a:p>
            <a:pPr>
              <a:buNone/>
            </a:pPr>
            <a:r>
              <a:rPr lang="en-US" dirty="0" smtClean="0"/>
              <a:t>                                             =12.5 ms</a:t>
            </a:r>
            <a:endParaRPr lang="en-US" dirty="0"/>
          </a:p>
        </p:txBody>
      </p:sp>
      <p:graphicFrame>
        <p:nvGraphicFramePr>
          <p:cNvPr id="5" name="Table 4"/>
          <p:cNvGraphicFramePr>
            <a:graphicFrameLocks noGrp="1"/>
          </p:cNvGraphicFramePr>
          <p:nvPr/>
        </p:nvGraphicFramePr>
        <p:xfrm>
          <a:off x="1084215" y="719666"/>
          <a:ext cx="9601201" cy="1854200"/>
        </p:xfrm>
        <a:graphic>
          <a:graphicData uri="http://schemas.openxmlformats.org/drawingml/2006/table">
            <a:tbl>
              <a:tblPr firstRow="1" bandRow="1">
                <a:tableStyleId>{5C22544A-7EE6-4342-B048-85BDC9FD1C3A}</a:tableStyleId>
              </a:tblPr>
              <a:tblGrid>
                <a:gridCol w="1600200"/>
                <a:gridCol w="1600200"/>
                <a:gridCol w="1280162"/>
                <a:gridCol w="1802674"/>
                <a:gridCol w="1854926"/>
                <a:gridCol w="1463039"/>
              </a:tblGrid>
              <a:tr h="370840">
                <a:tc>
                  <a:txBody>
                    <a:bodyPr/>
                    <a:lstStyle/>
                    <a:p>
                      <a:r>
                        <a:rPr lang="en-US" dirty="0" smtClean="0"/>
                        <a:t>Process</a:t>
                      </a:r>
                      <a:endParaRPr lang="en-US" dirty="0"/>
                    </a:p>
                  </a:txBody>
                  <a:tcPr/>
                </a:tc>
                <a:tc>
                  <a:txBody>
                    <a:bodyPr/>
                    <a:lstStyle/>
                    <a:p>
                      <a:r>
                        <a:rPr lang="en-US" dirty="0" smtClean="0"/>
                        <a:t>Arrival time</a:t>
                      </a:r>
                      <a:endParaRPr lang="en-US" dirty="0"/>
                    </a:p>
                  </a:txBody>
                  <a:tcPr/>
                </a:tc>
                <a:tc>
                  <a:txBody>
                    <a:bodyPr/>
                    <a:lstStyle/>
                    <a:p>
                      <a:r>
                        <a:rPr lang="en-US" dirty="0" smtClean="0"/>
                        <a:t>Burst Time</a:t>
                      </a:r>
                      <a:endParaRPr lang="en-US" dirty="0"/>
                    </a:p>
                  </a:txBody>
                  <a:tcPr/>
                </a:tc>
                <a:tc>
                  <a:txBody>
                    <a:bodyPr/>
                    <a:lstStyle/>
                    <a:p>
                      <a:r>
                        <a:rPr lang="en-US" dirty="0" smtClean="0"/>
                        <a:t>Completion time</a:t>
                      </a:r>
                      <a:endParaRPr lang="en-US" dirty="0"/>
                    </a:p>
                  </a:txBody>
                  <a:tcPr/>
                </a:tc>
                <a:tc>
                  <a:txBody>
                    <a:bodyPr/>
                    <a:lstStyle/>
                    <a:p>
                      <a:r>
                        <a:rPr lang="en-US" dirty="0" smtClean="0"/>
                        <a:t>Turnaround</a:t>
                      </a:r>
                      <a:r>
                        <a:rPr lang="en-US" baseline="0" dirty="0" smtClean="0"/>
                        <a:t> time</a:t>
                      </a:r>
                      <a:endParaRPr lang="en-US" dirty="0"/>
                    </a:p>
                  </a:txBody>
                  <a:tcPr/>
                </a:tc>
                <a:tc>
                  <a:txBody>
                    <a:bodyPr/>
                    <a:lstStyle/>
                    <a:p>
                      <a:r>
                        <a:rPr lang="en-US" dirty="0" smtClean="0"/>
                        <a:t>Waiting time</a:t>
                      </a:r>
                      <a:endParaRPr lang="en-US" dirty="0"/>
                    </a:p>
                  </a:txBody>
                  <a:tcPr/>
                </a:tc>
              </a:tr>
              <a:tr h="370840">
                <a:tc>
                  <a:txBody>
                    <a:bodyPr/>
                    <a:lstStyle/>
                    <a:p>
                      <a:r>
                        <a:rPr lang="en-US" dirty="0" smtClean="0"/>
                        <a:t>P1</a:t>
                      </a:r>
                    </a:p>
                  </a:txBody>
                  <a:tcPr/>
                </a:tc>
                <a:tc>
                  <a:txBody>
                    <a:bodyPr/>
                    <a:lstStyle/>
                    <a:p>
                      <a:r>
                        <a:rPr lang="en-US" dirty="0" smtClean="0"/>
                        <a:t>0</a:t>
                      </a:r>
                      <a:endParaRPr lang="en-US" dirty="0"/>
                    </a:p>
                  </a:txBody>
                  <a:tcPr/>
                </a:tc>
                <a:tc>
                  <a:txBody>
                    <a:bodyPr/>
                    <a:lstStyle/>
                    <a:p>
                      <a:r>
                        <a:rPr lang="en-US" dirty="0" smtClean="0"/>
                        <a:t>21</a:t>
                      </a:r>
                      <a:endParaRPr lang="en-US" dirty="0"/>
                    </a:p>
                  </a:txBody>
                  <a:tcPr/>
                </a:tc>
                <a:tc>
                  <a:txBody>
                    <a:bodyPr/>
                    <a:lstStyle/>
                    <a:p>
                      <a:r>
                        <a:rPr lang="en-US" dirty="0" smtClean="0"/>
                        <a:t>32</a:t>
                      </a:r>
                      <a:endParaRPr lang="en-US" dirty="0"/>
                    </a:p>
                  </a:txBody>
                  <a:tcPr/>
                </a:tc>
                <a:tc>
                  <a:txBody>
                    <a:bodyPr/>
                    <a:lstStyle/>
                    <a:p>
                      <a:r>
                        <a:rPr lang="en-US" dirty="0" smtClean="0"/>
                        <a:t>32-0=32</a:t>
                      </a:r>
                      <a:endParaRPr lang="en-US" dirty="0"/>
                    </a:p>
                  </a:txBody>
                  <a:tcPr/>
                </a:tc>
                <a:tc>
                  <a:txBody>
                    <a:bodyPr/>
                    <a:lstStyle/>
                    <a:p>
                      <a:r>
                        <a:rPr lang="en-US" dirty="0" smtClean="0"/>
                        <a:t>32-21=11</a:t>
                      </a:r>
                      <a:endParaRPr lang="en-US" dirty="0"/>
                    </a:p>
                  </a:txBody>
                  <a:tcPr/>
                </a:tc>
              </a:tr>
              <a:tr h="370840">
                <a:tc>
                  <a:txBody>
                    <a:bodyPr/>
                    <a:lstStyle/>
                    <a:p>
                      <a:r>
                        <a:rPr lang="en-US" dirty="0" smtClean="0"/>
                        <a:t>P2</a:t>
                      </a:r>
                      <a:endParaRPr lang="en-US" dirty="0"/>
                    </a:p>
                  </a:txBody>
                  <a:tcPr/>
                </a:tc>
                <a:tc>
                  <a:txBody>
                    <a:bodyPr/>
                    <a:lstStyle/>
                    <a:p>
                      <a:r>
                        <a:rPr lang="en-US" dirty="0" smtClean="0"/>
                        <a:t>0</a:t>
                      </a:r>
                      <a:endParaRPr lang="en-US" dirty="0"/>
                    </a:p>
                  </a:txBody>
                  <a:tcPr/>
                </a:tc>
                <a:tc>
                  <a:txBody>
                    <a:bodyPr/>
                    <a:lstStyle/>
                    <a:p>
                      <a:r>
                        <a:rPr lang="en-US" dirty="0" smtClean="0"/>
                        <a:t>3</a:t>
                      </a:r>
                      <a:endParaRPr lang="en-US" dirty="0"/>
                    </a:p>
                  </a:txBody>
                  <a:tcPr/>
                </a:tc>
                <a:tc>
                  <a:txBody>
                    <a:bodyPr/>
                    <a:lstStyle/>
                    <a:p>
                      <a:r>
                        <a:rPr lang="en-US" dirty="0" smtClean="0"/>
                        <a:t>5</a:t>
                      </a:r>
                      <a:endParaRPr lang="en-US" dirty="0"/>
                    </a:p>
                  </a:txBody>
                  <a:tcPr/>
                </a:tc>
                <a:tc>
                  <a:txBody>
                    <a:bodyPr/>
                    <a:lstStyle/>
                    <a:p>
                      <a:r>
                        <a:rPr lang="en-US" dirty="0" smtClean="0"/>
                        <a:t>5-0=5</a:t>
                      </a:r>
                      <a:endParaRPr lang="en-US" dirty="0"/>
                    </a:p>
                  </a:txBody>
                  <a:tcPr/>
                </a:tc>
                <a:tc>
                  <a:txBody>
                    <a:bodyPr/>
                    <a:lstStyle/>
                    <a:p>
                      <a:r>
                        <a:rPr lang="en-US" dirty="0" smtClean="0"/>
                        <a:t>5-3=2</a:t>
                      </a:r>
                      <a:endParaRPr lang="en-US" dirty="0"/>
                    </a:p>
                  </a:txBody>
                  <a:tcPr/>
                </a:tc>
              </a:tr>
              <a:tr h="370840">
                <a:tc>
                  <a:txBody>
                    <a:bodyPr/>
                    <a:lstStyle/>
                    <a:p>
                      <a:r>
                        <a:rPr lang="en-US" dirty="0" smtClean="0"/>
                        <a:t>P3</a:t>
                      </a:r>
                      <a:endParaRPr lang="en-US" dirty="0"/>
                    </a:p>
                  </a:txBody>
                  <a:tcPr/>
                </a:tc>
                <a:tc>
                  <a:txBody>
                    <a:bodyPr/>
                    <a:lstStyle/>
                    <a:p>
                      <a:r>
                        <a:rPr lang="en-US" dirty="0" smtClean="0"/>
                        <a:t>0</a:t>
                      </a:r>
                      <a:endParaRPr lang="en-US" dirty="0"/>
                    </a:p>
                  </a:txBody>
                  <a:tcPr/>
                </a:tc>
                <a:tc>
                  <a:txBody>
                    <a:bodyPr/>
                    <a:lstStyle/>
                    <a:p>
                      <a:r>
                        <a:rPr lang="en-US" dirty="0" smtClean="0"/>
                        <a:t>6</a:t>
                      </a:r>
                      <a:endParaRPr lang="en-US" dirty="0"/>
                    </a:p>
                  </a:txBody>
                  <a:tcPr/>
                </a:tc>
                <a:tc>
                  <a:txBody>
                    <a:bodyPr/>
                    <a:lstStyle/>
                    <a:p>
                      <a:r>
                        <a:rPr lang="en-US" dirty="0" smtClean="0"/>
                        <a:t>11</a:t>
                      </a:r>
                      <a:endParaRPr lang="en-US" dirty="0"/>
                    </a:p>
                  </a:txBody>
                  <a:tcPr/>
                </a:tc>
                <a:tc>
                  <a:txBody>
                    <a:bodyPr/>
                    <a:lstStyle/>
                    <a:p>
                      <a:r>
                        <a:rPr lang="en-US" dirty="0" smtClean="0"/>
                        <a:t>11-0=11</a:t>
                      </a:r>
                      <a:endParaRPr lang="en-US" dirty="0"/>
                    </a:p>
                  </a:txBody>
                  <a:tcPr/>
                </a:tc>
                <a:tc>
                  <a:txBody>
                    <a:bodyPr/>
                    <a:lstStyle/>
                    <a:p>
                      <a:r>
                        <a:rPr lang="en-US" dirty="0" smtClean="0"/>
                        <a:t>11-6=5</a:t>
                      </a:r>
                      <a:endParaRPr lang="en-US" dirty="0"/>
                    </a:p>
                  </a:txBody>
                  <a:tcPr/>
                </a:tc>
              </a:tr>
              <a:tr h="370840">
                <a:tc>
                  <a:txBody>
                    <a:bodyPr/>
                    <a:lstStyle/>
                    <a:p>
                      <a:r>
                        <a:rPr lang="en-US" dirty="0" smtClean="0"/>
                        <a:t>p4</a:t>
                      </a:r>
                      <a:endParaRPr lang="en-US" dirty="0"/>
                    </a:p>
                  </a:txBody>
                  <a:tcPr/>
                </a:tc>
                <a:tc>
                  <a:txBody>
                    <a:bodyPr/>
                    <a:lstStyle/>
                    <a:p>
                      <a:r>
                        <a:rPr lang="en-US" dirty="0" smtClean="0"/>
                        <a:t>0</a:t>
                      </a:r>
                      <a:endParaRPr lang="en-US" dirty="0"/>
                    </a:p>
                  </a:txBody>
                  <a:tcPr/>
                </a:tc>
                <a:tc>
                  <a:txBody>
                    <a:bodyPr/>
                    <a:lstStyle/>
                    <a:p>
                      <a:r>
                        <a:rPr lang="en-US" dirty="0" smtClean="0"/>
                        <a:t>2</a:t>
                      </a:r>
                      <a:endParaRPr lang="en-US" dirty="0"/>
                    </a:p>
                  </a:txBody>
                  <a:tcPr/>
                </a:tc>
                <a:tc>
                  <a:txBody>
                    <a:bodyPr/>
                    <a:lstStyle/>
                    <a:p>
                      <a:r>
                        <a:rPr lang="en-US" dirty="0" smtClean="0"/>
                        <a:t>2</a:t>
                      </a:r>
                      <a:endParaRPr lang="en-US" dirty="0"/>
                    </a:p>
                  </a:txBody>
                  <a:tcPr/>
                </a:tc>
                <a:tc>
                  <a:txBody>
                    <a:bodyPr/>
                    <a:lstStyle/>
                    <a:p>
                      <a:r>
                        <a:rPr lang="en-US" dirty="0" smtClean="0"/>
                        <a:t>2-0=2</a:t>
                      </a:r>
                      <a:endParaRPr lang="en-US" dirty="0"/>
                    </a:p>
                  </a:txBody>
                  <a:tcPr/>
                </a:tc>
                <a:tc>
                  <a:txBody>
                    <a:bodyPr/>
                    <a:lstStyle/>
                    <a:p>
                      <a:r>
                        <a:rPr lang="en-US" dirty="0" smtClean="0"/>
                        <a:t>2-2=0</a:t>
                      </a:r>
                      <a:endParaRPr lang="en-US" dirty="0"/>
                    </a:p>
                  </a:txBody>
                  <a:tcPr/>
                </a:tc>
              </a:tr>
            </a:tbl>
          </a:graphicData>
        </a:graphic>
      </p:graphicFrame>
    </p:spTree>
    <p:extLst>
      <p:ext uri="{BB962C8B-B14F-4D97-AF65-F5344CB8AC3E}">
        <p14:creationId xmlns:p14="http://schemas.microsoft.com/office/powerpoint/2010/main" val="29848683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pPr algn="ctr"/>
            <a:r>
              <a:rPr lang="en-US" b="1" dirty="0" smtClean="0">
                <a:latin typeface="Times New Roman" pitchFamily="18" charset="0"/>
                <a:cs typeface="Times New Roman" pitchFamily="18" charset="0"/>
              </a:rPr>
              <a:t>Shortest-Remaining-Time-First (SRTF)</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49530"/>
            <a:ext cx="10515600" cy="5408023"/>
          </a:xfrm>
        </p:spPr>
        <p:txBody>
          <a:bodyPr>
            <a:noAutofit/>
          </a:bodyPr>
          <a:lstStyle/>
          <a:p>
            <a:pPr algn="just">
              <a:lnSpc>
                <a:spcPct val="100000"/>
              </a:lnSpc>
            </a:pPr>
            <a:r>
              <a:rPr lang="en-US" sz="2000" dirty="0" smtClean="0">
                <a:latin typeface="Times New Roman" pitchFamily="18" charset="0"/>
                <a:cs typeface="Times New Roman" pitchFamily="18" charset="0"/>
              </a:rPr>
              <a:t>This Algorithm is the </a:t>
            </a:r>
            <a:r>
              <a:rPr lang="en-US" sz="2000" b="1" dirty="0" smtClean="0">
                <a:latin typeface="Times New Roman" pitchFamily="18" charset="0"/>
                <a:cs typeface="Times New Roman" pitchFamily="18" charset="0"/>
              </a:rPr>
              <a:t>preemptive version</a:t>
            </a:r>
            <a:r>
              <a:rPr lang="en-US" sz="2000" dirty="0" smtClean="0">
                <a:latin typeface="Times New Roman" pitchFamily="18" charset="0"/>
                <a:cs typeface="Times New Roman" pitchFamily="18" charset="0"/>
              </a:rPr>
              <a:t> of </a:t>
            </a:r>
            <a:r>
              <a:rPr lang="en-US" sz="2000" b="1" dirty="0" smtClean="0">
                <a:latin typeface="Times New Roman" pitchFamily="18" charset="0"/>
                <a:cs typeface="Times New Roman" pitchFamily="18" charset="0"/>
              </a:rPr>
              <a:t>SJF scheduling</a:t>
            </a:r>
            <a:r>
              <a:rPr lang="en-US" sz="2000" dirty="0" smtClean="0">
                <a:latin typeface="Times New Roman" pitchFamily="18" charset="0"/>
                <a:cs typeface="Times New Roman" pitchFamily="18" charset="0"/>
              </a:rPr>
              <a:t>.</a:t>
            </a:r>
          </a:p>
          <a:p>
            <a:pPr algn="just">
              <a:lnSpc>
                <a:spcPct val="100000"/>
              </a:lnSpc>
            </a:pPr>
            <a:r>
              <a:rPr lang="en-US" sz="2000" dirty="0" smtClean="0">
                <a:latin typeface="Times New Roman" pitchFamily="18" charset="0"/>
                <a:cs typeface="Times New Roman" pitchFamily="18" charset="0"/>
              </a:rPr>
              <a:t>In this scheduling algorithm, the process with smallest amount of time remaining until completion is selected to execute.</a:t>
            </a:r>
          </a:p>
          <a:p>
            <a:pPr algn="just">
              <a:lnSpc>
                <a:spcPct val="100000"/>
              </a:lnSpc>
            </a:pPr>
            <a:r>
              <a:rPr lang="en-US" sz="2000" dirty="0" smtClean="0">
                <a:latin typeface="Times New Roman" pitchFamily="18" charset="0"/>
                <a:cs typeface="Times New Roman" pitchFamily="18" charset="0"/>
              </a:rPr>
              <a:t>At the arrival of every process, the short term scheduler schedules the process with the least remaining burst time among the list of available processes and the running process.</a:t>
            </a:r>
          </a:p>
          <a:p>
            <a:pPr algn="just">
              <a:lnSpc>
                <a:spcPct val="100000"/>
              </a:lnSpc>
              <a:buNone/>
            </a:pPr>
            <a:r>
              <a:rPr lang="en-US" sz="2000" b="1" dirty="0" smtClean="0">
                <a:latin typeface="Times New Roman" pitchFamily="18" charset="0"/>
                <a:cs typeface="Times New Roman" pitchFamily="18" charset="0"/>
              </a:rPr>
              <a:t>Merits:</a:t>
            </a:r>
          </a:p>
          <a:p>
            <a:pPr lvl="1" algn="just">
              <a:lnSpc>
                <a:spcPct val="100000"/>
              </a:lnSpc>
            </a:pPr>
            <a:r>
              <a:rPr lang="en-US" sz="2000" dirty="0" smtClean="0">
                <a:latin typeface="Times New Roman" pitchFamily="18" charset="0"/>
                <a:cs typeface="Times New Roman" pitchFamily="18" charset="0"/>
              </a:rPr>
              <a:t> Low average waiting time than SJF. </a:t>
            </a:r>
          </a:p>
          <a:p>
            <a:pPr lvl="1" algn="just">
              <a:lnSpc>
                <a:spcPct val="100000"/>
              </a:lnSpc>
            </a:pPr>
            <a:r>
              <a:rPr lang="en-US" sz="2000" dirty="0" smtClean="0">
                <a:latin typeface="Times New Roman" pitchFamily="18" charset="0"/>
                <a:cs typeface="Times New Roman" pitchFamily="18" charset="0"/>
              </a:rPr>
              <a:t>Useful in timesharing. </a:t>
            </a:r>
          </a:p>
          <a:p>
            <a:pPr algn="just">
              <a:lnSpc>
                <a:spcPct val="100000"/>
              </a:lnSpc>
              <a:buNone/>
            </a:pPr>
            <a:r>
              <a:rPr lang="en-US" sz="2000" b="1" dirty="0" smtClean="0">
                <a:latin typeface="Times New Roman" pitchFamily="18" charset="0"/>
                <a:cs typeface="Times New Roman" pitchFamily="18" charset="0"/>
              </a:rPr>
              <a:t>Demerits:</a:t>
            </a:r>
          </a:p>
          <a:p>
            <a:pPr lvl="1" algn="just">
              <a:lnSpc>
                <a:spcPct val="100000"/>
              </a:lnSpc>
            </a:pPr>
            <a:r>
              <a:rPr lang="en-US" sz="2000" dirty="0" smtClean="0">
                <a:latin typeface="Times New Roman" pitchFamily="18" charset="0"/>
                <a:cs typeface="Times New Roman" pitchFamily="18" charset="0"/>
              </a:rPr>
              <a:t> Very high overhead than SJF. </a:t>
            </a:r>
          </a:p>
          <a:p>
            <a:pPr lvl="1" algn="just">
              <a:lnSpc>
                <a:spcPct val="100000"/>
              </a:lnSpc>
            </a:pPr>
            <a:r>
              <a:rPr lang="en-US" sz="2000" dirty="0" smtClean="0">
                <a:latin typeface="Times New Roman" pitchFamily="18" charset="0"/>
                <a:cs typeface="Times New Roman" pitchFamily="18" charset="0"/>
              </a:rPr>
              <a:t>Requires additional computation. </a:t>
            </a:r>
          </a:p>
          <a:p>
            <a:pPr lvl="1" algn="just">
              <a:lnSpc>
                <a:spcPct val="100000"/>
              </a:lnSpc>
            </a:pPr>
            <a:r>
              <a:rPr lang="en-US" sz="2000" dirty="0" smtClean="0">
                <a:latin typeface="Times New Roman" pitchFamily="18" charset="0"/>
                <a:cs typeface="Times New Roman" pitchFamily="18" charset="0"/>
              </a:rPr>
              <a:t>Favors short jobs, longs jobs can be victims of starvation.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9398881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6571"/>
            <a:ext cx="10515600" cy="5850392"/>
          </a:xfrm>
        </p:spPr>
        <p:txBody>
          <a:bodyPr/>
          <a:lstStyle/>
          <a:p>
            <a:pPr algn="just">
              <a:buNone/>
            </a:pPr>
            <a:r>
              <a:rPr lang="en-US" dirty="0" smtClean="0">
                <a:latin typeface="Times New Roman" pitchFamily="18" charset="0"/>
                <a:cs typeface="Times New Roman" pitchFamily="18" charset="0"/>
              </a:rPr>
              <a:t>Example: There are six jobs P1, P2, P3, P4, P5 and P6. Their arrival time and burst time are given below in the table.</a:t>
            </a:r>
          </a:p>
          <a:p>
            <a:pPr algn="just">
              <a:buNone/>
            </a:pPr>
            <a:endParaRPr lang="en-US" dirty="0" smtClean="0">
              <a:latin typeface="Times New Roman" pitchFamily="18" charset="0"/>
              <a:cs typeface="Times New Roman" pitchFamily="18" charset="0"/>
            </a:endParaRPr>
          </a:p>
          <a:p>
            <a:pPr algn="just">
              <a:buNone/>
            </a:pPr>
            <a:endParaRPr lang="en-US" dirty="0" smtClean="0">
              <a:latin typeface="Times New Roman" pitchFamily="18" charset="0"/>
              <a:cs typeface="Times New Roman" pitchFamily="18" charset="0"/>
            </a:endParaRPr>
          </a:p>
          <a:p>
            <a:pPr algn="just">
              <a:buNone/>
            </a:pPr>
            <a:endParaRPr lang="en-US" dirty="0" smtClean="0">
              <a:latin typeface="Times New Roman" pitchFamily="18" charset="0"/>
              <a:cs typeface="Times New Roman" pitchFamily="18" charset="0"/>
            </a:endParaRPr>
          </a:p>
          <a:p>
            <a:pPr algn="just">
              <a:buNone/>
            </a:pPr>
            <a:endParaRPr lang="en-US" dirty="0" smtClean="0">
              <a:latin typeface="Times New Roman" pitchFamily="18" charset="0"/>
              <a:cs typeface="Times New Roman" pitchFamily="18" charset="0"/>
            </a:endParaRPr>
          </a:p>
          <a:p>
            <a:pPr algn="just">
              <a:buNone/>
            </a:pPr>
            <a:endParaRPr lang="en-US" dirty="0" smtClean="0">
              <a:latin typeface="Times New Roman" pitchFamily="18" charset="0"/>
              <a:cs typeface="Times New Roman" pitchFamily="18" charset="0"/>
            </a:endParaRPr>
          </a:p>
          <a:p>
            <a:pPr algn="just">
              <a:buNone/>
            </a:pPr>
            <a:endParaRPr lang="en-US" dirty="0" smtClean="0">
              <a:latin typeface="Times New Roman" pitchFamily="18" charset="0"/>
              <a:cs typeface="Times New Roman" pitchFamily="18" charset="0"/>
            </a:endParaRPr>
          </a:p>
          <a:p>
            <a:pPr algn="just">
              <a:buNone/>
            </a:pPr>
            <a:r>
              <a:rPr lang="en-US" dirty="0" smtClean="0">
                <a:latin typeface="Times New Roman" pitchFamily="18" charset="0"/>
                <a:cs typeface="Times New Roman" pitchFamily="18" charset="0"/>
              </a:rPr>
              <a:t>Gantt chart:</a:t>
            </a:r>
          </a:p>
          <a:p>
            <a:pPr algn="just">
              <a:buNone/>
            </a:pPr>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822995" y="1385872"/>
          <a:ext cx="8127999" cy="259588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dirty="0" smtClean="0"/>
                        <a:t>Process</a:t>
                      </a:r>
                      <a:endParaRPr lang="en-US" dirty="0"/>
                    </a:p>
                  </a:txBody>
                  <a:tcPr/>
                </a:tc>
                <a:tc>
                  <a:txBody>
                    <a:bodyPr/>
                    <a:lstStyle/>
                    <a:p>
                      <a:r>
                        <a:rPr lang="en-US" dirty="0" smtClean="0"/>
                        <a:t>Arrival time</a:t>
                      </a:r>
                      <a:endParaRPr lang="en-US" dirty="0"/>
                    </a:p>
                  </a:txBody>
                  <a:tcPr/>
                </a:tc>
                <a:tc>
                  <a:txBody>
                    <a:bodyPr/>
                    <a:lstStyle/>
                    <a:p>
                      <a:r>
                        <a:rPr lang="en-US" dirty="0" smtClean="0"/>
                        <a:t>Burst time</a:t>
                      </a:r>
                      <a:endParaRPr lang="en-US" dirty="0"/>
                    </a:p>
                  </a:txBody>
                  <a:tcPr/>
                </a:tc>
              </a:tr>
              <a:tr h="370840">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8</a:t>
                      </a:r>
                      <a:endParaRPr lang="en-US" dirty="0"/>
                    </a:p>
                  </a:txBody>
                  <a:tcPr/>
                </a:tc>
              </a:tr>
              <a:tr h="370840">
                <a:tc>
                  <a:txBody>
                    <a:bodyPr/>
                    <a:lstStyle/>
                    <a:p>
                      <a:r>
                        <a:rPr lang="en-US" dirty="0" smtClean="0"/>
                        <a:t>P2</a:t>
                      </a:r>
                      <a:endParaRPr lang="en-US" dirty="0"/>
                    </a:p>
                  </a:txBody>
                  <a:tcPr/>
                </a:tc>
                <a:tc>
                  <a:txBody>
                    <a:bodyPr/>
                    <a:lstStyle/>
                    <a:p>
                      <a:r>
                        <a:rPr lang="en-US" dirty="0" smtClean="0"/>
                        <a:t>1</a:t>
                      </a:r>
                      <a:endParaRPr lang="en-US" dirty="0"/>
                    </a:p>
                  </a:txBody>
                  <a:tcPr/>
                </a:tc>
                <a:tc>
                  <a:txBody>
                    <a:bodyPr/>
                    <a:lstStyle/>
                    <a:p>
                      <a:r>
                        <a:rPr lang="en-US" dirty="0" smtClean="0"/>
                        <a:t>4</a:t>
                      </a:r>
                      <a:endParaRPr lang="en-US" dirty="0"/>
                    </a:p>
                  </a:txBody>
                  <a:tcPr/>
                </a:tc>
              </a:tr>
              <a:tr h="370840">
                <a:tc>
                  <a:txBody>
                    <a:bodyPr/>
                    <a:lstStyle/>
                    <a:p>
                      <a:r>
                        <a:rPr lang="en-US" dirty="0" smtClean="0"/>
                        <a:t>P3</a:t>
                      </a:r>
                      <a:endParaRPr lang="en-US" dirty="0"/>
                    </a:p>
                  </a:txBody>
                  <a:tcPr/>
                </a:tc>
                <a:tc>
                  <a:txBody>
                    <a:bodyPr/>
                    <a:lstStyle/>
                    <a:p>
                      <a:r>
                        <a:rPr lang="en-US" dirty="0" smtClean="0"/>
                        <a:t>2</a:t>
                      </a:r>
                      <a:endParaRPr lang="en-US" dirty="0"/>
                    </a:p>
                  </a:txBody>
                  <a:tcPr/>
                </a:tc>
                <a:tc>
                  <a:txBody>
                    <a:bodyPr/>
                    <a:lstStyle/>
                    <a:p>
                      <a:r>
                        <a:rPr lang="en-US" dirty="0" smtClean="0"/>
                        <a:t>2</a:t>
                      </a:r>
                      <a:endParaRPr lang="en-US" dirty="0"/>
                    </a:p>
                  </a:txBody>
                  <a:tcPr/>
                </a:tc>
              </a:tr>
              <a:tr h="370840">
                <a:tc>
                  <a:txBody>
                    <a:bodyPr/>
                    <a:lstStyle/>
                    <a:p>
                      <a:r>
                        <a:rPr lang="en-US" dirty="0" smtClean="0"/>
                        <a:t>P4</a:t>
                      </a:r>
                      <a:endParaRPr lang="en-US" dirty="0"/>
                    </a:p>
                  </a:txBody>
                  <a:tcPr/>
                </a:tc>
                <a:tc>
                  <a:txBody>
                    <a:bodyPr/>
                    <a:lstStyle/>
                    <a:p>
                      <a:r>
                        <a:rPr lang="en-US" dirty="0" smtClean="0"/>
                        <a:t>3</a:t>
                      </a:r>
                      <a:endParaRPr lang="en-US" dirty="0"/>
                    </a:p>
                  </a:txBody>
                  <a:tcPr/>
                </a:tc>
                <a:tc>
                  <a:txBody>
                    <a:bodyPr/>
                    <a:lstStyle/>
                    <a:p>
                      <a:r>
                        <a:rPr lang="en-US" dirty="0" smtClean="0"/>
                        <a:t>1</a:t>
                      </a:r>
                      <a:endParaRPr lang="en-US" dirty="0"/>
                    </a:p>
                  </a:txBody>
                  <a:tcPr/>
                </a:tc>
              </a:tr>
              <a:tr h="370840">
                <a:tc>
                  <a:txBody>
                    <a:bodyPr/>
                    <a:lstStyle/>
                    <a:p>
                      <a:r>
                        <a:rPr lang="en-US" dirty="0" smtClean="0"/>
                        <a:t>P5</a:t>
                      </a:r>
                      <a:endParaRPr lang="en-US" dirty="0"/>
                    </a:p>
                  </a:txBody>
                  <a:tcPr/>
                </a:tc>
                <a:tc>
                  <a:txBody>
                    <a:bodyPr/>
                    <a:lstStyle/>
                    <a:p>
                      <a:r>
                        <a:rPr lang="en-US" dirty="0" smtClean="0"/>
                        <a:t>4</a:t>
                      </a:r>
                      <a:endParaRPr lang="en-US" dirty="0"/>
                    </a:p>
                  </a:txBody>
                  <a:tcPr/>
                </a:tc>
                <a:tc>
                  <a:txBody>
                    <a:bodyPr/>
                    <a:lstStyle/>
                    <a:p>
                      <a:r>
                        <a:rPr lang="en-US" dirty="0" smtClean="0"/>
                        <a:t>3</a:t>
                      </a:r>
                      <a:endParaRPr lang="en-US" dirty="0"/>
                    </a:p>
                  </a:txBody>
                  <a:tcPr/>
                </a:tc>
              </a:tr>
              <a:tr h="370840">
                <a:tc>
                  <a:txBody>
                    <a:bodyPr/>
                    <a:lstStyle/>
                    <a:p>
                      <a:r>
                        <a:rPr lang="en-US" dirty="0" smtClean="0"/>
                        <a:t>p6</a:t>
                      </a:r>
                      <a:endParaRPr lang="en-US" dirty="0"/>
                    </a:p>
                  </a:txBody>
                  <a:tcPr/>
                </a:tc>
                <a:tc>
                  <a:txBody>
                    <a:bodyPr/>
                    <a:lstStyle/>
                    <a:p>
                      <a:r>
                        <a:rPr lang="en-US" dirty="0" smtClean="0"/>
                        <a:t>5</a:t>
                      </a:r>
                      <a:endParaRPr lang="en-US" dirty="0"/>
                    </a:p>
                  </a:txBody>
                  <a:tcPr/>
                </a:tc>
                <a:tc>
                  <a:txBody>
                    <a:bodyPr/>
                    <a:lstStyle/>
                    <a:p>
                      <a:r>
                        <a:rPr lang="en-US" dirty="0" smtClean="0"/>
                        <a:t>2</a:t>
                      </a:r>
                      <a:endParaRPr lang="en-US" dirty="0"/>
                    </a:p>
                  </a:txBody>
                  <a:tcPr/>
                </a:tc>
              </a:tr>
            </a:tbl>
          </a:graphicData>
        </a:graphic>
      </p:graphicFrame>
      <p:pic>
        <p:nvPicPr>
          <p:cNvPr id="5" name="Picture 4" descr="s2.PNG"/>
          <p:cNvPicPr>
            <a:picLocks noChangeAspect="1"/>
          </p:cNvPicPr>
          <p:nvPr/>
        </p:nvPicPr>
        <p:blipFill>
          <a:blip r:embed="rId2"/>
          <a:stretch>
            <a:fillRect/>
          </a:stretch>
        </p:blipFill>
        <p:spPr>
          <a:xfrm>
            <a:off x="2090057" y="5003075"/>
            <a:ext cx="7889965" cy="977743"/>
          </a:xfrm>
          <a:prstGeom prst="rect">
            <a:avLst/>
          </a:prstGeom>
        </p:spPr>
      </p:pic>
    </p:spTree>
    <p:extLst>
      <p:ext uri="{BB962C8B-B14F-4D97-AF65-F5344CB8AC3E}">
        <p14:creationId xmlns:p14="http://schemas.microsoft.com/office/powerpoint/2010/main" val="1903519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365125"/>
          <a:ext cx="10515600" cy="2595880"/>
        </p:xfrm>
        <a:graphic>
          <a:graphicData uri="http://schemas.openxmlformats.org/drawingml/2006/table">
            <a:tbl>
              <a:tblPr firstRow="1" bandRow="1">
                <a:tableStyleId>{5C22544A-7EE6-4342-B048-85BDC9FD1C3A}</a:tableStyleId>
              </a:tblPr>
              <a:tblGrid>
                <a:gridCol w="1212669"/>
                <a:gridCol w="1449977"/>
                <a:gridCol w="1737360"/>
                <a:gridCol w="2024743"/>
                <a:gridCol w="2338251"/>
                <a:gridCol w="1752600"/>
              </a:tblGrid>
              <a:tr h="370840">
                <a:tc>
                  <a:txBody>
                    <a:bodyPr/>
                    <a:lstStyle/>
                    <a:p>
                      <a:r>
                        <a:rPr lang="en-US" dirty="0" smtClean="0"/>
                        <a:t>Process</a:t>
                      </a:r>
                      <a:endParaRPr lang="en-US" dirty="0"/>
                    </a:p>
                  </a:txBody>
                  <a:tcPr/>
                </a:tc>
                <a:tc>
                  <a:txBody>
                    <a:bodyPr/>
                    <a:lstStyle/>
                    <a:p>
                      <a:r>
                        <a:rPr lang="en-US" dirty="0" smtClean="0"/>
                        <a:t>Arrival</a:t>
                      </a:r>
                      <a:r>
                        <a:rPr lang="en-US" baseline="0" dirty="0" smtClean="0"/>
                        <a:t> time</a:t>
                      </a:r>
                      <a:endParaRPr lang="en-US" dirty="0"/>
                    </a:p>
                  </a:txBody>
                  <a:tcPr/>
                </a:tc>
                <a:tc>
                  <a:txBody>
                    <a:bodyPr/>
                    <a:lstStyle/>
                    <a:p>
                      <a:r>
                        <a:rPr lang="en-US" dirty="0" smtClean="0"/>
                        <a:t>Burst Time</a:t>
                      </a:r>
                      <a:endParaRPr lang="en-US" dirty="0"/>
                    </a:p>
                  </a:txBody>
                  <a:tcPr/>
                </a:tc>
                <a:tc>
                  <a:txBody>
                    <a:bodyPr/>
                    <a:lstStyle/>
                    <a:p>
                      <a:r>
                        <a:rPr lang="en-US" dirty="0" smtClean="0"/>
                        <a:t>Completion time</a:t>
                      </a:r>
                      <a:endParaRPr lang="en-US" dirty="0"/>
                    </a:p>
                  </a:txBody>
                  <a:tcPr/>
                </a:tc>
                <a:tc>
                  <a:txBody>
                    <a:bodyPr/>
                    <a:lstStyle/>
                    <a:p>
                      <a:r>
                        <a:rPr lang="en-US" dirty="0" smtClean="0"/>
                        <a:t>Turnaround</a:t>
                      </a:r>
                      <a:r>
                        <a:rPr lang="en-US" baseline="0" dirty="0" smtClean="0"/>
                        <a:t> time</a:t>
                      </a:r>
                      <a:endParaRPr lang="en-US" dirty="0"/>
                    </a:p>
                  </a:txBody>
                  <a:tcPr/>
                </a:tc>
                <a:tc>
                  <a:txBody>
                    <a:bodyPr/>
                    <a:lstStyle/>
                    <a:p>
                      <a:r>
                        <a:rPr lang="en-US" dirty="0" smtClean="0"/>
                        <a:t>Waiting time</a:t>
                      </a:r>
                      <a:endParaRPr lang="en-US" dirty="0"/>
                    </a:p>
                  </a:txBody>
                  <a:tcPr/>
                </a:tc>
              </a:tr>
              <a:tr h="370840">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8</a:t>
                      </a:r>
                      <a:endParaRPr lang="en-US" dirty="0"/>
                    </a:p>
                  </a:txBody>
                  <a:tcPr/>
                </a:tc>
                <a:tc>
                  <a:txBody>
                    <a:bodyPr/>
                    <a:lstStyle/>
                    <a:p>
                      <a:r>
                        <a:rPr lang="en-US" dirty="0" smtClean="0"/>
                        <a:t>20</a:t>
                      </a:r>
                      <a:endParaRPr lang="en-US" dirty="0"/>
                    </a:p>
                  </a:txBody>
                  <a:tcPr/>
                </a:tc>
                <a:tc>
                  <a:txBody>
                    <a:bodyPr/>
                    <a:lstStyle/>
                    <a:p>
                      <a:r>
                        <a:rPr lang="en-US" dirty="0" smtClean="0"/>
                        <a:t>20-0=20</a:t>
                      </a:r>
                      <a:endParaRPr lang="en-US" dirty="0"/>
                    </a:p>
                  </a:txBody>
                  <a:tcPr/>
                </a:tc>
                <a:tc>
                  <a:txBody>
                    <a:bodyPr/>
                    <a:lstStyle/>
                    <a:p>
                      <a:r>
                        <a:rPr lang="en-US" dirty="0" smtClean="0"/>
                        <a:t>20-8=12</a:t>
                      </a:r>
                      <a:endParaRPr lang="en-US" dirty="0"/>
                    </a:p>
                  </a:txBody>
                  <a:tcPr/>
                </a:tc>
              </a:tr>
              <a:tr h="370840">
                <a:tc>
                  <a:txBody>
                    <a:bodyPr/>
                    <a:lstStyle/>
                    <a:p>
                      <a:r>
                        <a:rPr lang="en-US" dirty="0" smtClean="0"/>
                        <a:t>P2</a:t>
                      </a:r>
                      <a:endParaRPr lang="en-US" dirty="0"/>
                    </a:p>
                  </a:txBody>
                  <a:tcPr/>
                </a:tc>
                <a:tc>
                  <a:txBody>
                    <a:bodyPr/>
                    <a:lstStyle/>
                    <a:p>
                      <a:r>
                        <a:rPr lang="en-US" dirty="0" smtClean="0"/>
                        <a:t>1</a:t>
                      </a:r>
                      <a:endParaRPr lang="en-US" dirty="0"/>
                    </a:p>
                  </a:txBody>
                  <a:tcPr/>
                </a:tc>
                <a:tc>
                  <a:txBody>
                    <a:bodyPr/>
                    <a:lstStyle/>
                    <a:p>
                      <a:r>
                        <a:rPr lang="en-US" dirty="0" smtClean="0"/>
                        <a:t>4</a:t>
                      </a:r>
                      <a:endParaRPr lang="en-US" dirty="0"/>
                    </a:p>
                  </a:txBody>
                  <a:tcPr/>
                </a:tc>
                <a:tc>
                  <a:txBody>
                    <a:bodyPr/>
                    <a:lstStyle/>
                    <a:p>
                      <a:r>
                        <a:rPr lang="en-US" dirty="0" smtClean="0"/>
                        <a:t>10</a:t>
                      </a:r>
                      <a:endParaRPr lang="en-US" dirty="0"/>
                    </a:p>
                  </a:txBody>
                  <a:tcPr/>
                </a:tc>
                <a:tc>
                  <a:txBody>
                    <a:bodyPr/>
                    <a:lstStyle/>
                    <a:p>
                      <a:r>
                        <a:rPr lang="en-US" dirty="0" smtClean="0"/>
                        <a:t>10-1=9</a:t>
                      </a:r>
                      <a:endParaRPr lang="en-US" dirty="0"/>
                    </a:p>
                  </a:txBody>
                  <a:tcPr/>
                </a:tc>
                <a:tc>
                  <a:txBody>
                    <a:bodyPr/>
                    <a:lstStyle/>
                    <a:p>
                      <a:r>
                        <a:rPr lang="en-US" dirty="0" smtClean="0"/>
                        <a:t>9-4=5</a:t>
                      </a:r>
                      <a:endParaRPr lang="en-US" dirty="0"/>
                    </a:p>
                  </a:txBody>
                  <a:tcPr/>
                </a:tc>
              </a:tr>
              <a:tr h="370840">
                <a:tc>
                  <a:txBody>
                    <a:bodyPr/>
                    <a:lstStyle/>
                    <a:p>
                      <a:r>
                        <a:rPr lang="en-US" dirty="0" smtClean="0"/>
                        <a:t>P3</a:t>
                      </a:r>
                      <a:endParaRPr lang="en-US" dirty="0"/>
                    </a:p>
                  </a:txBody>
                  <a:tcPr/>
                </a:tc>
                <a:tc>
                  <a:txBody>
                    <a:bodyPr/>
                    <a:lstStyle/>
                    <a:p>
                      <a:r>
                        <a:rPr lang="en-US" dirty="0" smtClean="0"/>
                        <a:t>2</a:t>
                      </a:r>
                      <a:endParaRPr lang="en-US" dirty="0"/>
                    </a:p>
                  </a:txBody>
                  <a:tcPr/>
                </a:tc>
                <a:tc>
                  <a:txBody>
                    <a:bodyPr/>
                    <a:lstStyle/>
                    <a:p>
                      <a:r>
                        <a:rPr lang="en-US" dirty="0" smtClean="0"/>
                        <a:t>2</a:t>
                      </a:r>
                      <a:endParaRPr lang="en-US" dirty="0"/>
                    </a:p>
                  </a:txBody>
                  <a:tcPr/>
                </a:tc>
                <a:tc>
                  <a:txBody>
                    <a:bodyPr/>
                    <a:lstStyle/>
                    <a:p>
                      <a:r>
                        <a:rPr lang="en-US" dirty="0" smtClean="0"/>
                        <a:t>4</a:t>
                      </a:r>
                      <a:endParaRPr lang="en-US" dirty="0"/>
                    </a:p>
                  </a:txBody>
                  <a:tcPr/>
                </a:tc>
                <a:tc>
                  <a:txBody>
                    <a:bodyPr/>
                    <a:lstStyle/>
                    <a:p>
                      <a:r>
                        <a:rPr lang="en-US" dirty="0" smtClean="0"/>
                        <a:t>4-2=2</a:t>
                      </a:r>
                      <a:endParaRPr lang="en-US" dirty="0"/>
                    </a:p>
                  </a:txBody>
                  <a:tcPr/>
                </a:tc>
                <a:tc>
                  <a:txBody>
                    <a:bodyPr/>
                    <a:lstStyle/>
                    <a:p>
                      <a:r>
                        <a:rPr lang="en-US" dirty="0" smtClean="0"/>
                        <a:t>2-2=0</a:t>
                      </a:r>
                      <a:endParaRPr lang="en-US" dirty="0"/>
                    </a:p>
                  </a:txBody>
                  <a:tcPr/>
                </a:tc>
              </a:tr>
              <a:tr h="370840">
                <a:tc>
                  <a:txBody>
                    <a:bodyPr/>
                    <a:lstStyle/>
                    <a:p>
                      <a:r>
                        <a:rPr lang="en-US" dirty="0" smtClean="0"/>
                        <a:t>P4</a:t>
                      </a:r>
                      <a:endParaRPr lang="en-US" dirty="0"/>
                    </a:p>
                  </a:txBody>
                  <a:tcPr/>
                </a:tc>
                <a:tc>
                  <a:txBody>
                    <a:bodyPr/>
                    <a:lstStyle/>
                    <a:p>
                      <a:r>
                        <a:rPr lang="en-US" dirty="0" smtClean="0"/>
                        <a:t>3</a:t>
                      </a:r>
                      <a:endParaRPr lang="en-US" dirty="0"/>
                    </a:p>
                  </a:txBody>
                  <a:tcPr/>
                </a:tc>
                <a:tc>
                  <a:txBody>
                    <a:bodyPr/>
                    <a:lstStyle/>
                    <a:p>
                      <a:r>
                        <a:rPr lang="en-US" dirty="0" smtClean="0"/>
                        <a:t>1</a:t>
                      </a:r>
                      <a:endParaRPr lang="en-US" dirty="0"/>
                    </a:p>
                  </a:txBody>
                  <a:tcPr/>
                </a:tc>
                <a:tc>
                  <a:txBody>
                    <a:bodyPr/>
                    <a:lstStyle/>
                    <a:p>
                      <a:r>
                        <a:rPr lang="en-US" dirty="0" smtClean="0"/>
                        <a:t>5</a:t>
                      </a:r>
                      <a:endParaRPr lang="en-US" dirty="0"/>
                    </a:p>
                  </a:txBody>
                  <a:tcPr/>
                </a:tc>
                <a:tc>
                  <a:txBody>
                    <a:bodyPr/>
                    <a:lstStyle/>
                    <a:p>
                      <a:r>
                        <a:rPr lang="en-US" dirty="0" smtClean="0"/>
                        <a:t>5-3=2</a:t>
                      </a:r>
                      <a:endParaRPr lang="en-US" dirty="0"/>
                    </a:p>
                  </a:txBody>
                  <a:tcPr/>
                </a:tc>
                <a:tc>
                  <a:txBody>
                    <a:bodyPr/>
                    <a:lstStyle/>
                    <a:p>
                      <a:r>
                        <a:rPr lang="en-US" dirty="0" smtClean="0"/>
                        <a:t>2-1=1</a:t>
                      </a:r>
                      <a:endParaRPr lang="en-US" dirty="0"/>
                    </a:p>
                  </a:txBody>
                  <a:tcPr/>
                </a:tc>
              </a:tr>
              <a:tr h="370840">
                <a:tc>
                  <a:txBody>
                    <a:bodyPr/>
                    <a:lstStyle/>
                    <a:p>
                      <a:r>
                        <a:rPr lang="en-US" dirty="0" smtClean="0"/>
                        <a:t>P5</a:t>
                      </a:r>
                      <a:endParaRPr lang="en-US" dirty="0"/>
                    </a:p>
                  </a:txBody>
                  <a:tcPr/>
                </a:tc>
                <a:tc>
                  <a:txBody>
                    <a:bodyPr/>
                    <a:lstStyle/>
                    <a:p>
                      <a:r>
                        <a:rPr lang="en-US" dirty="0" smtClean="0"/>
                        <a:t>4</a:t>
                      </a:r>
                      <a:endParaRPr lang="en-US" dirty="0"/>
                    </a:p>
                  </a:txBody>
                  <a:tcPr/>
                </a:tc>
                <a:tc>
                  <a:txBody>
                    <a:bodyPr/>
                    <a:lstStyle/>
                    <a:p>
                      <a:r>
                        <a:rPr lang="en-US" dirty="0" smtClean="0"/>
                        <a:t>3</a:t>
                      </a:r>
                      <a:endParaRPr lang="en-US" dirty="0"/>
                    </a:p>
                  </a:txBody>
                  <a:tcPr/>
                </a:tc>
                <a:tc>
                  <a:txBody>
                    <a:bodyPr/>
                    <a:lstStyle/>
                    <a:p>
                      <a:r>
                        <a:rPr lang="en-US" dirty="0" smtClean="0"/>
                        <a:t>13</a:t>
                      </a:r>
                      <a:endParaRPr lang="en-US" dirty="0"/>
                    </a:p>
                  </a:txBody>
                  <a:tcPr/>
                </a:tc>
                <a:tc>
                  <a:txBody>
                    <a:bodyPr/>
                    <a:lstStyle/>
                    <a:p>
                      <a:r>
                        <a:rPr lang="en-US" dirty="0" smtClean="0"/>
                        <a:t>13-4=9</a:t>
                      </a:r>
                      <a:endParaRPr lang="en-US" dirty="0"/>
                    </a:p>
                  </a:txBody>
                  <a:tcPr/>
                </a:tc>
                <a:tc>
                  <a:txBody>
                    <a:bodyPr/>
                    <a:lstStyle/>
                    <a:p>
                      <a:r>
                        <a:rPr lang="en-US" dirty="0" smtClean="0"/>
                        <a:t>9-3=6</a:t>
                      </a:r>
                      <a:endParaRPr lang="en-US" dirty="0"/>
                    </a:p>
                  </a:txBody>
                  <a:tcPr/>
                </a:tc>
              </a:tr>
              <a:tr h="370840">
                <a:tc>
                  <a:txBody>
                    <a:bodyPr/>
                    <a:lstStyle/>
                    <a:p>
                      <a:r>
                        <a:rPr lang="en-US" dirty="0" smtClean="0"/>
                        <a:t>P6</a:t>
                      </a:r>
                      <a:endParaRPr lang="en-US" dirty="0"/>
                    </a:p>
                  </a:txBody>
                  <a:tcPr/>
                </a:tc>
                <a:tc>
                  <a:txBody>
                    <a:bodyPr/>
                    <a:lstStyle/>
                    <a:p>
                      <a:r>
                        <a:rPr lang="en-US" dirty="0" smtClean="0"/>
                        <a:t>5</a:t>
                      </a:r>
                      <a:endParaRPr lang="en-US" dirty="0"/>
                    </a:p>
                  </a:txBody>
                  <a:tcPr/>
                </a:tc>
                <a:tc>
                  <a:txBody>
                    <a:bodyPr/>
                    <a:lstStyle/>
                    <a:p>
                      <a:r>
                        <a:rPr lang="en-US" dirty="0" smtClean="0"/>
                        <a:t>2</a:t>
                      </a:r>
                      <a:endParaRPr lang="en-US" dirty="0"/>
                    </a:p>
                  </a:txBody>
                  <a:tcPr/>
                </a:tc>
                <a:tc>
                  <a:txBody>
                    <a:bodyPr/>
                    <a:lstStyle/>
                    <a:p>
                      <a:r>
                        <a:rPr lang="en-US" dirty="0" smtClean="0"/>
                        <a:t>7</a:t>
                      </a:r>
                      <a:endParaRPr lang="en-US" dirty="0"/>
                    </a:p>
                  </a:txBody>
                  <a:tcPr/>
                </a:tc>
                <a:tc>
                  <a:txBody>
                    <a:bodyPr/>
                    <a:lstStyle/>
                    <a:p>
                      <a:r>
                        <a:rPr lang="en-US" dirty="0" smtClean="0"/>
                        <a:t>7-5=2</a:t>
                      </a:r>
                      <a:endParaRPr lang="en-US" dirty="0"/>
                    </a:p>
                  </a:txBody>
                  <a:tcPr/>
                </a:tc>
                <a:tc>
                  <a:txBody>
                    <a:bodyPr/>
                    <a:lstStyle/>
                    <a:p>
                      <a:r>
                        <a:rPr lang="en-US" dirty="0" smtClean="0"/>
                        <a:t>2-2=0</a:t>
                      </a:r>
                      <a:endParaRPr lang="en-US" dirty="0"/>
                    </a:p>
                  </a:txBody>
                  <a:tcPr/>
                </a:tc>
              </a:tr>
            </a:tbl>
          </a:graphicData>
        </a:graphic>
      </p:graphicFrame>
      <p:sp>
        <p:nvSpPr>
          <p:cNvPr id="7" name="TextBox 6"/>
          <p:cNvSpPr txBox="1"/>
          <p:nvPr/>
        </p:nvSpPr>
        <p:spPr>
          <a:xfrm>
            <a:off x="1188720" y="3487783"/>
            <a:ext cx="7720149" cy="2308324"/>
          </a:xfrm>
          <a:prstGeom prst="rect">
            <a:avLst/>
          </a:prstGeom>
          <a:noFill/>
        </p:spPr>
        <p:txBody>
          <a:bodyPr wrap="square" rtlCol="0">
            <a:spAutoFit/>
          </a:bodyPr>
          <a:lstStyle/>
          <a:p>
            <a:r>
              <a:rPr lang="en-US" sz="2400" b="1" dirty="0" smtClean="0">
                <a:latin typeface="Times New Roman" pitchFamily="18" charset="0"/>
                <a:cs typeface="Times New Roman" pitchFamily="18" charset="0"/>
              </a:rPr>
              <a:t>Average Waiting time(AWT) =(12+5+0+1+6+0)/6</a:t>
            </a:r>
          </a:p>
          <a:p>
            <a:r>
              <a:rPr lang="en-US" sz="2400" b="1" dirty="0" smtClean="0">
                <a:latin typeface="Times New Roman" pitchFamily="18" charset="0"/>
                <a:cs typeface="Times New Roman" pitchFamily="18" charset="0"/>
              </a:rPr>
              <a:t>		                = 4 ms</a:t>
            </a:r>
          </a:p>
          <a:p>
            <a:endParaRPr lang="en-US" sz="2400" b="1" dirty="0" smtClean="0">
              <a:latin typeface="Times New Roman" pitchFamily="18" charset="0"/>
              <a:cs typeface="Times New Roman" pitchFamily="18" charset="0"/>
            </a:endParaRPr>
          </a:p>
          <a:p>
            <a:endParaRPr lang="en-US" sz="2400" b="1"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Average Turnaround time(ATAT) =(20+9+2+2+9+2)/6 </a:t>
            </a:r>
          </a:p>
          <a:p>
            <a:r>
              <a:rPr lang="en-US" sz="2400" b="1" dirty="0" smtClean="0">
                <a:latin typeface="Times New Roman" pitchFamily="18" charset="0"/>
                <a:cs typeface="Times New Roman" pitchFamily="18" charset="0"/>
              </a:rPr>
              <a:t>			     =7.33 ms</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0669966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normAutofit fontScale="90000"/>
          </a:bodyPr>
          <a:lstStyle/>
          <a:p>
            <a:pPr algn="ctr"/>
            <a:r>
              <a:rPr lang="en-US" b="1" dirty="0" smtClean="0">
                <a:latin typeface="Times New Roman" pitchFamily="18" charset="0"/>
                <a:cs typeface="Times New Roman" pitchFamily="18" charset="0"/>
              </a:rPr>
              <a:t>Round-Robin (RR)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953590"/>
            <a:ext cx="10515600" cy="5551714"/>
          </a:xfrm>
        </p:spPr>
        <p:txBody>
          <a:bodyPr>
            <a:normAutofit/>
          </a:bodyPr>
          <a:lstStyle/>
          <a:p>
            <a:pPr algn="just"/>
            <a:endParaRPr lang="en-US" sz="1800" dirty="0" smtClean="0">
              <a:latin typeface="Times New Roman" pitchFamily="18" charset="0"/>
              <a:cs typeface="Times New Roman" pitchFamily="18" charset="0"/>
            </a:endParaRPr>
          </a:p>
          <a:p>
            <a:pPr algn="just"/>
            <a:endParaRPr lang="en-US" sz="1800" dirty="0" smtClean="0">
              <a:latin typeface="Times New Roman" pitchFamily="18" charset="0"/>
              <a:cs typeface="Times New Roman" pitchFamily="18" charset="0"/>
            </a:endParaRPr>
          </a:p>
          <a:p>
            <a:pPr algn="just"/>
            <a:endParaRPr lang="en-US" sz="1800" dirty="0" smtClean="0">
              <a:latin typeface="Times New Roman" pitchFamily="18" charset="0"/>
              <a:cs typeface="Times New Roman" pitchFamily="18" charset="0"/>
            </a:endParaRPr>
          </a:p>
          <a:p>
            <a:pPr algn="just"/>
            <a:endParaRPr lang="en-US" sz="1800" dirty="0" smtClean="0">
              <a:latin typeface="Times New Roman" pitchFamily="18" charset="0"/>
              <a:cs typeface="Times New Roman" pitchFamily="18" charset="0"/>
            </a:endParaRPr>
          </a:p>
          <a:p>
            <a:pPr algn="just"/>
            <a:endParaRPr lang="en-US" sz="1800" dirty="0" smtClean="0">
              <a:latin typeface="Times New Roman" pitchFamily="18" charset="0"/>
              <a:cs typeface="Times New Roman" pitchFamily="18" charset="0"/>
            </a:endParaRPr>
          </a:p>
          <a:p>
            <a:pPr algn="just"/>
            <a:endParaRPr lang="en-US" sz="1800" dirty="0" smtClean="0">
              <a:latin typeface="Times New Roman" pitchFamily="18" charset="0"/>
              <a:cs typeface="Times New Roman" pitchFamily="18" charset="0"/>
            </a:endParaRPr>
          </a:p>
          <a:p>
            <a:pPr algn="just"/>
            <a:r>
              <a:rPr lang="en-US" sz="1800" dirty="0" smtClean="0">
                <a:latin typeface="Times New Roman" pitchFamily="18" charset="0"/>
                <a:cs typeface="Times New Roman" pitchFamily="18" charset="0"/>
              </a:rPr>
              <a:t>This is the </a:t>
            </a:r>
            <a:r>
              <a:rPr lang="en-US" sz="1800" b="1" dirty="0" smtClean="0">
                <a:latin typeface="Times New Roman" pitchFamily="18" charset="0"/>
                <a:cs typeface="Times New Roman" pitchFamily="18" charset="0"/>
              </a:rPr>
              <a:t>preemptive version</a:t>
            </a:r>
            <a:r>
              <a:rPr lang="en-US" sz="1800" dirty="0" smtClean="0">
                <a:latin typeface="Times New Roman" pitchFamily="18" charset="0"/>
                <a:cs typeface="Times New Roman" pitchFamily="18" charset="0"/>
              </a:rPr>
              <a:t> of first come first serve scheduling.</a:t>
            </a:r>
          </a:p>
          <a:p>
            <a:pPr algn="just"/>
            <a:r>
              <a:rPr lang="en-US" sz="1800" dirty="0" smtClean="0">
                <a:latin typeface="Times New Roman" pitchFamily="18" charset="0"/>
                <a:cs typeface="Times New Roman" pitchFamily="18" charset="0"/>
              </a:rPr>
              <a:t>Each process is assigned a time interval (quantum), after the specified quantum, the running process is preempted and a new process is allowed to run.</a:t>
            </a:r>
          </a:p>
          <a:p>
            <a:pPr algn="just"/>
            <a:r>
              <a:rPr lang="en-US" sz="1800" dirty="0" smtClean="0">
                <a:latin typeface="Times New Roman" pitchFamily="18" charset="0"/>
                <a:cs typeface="Times New Roman" pitchFamily="18" charset="0"/>
              </a:rPr>
              <a:t> Preempted process is placed at the back of the ready list.</a:t>
            </a:r>
          </a:p>
          <a:p>
            <a:pPr algn="just">
              <a:buNone/>
            </a:pPr>
            <a:r>
              <a:rPr lang="en-US" sz="1800" b="1" dirty="0" smtClean="0">
                <a:latin typeface="Times New Roman" pitchFamily="18" charset="0"/>
                <a:cs typeface="Times New Roman" pitchFamily="18" charset="0"/>
              </a:rPr>
              <a:t>Advantages:</a:t>
            </a:r>
          </a:p>
          <a:p>
            <a:pPr algn="just"/>
            <a:r>
              <a:rPr lang="en-US" sz="1800" dirty="0" smtClean="0">
                <a:latin typeface="Times New Roman" pitchFamily="18" charset="0"/>
                <a:cs typeface="Times New Roman" pitchFamily="18" charset="0"/>
              </a:rPr>
              <a:t> Fair allocation of CPU across the process.</a:t>
            </a:r>
          </a:p>
          <a:p>
            <a:pPr algn="just"/>
            <a:r>
              <a:rPr lang="en-US" sz="1800" dirty="0" smtClean="0">
                <a:latin typeface="Times New Roman" pitchFamily="18" charset="0"/>
                <a:cs typeface="Times New Roman" pitchFamily="18" charset="0"/>
              </a:rPr>
              <a:t> Used in timesharing system. </a:t>
            </a:r>
          </a:p>
          <a:p>
            <a:pPr algn="just"/>
            <a:r>
              <a:rPr lang="en-US" sz="1800" dirty="0" smtClean="0">
                <a:latin typeface="Times New Roman" pitchFamily="18" charset="0"/>
                <a:cs typeface="Times New Roman" pitchFamily="18" charset="0"/>
              </a:rPr>
              <a:t>Low average waiting time when process lengths very widely.</a:t>
            </a:r>
          </a:p>
          <a:p>
            <a:pPr algn="just"/>
            <a:r>
              <a:rPr lang="en-US" sz="1800" dirty="0" smtClean="0">
                <a:latin typeface="Times New Roman" pitchFamily="18" charset="0"/>
                <a:cs typeface="Times New Roman" pitchFamily="18" charset="0"/>
              </a:rPr>
              <a:t>Poor average waiting time when process lengths are identical.</a:t>
            </a:r>
            <a:endParaRPr lang="en-US" sz="1800" dirty="0">
              <a:latin typeface="Times New Roman" pitchFamily="18" charset="0"/>
              <a:cs typeface="Times New Roman" pitchFamily="18" charset="0"/>
            </a:endParaRPr>
          </a:p>
        </p:txBody>
      </p:sp>
      <p:pic>
        <p:nvPicPr>
          <p:cNvPr id="4" name="Picture 3" descr="s3.PNG"/>
          <p:cNvPicPr>
            <a:picLocks noChangeAspect="1"/>
          </p:cNvPicPr>
          <p:nvPr/>
        </p:nvPicPr>
        <p:blipFill>
          <a:blip r:embed="rId2"/>
          <a:stretch>
            <a:fillRect/>
          </a:stretch>
        </p:blipFill>
        <p:spPr>
          <a:xfrm>
            <a:off x="1332095" y="1306288"/>
            <a:ext cx="8326013" cy="1541417"/>
          </a:xfrm>
          <a:prstGeom prst="rect">
            <a:avLst/>
          </a:prstGeom>
        </p:spPr>
      </p:pic>
    </p:spTree>
    <p:extLst>
      <p:ext uri="{BB962C8B-B14F-4D97-AF65-F5344CB8AC3E}">
        <p14:creationId xmlns:p14="http://schemas.microsoft.com/office/powerpoint/2010/main" val="2693553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1886"/>
            <a:ext cx="10515600" cy="5785077"/>
          </a:xfrm>
        </p:spPr>
        <p:txBody>
          <a:bodyPr>
            <a:normAutofit fontScale="92500" lnSpcReduction="10000"/>
          </a:bodyPr>
          <a:lstStyle/>
          <a:p>
            <a:pPr algn="just">
              <a:lnSpc>
                <a:spcPct val="150000"/>
              </a:lnSpc>
              <a:buNone/>
            </a:pPr>
            <a:r>
              <a:rPr lang="en-US" b="1" dirty="0" smtClean="0">
                <a:latin typeface="Times New Roman" pitchFamily="18" charset="0"/>
                <a:cs typeface="Times New Roman" pitchFamily="18" charset="0"/>
              </a:rPr>
              <a:t>Quantum size:</a:t>
            </a:r>
          </a:p>
          <a:p>
            <a:pPr algn="just">
              <a:lnSpc>
                <a:spcPct val="150000"/>
              </a:lnSpc>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If the quantum is very large, each process is given as much time as needs for completion; RR degenerate to FCFS policy.</a:t>
            </a:r>
          </a:p>
          <a:p>
            <a:pPr algn="just">
              <a:lnSpc>
                <a:spcPct val="150000"/>
              </a:lnSpc>
            </a:pPr>
            <a:r>
              <a:rPr lang="en-US" dirty="0" smtClean="0">
                <a:latin typeface="Times New Roman" pitchFamily="18" charset="0"/>
                <a:cs typeface="Times New Roman" pitchFamily="18" charset="0"/>
              </a:rPr>
              <a:t> If quantum is very small, system busy at just switching from one process to another process, the overhead of context-switching causes the system efficiency degrading.</a:t>
            </a:r>
          </a:p>
          <a:p>
            <a:pPr algn="just">
              <a:lnSpc>
                <a:spcPct val="150000"/>
              </a:lnSpc>
            </a:pPr>
            <a:r>
              <a:rPr lang="en-US" dirty="0" smtClean="0">
                <a:latin typeface="Times New Roman" pitchFamily="18" charset="0"/>
                <a:cs typeface="Times New Roman" pitchFamily="18" charset="0"/>
              </a:rPr>
              <a:t> Optimal quantum size? </a:t>
            </a:r>
          </a:p>
          <a:p>
            <a:pPr algn="just">
              <a:lnSpc>
                <a:spcPct val="150000"/>
              </a:lnSpc>
            </a:pPr>
            <a:r>
              <a:rPr lang="en-US" dirty="0" smtClean="0">
                <a:latin typeface="Times New Roman" pitchFamily="18" charset="0"/>
                <a:cs typeface="Times New Roman" pitchFamily="18" charset="0"/>
              </a:rPr>
              <a:t>Key idea: 80% of the CPU bursts should be shorter than the quantum. 20-50 msec reasonable for many general processes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56696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6571"/>
            <a:ext cx="10515600" cy="5850392"/>
          </a:xfrm>
        </p:spPr>
        <p:txBody>
          <a:bodyPr/>
          <a:lstStyle/>
          <a:p>
            <a:pPr algn="just"/>
            <a:r>
              <a:rPr lang="en-US" dirty="0" smtClean="0">
                <a:latin typeface="Times New Roman" pitchFamily="18" charset="0"/>
                <a:cs typeface="Times New Roman" pitchFamily="18" charset="0"/>
              </a:rPr>
              <a:t>Consider there are four process P1,P2, P3 and P4 given in below table with arrival time 0 and given burst time. Compute Average waiting and Turnaround time using RR algorithm.(with </a:t>
            </a:r>
            <a:r>
              <a:rPr lang="en-US" smtClean="0">
                <a:latin typeface="Times New Roman" pitchFamily="18" charset="0"/>
                <a:cs typeface="Times New Roman" pitchFamily="18" charset="0"/>
              </a:rPr>
              <a:t>time quantum=5)</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Gantt chart:</a:t>
            </a:r>
          </a:p>
          <a:p>
            <a:pPr algn="just"/>
            <a:endParaRPr lang="en-US" dirty="0" smtClean="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875246" y="1673255"/>
          <a:ext cx="8128000" cy="185420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en-US" dirty="0" smtClean="0"/>
                        <a:t>Process</a:t>
                      </a:r>
                      <a:endParaRPr lang="en-US" dirty="0"/>
                    </a:p>
                  </a:txBody>
                  <a:tcPr/>
                </a:tc>
                <a:tc>
                  <a:txBody>
                    <a:bodyPr/>
                    <a:lstStyle/>
                    <a:p>
                      <a:r>
                        <a:rPr lang="en-US" dirty="0" smtClean="0"/>
                        <a:t>Burst Time</a:t>
                      </a:r>
                      <a:endParaRPr lang="en-US" dirty="0"/>
                    </a:p>
                  </a:txBody>
                  <a:tcPr/>
                </a:tc>
              </a:tr>
              <a:tr h="370840">
                <a:tc>
                  <a:txBody>
                    <a:bodyPr/>
                    <a:lstStyle/>
                    <a:p>
                      <a:r>
                        <a:rPr lang="en-US" dirty="0" smtClean="0"/>
                        <a:t>P1</a:t>
                      </a:r>
                      <a:endParaRPr lang="en-US" dirty="0"/>
                    </a:p>
                  </a:txBody>
                  <a:tcPr/>
                </a:tc>
                <a:tc>
                  <a:txBody>
                    <a:bodyPr/>
                    <a:lstStyle/>
                    <a:p>
                      <a:r>
                        <a:rPr lang="en-US" dirty="0" smtClean="0"/>
                        <a:t>21</a:t>
                      </a:r>
                      <a:endParaRPr lang="en-US" dirty="0"/>
                    </a:p>
                  </a:txBody>
                  <a:tcPr/>
                </a:tc>
              </a:tr>
              <a:tr h="370840">
                <a:tc>
                  <a:txBody>
                    <a:bodyPr/>
                    <a:lstStyle/>
                    <a:p>
                      <a:r>
                        <a:rPr lang="en-US" dirty="0" smtClean="0"/>
                        <a:t>P2</a:t>
                      </a:r>
                      <a:endParaRPr lang="en-US" dirty="0"/>
                    </a:p>
                  </a:txBody>
                  <a:tcPr/>
                </a:tc>
                <a:tc>
                  <a:txBody>
                    <a:bodyPr/>
                    <a:lstStyle/>
                    <a:p>
                      <a:r>
                        <a:rPr lang="en-US" dirty="0" smtClean="0"/>
                        <a:t>3</a:t>
                      </a:r>
                      <a:endParaRPr lang="en-US" dirty="0"/>
                    </a:p>
                  </a:txBody>
                  <a:tcPr/>
                </a:tc>
              </a:tr>
              <a:tr h="370840">
                <a:tc>
                  <a:txBody>
                    <a:bodyPr/>
                    <a:lstStyle/>
                    <a:p>
                      <a:r>
                        <a:rPr lang="en-US" dirty="0" smtClean="0"/>
                        <a:t>P3</a:t>
                      </a:r>
                      <a:endParaRPr lang="en-US" dirty="0"/>
                    </a:p>
                  </a:txBody>
                  <a:tcPr/>
                </a:tc>
                <a:tc>
                  <a:txBody>
                    <a:bodyPr/>
                    <a:lstStyle/>
                    <a:p>
                      <a:r>
                        <a:rPr lang="en-US" dirty="0" smtClean="0"/>
                        <a:t>6</a:t>
                      </a:r>
                      <a:endParaRPr lang="en-US" dirty="0"/>
                    </a:p>
                  </a:txBody>
                  <a:tcPr/>
                </a:tc>
              </a:tr>
              <a:tr h="370840">
                <a:tc>
                  <a:txBody>
                    <a:bodyPr/>
                    <a:lstStyle/>
                    <a:p>
                      <a:r>
                        <a:rPr lang="en-US" dirty="0" smtClean="0"/>
                        <a:t>P4</a:t>
                      </a:r>
                      <a:endParaRPr lang="en-US" dirty="0"/>
                    </a:p>
                  </a:txBody>
                  <a:tcPr/>
                </a:tc>
                <a:tc>
                  <a:txBody>
                    <a:bodyPr/>
                    <a:lstStyle/>
                    <a:p>
                      <a:r>
                        <a:rPr lang="en-US" dirty="0" smtClean="0"/>
                        <a:t>2</a:t>
                      </a:r>
                      <a:endParaRPr lang="en-US" dirty="0"/>
                    </a:p>
                  </a:txBody>
                  <a:tcPr/>
                </a:tc>
              </a:tr>
            </a:tbl>
          </a:graphicData>
        </a:graphic>
      </p:graphicFrame>
      <p:pic>
        <p:nvPicPr>
          <p:cNvPr id="5" name="Picture 4" descr="s4.PNG"/>
          <p:cNvPicPr>
            <a:picLocks noChangeAspect="1"/>
          </p:cNvPicPr>
          <p:nvPr/>
        </p:nvPicPr>
        <p:blipFill>
          <a:blip r:embed="rId2"/>
          <a:stretch>
            <a:fillRect/>
          </a:stretch>
        </p:blipFill>
        <p:spPr>
          <a:xfrm>
            <a:off x="1685109" y="4193177"/>
            <a:ext cx="8948057" cy="1593497"/>
          </a:xfrm>
          <a:prstGeom prst="rect">
            <a:avLst/>
          </a:prstGeom>
        </p:spPr>
      </p:pic>
    </p:spTree>
    <p:extLst>
      <p:ext uri="{BB962C8B-B14F-4D97-AF65-F5344CB8AC3E}">
        <p14:creationId xmlns:p14="http://schemas.microsoft.com/office/powerpoint/2010/main" val="2264414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4137"/>
            <a:ext cx="10515600" cy="5732826"/>
          </a:xfrm>
        </p:spPr>
        <p:txBody>
          <a:bodyPr/>
          <a:lstStyle/>
          <a:p>
            <a:pPr>
              <a:buNone/>
            </a:pPr>
            <a:endParaRPr lang="en-US" dirty="0" smtClean="0">
              <a:latin typeface="Times New Roman" pitchFamily="18" charset="0"/>
              <a:cs typeface="Times New Roman" pitchFamily="18" charset="0"/>
            </a:endParaRP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Average Waiting time=(11+5+15+13)/4</a:t>
            </a:r>
          </a:p>
          <a:p>
            <a:pPr>
              <a:buNone/>
            </a:pPr>
            <a:r>
              <a:rPr lang="en-US" dirty="0" smtClean="0"/>
              <a:t>                                      = 11ms</a:t>
            </a:r>
          </a:p>
          <a:p>
            <a:pPr>
              <a:buNone/>
            </a:pPr>
            <a:r>
              <a:rPr lang="en-US" dirty="0" smtClean="0"/>
              <a:t>Average Turnaround time=(32+8+21+15)/4</a:t>
            </a:r>
          </a:p>
          <a:p>
            <a:pPr>
              <a:buNone/>
            </a:pPr>
            <a:r>
              <a:rPr lang="en-US" dirty="0" smtClean="0"/>
              <a:t>					=19 </a:t>
            </a:r>
            <a:r>
              <a:rPr lang="en-US" dirty="0" err="1" smtClean="0"/>
              <a:t>ms</a:t>
            </a:r>
            <a:endParaRPr lang="en-US" dirty="0"/>
          </a:p>
        </p:txBody>
      </p:sp>
      <p:graphicFrame>
        <p:nvGraphicFramePr>
          <p:cNvPr id="4" name="Table 3"/>
          <p:cNvGraphicFramePr>
            <a:graphicFrameLocks noGrp="1"/>
          </p:cNvGraphicFramePr>
          <p:nvPr/>
        </p:nvGraphicFramePr>
        <p:xfrm>
          <a:off x="1162594" y="719666"/>
          <a:ext cx="9562014" cy="2663615"/>
        </p:xfrm>
        <a:graphic>
          <a:graphicData uri="http://schemas.openxmlformats.org/drawingml/2006/table">
            <a:tbl>
              <a:tblPr firstRow="1" bandRow="1">
                <a:tableStyleId>{5C22544A-7EE6-4342-B048-85BDC9FD1C3A}</a:tableStyleId>
              </a:tblPr>
              <a:tblGrid>
                <a:gridCol w="1254035"/>
                <a:gridCol w="1489165"/>
                <a:gridCol w="1528355"/>
                <a:gridCol w="1815737"/>
                <a:gridCol w="1881053"/>
                <a:gridCol w="1593669"/>
              </a:tblGrid>
              <a:tr h="532723">
                <a:tc>
                  <a:txBody>
                    <a:bodyPr/>
                    <a:lstStyle/>
                    <a:p>
                      <a:r>
                        <a:rPr lang="en-US" dirty="0" smtClean="0"/>
                        <a:t>Process</a:t>
                      </a:r>
                      <a:endParaRPr lang="en-US" dirty="0"/>
                    </a:p>
                  </a:txBody>
                  <a:tcPr/>
                </a:tc>
                <a:tc>
                  <a:txBody>
                    <a:bodyPr/>
                    <a:lstStyle/>
                    <a:p>
                      <a:r>
                        <a:rPr lang="en-US" dirty="0" smtClean="0"/>
                        <a:t>Arrival time</a:t>
                      </a:r>
                      <a:endParaRPr lang="en-US" dirty="0"/>
                    </a:p>
                  </a:txBody>
                  <a:tcPr/>
                </a:tc>
                <a:tc>
                  <a:txBody>
                    <a:bodyPr/>
                    <a:lstStyle/>
                    <a:p>
                      <a:r>
                        <a:rPr lang="en-US" dirty="0" smtClean="0"/>
                        <a:t>Burst time</a:t>
                      </a:r>
                      <a:endParaRPr lang="en-US" dirty="0"/>
                    </a:p>
                  </a:txBody>
                  <a:tcPr/>
                </a:tc>
                <a:tc>
                  <a:txBody>
                    <a:bodyPr/>
                    <a:lstStyle/>
                    <a:p>
                      <a:r>
                        <a:rPr lang="en-US" dirty="0" smtClean="0"/>
                        <a:t>Completion time</a:t>
                      </a:r>
                      <a:endParaRPr lang="en-US" dirty="0"/>
                    </a:p>
                  </a:txBody>
                  <a:tcPr/>
                </a:tc>
                <a:tc>
                  <a:txBody>
                    <a:bodyPr/>
                    <a:lstStyle/>
                    <a:p>
                      <a:r>
                        <a:rPr lang="en-US" dirty="0" smtClean="0"/>
                        <a:t>Turnaround time</a:t>
                      </a:r>
                      <a:endParaRPr lang="en-US" dirty="0"/>
                    </a:p>
                  </a:txBody>
                  <a:tcPr/>
                </a:tc>
                <a:tc>
                  <a:txBody>
                    <a:bodyPr/>
                    <a:lstStyle/>
                    <a:p>
                      <a:r>
                        <a:rPr lang="en-US" dirty="0" smtClean="0"/>
                        <a:t>Waiting time</a:t>
                      </a:r>
                      <a:endParaRPr lang="en-US" dirty="0"/>
                    </a:p>
                  </a:txBody>
                  <a:tcPr/>
                </a:tc>
              </a:tr>
              <a:tr h="532723">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21</a:t>
                      </a:r>
                      <a:endParaRPr lang="en-US" dirty="0"/>
                    </a:p>
                  </a:txBody>
                  <a:tcPr/>
                </a:tc>
                <a:tc>
                  <a:txBody>
                    <a:bodyPr/>
                    <a:lstStyle/>
                    <a:p>
                      <a:r>
                        <a:rPr lang="en-US" dirty="0" smtClean="0"/>
                        <a:t>32</a:t>
                      </a:r>
                      <a:endParaRPr lang="en-US" dirty="0"/>
                    </a:p>
                  </a:txBody>
                  <a:tcPr/>
                </a:tc>
                <a:tc>
                  <a:txBody>
                    <a:bodyPr/>
                    <a:lstStyle/>
                    <a:p>
                      <a:r>
                        <a:rPr lang="en-US" dirty="0" smtClean="0"/>
                        <a:t>32-0=32</a:t>
                      </a:r>
                      <a:endParaRPr lang="en-US" dirty="0"/>
                    </a:p>
                  </a:txBody>
                  <a:tcPr/>
                </a:tc>
                <a:tc>
                  <a:txBody>
                    <a:bodyPr/>
                    <a:lstStyle/>
                    <a:p>
                      <a:r>
                        <a:rPr lang="en-US" dirty="0" smtClean="0"/>
                        <a:t>32-21=11</a:t>
                      </a:r>
                      <a:endParaRPr lang="en-US" dirty="0"/>
                    </a:p>
                  </a:txBody>
                  <a:tcPr/>
                </a:tc>
              </a:tr>
              <a:tr h="532723">
                <a:tc>
                  <a:txBody>
                    <a:bodyPr/>
                    <a:lstStyle/>
                    <a:p>
                      <a:r>
                        <a:rPr lang="en-US" dirty="0" smtClean="0"/>
                        <a:t>P2</a:t>
                      </a:r>
                      <a:endParaRPr lang="en-US" dirty="0"/>
                    </a:p>
                  </a:txBody>
                  <a:tcPr/>
                </a:tc>
                <a:tc>
                  <a:txBody>
                    <a:bodyPr/>
                    <a:lstStyle/>
                    <a:p>
                      <a:r>
                        <a:rPr lang="en-US" dirty="0" smtClean="0"/>
                        <a:t>0</a:t>
                      </a:r>
                      <a:endParaRPr lang="en-US" dirty="0"/>
                    </a:p>
                  </a:txBody>
                  <a:tcPr/>
                </a:tc>
                <a:tc>
                  <a:txBody>
                    <a:bodyPr/>
                    <a:lstStyle/>
                    <a:p>
                      <a:r>
                        <a:rPr lang="en-US" dirty="0" smtClean="0"/>
                        <a:t>3</a:t>
                      </a:r>
                      <a:endParaRPr lang="en-US" dirty="0"/>
                    </a:p>
                  </a:txBody>
                  <a:tcPr/>
                </a:tc>
                <a:tc>
                  <a:txBody>
                    <a:bodyPr/>
                    <a:lstStyle/>
                    <a:p>
                      <a:r>
                        <a:rPr lang="en-US" dirty="0" smtClean="0"/>
                        <a:t>8</a:t>
                      </a:r>
                      <a:endParaRPr lang="en-US" dirty="0"/>
                    </a:p>
                  </a:txBody>
                  <a:tcPr/>
                </a:tc>
                <a:tc>
                  <a:txBody>
                    <a:bodyPr/>
                    <a:lstStyle/>
                    <a:p>
                      <a:r>
                        <a:rPr lang="en-US" dirty="0" smtClean="0"/>
                        <a:t>8-0=8</a:t>
                      </a:r>
                      <a:endParaRPr lang="en-US" dirty="0"/>
                    </a:p>
                  </a:txBody>
                  <a:tcPr/>
                </a:tc>
                <a:tc>
                  <a:txBody>
                    <a:bodyPr/>
                    <a:lstStyle/>
                    <a:p>
                      <a:r>
                        <a:rPr lang="en-US" dirty="0" smtClean="0"/>
                        <a:t>8-3=5</a:t>
                      </a:r>
                      <a:endParaRPr lang="en-US" dirty="0"/>
                    </a:p>
                  </a:txBody>
                  <a:tcPr/>
                </a:tc>
              </a:tr>
              <a:tr h="532723">
                <a:tc>
                  <a:txBody>
                    <a:bodyPr/>
                    <a:lstStyle/>
                    <a:p>
                      <a:r>
                        <a:rPr lang="en-US" dirty="0" smtClean="0"/>
                        <a:t>P3</a:t>
                      </a:r>
                      <a:endParaRPr lang="en-US" dirty="0"/>
                    </a:p>
                  </a:txBody>
                  <a:tcPr/>
                </a:tc>
                <a:tc>
                  <a:txBody>
                    <a:bodyPr/>
                    <a:lstStyle/>
                    <a:p>
                      <a:r>
                        <a:rPr lang="en-US" dirty="0" smtClean="0"/>
                        <a:t>0</a:t>
                      </a:r>
                      <a:endParaRPr lang="en-US" dirty="0"/>
                    </a:p>
                  </a:txBody>
                  <a:tcPr/>
                </a:tc>
                <a:tc>
                  <a:txBody>
                    <a:bodyPr/>
                    <a:lstStyle/>
                    <a:p>
                      <a:r>
                        <a:rPr lang="en-US" dirty="0" smtClean="0"/>
                        <a:t>6</a:t>
                      </a:r>
                      <a:endParaRPr lang="en-US" dirty="0"/>
                    </a:p>
                  </a:txBody>
                  <a:tcPr/>
                </a:tc>
                <a:tc>
                  <a:txBody>
                    <a:bodyPr/>
                    <a:lstStyle/>
                    <a:p>
                      <a:r>
                        <a:rPr lang="en-US" dirty="0" smtClean="0"/>
                        <a:t>21</a:t>
                      </a:r>
                      <a:endParaRPr lang="en-US" dirty="0"/>
                    </a:p>
                  </a:txBody>
                  <a:tcPr/>
                </a:tc>
                <a:tc>
                  <a:txBody>
                    <a:bodyPr/>
                    <a:lstStyle/>
                    <a:p>
                      <a:r>
                        <a:rPr lang="en-US" dirty="0" smtClean="0"/>
                        <a:t>21-0=21</a:t>
                      </a:r>
                      <a:endParaRPr lang="en-US" dirty="0"/>
                    </a:p>
                  </a:txBody>
                  <a:tcPr/>
                </a:tc>
                <a:tc>
                  <a:txBody>
                    <a:bodyPr/>
                    <a:lstStyle/>
                    <a:p>
                      <a:r>
                        <a:rPr lang="en-US" dirty="0" smtClean="0"/>
                        <a:t>21-6=15</a:t>
                      </a:r>
                      <a:endParaRPr lang="en-US" dirty="0"/>
                    </a:p>
                  </a:txBody>
                  <a:tcPr/>
                </a:tc>
              </a:tr>
              <a:tr h="532723">
                <a:tc>
                  <a:txBody>
                    <a:bodyPr/>
                    <a:lstStyle/>
                    <a:p>
                      <a:r>
                        <a:rPr lang="en-US" dirty="0" smtClean="0"/>
                        <a:t>P4</a:t>
                      </a:r>
                      <a:endParaRPr lang="en-US" dirty="0"/>
                    </a:p>
                  </a:txBody>
                  <a:tcPr/>
                </a:tc>
                <a:tc>
                  <a:txBody>
                    <a:bodyPr/>
                    <a:lstStyle/>
                    <a:p>
                      <a:r>
                        <a:rPr lang="en-US" dirty="0" smtClean="0"/>
                        <a:t>0</a:t>
                      </a:r>
                      <a:endParaRPr lang="en-US" dirty="0"/>
                    </a:p>
                  </a:txBody>
                  <a:tcPr/>
                </a:tc>
                <a:tc>
                  <a:txBody>
                    <a:bodyPr/>
                    <a:lstStyle/>
                    <a:p>
                      <a:r>
                        <a:rPr lang="en-US" dirty="0" smtClean="0"/>
                        <a:t>2</a:t>
                      </a:r>
                      <a:endParaRPr lang="en-US" dirty="0"/>
                    </a:p>
                  </a:txBody>
                  <a:tcPr/>
                </a:tc>
                <a:tc>
                  <a:txBody>
                    <a:bodyPr/>
                    <a:lstStyle/>
                    <a:p>
                      <a:r>
                        <a:rPr lang="en-US" dirty="0" smtClean="0"/>
                        <a:t>15</a:t>
                      </a:r>
                      <a:endParaRPr lang="en-US" dirty="0"/>
                    </a:p>
                  </a:txBody>
                  <a:tcPr/>
                </a:tc>
                <a:tc>
                  <a:txBody>
                    <a:bodyPr/>
                    <a:lstStyle/>
                    <a:p>
                      <a:r>
                        <a:rPr lang="en-US" dirty="0" smtClean="0"/>
                        <a:t>15-0=15</a:t>
                      </a:r>
                      <a:endParaRPr lang="en-US" dirty="0"/>
                    </a:p>
                  </a:txBody>
                  <a:tcPr/>
                </a:tc>
                <a:tc>
                  <a:txBody>
                    <a:bodyPr/>
                    <a:lstStyle/>
                    <a:p>
                      <a:r>
                        <a:rPr lang="en-US" dirty="0" smtClean="0"/>
                        <a:t>15-2=13</a:t>
                      </a:r>
                      <a:endParaRPr lang="en-US" dirty="0"/>
                    </a:p>
                  </a:txBody>
                  <a:tcPr/>
                </a:tc>
              </a:tr>
            </a:tbl>
          </a:graphicData>
        </a:graphic>
      </p:graphicFrame>
    </p:spTree>
    <p:extLst>
      <p:ext uri="{BB962C8B-B14F-4D97-AF65-F5344CB8AC3E}">
        <p14:creationId xmlns:p14="http://schemas.microsoft.com/office/powerpoint/2010/main" val="22149054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182246"/>
            <a:ext cx="10515600" cy="627652"/>
          </a:xfrm>
        </p:spPr>
        <p:txBody>
          <a:bodyPr>
            <a:normAutofit fontScale="90000"/>
          </a:bodyPr>
          <a:lstStyle/>
          <a:p>
            <a:pPr algn="ctr"/>
            <a:r>
              <a:rPr lang="en-US" b="1" dirty="0" smtClean="0">
                <a:latin typeface="Times New Roman" pitchFamily="18" charset="0"/>
                <a:cs typeface="Times New Roman" pitchFamily="18" charset="0"/>
              </a:rPr>
              <a:t>Priority Scheduling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199" y="862149"/>
            <a:ext cx="11009811" cy="5812971"/>
          </a:xfrm>
        </p:spPr>
        <p:txBody>
          <a:bodyPr>
            <a:normAutofit fontScale="62500" lnSpcReduction="20000"/>
          </a:bodyPr>
          <a:lstStyle/>
          <a:p>
            <a:pPr algn="just">
              <a:lnSpc>
                <a:spcPct val="120000"/>
              </a:lnSpc>
            </a:pPr>
            <a:r>
              <a:rPr lang="en-US" b="1" dirty="0" smtClean="0">
                <a:latin typeface="Times New Roman" pitchFamily="18" charset="0"/>
                <a:cs typeface="Times New Roman" pitchFamily="18" charset="0"/>
              </a:rPr>
              <a:t>Priority Scheduling</a:t>
            </a:r>
            <a:r>
              <a:rPr lang="en-US" dirty="0" smtClean="0">
                <a:latin typeface="Times New Roman" pitchFamily="18" charset="0"/>
                <a:cs typeface="Times New Roman" pitchFamily="18" charset="0"/>
              </a:rPr>
              <a:t> is a method of scheduling processes that is based on priority.</a:t>
            </a:r>
          </a:p>
          <a:p>
            <a:pPr algn="just">
              <a:lnSpc>
                <a:spcPct val="120000"/>
              </a:lnSpc>
            </a:pPr>
            <a:r>
              <a:rPr lang="en-US" dirty="0" smtClean="0">
                <a:latin typeface="Times New Roman" pitchFamily="18" charset="0"/>
                <a:cs typeface="Times New Roman" pitchFamily="18" charset="0"/>
              </a:rPr>
              <a:t> In this algorithm, the scheduler selects the tasks to work as per the priority.</a:t>
            </a:r>
          </a:p>
          <a:p>
            <a:pPr algn="just">
              <a:lnSpc>
                <a:spcPct val="120000"/>
              </a:lnSpc>
            </a:pPr>
            <a:r>
              <a:rPr lang="en-US" dirty="0" smtClean="0">
                <a:latin typeface="Times New Roman" pitchFamily="18" charset="0"/>
                <a:cs typeface="Times New Roman" pitchFamily="18" charset="0"/>
              </a:rPr>
              <a:t>The processes with higher priority should be carried out first, whereas jobs with equal priorities are carried out on a round-robin or FCFS basis. </a:t>
            </a:r>
          </a:p>
          <a:p>
            <a:pPr algn="just">
              <a:lnSpc>
                <a:spcPct val="120000"/>
              </a:lnSpc>
            </a:pPr>
            <a:r>
              <a:rPr lang="en-US" dirty="0" smtClean="0">
                <a:latin typeface="Times New Roman" pitchFamily="18" charset="0"/>
                <a:cs typeface="Times New Roman" pitchFamily="18" charset="0"/>
              </a:rPr>
              <a:t>Priority depends upon memory requirements, time requirements etc.</a:t>
            </a:r>
          </a:p>
          <a:p>
            <a:pPr algn="just">
              <a:lnSpc>
                <a:spcPct val="120000"/>
              </a:lnSpc>
            </a:pPr>
            <a:r>
              <a:rPr lang="en-US" dirty="0" smtClean="0">
                <a:latin typeface="Times New Roman" pitchFamily="18" charset="0"/>
                <a:cs typeface="Times New Roman" pitchFamily="18" charset="0"/>
              </a:rPr>
              <a:t>Priority scheduling can be of two types:</a:t>
            </a:r>
          </a:p>
          <a:p>
            <a:pPr algn="just">
              <a:lnSpc>
                <a:spcPct val="170000"/>
              </a:lnSpc>
              <a:buNone/>
            </a:pPr>
            <a:r>
              <a:rPr lang="en-US" b="1" dirty="0" smtClean="0">
                <a:latin typeface="Times New Roman" pitchFamily="18" charset="0"/>
                <a:cs typeface="Times New Roman" pitchFamily="18" charset="0"/>
              </a:rPr>
              <a:t>Preemptive Priority Scheduling</a:t>
            </a:r>
            <a:r>
              <a:rPr lang="en-US" dirty="0" smtClean="0">
                <a:latin typeface="Times New Roman" pitchFamily="18" charset="0"/>
                <a:cs typeface="Times New Roman" pitchFamily="18" charset="0"/>
              </a:rPr>
              <a:t>: If the new process arrived at the ready queue has a higher priority than the currently running process, the CPU is preempted, which means the processing of the current process is stopped and the incoming new process with higher priority gets the CPU for its execution.</a:t>
            </a:r>
          </a:p>
          <a:p>
            <a:pPr algn="just">
              <a:lnSpc>
                <a:spcPct val="170000"/>
              </a:lnSpc>
              <a:buNone/>
            </a:pPr>
            <a:r>
              <a:rPr lang="en-US" b="1" dirty="0" smtClean="0">
                <a:latin typeface="Times New Roman" pitchFamily="18" charset="0"/>
                <a:cs typeface="Times New Roman" pitchFamily="18" charset="0"/>
              </a:rPr>
              <a:t>Non-Preemptive Priority Scheduling</a:t>
            </a:r>
            <a:r>
              <a:rPr lang="en-US" dirty="0" smtClean="0">
                <a:latin typeface="Times New Roman" pitchFamily="18" charset="0"/>
                <a:cs typeface="Times New Roman" pitchFamily="18" charset="0"/>
              </a:rPr>
              <a:t>: In case of non-preemptive priority scheduling algorithm if a new process arrives with a higher priority than the current running process, the incoming process is put at the head of the ready queue, which means after the execution of the current process it will be processed.</a:t>
            </a:r>
          </a:p>
          <a:p>
            <a:pPr algn="just">
              <a:lnSpc>
                <a:spcPct val="120000"/>
              </a:lnSpc>
            </a:pP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smtClean="0">
              <a:latin typeface="Times New Roman" pitchFamily="18" charset="0"/>
              <a:cs typeface="Times New Roman" pitchFamily="18" charset="0"/>
            </a:endParaRPr>
          </a:p>
          <a:p>
            <a:pPr algn="just">
              <a:lnSpc>
                <a:spcPct val="120000"/>
              </a:lnSpc>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8395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6571"/>
            <a:ext cx="10515600" cy="5850392"/>
          </a:xfrm>
        </p:spPr>
        <p:txBody>
          <a:bodyPr/>
          <a:lstStyle/>
          <a:p>
            <a:pPr>
              <a:buNone/>
            </a:pPr>
            <a:r>
              <a:rPr lang="en-US" b="1" dirty="0" smtClean="0"/>
              <a:t>Example : Non-preemptive Priority scheduling</a:t>
            </a:r>
          </a:p>
          <a:p>
            <a:r>
              <a:rPr lang="en-US" dirty="0" smtClean="0"/>
              <a:t>Consider following four processes P1 to P4. Each process has its unique priority, burst time, and arrival time.</a:t>
            </a:r>
          </a:p>
          <a:p>
            <a:endParaRPr lang="en-US" dirty="0" smtClean="0"/>
          </a:p>
          <a:p>
            <a:endParaRPr lang="en-US" dirty="0" smtClean="0"/>
          </a:p>
          <a:p>
            <a:endParaRPr lang="en-US" dirty="0" smtClean="0"/>
          </a:p>
          <a:p>
            <a:endParaRPr lang="en-US" dirty="0" smtClean="0"/>
          </a:p>
          <a:p>
            <a:endParaRPr lang="en-US" dirty="0" smtClean="0"/>
          </a:p>
          <a:p>
            <a:pPr>
              <a:buNone/>
            </a:pPr>
            <a:r>
              <a:rPr lang="en-US" dirty="0" smtClean="0"/>
              <a:t> Gantt chart:</a:t>
            </a:r>
          </a:p>
          <a:p>
            <a:endParaRPr lang="en-US" dirty="0"/>
          </a:p>
        </p:txBody>
      </p:sp>
      <p:graphicFrame>
        <p:nvGraphicFramePr>
          <p:cNvPr id="4" name="Table 3"/>
          <p:cNvGraphicFramePr>
            <a:graphicFrameLocks noGrp="1"/>
          </p:cNvGraphicFramePr>
          <p:nvPr/>
        </p:nvGraphicFramePr>
        <p:xfrm>
          <a:off x="1561738" y="2025951"/>
          <a:ext cx="8128000" cy="18542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r>
                        <a:rPr lang="en-US" dirty="0" smtClean="0"/>
                        <a:t>Process</a:t>
                      </a:r>
                      <a:endParaRPr lang="en-US" dirty="0"/>
                    </a:p>
                  </a:txBody>
                  <a:tcPr/>
                </a:tc>
                <a:tc>
                  <a:txBody>
                    <a:bodyPr/>
                    <a:lstStyle/>
                    <a:p>
                      <a:r>
                        <a:rPr lang="en-US" dirty="0" smtClean="0"/>
                        <a:t>Arrival Time</a:t>
                      </a:r>
                      <a:endParaRPr lang="en-US" dirty="0"/>
                    </a:p>
                  </a:txBody>
                  <a:tcPr/>
                </a:tc>
                <a:tc>
                  <a:txBody>
                    <a:bodyPr/>
                    <a:lstStyle/>
                    <a:p>
                      <a:r>
                        <a:rPr lang="en-US" dirty="0" smtClean="0"/>
                        <a:t>Burst</a:t>
                      </a:r>
                      <a:r>
                        <a:rPr lang="en-US" baseline="0" dirty="0" smtClean="0"/>
                        <a:t> Time</a:t>
                      </a:r>
                      <a:endParaRPr lang="en-US" dirty="0"/>
                    </a:p>
                  </a:txBody>
                  <a:tcPr/>
                </a:tc>
                <a:tc>
                  <a:txBody>
                    <a:bodyPr/>
                    <a:lstStyle/>
                    <a:p>
                      <a:r>
                        <a:rPr lang="en-US" dirty="0" smtClean="0"/>
                        <a:t>Priority</a:t>
                      </a:r>
                      <a:endParaRPr lang="en-US" dirty="0"/>
                    </a:p>
                  </a:txBody>
                  <a:tcPr/>
                </a:tc>
              </a:tr>
              <a:tr h="370840">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10</a:t>
                      </a:r>
                      <a:endParaRPr lang="en-US" dirty="0"/>
                    </a:p>
                  </a:txBody>
                  <a:tcPr/>
                </a:tc>
                <a:tc>
                  <a:txBody>
                    <a:bodyPr/>
                    <a:lstStyle/>
                    <a:p>
                      <a:r>
                        <a:rPr lang="en-US" dirty="0" smtClean="0"/>
                        <a:t>3 (L)</a:t>
                      </a:r>
                      <a:endParaRPr lang="en-US" dirty="0"/>
                    </a:p>
                  </a:txBody>
                  <a:tcPr/>
                </a:tc>
              </a:tr>
              <a:tr h="370840">
                <a:tc>
                  <a:txBody>
                    <a:bodyPr/>
                    <a:lstStyle/>
                    <a:p>
                      <a:r>
                        <a:rPr lang="en-US" dirty="0" smtClean="0"/>
                        <a:t>P2</a:t>
                      </a:r>
                      <a:endParaRPr lang="en-US" dirty="0"/>
                    </a:p>
                  </a:txBody>
                  <a:tcPr/>
                </a:tc>
                <a:tc>
                  <a:txBody>
                    <a:bodyPr/>
                    <a:lstStyle/>
                    <a:p>
                      <a:r>
                        <a:rPr lang="en-US" dirty="0" smtClean="0"/>
                        <a:t>1</a:t>
                      </a:r>
                      <a:endParaRPr lang="en-US" dirty="0"/>
                    </a:p>
                  </a:txBody>
                  <a:tcPr/>
                </a:tc>
                <a:tc>
                  <a:txBody>
                    <a:bodyPr/>
                    <a:lstStyle/>
                    <a:p>
                      <a:r>
                        <a:rPr lang="en-US" dirty="0" smtClean="0"/>
                        <a:t>6</a:t>
                      </a:r>
                      <a:endParaRPr lang="en-US" dirty="0"/>
                    </a:p>
                  </a:txBody>
                  <a:tcPr/>
                </a:tc>
                <a:tc>
                  <a:txBody>
                    <a:bodyPr/>
                    <a:lstStyle/>
                    <a:p>
                      <a:r>
                        <a:rPr lang="en-US" dirty="0" smtClean="0"/>
                        <a:t>2</a:t>
                      </a:r>
                      <a:endParaRPr lang="en-US" dirty="0"/>
                    </a:p>
                  </a:txBody>
                  <a:tcPr/>
                </a:tc>
              </a:tr>
              <a:tr h="370840">
                <a:tc>
                  <a:txBody>
                    <a:bodyPr/>
                    <a:lstStyle/>
                    <a:p>
                      <a:r>
                        <a:rPr lang="en-US" dirty="0" smtClean="0"/>
                        <a:t>P3</a:t>
                      </a:r>
                      <a:endParaRPr lang="en-US" dirty="0"/>
                    </a:p>
                  </a:txBody>
                  <a:tcPr/>
                </a:tc>
                <a:tc>
                  <a:txBody>
                    <a:bodyPr/>
                    <a:lstStyle/>
                    <a:p>
                      <a:r>
                        <a:rPr lang="en-US" dirty="0" smtClean="0"/>
                        <a:t>3</a:t>
                      </a:r>
                      <a:endParaRPr lang="en-US" dirty="0"/>
                    </a:p>
                  </a:txBody>
                  <a:tcPr/>
                </a:tc>
                <a:tc>
                  <a:txBody>
                    <a:bodyPr/>
                    <a:lstStyle/>
                    <a:p>
                      <a:r>
                        <a:rPr lang="en-US" dirty="0" smtClean="0"/>
                        <a:t>2</a:t>
                      </a:r>
                      <a:endParaRPr lang="en-US" dirty="0"/>
                    </a:p>
                  </a:txBody>
                  <a:tcPr/>
                </a:tc>
                <a:tc>
                  <a:txBody>
                    <a:bodyPr/>
                    <a:lstStyle/>
                    <a:p>
                      <a:r>
                        <a:rPr lang="en-US" dirty="0" smtClean="0"/>
                        <a:t>1</a:t>
                      </a:r>
                      <a:endParaRPr lang="en-US" dirty="0"/>
                    </a:p>
                  </a:txBody>
                  <a:tcPr/>
                </a:tc>
              </a:tr>
              <a:tr h="370840">
                <a:tc>
                  <a:txBody>
                    <a:bodyPr/>
                    <a:lstStyle/>
                    <a:p>
                      <a:r>
                        <a:rPr lang="en-US" dirty="0" smtClean="0"/>
                        <a:t>p4</a:t>
                      </a:r>
                      <a:endParaRPr lang="en-US" dirty="0"/>
                    </a:p>
                  </a:txBody>
                  <a:tcPr/>
                </a:tc>
                <a:tc>
                  <a:txBody>
                    <a:bodyPr/>
                    <a:lstStyle/>
                    <a:p>
                      <a:r>
                        <a:rPr lang="en-US" dirty="0" smtClean="0"/>
                        <a:t>5</a:t>
                      </a:r>
                      <a:endParaRPr lang="en-US" dirty="0"/>
                    </a:p>
                  </a:txBody>
                  <a:tcPr/>
                </a:tc>
                <a:tc>
                  <a:txBody>
                    <a:bodyPr/>
                    <a:lstStyle/>
                    <a:p>
                      <a:r>
                        <a:rPr lang="en-US" dirty="0" smtClean="0"/>
                        <a:t>4</a:t>
                      </a:r>
                      <a:endParaRPr lang="en-US" dirty="0"/>
                    </a:p>
                  </a:txBody>
                  <a:tcPr/>
                </a:tc>
                <a:tc>
                  <a:txBody>
                    <a:bodyPr/>
                    <a:lstStyle/>
                    <a:p>
                      <a:r>
                        <a:rPr lang="en-US" dirty="0" smtClean="0"/>
                        <a:t>0 (H)</a:t>
                      </a:r>
                      <a:endParaRPr lang="en-US" dirty="0"/>
                    </a:p>
                  </a:txBody>
                  <a:tcPr/>
                </a:tc>
              </a:tr>
            </a:tbl>
          </a:graphicData>
        </a:graphic>
      </p:graphicFrame>
      <p:pic>
        <p:nvPicPr>
          <p:cNvPr id="5" name="Picture 4" descr="s5.PNG"/>
          <p:cNvPicPr>
            <a:picLocks noChangeAspect="1"/>
          </p:cNvPicPr>
          <p:nvPr/>
        </p:nvPicPr>
        <p:blipFill>
          <a:blip r:embed="rId2"/>
          <a:stretch>
            <a:fillRect/>
          </a:stretch>
        </p:blipFill>
        <p:spPr>
          <a:xfrm>
            <a:off x="1565347" y="4676505"/>
            <a:ext cx="8414675" cy="1685108"/>
          </a:xfrm>
          <a:prstGeom prst="rect">
            <a:avLst/>
          </a:prstGeom>
        </p:spPr>
      </p:pic>
    </p:spTree>
    <p:extLst>
      <p:ext uri="{BB962C8B-B14F-4D97-AF65-F5344CB8AC3E}">
        <p14:creationId xmlns:p14="http://schemas.microsoft.com/office/powerpoint/2010/main" val="431565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1703"/>
            <a:ext cx="10515600" cy="5615260"/>
          </a:xfrm>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Average waiting time= (0+15+11+5)/4</a:t>
            </a:r>
          </a:p>
          <a:p>
            <a:pPr>
              <a:buNone/>
            </a:pPr>
            <a:r>
              <a:rPr lang="en-US" dirty="0" smtClean="0"/>
              <a:t>                                      =7.75 ms</a:t>
            </a:r>
          </a:p>
          <a:p>
            <a:pPr>
              <a:buNone/>
            </a:pPr>
            <a:r>
              <a:rPr lang="en-US" dirty="0" smtClean="0"/>
              <a:t>Average turnaround time= (10+21+13+9)/4</a:t>
            </a:r>
          </a:p>
          <a:p>
            <a:pPr>
              <a:buNone/>
            </a:pPr>
            <a:r>
              <a:rPr lang="en-US" dirty="0" smtClean="0"/>
              <a:t>                                              =13.25 ms</a:t>
            </a:r>
            <a:endParaRPr lang="en-US" dirty="0"/>
          </a:p>
        </p:txBody>
      </p:sp>
      <p:graphicFrame>
        <p:nvGraphicFramePr>
          <p:cNvPr id="4" name="Table 3"/>
          <p:cNvGraphicFramePr>
            <a:graphicFrameLocks noGrp="1"/>
          </p:cNvGraphicFramePr>
          <p:nvPr/>
        </p:nvGraphicFramePr>
        <p:xfrm>
          <a:off x="1084214" y="719666"/>
          <a:ext cx="9653454" cy="1854200"/>
        </p:xfrm>
        <a:graphic>
          <a:graphicData uri="http://schemas.openxmlformats.org/drawingml/2006/table">
            <a:tbl>
              <a:tblPr firstRow="1" bandRow="1">
                <a:tableStyleId>{5C22544A-7EE6-4342-B048-85BDC9FD1C3A}</a:tableStyleId>
              </a:tblPr>
              <a:tblGrid>
                <a:gridCol w="1214849"/>
                <a:gridCol w="1541417"/>
                <a:gridCol w="1332411"/>
                <a:gridCol w="2076995"/>
                <a:gridCol w="1878873"/>
                <a:gridCol w="1608909"/>
              </a:tblGrid>
              <a:tr h="370840">
                <a:tc>
                  <a:txBody>
                    <a:bodyPr/>
                    <a:lstStyle/>
                    <a:p>
                      <a:r>
                        <a:rPr lang="en-US" dirty="0" smtClean="0"/>
                        <a:t>Process</a:t>
                      </a:r>
                      <a:endParaRPr lang="en-US" dirty="0"/>
                    </a:p>
                  </a:txBody>
                  <a:tcPr/>
                </a:tc>
                <a:tc>
                  <a:txBody>
                    <a:bodyPr/>
                    <a:lstStyle/>
                    <a:p>
                      <a:r>
                        <a:rPr lang="en-US" dirty="0" smtClean="0"/>
                        <a:t>Arrival Time</a:t>
                      </a:r>
                      <a:endParaRPr lang="en-US" dirty="0"/>
                    </a:p>
                  </a:txBody>
                  <a:tcPr/>
                </a:tc>
                <a:tc>
                  <a:txBody>
                    <a:bodyPr/>
                    <a:lstStyle/>
                    <a:p>
                      <a:r>
                        <a:rPr lang="en-US" dirty="0" smtClean="0"/>
                        <a:t>Burst Time</a:t>
                      </a:r>
                      <a:endParaRPr lang="en-US" dirty="0"/>
                    </a:p>
                  </a:txBody>
                  <a:tcPr/>
                </a:tc>
                <a:tc>
                  <a:txBody>
                    <a:bodyPr/>
                    <a:lstStyle/>
                    <a:p>
                      <a:r>
                        <a:rPr lang="en-US" dirty="0" smtClean="0"/>
                        <a:t>Completion Time</a:t>
                      </a:r>
                      <a:endParaRPr lang="en-US" dirty="0"/>
                    </a:p>
                  </a:txBody>
                  <a:tcPr/>
                </a:tc>
                <a:tc>
                  <a:txBody>
                    <a:bodyPr/>
                    <a:lstStyle/>
                    <a:p>
                      <a:r>
                        <a:rPr lang="en-US" dirty="0" smtClean="0"/>
                        <a:t>Turnaround Time</a:t>
                      </a:r>
                      <a:endParaRPr lang="en-US" dirty="0"/>
                    </a:p>
                  </a:txBody>
                  <a:tcPr/>
                </a:tc>
                <a:tc>
                  <a:txBody>
                    <a:bodyPr/>
                    <a:lstStyle/>
                    <a:p>
                      <a:r>
                        <a:rPr lang="en-US" dirty="0" smtClean="0"/>
                        <a:t>Waiting Time</a:t>
                      </a:r>
                      <a:endParaRPr lang="en-US" dirty="0"/>
                    </a:p>
                  </a:txBody>
                  <a:tcPr/>
                </a:tc>
              </a:tr>
              <a:tr h="370840">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10</a:t>
                      </a:r>
                      <a:endParaRPr lang="en-US" dirty="0"/>
                    </a:p>
                  </a:txBody>
                  <a:tcPr/>
                </a:tc>
                <a:tc>
                  <a:txBody>
                    <a:bodyPr/>
                    <a:lstStyle/>
                    <a:p>
                      <a:r>
                        <a:rPr lang="en-US" dirty="0" smtClean="0"/>
                        <a:t>10</a:t>
                      </a:r>
                      <a:endParaRPr lang="en-US" dirty="0"/>
                    </a:p>
                  </a:txBody>
                  <a:tcPr/>
                </a:tc>
                <a:tc>
                  <a:txBody>
                    <a:bodyPr/>
                    <a:lstStyle/>
                    <a:p>
                      <a:r>
                        <a:rPr lang="en-US" dirty="0" smtClean="0"/>
                        <a:t>10-0=10</a:t>
                      </a:r>
                      <a:endParaRPr lang="en-US" dirty="0"/>
                    </a:p>
                  </a:txBody>
                  <a:tcPr/>
                </a:tc>
                <a:tc>
                  <a:txBody>
                    <a:bodyPr/>
                    <a:lstStyle/>
                    <a:p>
                      <a:r>
                        <a:rPr lang="en-US" dirty="0" smtClean="0"/>
                        <a:t>10-10=0</a:t>
                      </a:r>
                      <a:endParaRPr lang="en-US" dirty="0"/>
                    </a:p>
                  </a:txBody>
                  <a:tcPr/>
                </a:tc>
              </a:tr>
              <a:tr h="370840">
                <a:tc>
                  <a:txBody>
                    <a:bodyPr/>
                    <a:lstStyle/>
                    <a:p>
                      <a:r>
                        <a:rPr lang="en-US" dirty="0" smtClean="0"/>
                        <a:t>P2</a:t>
                      </a:r>
                      <a:endParaRPr lang="en-US" dirty="0"/>
                    </a:p>
                  </a:txBody>
                  <a:tcPr/>
                </a:tc>
                <a:tc>
                  <a:txBody>
                    <a:bodyPr/>
                    <a:lstStyle/>
                    <a:p>
                      <a:r>
                        <a:rPr lang="en-US" dirty="0" smtClean="0"/>
                        <a:t>1</a:t>
                      </a:r>
                      <a:endParaRPr lang="en-US" dirty="0"/>
                    </a:p>
                  </a:txBody>
                  <a:tcPr/>
                </a:tc>
                <a:tc>
                  <a:txBody>
                    <a:bodyPr/>
                    <a:lstStyle/>
                    <a:p>
                      <a:r>
                        <a:rPr lang="en-US" dirty="0" smtClean="0"/>
                        <a:t>6</a:t>
                      </a:r>
                      <a:endParaRPr lang="en-US" dirty="0"/>
                    </a:p>
                  </a:txBody>
                  <a:tcPr/>
                </a:tc>
                <a:tc>
                  <a:txBody>
                    <a:bodyPr/>
                    <a:lstStyle/>
                    <a:p>
                      <a:r>
                        <a:rPr lang="en-US" dirty="0" smtClean="0"/>
                        <a:t>22</a:t>
                      </a:r>
                      <a:endParaRPr lang="en-US" dirty="0"/>
                    </a:p>
                  </a:txBody>
                  <a:tcPr/>
                </a:tc>
                <a:tc>
                  <a:txBody>
                    <a:bodyPr/>
                    <a:lstStyle/>
                    <a:p>
                      <a:r>
                        <a:rPr lang="en-US" dirty="0" smtClean="0"/>
                        <a:t>22-1=21</a:t>
                      </a:r>
                      <a:endParaRPr lang="en-US" dirty="0"/>
                    </a:p>
                  </a:txBody>
                  <a:tcPr/>
                </a:tc>
                <a:tc>
                  <a:txBody>
                    <a:bodyPr/>
                    <a:lstStyle/>
                    <a:p>
                      <a:r>
                        <a:rPr lang="en-US" dirty="0" smtClean="0"/>
                        <a:t>21-6=15</a:t>
                      </a:r>
                      <a:endParaRPr lang="en-US" dirty="0"/>
                    </a:p>
                  </a:txBody>
                  <a:tcPr/>
                </a:tc>
              </a:tr>
              <a:tr h="370840">
                <a:tc>
                  <a:txBody>
                    <a:bodyPr/>
                    <a:lstStyle/>
                    <a:p>
                      <a:r>
                        <a:rPr lang="en-US" dirty="0" smtClean="0"/>
                        <a:t>P3</a:t>
                      </a:r>
                      <a:endParaRPr lang="en-US" dirty="0"/>
                    </a:p>
                  </a:txBody>
                  <a:tcPr/>
                </a:tc>
                <a:tc>
                  <a:txBody>
                    <a:bodyPr/>
                    <a:lstStyle/>
                    <a:p>
                      <a:r>
                        <a:rPr lang="en-US" dirty="0" smtClean="0"/>
                        <a:t>3</a:t>
                      </a:r>
                      <a:endParaRPr lang="en-US" dirty="0"/>
                    </a:p>
                  </a:txBody>
                  <a:tcPr/>
                </a:tc>
                <a:tc>
                  <a:txBody>
                    <a:bodyPr/>
                    <a:lstStyle/>
                    <a:p>
                      <a:r>
                        <a:rPr lang="en-US" dirty="0" smtClean="0"/>
                        <a:t>2</a:t>
                      </a:r>
                      <a:endParaRPr lang="en-US" dirty="0"/>
                    </a:p>
                  </a:txBody>
                  <a:tcPr/>
                </a:tc>
                <a:tc>
                  <a:txBody>
                    <a:bodyPr/>
                    <a:lstStyle/>
                    <a:p>
                      <a:r>
                        <a:rPr lang="en-US" dirty="0" smtClean="0"/>
                        <a:t>16</a:t>
                      </a:r>
                      <a:endParaRPr lang="en-US" dirty="0"/>
                    </a:p>
                  </a:txBody>
                  <a:tcPr/>
                </a:tc>
                <a:tc>
                  <a:txBody>
                    <a:bodyPr/>
                    <a:lstStyle/>
                    <a:p>
                      <a:r>
                        <a:rPr lang="en-US" dirty="0" smtClean="0"/>
                        <a:t>16-3=13</a:t>
                      </a:r>
                      <a:endParaRPr lang="en-US" dirty="0"/>
                    </a:p>
                  </a:txBody>
                  <a:tcPr/>
                </a:tc>
                <a:tc>
                  <a:txBody>
                    <a:bodyPr/>
                    <a:lstStyle/>
                    <a:p>
                      <a:r>
                        <a:rPr lang="en-US" dirty="0" smtClean="0"/>
                        <a:t>13-2=11</a:t>
                      </a:r>
                      <a:endParaRPr lang="en-US" dirty="0"/>
                    </a:p>
                  </a:txBody>
                  <a:tcPr/>
                </a:tc>
              </a:tr>
              <a:tr h="370840">
                <a:tc>
                  <a:txBody>
                    <a:bodyPr/>
                    <a:lstStyle/>
                    <a:p>
                      <a:r>
                        <a:rPr lang="en-US" dirty="0" smtClean="0"/>
                        <a:t>P4</a:t>
                      </a:r>
                      <a:endParaRPr lang="en-US" dirty="0"/>
                    </a:p>
                  </a:txBody>
                  <a:tcPr/>
                </a:tc>
                <a:tc>
                  <a:txBody>
                    <a:bodyPr/>
                    <a:lstStyle/>
                    <a:p>
                      <a:r>
                        <a:rPr lang="en-US" dirty="0" smtClean="0"/>
                        <a:t>5</a:t>
                      </a:r>
                      <a:endParaRPr lang="en-US" dirty="0"/>
                    </a:p>
                  </a:txBody>
                  <a:tcPr/>
                </a:tc>
                <a:tc>
                  <a:txBody>
                    <a:bodyPr/>
                    <a:lstStyle/>
                    <a:p>
                      <a:r>
                        <a:rPr lang="en-US" dirty="0" smtClean="0"/>
                        <a:t>4</a:t>
                      </a:r>
                      <a:endParaRPr lang="en-US" dirty="0"/>
                    </a:p>
                  </a:txBody>
                  <a:tcPr/>
                </a:tc>
                <a:tc>
                  <a:txBody>
                    <a:bodyPr/>
                    <a:lstStyle/>
                    <a:p>
                      <a:r>
                        <a:rPr lang="en-US" dirty="0" smtClean="0"/>
                        <a:t>14</a:t>
                      </a:r>
                      <a:endParaRPr lang="en-US" dirty="0"/>
                    </a:p>
                  </a:txBody>
                  <a:tcPr/>
                </a:tc>
                <a:tc>
                  <a:txBody>
                    <a:bodyPr/>
                    <a:lstStyle/>
                    <a:p>
                      <a:r>
                        <a:rPr lang="en-US" dirty="0" smtClean="0"/>
                        <a:t>14-5=9</a:t>
                      </a:r>
                      <a:endParaRPr lang="en-US" dirty="0"/>
                    </a:p>
                  </a:txBody>
                  <a:tcPr/>
                </a:tc>
                <a:tc>
                  <a:txBody>
                    <a:bodyPr/>
                    <a:lstStyle/>
                    <a:p>
                      <a:r>
                        <a:rPr lang="en-US" dirty="0" smtClean="0"/>
                        <a:t>9-4=5</a:t>
                      </a:r>
                      <a:endParaRPr lang="en-US" dirty="0"/>
                    </a:p>
                  </a:txBody>
                  <a:tcPr/>
                </a:tc>
              </a:tr>
            </a:tbl>
          </a:graphicData>
        </a:graphic>
      </p:graphicFrame>
    </p:spTree>
    <p:extLst>
      <p:ext uri="{BB962C8B-B14F-4D97-AF65-F5344CB8AC3E}">
        <p14:creationId xmlns:p14="http://schemas.microsoft.com/office/powerpoint/2010/main" val="30593159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13509"/>
            <a:ext cx="10515600" cy="5863454"/>
          </a:xfrm>
        </p:spPr>
        <p:txBody>
          <a:bodyPr/>
          <a:lstStyle/>
          <a:p>
            <a:pPr>
              <a:buNone/>
            </a:pPr>
            <a:r>
              <a:rPr lang="en-US" b="1" dirty="0" smtClean="0"/>
              <a:t>Example : Preemptive Priority scheduling</a:t>
            </a:r>
          </a:p>
          <a:p>
            <a:r>
              <a:rPr lang="en-US" dirty="0" smtClean="0"/>
              <a:t>Consider following Three processes P1 to P3. Each process has its unique priority, burst time, and arrival time.</a:t>
            </a:r>
            <a:endParaRPr lang="en-US" b="1"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Gantt Chart</a:t>
            </a:r>
          </a:p>
          <a:p>
            <a:pPr>
              <a:buNone/>
            </a:pPr>
            <a:endParaRPr lang="en-US" dirty="0"/>
          </a:p>
        </p:txBody>
      </p:sp>
      <p:graphicFrame>
        <p:nvGraphicFramePr>
          <p:cNvPr id="4" name="Table 3"/>
          <p:cNvGraphicFramePr>
            <a:graphicFrameLocks noGrp="1"/>
          </p:cNvGraphicFramePr>
          <p:nvPr/>
        </p:nvGraphicFramePr>
        <p:xfrm>
          <a:off x="1535611" y="1882261"/>
          <a:ext cx="8128000" cy="148336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r>
                        <a:rPr lang="en-US" dirty="0" smtClean="0"/>
                        <a:t>Process</a:t>
                      </a:r>
                      <a:endParaRPr lang="en-US" dirty="0"/>
                    </a:p>
                  </a:txBody>
                  <a:tcPr/>
                </a:tc>
                <a:tc>
                  <a:txBody>
                    <a:bodyPr/>
                    <a:lstStyle/>
                    <a:p>
                      <a:r>
                        <a:rPr lang="en-US" dirty="0" smtClean="0"/>
                        <a:t>Arrival</a:t>
                      </a:r>
                      <a:r>
                        <a:rPr lang="en-US" baseline="0" dirty="0" smtClean="0"/>
                        <a:t> Time</a:t>
                      </a:r>
                      <a:endParaRPr lang="en-US" dirty="0"/>
                    </a:p>
                  </a:txBody>
                  <a:tcPr/>
                </a:tc>
                <a:tc>
                  <a:txBody>
                    <a:bodyPr/>
                    <a:lstStyle/>
                    <a:p>
                      <a:r>
                        <a:rPr lang="en-US" dirty="0" smtClean="0"/>
                        <a:t>Burst Time</a:t>
                      </a:r>
                      <a:endParaRPr lang="en-US" dirty="0"/>
                    </a:p>
                  </a:txBody>
                  <a:tcPr/>
                </a:tc>
                <a:tc>
                  <a:txBody>
                    <a:bodyPr/>
                    <a:lstStyle/>
                    <a:p>
                      <a:r>
                        <a:rPr lang="en-US" dirty="0" smtClean="0"/>
                        <a:t>Priority</a:t>
                      </a:r>
                      <a:endParaRPr lang="en-US" dirty="0"/>
                    </a:p>
                  </a:txBody>
                  <a:tcPr/>
                </a:tc>
              </a:tr>
              <a:tr h="370840">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10</a:t>
                      </a:r>
                      <a:endParaRPr lang="en-US" dirty="0"/>
                    </a:p>
                  </a:txBody>
                  <a:tcPr/>
                </a:tc>
                <a:tc>
                  <a:txBody>
                    <a:bodyPr/>
                    <a:lstStyle/>
                    <a:p>
                      <a:r>
                        <a:rPr lang="en-US" dirty="0" smtClean="0"/>
                        <a:t>3  (L)</a:t>
                      </a:r>
                      <a:endParaRPr lang="en-US" dirty="0"/>
                    </a:p>
                  </a:txBody>
                  <a:tcPr/>
                </a:tc>
              </a:tr>
              <a:tr h="370840">
                <a:tc>
                  <a:txBody>
                    <a:bodyPr/>
                    <a:lstStyle/>
                    <a:p>
                      <a:r>
                        <a:rPr lang="en-US" dirty="0" smtClean="0"/>
                        <a:t>P2</a:t>
                      </a:r>
                      <a:endParaRPr lang="en-US" dirty="0"/>
                    </a:p>
                  </a:txBody>
                  <a:tcPr/>
                </a:tc>
                <a:tc>
                  <a:txBody>
                    <a:bodyPr/>
                    <a:lstStyle/>
                    <a:p>
                      <a:r>
                        <a:rPr lang="en-US" dirty="0" smtClean="0"/>
                        <a:t>1</a:t>
                      </a:r>
                      <a:endParaRPr lang="en-US" dirty="0"/>
                    </a:p>
                  </a:txBody>
                  <a:tcPr/>
                </a:tc>
                <a:tc>
                  <a:txBody>
                    <a:bodyPr/>
                    <a:lstStyle/>
                    <a:p>
                      <a:r>
                        <a:rPr lang="en-US" dirty="0" smtClean="0"/>
                        <a:t>5</a:t>
                      </a:r>
                      <a:endParaRPr lang="en-US" dirty="0"/>
                    </a:p>
                  </a:txBody>
                  <a:tcPr/>
                </a:tc>
                <a:tc>
                  <a:txBody>
                    <a:bodyPr/>
                    <a:lstStyle/>
                    <a:p>
                      <a:r>
                        <a:rPr lang="en-US" dirty="0" smtClean="0"/>
                        <a:t>2  </a:t>
                      </a:r>
                      <a:endParaRPr lang="en-US" dirty="0"/>
                    </a:p>
                  </a:txBody>
                  <a:tcPr/>
                </a:tc>
              </a:tr>
              <a:tr h="370840">
                <a:tc>
                  <a:txBody>
                    <a:bodyPr/>
                    <a:lstStyle/>
                    <a:p>
                      <a:r>
                        <a:rPr lang="en-US" dirty="0" smtClean="0"/>
                        <a:t>P3</a:t>
                      </a:r>
                      <a:endParaRPr lang="en-US" dirty="0"/>
                    </a:p>
                  </a:txBody>
                  <a:tcPr/>
                </a:tc>
                <a:tc>
                  <a:txBody>
                    <a:bodyPr/>
                    <a:lstStyle/>
                    <a:p>
                      <a:r>
                        <a:rPr lang="en-US" dirty="0" smtClean="0"/>
                        <a:t>2</a:t>
                      </a:r>
                      <a:endParaRPr lang="en-US" dirty="0"/>
                    </a:p>
                  </a:txBody>
                  <a:tcPr/>
                </a:tc>
                <a:tc>
                  <a:txBody>
                    <a:bodyPr/>
                    <a:lstStyle/>
                    <a:p>
                      <a:r>
                        <a:rPr lang="en-US" dirty="0" smtClean="0"/>
                        <a:t>2</a:t>
                      </a:r>
                      <a:endParaRPr lang="en-US" dirty="0"/>
                    </a:p>
                  </a:txBody>
                  <a:tcPr/>
                </a:tc>
                <a:tc>
                  <a:txBody>
                    <a:bodyPr/>
                    <a:lstStyle/>
                    <a:p>
                      <a:r>
                        <a:rPr lang="en-US" dirty="0" smtClean="0"/>
                        <a:t>1  (H)</a:t>
                      </a:r>
                      <a:endParaRPr lang="en-US" dirty="0"/>
                    </a:p>
                  </a:txBody>
                  <a:tcPr/>
                </a:tc>
              </a:tr>
            </a:tbl>
          </a:graphicData>
        </a:graphic>
      </p:graphicFrame>
      <p:pic>
        <p:nvPicPr>
          <p:cNvPr id="5" name="Picture 4" descr="s6.PNG"/>
          <p:cNvPicPr>
            <a:picLocks noChangeAspect="1"/>
          </p:cNvPicPr>
          <p:nvPr/>
        </p:nvPicPr>
        <p:blipFill>
          <a:blip r:embed="rId2"/>
          <a:stretch>
            <a:fillRect/>
          </a:stretch>
        </p:blipFill>
        <p:spPr>
          <a:xfrm>
            <a:off x="2259874" y="4245429"/>
            <a:ext cx="7197635" cy="1423851"/>
          </a:xfrm>
          <a:prstGeom prst="rect">
            <a:avLst/>
          </a:prstGeom>
        </p:spPr>
      </p:pic>
    </p:spTree>
    <p:extLst>
      <p:ext uri="{BB962C8B-B14F-4D97-AF65-F5344CB8AC3E}">
        <p14:creationId xmlns:p14="http://schemas.microsoft.com/office/powerpoint/2010/main" val="30199615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8823"/>
            <a:ext cx="10515600" cy="5798140"/>
          </a:xfrm>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Average waiting time = (7+2+0)/3</a:t>
            </a:r>
          </a:p>
          <a:p>
            <a:pPr>
              <a:buNone/>
            </a:pPr>
            <a:r>
              <a:rPr lang="en-US" dirty="0" smtClean="0"/>
              <a:t>                                       =3ms</a:t>
            </a:r>
          </a:p>
          <a:p>
            <a:pPr>
              <a:buNone/>
            </a:pPr>
            <a:r>
              <a:rPr lang="en-US" dirty="0" smtClean="0"/>
              <a:t>Average Turnaround Time= (17+7+2)/3</a:t>
            </a:r>
          </a:p>
          <a:p>
            <a:pPr>
              <a:buNone/>
            </a:pPr>
            <a:r>
              <a:rPr lang="en-US" dirty="0" smtClean="0"/>
              <a:t>                                              =7.33 ms</a:t>
            </a:r>
            <a:endParaRPr lang="en-US" dirty="0"/>
          </a:p>
        </p:txBody>
      </p:sp>
      <p:graphicFrame>
        <p:nvGraphicFramePr>
          <p:cNvPr id="4" name="Table 3"/>
          <p:cNvGraphicFramePr>
            <a:graphicFrameLocks noGrp="1"/>
          </p:cNvGraphicFramePr>
          <p:nvPr/>
        </p:nvGraphicFramePr>
        <p:xfrm>
          <a:off x="1175657" y="784980"/>
          <a:ext cx="9193351" cy="2258664"/>
        </p:xfrm>
        <a:graphic>
          <a:graphicData uri="http://schemas.openxmlformats.org/drawingml/2006/table">
            <a:tbl>
              <a:tblPr firstRow="1" bandRow="1">
                <a:tableStyleId>{5C22544A-7EE6-4342-B048-85BDC9FD1C3A}</a:tableStyleId>
              </a:tblPr>
              <a:tblGrid>
                <a:gridCol w="953589"/>
                <a:gridCol w="1476103"/>
                <a:gridCol w="1345474"/>
                <a:gridCol w="1881051"/>
                <a:gridCol w="2004909"/>
                <a:gridCol w="1532225"/>
              </a:tblGrid>
              <a:tr h="824904">
                <a:tc>
                  <a:txBody>
                    <a:bodyPr/>
                    <a:lstStyle/>
                    <a:p>
                      <a:r>
                        <a:rPr lang="en-US" dirty="0" smtClean="0"/>
                        <a:t>Process</a:t>
                      </a:r>
                      <a:endParaRPr lang="en-US" dirty="0"/>
                    </a:p>
                  </a:txBody>
                  <a:tcPr/>
                </a:tc>
                <a:tc>
                  <a:txBody>
                    <a:bodyPr/>
                    <a:lstStyle/>
                    <a:p>
                      <a:r>
                        <a:rPr lang="en-US" dirty="0" smtClean="0"/>
                        <a:t>Arrival Time</a:t>
                      </a:r>
                      <a:endParaRPr lang="en-US" dirty="0"/>
                    </a:p>
                  </a:txBody>
                  <a:tcPr/>
                </a:tc>
                <a:tc>
                  <a:txBody>
                    <a:bodyPr/>
                    <a:lstStyle/>
                    <a:p>
                      <a:r>
                        <a:rPr lang="en-US" dirty="0" smtClean="0"/>
                        <a:t>Burst Time</a:t>
                      </a:r>
                      <a:endParaRPr lang="en-US" dirty="0"/>
                    </a:p>
                  </a:txBody>
                  <a:tcPr/>
                </a:tc>
                <a:tc>
                  <a:txBody>
                    <a:bodyPr/>
                    <a:lstStyle/>
                    <a:p>
                      <a:r>
                        <a:rPr lang="en-US" dirty="0" smtClean="0"/>
                        <a:t>Completion Time</a:t>
                      </a:r>
                      <a:endParaRPr lang="en-US" dirty="0"/>
                    </a:p>
                  </a:txBody>
                  <a:tcPr/>
                </a:tc>
                <a:tc>
                  <a:txBody>
                    <a:bodyPr/>
                    <a:lstStyle/>
                    <a:p>
                      <a:r>
                        <a:rPr lang="en-US" dirty="0" smtClean="0"/>
                        <a:t>Turnaround Time</a:t>
                      </a:r>
                      <a:endParaRPr lang="en-US" dirty="0"/>
                    </a:p>
                  </a:txBody>
                  <a:tcPr/>
                </a:tc>
                <a:tc>
                  <a:txBody>
                    <a:bodyPr/>
                    <a:lstStyle/>
                    <a:p>
                      <a:r>
                        <a:rPr lang="en-US" dirty="0" smtClean="0"/>
                        <a:t>Waiting Time</a:t>
                      </a:r>
                      <a:endParaRPr lang="en-US" dirty="0"/>
                    </a:p>
                  </a:txBody>
                  <a:tcPr/>
                </a:tc>
              </a:tr>
              <a:tr h="477920">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10</a:t>
                      </a:r>
                      <a:endParaRPr lang="en-US" dirty="0"/>
                    </a:p>
                  </a:txBody>
                  <a:tcPr/>
                </a:tc>
                <a:tc>
                  <a:txBody>
                    <a:bodyPr/>
                    <a:lstStyle/>
                    <a:p>
                      <a:r>
                        <a:rPr lang="en-US" dirty="0" smtClean="0"/>
                        <a:t>17</a:t>
                      </a:r>
                      <a:endParaRPr lang="en-US" dirty="0"/>
                    </a:p>
                  </a:txBody>
                  <a:tcPr/>
                </a:tc>
                <a:tc>
                  <a:txBody>
                    <a:bodyPr/>
                    <a:lstStyle/>
                    <a:p>
                      <a:r>
                        <a:rPr lang="en-US" dirty="0" smtClean="0"/>
                        <a:t>17-0=17</a:t>
                      </a:r>
                      <a:endParaRPr lang="en-US" dirty="0"/>
                    </a:p>
                  </a:txBody>
                  <a:tcPr/>
                </a:tc>
                <a:tc>
                  <a:txBody>
                    <a:bodyPr/>
                    <a:lstStyle/>
                    <a:p>
                      <a:r>
                        <a:rPr lang="en-US" dirty="0" smtClean="0"/>
                        <a:t>17-10=7</a:t>
                      </a:r>
                      <a:endParaRPr lang="en-US" dirty="0"/>
                    </a:p>
                  </a:txBody>
                  <a:tcPr/>
                </a:tc>
              </a:tr>
              <a:tr h="477920">
                <a:tc>
                  <a:txBody>
                    <a:bodyPr/>
                    <a:lstStyle/>
                    <a:p>
                      <a:r>
                        <a:rPr lang="en-US" dirty="0" smtClean="0"/>
                        <a:t>P2</a:t>
                      </a:r>
                      <a:endParaRPr lang="en-US" dirty="0"/>
                    </a:p>
                  </a:txBody>
                  <a:tcPr/>
                </a:tc>
                <a:tc>
                  <a:txBody>
                    <a:bodyPr/>
                    <a:lstStyle/>
                    <a:p>
                      <a:r>
                        <a:rPr lang="en-US" dirty="0" smtClean="0"/>
                        <a:t>1</a:t>
                      </a:r>
                      <a:endParaRPr lang="en-US" dirty="0"/>
                    </a:p>
                  </a:txBody>
                  <a:tcPr/>
                </a:tc>
                <a:tc>
                  <a:txBody>
                    <a:bodyPr/>
                    <a:lstStyle/>
                    <a:p>
                      <a:r>
                        <a:rPr lang="en-US" dirty="0" smtClean="0"/>
                        <a:t>5</a:t>
                      </a:r>
                      <a:endParaRPr lang="en-US" dirty="0"/>
                    </a:p>
                  </a:txBody>
                  <a:tcPr/>
                </a:tc>
                <a:tc>
                  <a:txBody>
                    <a:bodyPr/>
                    <a:lstStyle/>
                    <a:p>
                      <a:r>
                        <a:rPr lang="en-US" dirty="0" smtClean="0"/>
                        <a:t>8</a:t>
                      </a:r>
                      <a:endParaRPr lang="en-US" dirty="0"/>
                    </a:p>
                  </a:txBody>
                  <a:tcPr/>
                </a:tc>
                <a:tc>
                  <a:txBody>
                    <a:bodyPr/>
                    <a:lstStyle/>
                    <a:p>
                      <a:r>
                        <a:rPr lang="en-US" dirty="0" smtClean="0"/>
                        <a:t>8-1=7</a:t>
                      </a:r>
                      <a:endParaRPr lang="en-US" dirty="0"/>
                    </a:p>
                  </a:txBody>
                  <a:tcPr/>
                </a:tc>
                <a:tc>
                  <a:txBody>
                    <a:bodyPr/>
                    <a:lstStyle/>
                    <a:p>
                      <a:r>
                        <a:rPr lang="en-US" dirty="0" smtClean="0"/>
                        <a:t>7-5=2</a:t>
                      </a:r>
                      <a:endParaRPr lang="en-US" dirty="0"/>
                    </a:p>
                  </a:txBody>
                  <a:tcPr/>
                </a:tc>
              </a:tr>
              <a:tr h="477920">
                <a:tc>
                  <a:txBody>
                    <a:bodyPr/>
                    <a:lstStyle/>
                    <a:p>
                      <a:r>
                        <a:rPr lang="en-US" dirty="0" smtClean="0"/>
                        <a:t>P3</a:t>
                      </a:r>
                      <a:endParaRPr lang="en-US" dirty="0"/>
                    </a:p>
                  </a:txBody>
                  <a:tcPr/>
                </a:tc>
                <a:tc>
                  <a:txBody>
                    <a:bodyPr/>
                    <a:lstStyle/>
                    <a:p>
                      <a:r>
                        <a:rPr lang="en-US" dirty="0" smtClean="0"/>
                        <a:t>2</a:t>
                      </a:r>
                      <a:endParaRPr lang="en-US" dirty="0"/>
                    </a:p>
                  </a:txBody>
                  <a:tcPr/>
                </a:tc>
                <a:tc>
                  <a:txBody>
                    <a:bodyPr/>
                    <a:lstStyle/>
                    <a:p>
                      <a:r>
                        <a:rPr lang="en-US" dirty="0" smtClean="0"/>
                        <a:t>2</a:t>
                      </a:r>
                      <a:endParaRPr lang="en-US" dirty="0"/>
                    </a:p>
                  </a:txBody>
                  <a:tcPr/>
                </a:tc>
                <a:tc>
                  <a:txBody>
                    <a:bodyPr/>
                    <a:lstStyle/>
                    <a:p>
                      <a:r>
                        <a:rPr lang="en-US" dirty="0" smtClean="0"/>
                        <a:t>4</a:t>
                      </a:r>
                      <a:endParaRPr lang="en-US" dirty="0"/>
                    </a:p>
                  </a:txBody>
                  <a:tcPr/>
                </a:tc>
                <a:tc>
                  <a:txBody>
                    <a:bodyPr/>
                    <a:lstStyle/>
                    <a:p>
                      <a:r>
                        <a:rPr lang="en-US" dirty="0" smtClean="0"/>
                        <a:t>4-2=2</a:t>
                      </a:r>
                      <a:endParaRPr lang="en-US" dirty="0"/>
                    </a:p>
                  </a:txBody>
                  <a:tcPr/>
                </a:tc>
                <a:tc>
                  <a:txBody>
                    <a:bodyPr/>
                    <a:lstStyle/>
                    <a:p>
                      <a:r>
                        <a:rPr lang="en-US" dirty="0" smtClean="0"/>
                        <a:t>2-2=0</a:t>
                      </a:r>
                      <a:endParaRPr lang="en-US" dirty="0"/>
                    </a:p>
                  </a:txBody>
                  <a:tcPr/>
                </a:tc>
              </a:tr>
            </a:tbl>
          </a:graphicData>
        </a:graphic>
      </p:graphicFrame>
    </p:spTree>
    <p:extLst>
      <p:ext uri="{BB962C8B-B14F-4D97-AF65-F5344CB8AC3E}">
        <p14:creationId xmlns:p14="http://schemas.microsoft.com/office/powerpoint/2010/main" val="30401596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5"/>
          </a:xfrm>
        </p:spPr>
        <p:txBody>
          <a:bodyPr>
            <a:normAutofit fontScale="90000"/>
          </a:bodyPr>
          <a:lstStyle/>
          <a:p>
            <a:pPr algn="ctr"/>
            <a:r>
              <a:rPr lang="en-US" b="1" dirty="0" smtClean="0">
                <a:latin typeface="Times New Roman" pitchFamily="18" charset="0"/>
                <a:cs typeface="Times New Roman" pitchFamily="18" charset="0"/>
              </a:rPr>
              <a:t>Multiple Queues Scheduling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10342"/>
            <a:ext cx="10515600" cy="5499463"/>
          </a:xfrm>
        </p:spPr>
        <p:txBody>
          <a:bodyPr>
            <a:normAutofit/>
          </a:bodyPr>
          <a:lstStyle/>
          <a:p>
            <a:pPr>
              <a:lnSpc>
                <a:spcPct val="150000"/>
              </a:lnSpc>
            </a:pPr>
            <a:r>
              <a:rPr lang="en-US" sz="2000" dirty="0" smtClean="0">
                <a:latin typeface="Times New Roman" pitchFamily="18" charset="0"/>
                <a:cs typeface="Times New Roman" pitchFamily="18" charset="0"/>
              </a:rPr>
              <a:t>A multi-level queue scheduling algorithm partitions the ready queue into several separate queues. </a:t>
            </a:r>
          </a:p>
          <a:p>
            <a:pPr>
              <a:lnSpc>
                <a:spcPct val="150000"/>
              </a:lnSpc>
            </a:pPr>
            <a:r>
              <a:rPr lang="en-US" sz="2000" dirty="0" smtClean="0">
                <a:latin typeface="Times New Roman" pitchFamily="18" charset="0"/>
                <a:cs typeface="Times New Roman" pitchFamily="18" charset="0"/>
              </a:rPr>
              <a:t>The processes are permanently assigned to one queue, generally based on some property of the process, such as memory size, process priority, or process type. Each queue has its own scheduling algorithm.</a:t>
            </a:r>
          </a:p>
          <a:p>
            <a:pPr>
              <a:lnSpc>
                <a:spcPct val="150000"/>
              </a:lnSpc>
            </a:pPr>
            <a:r>
              <a:rPr lang="en-US" sz="2000" b="1" dirty="0" smtClean="0">
                <a:latin typeface="Times New Roman" pitchFamily="18" charset="0"/>
                <a:cs typeface="Times New Roman" pitchFamily="18" charset="0"/>
              </a:rPr>
              <a:t>For example:</a:t>
            </a:r>
            <a:r>
              <a:rPr lang="en-US" sz="2000" dirty="0" smtClean="0">
                <a:latin typeface="Times New Roman" pitchFamily="18" charset="0"/>
                <a:cs typeface="Times New Roman" pitchFamily="18" charset="0"/>
              </a:rPr>
              <a:t> separate queues might be used for foreground and background processes.</a:t>
            </a:r>
          </a:p>
          <a:p>
            <a:pPr>
              <a:lnSpc>
                <a:spcPct val="150000"/>
              </a:lnSpc>
            </a:pPr>
            <a:r>
              <a:rPr lang="en-US" sz="2000" dirty="0" smtClean="0">
                <a:latin typeface="Times New Roman" pitchFamily="18" charset="0"/>
                <a:cs typeface="Times New Roman" pitchFamily="18" charset="0"/>
              </a:rPr>
              <a:t> The foreground queue might be scheduled by Round Robin algorithm, while the background queue is scheduled by an FCFS algorithm.</a:t>
            </a:r>
            <a:endParaRPr lang="en-US" sz="2000" dirty="0">
              <a:latin typeface="Times New Roman" pitchFamily="18" charset="0"/>
              <a:cs typeface="Times New Roman" pitchFamily="18" charset="0"/>
            </a:endParaRPr>
          </a:p>
        </p:txBody>
      </p:sp>
      <p:pic>
        <p:nvPicPr>
          <p:cNvPr id="4" name="Picture 3" descr="multilevel-queue-schedueling-1-300x217.png"/>
          <p:cNvPicPr>
            <a:picLocks noChangeAspect="1"/>
          </p:cNvPicPr>
          <p:nvPr/>
        </p:nvPicPr>
        <p:blipFill>
          <a:blip r:embed="rId2"/>
          <a:stretch>
            <a:fillRect/>
          </a:stretch>
        </p:blipFill>
        <p:spPr>
          <a:xfrm>
            <a:off x="5973728" y="4258492"/>
            <a:ext cx="3549095" cy="2346174"/>
          </a:xfrm>
          <a:prstGeom prst="rect">
            <a:avLst/>
          </a:prstGeom>
        </p:spPr>
      </p:pic>
    </p:spTree>
    <p:extLst>
      <p:ext uri="{BB962C8B-B14F-4D97-AF65-F5344CB8AC3E}">
        <p14:creationId xmlns:p14="http://schemas.microsoft.com/office/powerpoint/2010/main" val="33747592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5760"/>
            <a:ext cx="10515600" cy="5811203"/>
          </a:xfrm>
        </p:spPr>
        <p:txBody>
          <a:bodyPr>
            <a:normAutofit/>
          </a:bodyPr>
          <a:lstStyle/>
          <a:p>
            <a:pPr algn="just" fontAlgn="base">
              <a:lnSpc>
                <a:spcPct val="150000"/>
              </a:lnSpc>
            </a:pPr>
            <a:r>
              <a:rPr lang="en-US" sz="2000" b="1" dirty="0" smtClean="0">
                <a:latin typeface="Times New Roman" pitchFamily="18" charset="0"/>
                <a:cs typeface="Times New Roman" pitchFamily="18" charset="0"/>
              </a:rPr>
              <a:t>Scheduling among the queues :</a:t>
            </a:r>
            <a:r>
              <a:rPr lang="en-US" sz="2000" dirty="0" smtClean="0">
                <a:latin typeface="Times New Roman" pitchFamily="18" charset="0"/>
                <a:cs typeface="Times New Roman" pitchFamily="18" charset="0"/>
              </a:rPr>
              <a:t> What will happen if all the queues have some processes? Which process should get the CPU? To determine this Scheduling among the queues is necessary. There are two ways to do so </a:t>
            </a:r>
          </a:p>
          <a:p>
            <a:pPr algn="just" fontAlgn="base">
              <a:lnSpc>
                <a:spcPct val="150000"/>
              </a:lnSpc>
            </a:pPr>
            <a:r>
              <a:rPr lang="en-US" sz="2000" b="1" dirty="0" smtClean="0">
                <a:latin typeface="Times New Roman" pitchFamily="18" charset="0"/>
                <a:cs typeface="Times New Roman" pitchFamily="18" charset="0"/>
              </a:rPr>
              <a:t>Fixed priority preemptive scheduling method –</a:t>
            </a:r>
            <a:r>
              <a:rPr lang="en-US" sz="2000" dirty="0" smtClean="0">
                <a:latin typeface="Times New Roman" pitchFamily="18" charset="0"/>
                <a:cs typeface="Times New Roman" pitchFamily="18" charset="0"/>
              </a:rPr>
              <a:t> Each queue has absolute priority over lower priority queue. Let us consider following priority order </a:t>
            </a:r>
            <a:r>
              <a:rPr lang="en-US" sz="2000" b="1" dirty="0" smtClean="0">
                <a:latin typeface="Times New Roman" pitchFamily="18" charset="0"/>
                <a:cs typeface="Times New Roman" pitchFamily="18" charset="0"/>
              </a:rPr>
              <a:t>queue 1 &gt; queue 2 &gt; queue 3</a:t>
            </a:r>
            <a:r>
              <a:rPr lang="en-US" sz="2000" dirty="0" smtClean="0">
                <a:latin typeface="Times New Roman" pitchFamily="18" charset="0"/>
                <a:cs typeface="Times New Roman" pitchFamily="18" charset="0"/>
              </a:rPr>
              <a:t>.According to this algorithm no process in the batch queue(queue 3) can run unless queue 1 and 2 are empty. If any batch process (queue 3) is running and any system (queue 1) or Interactive process(queue 2) entered the ready queue the batch process is preempted.</a:t>
            </a:r>
          </a:p>
          <a:p>
            <a:pPr algn="just" fontAlgn="base">
              <a:lnSpc>
                <a:spcPct val="150000"/>
              </a:lnSpc>
            </a:pPr>
            <a:r>
              <a:rPr lang="en-US" sz="2000" b="1" dirty="0" smtClean="0">
                <a:latin typeface="Times New Roman" pitchFamily="18" charset="0"/>
                <a:cs typeface="Times New Roman" pitchFamily="18" charset="0"/>
              </a:rPr>
              <a:t>Time slicing</a:t>
            </a:r>
            <a:r>
              <a:rPr lang="en-US" sz="2000" dirty="0" smtClean="0">
                <a:latin typeface="Times New Roman" pitchFamily="18" charset="0"/>
                <a:cs typeface="Times New Roman" pitchFamily="18" charset="0"/>
              </a:rPr>
              <a:t> – In this method each queue gets certain portion of CPU time and can use it to schedule its own processes. For instance, queue 1 takes 50 percent of CPU time queue 2 takes 30 percent and queue 3 gets 20 percent of CPU time.</a:t>
            </a:r>
          </a:p>
          <a:p>
            <a:pPr algn="just">
              <a:lnSpc>
                <a:spcPct val="150000"/>
              </a:lnSpc>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1808211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6572"/>
            <a:ext cx="10515600" cy="5850392"/>
          </a:xfrm>
        </p:spPr>
        <p:txBody>
          <a:bodyPr>
            <a:normAutofit/>
          </a:bodyPr>
          <a:lstStyle/>
          <a:p>
            <a:pPr algn="just">
              <a:lnSpc>
                <a:spcPct val="150000"/>
              </a:lnSpc>
              <a:buNone/>
            </a:pPr>
            <a:r>
              <a:rPr lang="en-US" sz="2000" b="1" dirty="0" smtClean="0">
                <a:latin typeface="Times New Roman" pitchFamily="18" charset="0"/>
                <a:cs typeface="Times New Roman" pitchFamily="18" charset="0"/>
              </a:rPr>
              <a:t>Example</a:t>
            </a:r>
            <a:r>
              <a:rPr lang="en-US" sz="2000" dirty="0" smtClean="0">
                <a:latin typeface="Times New Roman" pitchFamily="18" charset="0"/>
                <a:cs typeface="Times New Roman" pitchFamily="18" charset="0"/>
              </a:rPr>
              <a:t>: Consider below table of four processes under Multilevel queue scheduling. Queue number denotes the queue of the process. </a:t>
            </a:r>
          </a:p>
          <a:p>
            <a:pPr algn="just">
              <a:lnSpc>
                <a:spcPct val="150000"/>
              </a:lnSpc>
              <a:buNone/>
            </a:pPr>
            <a:endParaRPr lang="en-US" sz="2000" dirty="0" smtClean="0">
              <a:latin typeface="Times New Roman" pitchFamily="18" charset="0"/>
              <a:cs typeface="Times New Roman" pitchFamily="18" charset="0"/>
            </a:endParaRPr>
          </a:p>
          <a:p>
            <a:pPr algn="just">
              <a:lnSpc>
                <a:spcPct val="150000"/>
              </a:lnSpc>
              <a:buNone/>
            </a:pPr>
            <a:endParaRPr lang="en-US" sz="2000" dirty="0" smtClean="0">
              <a:latin typeface="Times New Roman" pitchFamily="18" charset="0"/>
              <a:cs typeface="Times New Roman" pitchFamily="18" charset="0"/>
            </a:endParaRPr>
          </a:p>
          <a:p>
            <a:pPr algn="just">
              <a:lnSpc>
                <a:spcPct val="150000"/>
              </a:lnSpc>
              <a:buNone/>
            </a:pPr>
            <a:endParaRPr lang="en-US" sz="2000" dirty="0" smtClean="0">
              <a:latin typeface="Times New Roman" pitchFamily="18" charset="0"/>
              <a:cs typeface="Times New Roman" pitchFamily="18" charset="0"/>
            </a:endParaRPr>
          </a:p>
          <a:p>
            <a:pPr algn="just">
              <a:lnSpc>
                <a:spcPct val="150000"/>
              </a:lnSpc>
              <a:buNone/>
            </a:pPr>
            <a:endParaRPr lang="en-US" sz="2000" dirty="0" smtClean="0">
              <a:latin typeface="Times New Roman" pitchFamily="18" charset="0"/>
              <a:cs typeface="Times New Roman" pitchFamily="18" charset="0"/>
            </a:endParaRPr>
          </a:p>
          <a:p>
            <a:pPr algn="just" fontAlgn="base">
              <a:lnSpc>
                <a:spcPct val="150000"/>
              </a:lnSpc>
            </a:pPr>
            <a:r>
              <a:rPr lang="en-US" sz="2000" dirty="0" smtClean="0">
                <a:latin typeface="Times New Roman" pitchFamily="18" charset="0"/>
                <a:cs typeface="Times New Roman" pitchFamily="18" charset="0"/>
              </a:rPr>
              <a:t>Priority of queue 1 is greater than queue 2. queue 1 uses Round Robin (Time Quantum = 2) and queue 2 uses FCFS. </a:t>
            </a:r>
          </a:p>
          <a:p>
            <a:pPr algn="just" fontAlgn="base">
              <a:lnSpc>
                <a:spcPct val="150000"/>
              </a:lnSpc>
            </a:pPr>
            <a:r>
              <a:rPr lang="en-US" sz="2000" dirty="0" smtClean="0">
                <a:latin typeface="Times New Roman" pitchFamily="18" charset="0"/>
                <a:cs typeface="Times New Roman" pitchFamily="18" charset="0"/>
              </a:rPr>
              <a:t>Below is the </a:t>
            </a:r>
            <a:r>
              <a:rPr lang="en-US" sz="2000" b="1" dirty="0" err="1" smtClean="0">
                <a:latin typeface="Times New Roman" pitchFamily="18" charset="0"/>
                <a:cs typeface="Times New Roman" pitchFamily="18" charset="0"/>
              </a:rPr>
              <a:t>gantt</a:t>
            </a:r>
            <a:r>
              <a:rPr lang="en-US" sz="2000" b="1" dirty="0" smtClean="0">
                <a:latin typeface="Times New Roman" pitchFamily="18" charset="0"/>
                <a:cs typeface="Times New Roman" pitchFamily="18" charset="0"/>
              </a:rPr>
              <a:t> chart</a:t>
            </a:r>
            <a:r>
              <a:rPr lang="en-US" sz="2000" dirty="0" smtClean="0">
                <a:latin typeface="Times New Roman" pitchFamily="18" charset="0"/>
                <a:cs typeface="Times New Roman" pitchFamily="18" charset="0"/>
              </a:rPr>
              <a:t> of the problem : </a:t>
            </a:r>
          </a:p>
          <a:p>
            <a:pPr algn="just">
              <a:lnSpc>
                <a:spcPct val="150000"/>
              </a:lnSpc>
              <a:buNone/>
            </a:pPr>
            <a:endParaRPr lang="en-US" sz="2000"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2018937" y="1464249"/>
          <a:ext cx="8128000" cy="18542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r>
                        <a:rPr lang="en-US" dirty="0" smtClean="0"/>
                        <a:t>Process</a:t>
                      </a:r>
                      <a:endParaRPr lang="en-US" dirty="0"/>
                    </a:p>
                  </a:txBody>
                  <a:tcPr/>
                </a:tc>
                <a:tc>
                  <a:txBody>
                    <a:bodyPr/>
                    <a:lstStyle/>
                    <a:p>
                      <a:r>
                        <a:rPr lang="en-US" dirty="0" smtClean="0"/>
                        <a:t>Arrival  Time</a:t>
                      </a:r>
                      <a:endParaRPr lang="en-US" dirty="0"/>
                    </a:p>
                  </a:txBody>
                  <a:tcPr/>
                </a:tc>
                <a:tc>
                  <a:txBody>
                    <a:bodyPr/>
                    <a:lstStyle/>
                    <a:p>
                      <a:r>
                        <a:rPr lang="en-US" dirty="0" smtClean="0"/>
                        <a:t>Burst Time</a:t>
                      </a:r>
                      <a:endParaRPr lang="en-US" dirty="0"/>
                    </a:p>
                  </a:txBody>
                  <a:tcPr/>
                </a:tc>
                <a:tc>
                  <a:txBody>
                    <a:bodyPr/>
                    <a:lstStyle/>
                    <a:p>
                      <a:r>
                        <a:rPr lang="en-US" dirty="0" smtClean="0"/>
                        <a:t>Queue</a:t>
                      </a:r>
                      <a:r>
                        <a:rPr lang="en-US" baseline="0" dirty="0" smtClean="0"/>
                        <a:t> Number</a:t>
                      </a:r>
                      <a:endParaRPr lang="en-US" dirty="0"/>
                    </a:p>
                  </a:txBody>
                  <a:tcPr/>
                </a:tc>
              </a:tr>
              <a:tr h="370840">
                <a:tc>
                  <a:txBody>
                    <a:bodyPr/>
                    <a:lstStyle/>
                    <a:p>
                      <a:r>
                        <a:rPr lang="en-US" dirty="0" smtClean="0"/>
                        <a:t>P1</a:t>
                      </a:r>
                      <a:endParaRPr lang="en-US" dirty="0"/>
                    </a:p>
                  </a:txBody>
                  <a:tcPr/>
                </a:tc>
                <a:tc>
                  <a:txBody>
                    <a:bodyPr/>
                    <a:lstStyle/>
                    <a:p>
                      <a:r>
                        <a:rPr lang="en-US" dirty="0" smtClean="0"/>
                        <a:t>0</a:t>
                      </a:r>
                      <a:endParaRPr lang="en-US" dirty="0"/>
                    </a:p>
                  </a:txBody>
                  <a:tcPr/>
                </a:tc>
                <a:tc>
                  <a:txBody>
                    <a:bodyPr/>
                    <a:lstStyle/>
                    <a:p>
                      <a:r>
                        <a:rPr lang="en-US" dirty="0" smtClean="0"/>
                        <a:t>4</a:t>
                      </a:r>
                      <a:endParaRPr lang="en-US" dirty="0"/>
                    </a:p>
                  </a:txBody>
                  <a:tcPr/>
                </a:tc>
                <a:tc>
                  <a:txBody>
                    <a:bodyPr/>
                    <a:lstStyle/>
                    <a:p>
                      <a:r>
                        <a:rPr lang="en-US" dirty="0" smtClean="0"/>
                        <a:t>1</a:t>
                      </a:r>
                      <a:endParaRPr lang="en-US" dirty="0"/>
                    </a:p>
                  </a:txBody>
                  <a:tcPr/>
                </a:tc>
              </a:tr>
              <a:tr h="370840">
                <a:tc>
                  <a:txBody>
                    <a:bodyPr/>
                    <a:lstStyle/>
                    <a:p>
                      <a:r>
                        <a:rPr lang="en-US" dirty="0" smtClean="0"/>
                        <a:t>P2</a:t>
                      </a:r>
                      <a:endParaRPr lang="en-US" dirty="0"/>
                    </a:p>
                  </a:txBody>
                  <a:tcPr/>
                </a:tc>
                <a:tc>
                  <a:txBody>
                    <a:bodyPr/>
                    <a:lstStyle/>
                    <a:p>
                      <a:r>
                        <a:rPr lang="en-US" dirty="0" smtClean="0"/>
                        <a:t>0</a:t>
                      </a:r>
                      <a:endParaRPr lang="en-US" dirty="0"/>
                    </a:p>
                  </a:txBody>
                  <a:tcPr/>
                </a:tc>
                <a:tc>
                  <a:txBody>
                    <a:bodyPr/>
                    <a:lstStyle/>
                    <a:p>
                      <a:r>
                        <a:rPr lang="en-US" dirty="0" smtClean="0"/>
                        <a:t>3</a:t>
                      </a:r>
                      <a:endParaRPr lang="en-US" dirty="0"/>
                    </a:p>
                  </a:txBody>
                  <a:tcPr/>
                </a:tc>
                <a:tc>
                  <a:txBody>
                    <a:bodyPr/>
                    <a:lstStyle/>
                    <a:p>
                      <a:r>
                        <a:rPr lang="en-US" dirty="0" smtClean="0"/>
                        <a:t>1</a:t>
                      </a:r>
                      <a:endParaRPr lang="en-US" dirty="0"/>
                    </a:p>
                  </a:txBody>
                  <a:tcPr/>
                </a:tc>
              </a:tr>
              <a:tr h="370840">
                <a:tc>
                  <a:txBody>
                    <a:bodyPr/>
                    <a:lstStyle/>
                    <a:p>
                      <a:r>
                        <a:rPr lang="en-US" dirty="0" smtClean="0"/>
                        <a:t>P3</a:t>
                      </a:r>
                      <a:endParaRPr lang="en-US" dirty="0"/>
                    </a:p>
                  </a:txBody>
                  <a:tcPr/>
                </a:tc>
                <a:tc>
                  <a:txBody>
                    <a:bodyPr/>
                    <a:lstStyle/>
                    <a:p>
                      <a:r>
                        <a:rPr lang="en-US" dirty="0" smtClean="0"/>
                        <a:t>0</a:t>
                      </a:r>
                      <a:endParaRPr lang="en-US" dirty="0"/>
                    </a:p>
                  </a:txBody>
                  <a:tcPr/>
                </a:tc>
                <a:tc>
                  <a:txBody>
                    <a:bodyPr/>
                    <a:lstStyle/>
                    <a:p>
                      <a:r>
                        <a:rPr lang="en-US" dirty="0" smtClean="0"/>
                        <a:t>8</a:t>
                      </a:r>
                      <a:endParaRPr lang="en-US" dirty="0"/>
                    </a:p>
                  </a:txBody>
                  <a:tcPr/>
                </a:tc>
                <a:tc>
                  <a:txBody>
                    <a:bodyPr/>
                    <a:lstStyle/>
                    <a:p>
                      <a:r>
                        <a:rPr lang="en-US" dirty="0" smtClean="0"/>
                        <a:t>2</a:t>
                      </a:r>
                      <a:endParaRPr lang="en-US" dirty="0"/>
                    </a:p>
                  </a:txBody>
                  <a:tcPr/>
                </a:tc>
              </a:tr>
              <a:tr h="370840">
                <a:tc>
                  <a:txBody>
                    <a:bodyPr/>
                    <a:lstStyle/>
                    <a:p>
                      <a:r>
                        <a:rPr lang="en-US" dirty="0" smtClean="0"/>
                        <a:t>P4</a:t>
                      </a:r>
                      <a:endParaRPr lang="en-US" dirty="0"/>
                    </a:p>
                  </a:txBody>
                  <a:tcPr/>
                </a:tc>
                <a:tc>
                  <a:txBody>
                    <a:bodyPr/>
                    <a:lstStyle/>
                    <a:p>
                      <a:r>
                        <a:rPr lang="en-US" dirty="0" smtClean="0"/>
                        <a:t>10</a:t>
                      </a:r>
                      <a:endParaRPr lang="en-US" dirty="0"/>
                    </a:p>
                  </a:txBody>
                  <a:tcPr/>
                </a:tc>
                <a:tc>
                  <a:txBody>
                    <a:bodyPr/>
                    <a:lstStyle/>
                    <a:p>
                      <a:r>
                        <a:rPr lang="en-US" dirty="0" smtClean="0"/>
                        <a:t>5</a:t>
                      </a:r>
                      <a:endParaRPr lang="en-US" dirty="0"/>
                    </a:p>
                  </a:txBody>
                  <a:tcPr/>
                </a:tc>
                <a:tc>
                  <a:txBody>
                    <a:bodyPr/>
                    <a:lstStyle/>
                    <a:p>
                      <a:r>
                        <a:rPr lang="en-US" dirty="0" smtClean="0"/>
                        <a:t>1</a:t>
                      </a:r>
                      <a:endParaRPr lang="en-US" dirty="0"/>
                    </a:p>
                  </a:txBody>
                  <a:tcPr/>
                </a:tc>
              </a:tr>
            </a:tbl>
          </a:graphicData>
        </a:graphic>
      </p:graphicFrame>
      <p:pic>
        <p:nvPicPr>
          <p:cNvPr id="5" name="Picture 4" descr="b6.PNG"/>
          <p:cNvPicPr>
            <a:picLocks noChangeAspect="1"/>
          </p:cNvPicPr>
          <p:nvPr/>
        </p:nvPicPr>
        <p:blipFill>
          <a:blip r:embed="rId2"/>
          <a:stretch>
            <a:fillRect/>
          </a:stretch>
        </p:blipFill>
        <p:spPr>
          <a:xfrm>
            <a:off x="1613097" y="5221024"/>
            <a:ext cx="6039693" cy="1023021"/>
          </a:xfrm>
          <a:prstGeom prst="rect">
            <a:avLst/>
          </a:prstGeom>
        </p:spPr>
      </p:pic>
    </p:spTree>
    <p:extLst>
      <p:ext uri="{BB962C8B-B14F-4D97-AF65-F5344CB8AC3E}">
        <p14:creationId xmlns:p14="http://schemas.microsoft.com/office/powerpoint/2010/main" val="6786454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normAutofit fontScale="90000"/>
          </a:bodyPr>
          <a:lstStyle/>
          <a:p>
            <a:pPr algn="ct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Multilevel Feedback Queue Scheduling</a:t>
            </a:r>
            <a:br>
              <a:rPr lang="en-US" b="1" dirty="0" smtClean="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62594"/>
            <a:ext cx="10515600" cy="5014369"/>
          </a:xfrm>
        </p:spPr>
        <p:txBody>
          <a:bodyPr>
            <a:normAutofit/>
          </a:bodyPr>
          <a:lstStyle/>
          <a:p>
            <a:pPr algn="just">
              <a:lnSpc>
                <a:spcPct val="150000"/>
              </a:lnSpc>
            </a:pPr>
            <a:r>
              <a:rPr lang="en-US" sz="2000" dirty="0" smtClean="0">
                <a:latin typeface="Times New Roman" pitchFamily="18" charset="0"/>
                <a:cs typeface="Times New Roman" pitchFamily="18" charset="0"/>
              </a:rPr>
              <a:t>MFQ implements multilevel queues having different priority to each level (here lower level higher priority), and allows a process to move between the queues. </a:t>
            </a:r>
          </a:p>
          <a:p>
            <a:pPr algn="just">
              <a:lnSpc>
                <a:spcPct val="150000"/>
              </a:lnSpc>
            </a:pPr>
            <a:r>
              <a:rPr lang="en-US" sz="2000" dirty="0" smtClean="0">
                <a:latin typeface="Times New Roman" pitchFamily="18" charset="0"/>
                <a:cs typeface="Times New Roman" pitchFamily="18" charset="0"/>
              </a:rPr>
              <a:t>If the process use too much CPU time, it will be moved to a lower-priority queue.</a:t>
            </a:r>
          </a:p>
          <a:p>
            <a:pPr algn="just">
              <a:lnSpc>
                <a:spcPct val="150000"/>
              </a:lnSpc>
            </a:pPr>
            <a:r>
              <a:rPr lang="en-US" sz="2000" dirty="0" smtClean="0">
                <a:latin typeface="Times New Roman" pitchFamily="18" charset="0"/>
                <a:cs typeface="Times New Roman" pitchFamily="18" charset="0"/>
              </a:rPr>
              <a:t> Each lower-priority queue larger the quantum size. Each queue may have its own scheduling algorithm.</a:t>
            </a:r>
          </a:p>
          <a:p>
            <a:pPr algn="just"/>
            <a:endParaRPr lang="en-US" sz="2000" dirty="0">
              <a:latin typeface="Times New Roman" pitchFamily="18" charset="0"/>
              <a:cs typeface="Times New Roman" pitchFamily="18" charset="0"/>
            </a:endParaRPr>
          </a:p>
        </p:txBody>
      </p:sp>
      <p:pic>
        <p:nvPicPr>
          <p:cNvPr id="4" name="Picture 3" descr="b7.PNG"/>
          <p:cNvPicPr>
            <a:picLocks noChangeAspect="1"/>
          </p:cNvPicPr>
          <p:nvPr/>
        </p:nvPicPr>
        <p:blipFill>
          <a:blip r:embed="rId2"/>
          <a:stretch>
            <a:fillRect/>
          </a:stretch>
        </p:blipFill>
        <p:spPr>
          <a:xfrm>
            <a:off x="2535689" y="3553102"/>
            <a:ext cx="7878275" cy="2867216"/>
          </a:xfrm>
          <a:prstGeom prst="rect">
            <a:avLst/>
          </a:prstGeom>
        </p:spPr>
      </p:pic>
    </p:spTree>
    <p:extLst>
      <p:ext uri="{BB962C8B-B14F-4D97-AF65-F5344CB8AC3E}">
        <p14:creationId xmlns:p14="http://schemas.microsoft.com/office/powerpoint/2010/main" val="23625064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9932"/>
            <a:ext cx="10515600" cy="5887031"/>
          </a:xfrm>
        </p:spPr>
        <p:txBody>
          <a:bodyPr>
            <a:normAutofit/>
          </a:bodyPr>
          <a:lstStyle/>
          <a:p>
            <a:pPr algn="just">
              <a:lnSpc>
                <a:spcPct val="150000"/>
              </a:lnSpc>
              <a:buNone/>
            </a:pPr>
            <a:r>
              <a:rPr lang="en-US" sz="1800" b="1" dirty="0" smtClean="0">
                <a:latin typeface="Times New Roman" pitchFamily="18" charset="0"/>
                <a:cs typeface="Times New Roman" pitchFamily="18" charset="0"/>
              </a:rPr>
              <a:t>Example </a:t>
            </a:r>
            <a:r>
              <a:rPr lang="en-US" sz="1800" dirty="0" smtClean="0">
                <a:latin typeface="Times New Roman" pitchFamily="18" charset="0"/>
                <a:cs typeface="Times New Roman" pitchFamily="18" charset="0"/>
              </a:rPr>
              <a:t>: consider below table of four process under multilevel feedback queue scheduling . MFQ scheduler with three  queue Q1(Round Robin with time quantum 17), Q2(Round Robin with time quantum 25), Q3(FCFS).</a:t>
            </a:r>
          </a:p>
          <a:p>
            <a:pPr algn="just">
              <a:lnSpc>
                <a:spcPct val="150000"/>
              </a:lnSpc>
              <a:buNone/>
            </a:pPr>
            <a:endParaRPr lang="en-US" sz="1800" dirty="0" smtClean="0">
              <a:latin typeface="Times New Roman" pitchFamily="18" charset="0"/>
              <a:cs typeface="Times New Roman" pitchFamily="18" charset="0"/>
            </a:endParaRPr>
          </a:p>
          <a:p>
            <a:pPr algn="just">
              <a:lnSpc>
                <a:spcPct val="150000"/>
              </a:lnSpc>
              <a:buNone/>
            </a:pPr>
            <a:endParaRPr lang="en-US" sz="1800" dirty="0" smtClean="0">
              <a:latin typeface="Times New Roman" pitchFamily="18" charset="0"/>
              <a:cs typeface="Times New Roman" pitchFamily="18" charset="0"/>
            </a:endParaRPr>
          </a:p>
          <a:p>
            <a:pPr algn="just">
              <a:lnSpc>
                <a:spcPct val="150000"/>
              </a:lnSpc>
              <a:buNone/>
            </a:pPr>
            <a:endParaRPr lang="en-US" sz="1800" dirty="0" smtClean="0">
              <a:latin typeface="Times New Roman" pitchFamily="18" charset="0"/>
              <a:cs typeface="Times New Roman" pitchFamily="18" charset="0"/>
            </a:endParaRPr>
          </a:p>
          <a:p>
            <a:pPr algn="just">
              <a:lnSpc>
                <a:spcPct val="150000"/>
              </a:lnSpc>
              <a:buNone/>
            </a:pPr>
            <a:r>
              <a:rPr lang="en-US" sz="1800" b="1" dirty="0" smtClean="0">
                <a:latin typeface="Times New Roman" pitchFamily="18" charset="0"/>
                <a:cs typeface="Times New Roman" pitchFamily="18" charset="0"/>
              </a:rPr>
              <a:t>Solution: Gantt chart:</a:t>
            </a:r>
          </a:p>
        </p:txBody>
      </p:sp>
      <p:graphicFrame>
        <p:nvGraphicFramePr>
          <p:cNvPr id="4" name="Table 3"/>
          <p:cNvGraphicFramePr>
            <a:graphicFrameLocks noGrp="1"/>
          </p:cNvGraphicFramePr>
          <p:nvPr/>
        </p:nvGraphicFramePr>
        <p:xfrm>
          <a:off x="2608357" y="1463291"/>
          <a:ext cx="8127999" cy="18542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dirty="0" smtClean="0"/>
                        <a:t>Process</a:t>
                      </a:r>
                      <a:endParaRPr lang="en-US" dirty="0"/>
                    </a:p>
                  </a:txBody>
                  <a:tcPr/>
                </a:tc>
                <a:tc>
                  <a:txBody>
                    <a:bodyPr/>
                    <a:lstStyle/>
                    <a:p>
                      <a:r>
                        <a:rPr lang="en-US" dirty="0" smtClean="0"/>
                        <a:t>Burst Time</a:t>
                      </a:r>
                      <a:endParaRPr lang="en-US" dirty="0"/>
                    </a:p>
                  </a:txBody>
                  <a:tcPr/>
                </a:tc>
                <a:tc>
                  <a:txBody>
                    <a:bodyPr/>
                    <a:lstStyle/>
                    <a:p>
                      <a:r>
                        <a:rPr lang="en-US" dirty="0" smtClean="0"/>
                        <a:t>Arrival time</a:t>
                      </a:r>
                      <a:endParaRPr lang="en-US" dirty="0"/>
                    </a:p>
                  </a:txBody>
                  <a:tcPr/>
                </a:tc>
              </a:tr>
              <a:tr h="370840">
                <a:tc>
                  <a:txBody>
                    <a:bodyPr/>
                    <a:lstStyle/>
                    <a:p>
                      <a:r>
                        <a:rPr lang="en-US" dirty="0" smtClean="0"/>
                        <a:t>P1</a:t>
                      </a:r>
                      <a:endParaRPr lang="en-US" dirty="0"/>
                    </a:p>
                  </a:txBody>
                  <a:tcPr/>
                </a:tc>
                <a:tc>
                  <a:txBody>
                    <a:bodyPr/>
                    <a:lstStyle/>
                    <a:p>
                      <a:r>
                        <a:rPr lang="en-US" dirty="0" smtClean="0"/>
                        <a:t>53</a:t>
                      </a:r>
                      <a:endParaRPr lang="en-US" dirty="0"/>
                    </a:p>
                  </a:txBody>
                  <a:tcPr/>
                </a:tc>
                <a:tc>
                  <a:txBody>
                    <a:bodyPr/>
                    <a:lstStyle/>
                    <a:p>
                      <a:r>
                        <a:rPr lang="en-US" dirty="0" smtClean="0"/>
                        <a:t>0</a:t>
                      </a:r>
                      <a:endParaRPr lang="en-US" dirty="0"/>
                    </a:p>
                  </a:txBody>
                  <a:tcPr/>
                </a:tc>
              </a:tr>
              <a:tr h="370840">
                <a:tc>
                  <a:txBody>
                    <a:bodyPr/>
                    <a:lstStyle/>
                    <a:p>
                      <a:r>
                        <a:rPr lang="en-US" dirty="0" smtClean="0"/>
                        <a:t>P2</a:t>
                      </a:r>
                      <a:endParaRPr lang="en-US" dirty="0"/>
                    </a:p>
                  </a:txBody>
                  <a:tcPr/>
                </a:tc>
                <a:tc>
                  <a:txBody>
                    <a:bodyPr/>
                    <a:lstStyle/>
                    <a:p>
                      <a:r>
                        <a:rPr lang="en-US" dirty="0" smtClean="0"/>
                        <a:t>17</a:t>
                      </a:r>
                      <a:endParaRPr lang="en-US" dirty="0"/>
                    </a:p>
                  </a:txBody>
                  <a:tcPr/>
                </a:tc>
                <a:tc>
                  <a:txBody>
                    <a:bodyPr/>
                    <a:lstStyle/>
                    <a:p>
                      <a:r>
                        <a:rPr lang="en-US" dirty="0" smtClean="0"/>
                        <a:t>0</a:t>
                      </a:r>
                      <a:endParaRPr lang="en-US" dirty="0"/>
                    </a:p>
                  </a:txBody>
                  <a:tcPr/>
                </a:tc>
              </a:tr>
              <a:tr h="370840">
                <a:tc>
                  <a:txBody>
                    <a:bodyPr/>
                    <a:lstStyle/>
                    <a:p>
                      <a:r>
                        <a:rPr lang="en-US" dirty="0" smtClean="0"/>
                        <a:t>P3</a:t>
                      </a:r>
                      <a:endParaRPr lang="en-US" dirty="0"/>
                    </a:p>
                  </a:txBody>
                  <a:tcPr/>
                </a:tc>
                <a:tc>
                  <a:txBody>
                    <a:bodyPr/>
                    <a:lstStyle/>
                    <a:p>
                      <a:r>
                        <a:rPr lang="en-US" dirty="0" smtClean="0"/>
                        <a:t>68</a:t>
                      </a:r>
                      <a:endParaRPr lang="en-US" dirty="0"/>
                    </a:p>
                  </a:txBody>
                  <a:tcPr/>
                </a:tc>
                <a:tc>
                  <a:txBody>
                    <a:bodyPr/>
                    <a:lstStyle/>
                    <a:p>
                      <a:r>
                        <a:rPr lang="en-US" dirty="0" smtClean="0"/>
                        <a:t>0</a:t>
                      </a:r>
                      <a:endParaRPr lang="en-US" dirty="0"/>
                    </a:p>
                  </a:txBody>
                  <a:tcPr/>
                </a:tc>
              </a:tr>
              <a:tr h="370840">
                <a:tc>
                  <a:txBody>
                    <a:bodyPr/>
                    <a:lstStyle/>
                    <a:p>
                      <a:r>
                        <a:rPr lang="en-US" dirty="0" smtClean="0"/>
                        <a:t>P4</a:t>
                      </a:r>
                      <a:endParaRPr lang="en-US" dirty="0"/>
                    </a:p>
                  </a:txBody>
                  <a:tcPr/>
                </a:tc>
                <a:tc>
                  <a:txBody>
                    <a:bodyPr/>
                    <a:lstStyle/>
                    <a:p>
                      <a:r>
                        <a:rPr lang="en-US" dirty="0" smtClean="0"/>
                        <a:t>24</a:t>
                      </a:r>
                      <a:endParaRPr lang="en-US" dirty="0"/>
                    </a:p>
                  </a:txBody>
                  <a:tcPr/>
                </a:tc>
                <a:tc>
                  <a:txBody>
                    <a:bodyPr/>
                    <a:lstStyle/>
                    <a:p>
                      <a:r>
                        <a:rPr lang="en-US" dirty="0" smtClean="0"/>
                        <a:t>0</a:t>
                      </a:r>
                      <a:endParaRPr lang="en-US" dirty="0"/>
                    </a:p>
                  </a:txBody>
                  <a:tcPr/>
                </a:tc>
              </a:tr>
            </a:tbl>
          </a:graphicData>
        </a:graphic>
      </p:graphicFrame>
      <p:pic>
        <p:nvPicPr>
          <p:cNvPr id="5" name="Picture 4" descr="s7.PNG"/>
          <p:cNvPicPr>
            <a:picLocks noChangeAspect="1"/>
          </p:cNvPicPr>
          <p:nvPr/>
        </p:nvPicPr>
        <p:blipFill>
          <a:blip r:embed="rId2"/>
          <a:stretch>
            <a:fillRect/>
          </a:stretch>
        </p:blipFill>
        <p:spPr>
          <a:xfrm>
            <a:off x="3239100" y="3505880"/>
            <a:ext cx="3258005" cy="1484131"/>
          </a:xfrm>
          <a:prstGeom prst="rect">
            <a:avLst/>
          </a:prstGeom>
        </p:spPr>
      </p:pic>
      <p:pic>
        <p:nvPicPr>
          <p:cNvPr id="6" name="Picture 5" descr="s8.PNG"/>
          <p:cNvPicPr>
            <a:picLocks noChangeAspect="1"/>
          </p:cNvPicPr>
          <p:nvPr/>
        </p:nvPicPr>
        <p:blipFill>
          <a:blip r:embed="rId3"/>
          <a:stretch>
            <a:fillRect/>
          </a:stretch>
        </p:blipFill>
        <p:spPr>
          <a:xfrm>
            <a:off x="1866309" y="5003074"/>
            <a:ext cx="8459381" cy="1069331"/>
          </a:xfrm>
          <a:prstGeom prst="rect">
            <a:avLst/>
          </a:prstGeom>
        </p:spPr>
      </p:pic>
    </p:spTree>
    <p:extLst>
      <p:ext uri="{BB962C8B-B14F-4D97-AF65-F5344CB8AC3E}">
        <p14:creationId xmlns:p14="http://schemas.microsoft.com/office/powerpoint/2010/main" val="15551450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3124"/>
            <a:ext cx="10515600" cy="5583839"/>
          </a:xfrm>
        </p:spPr>
        <p:txBody>
          <a:bodyPr>
            <a:normAutofit lnSpcReduction="10000"/>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buNone/>
            </a:pPr>
            <a:r>
              <a:rPr lang="en-US" dirty="0" smtClean="0">
                <a:latin typeface="Times New Roman" pitchFamily="18" charset="0"/>
                <a:cs typeface="Times New Roman" pitchFamily="18" charset="0"/>
              </a:rPr>
              <a:t>Average waiting Time  = (83+17+94+101)/4</a:t>
            </a:r>
          </a:p>
          <a:p>
            <a:pPr>
              <a:buNone/>
            </a:pPr>
            <a:r>
              <a:rPr lang="en-US" dirty="0" smtClean="0">
                <a:latin typeface="Times New Roman" pitchFamily="18" charset="0"/>
                <a:cs typeface="Times New Roman" pitchFamily="18" charset="0"/>
              </a:rPr>
              <a:t>                                        = 73.75ms</a:t>
            </a:r>
          </a:p>
          <a:p>
            <a:pPr>
              <a:buNone/>
            </a:pPr>
            <a:r>
              <a:rPr lang="en-US" dirty="0" smtClean="0">
                <a:latin typeface="Times New Roman" pitchFamily="18" charset="0"/>
                <a:cs typeface="Times New Roman" pitchFamily="18" charset="0"/>
              </a:rPr>
              <a:t>Average Turnaround Time = (136+34+162+125)/4</a:t>
            </a:r>
          </a:p>
          <a:p>
            <a:pPr>
              <a:buNone/>
            </a:pPr>
            <a:r>
              <a:rPr lang="en-US" dirty="0" smtClean="0">
                <a:latin typeface="Times New Roman" pitchFamily="18" charset="0"/>
                <a:cs typeface="Times New Roman" pitchFamily="18" charset="0"/>
              </a:rPr>
              <a:t>                                               = 114.25 ms</a:t>
            </a:r>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110340" y="719666"/>
          <a:ext cx="9705708" cy="2689739"/>
        </p:xfrm>
        <a:graphic>
          <a:graphicData uri="http://schemas.openxmlformats.org/drawingml/2006/table">
            <a:tbl>
              <a:tblPr firstRow="1" bandRow="1">
                <a:tableStyleId>{5C22544A-7EE6-4342-B048-85BDC9FD1C3A}</a:tableStyleId>
              </a:tblPr>
              <a:tblGrid>
                <a:gridCol w="1123409"/>
                <a:gridCol w="1358537"/>
                <a:gridCol w="1476103"/>
                <a:gridCol w="2129245"/>
                <a:gridCol w="2000796"/>
                <a:gridCol w="1617618"/>
              </a:tblGrid>
              <a:tr h="810783">
                <a:tc>
                  <a:txBody>
                    <a:bodyPr/>
                    <a:lstStyle/>
                    <a:p>
                      <a:r>
                        <a:rPr lang="en-US" dirty="0" smtClean="0"/>
                        <a:t>Process</a:t>
                      </a:r>
                      <a:endParaRPr lang="en-US" dirty="0"/>
                    </a:p>
                  </a:txBody>
                  <a:tcPr/>
                </a:tc>
                <a:tc>
                  <a:txBody>
                    <a:bodyPr/>
                    <a:lstStyle/>
                    <a:p>
                      <a:r>
                        <a:rPr lang="en-US" dirty="0" smtClean="0"/>
                        <a:t>Burst time</a:t>
                      </a:r>
                      <a:endParaRPr lang="en-US" dirty="0"/>
                    </a:p>
                  </a:txBody>
                  <a:tcPr/>
                </a:tc>
                <a:tc>
                  <a:txBody>
                    <a:bodyPr/>
                    <a:lstStyle/>
                    <a:p>
                      <a:r>
                        <a:rPr lang="en-US" dirty="0" smtClean="0"/>
                        <a:t>Arrival Time</a:t>
                      </a:r>
                      <a:endParaRPr lang="en-US" dirty="0"/>
                    </a:p>
                  </a:txBody>
                  <a:tcPr/>
                </a:tc>
                <a:tc>
                  <a:txBody>
                    <a:bodyPr/>
                    <a:lstStyle/>
                    <a:p>
                      <a:r>
                        <a:rPr lang="en-US" dirty="0" smtClean="0"/>
                        <a:t>Completion Time</a:t>
                      </a:r>
                      <a:endParaRPr lang="en-US" dirty="0"/>
                    </a:p>
                  </a:txBody>
                  <a:tcPr/>
                </a:tc>
                <a:tc>
                  <a:txBody>
                    <a:bodyPr/>
                    <a:lstStyle/>
                    <a:p>
                      <a:r>
                        <a:rPr lang="en-US" dirty="0" smtClean="0"/>
                        <a:t>Turnaround Time</a:t>
                      </a:r>
                      <a:endParaRPr lang="en-US" dirty="0"/>
                    </a:p>
                  </a:txBody>
                  <a:tcPr/>
                </a:tc>
                <a:tc>
                  <a:txBody>
                    <a:bodyPr/>
                    <a:lstStyle/>
                    <a:p>
                      <a:r>
                        <a:rPr lang="en-US" dirty="0" smtClean="0"/>
                        <a:t>Waiting Time</a:t>
                      </a:r>
                      <a:endParaRPr lang="en-US" dirty="0"/>
                    </a:p>
                  </a:txBody>
                  <a:tcPr/>
                </a:tc>
              </a:tr>
              <a:tr h="469739">
                <a:tc>
                  <a:txBody>
                    <a:bodyPr/>
                    <a:lstStyle/>
                    <a:p>
                      <a:r>
                        <a:rPr lang="en-US" dirty="0" smtClean="0"/>
                        <a:t>P1</a:t>
                      </a:r>
                      <a:endParaRPr lang="en-US" dirty="0"/>
                    </a:p>
                  </a:txBody>
                  <a:tcPr/>
                </a:tc>
                <a:tc>
                  <a:txBody>
                    <a:bodyPr/>
                    <a:lstStyle/>
                    <a:p>
                      <a:r>
                        <a:rPr lang="en-US" dirty="0" smtClean="0"/>
                        <a:t>53</a:t>
                      </a:r>
                      <a:endParaRPr lang="en-US" dirty="0"/>
                    </a:p>
                  </a:txBody>
                  <a:tcPr/>
                </a:tc>
                <a:tc>
                  <a:txBody>
                    <a:bodyPr/>
                    <a:lstStyle/>
                    <a:p>
                      <a:r>
                        <a:rPr lang="en-US" dirty="0" smtClean="0"/>
                        <a:t>0</a:t>
                      </a:r>
                      <a:endParaRPr lang="en-US" dirty="0"/>
                    </a:p>
                  </a:txBody>
                  <a:tcPr/>
                </a:tc>
                <a:tc>
                  <a:txBody>
                    <a:bodyPr/>
                    <a:lstStyle/>
                    <a:p>
                      <a:r>
                        <a:rPr lang="en-US" dirty="0" smtClean="0"/>
                        <a:t>136</a:t>
                      </a:r>
                      <a:endParaRPr lang="en-US" dirty="0"/>
                    </a:p>
                  </a:txBody>
                  <a:tcPr/>
                </a:tc>
                <a:tc>
                  <a:txBody>
                    <a:bodyPr/>
                    <a:lstStyle/>
                    <a:p>
                      <a:r>
                        <a:rPr lang="en-US" dirty="0" smtClean="0"/>
                        <a:t>136-0=136</a:t>
                      </a:r>
                      <a:endParaRPr lang="en-US" dirty="0"/>
                    </a:p>
                  </a:txBody>
                  <a:tcPr/>
                </a:tc>
                <a:tc>
                  <a:txBody>
                    <a:bodyPr/>
                    <a:lstStyle/>
                    <a:p>
                      <a:r>
                        <a:rPr lang="en-US" dirty="0" smtClean="0"/>
                        <a:t>136-53=83</a:t>
                      </a:r>
                      <a:endParaRPr lang="en-US" dirty="0"/>
                    </a:p>
                  </a:txBody>
                  <a:tcPr/>
                </a:tc>
              </a:tr>
              <a:tr h="469739">
                <a:tc>
                  <a:txBody>
                    <a:bodyPr/>
                    <a:lstStyle/>
                    <a:p>
                      <a:r>
                        <a:rPr lang="en-US" dirty="0" smtClean="0"/>
                        <a:t>P2</a:t>
                      </a:r>
                      <a:endParaRPr lang="en-US" dirty="0"/>
                    </a:p>
                  </a:txBody>
                  <a:tcPr/>
                </a:tc>
                <a:tc>
                  <a:txBody>
                    <a:bodyPr/>
                    <a:lstStyle/>
                    <a:p>
                      <a:r>
                        <a:rPr lang="en-US" dirty="0" smtClean="0"/>
                        <a:t>17</a:t>
                      </a:r>
                      <a:endParaRPr lang="en-US" dirty="0"/>
                    </a:p>
                  </a:txBody>
                  <a:tcPr/>
                </a:tc>
                <a:tc>
                  <a:txBody>
                    <a:bodyPr/>
                    <a:lstStyle/>
                    <a:p>
                      <a:r>
                        <a:rPr lang="en-US" dirty="0" smtClean="0"/>
                        <a:t>0</a:t>
                      </a:r>
                      <a:endParaRPr lang="en-US" dirty="0"/>
                    </a:p>
                  </a:txBody>
                  <a:tcPr/>
                </a:tc>
                <a:tc>
                  <a:txBody>
                    <a:bodyPr/>
                    <a:lstStyle/>
                    <a:p>
                      <a:r>
                        <a:rPr lang="en-US" dirty="0" smtClean="0"/>
                        <a:t>34</a:t>
                      </a:r>
                      <a:endParaRPr lang="en-US" dirty="0"/>
                    </a:p>
                  </a:txBody>
                  <a:tcPr/>
                </a:tc>
                <a:tc>
                  <a:txBody>
                    <a:bodyPr/>
                    <a:lstStyle/>
                    <a:p>
                      <a:r>
                        <a:rPr lang="en-US" dirty="0" smtClean="0"/>
                        <a:t>34-0=34</a:t>
                      </a:r>
                      <a:endParaRPr lang="en-US" dirty="0"/>
                    </a:p>
                  </a:txBody>
                  <a:tcPr/>
                </a:tc>
                <a:tc>
                  <a:txBody>
                    <a:bodyPr/>
                    <a:lstStyle/>
                    <a:p>
                      <a:r>
                        <a:rPr lang="en-US" dirty="0" smtClean="0"/>
                        <a:t>34-17=17</a:t>
                      </a:r>
                      <a:endParaRPr lang="en-US" dirty="0"/>
                    </a:p>
                  </a:txBody>
                  <a:tcPr/>
                </a:tc>
              </a:tr>
              <a:tr h="469739">
                <a:tc>
                  <a:txBody>
                    <a:bodyPr/>
                    <a:lstStyle/>
                    <a:p>
                      <a:r>
                        <a:rPr lang="en-US" dirty="0" smtClean="0"/>
                        <a:t>P3</a:t>
                      </a:r>
                      <a:endParaRPr lang="en-US" dirty="0"/>
                    </a:p>
                  </a:txBody>
                  <a:tcPr/>
                </a:tc>
                <a:tc>
                  <a:txBody>
                    <a:bodyPr/>
                    <a:lstStyle/>
                    <a:p>
                      <a:r>
                        <a:rPr lang="en-US" dirty="0" smtClean="0"/>
                        <a:t>68</a:t>
                      </a:r>
                      <a:endParaRPr lang="en-US" dirty="0"/>
                    </a:p>
                  </a:txBody>
                  <a:tcPr/>
                </a:tc>
                <a:tc>
                  <a:txBody>
                    <a:bodyPr/>
                    <a:lstStyle/>
                    <a:p>
                      <a:r>
                        <a:rPr lang="en-US" dirty="0" smtClean="0"/>
                        <a:t>0</a:t>
                      </a:r>
                      <a:endParaRPr lang="en-US" dirty="0"/>
                    </a:p>
                  </a:txBody>
                  <a:tcPr/>
                </a:tc>
                <a:tc>
                  <a:txBody>
                    <a:bodyPr/>
                    <a:lstStyle/>
                    <a:p>
                      <a:r>
                        <a:rPr lang="en-US" dirty="0" smtClean="0"/>
                        <a:t>162</a:t>
                      </a:r>
                      <a:endParaRPr lang="en-US" dirty="0"/>
                    </a:p>
                  </a:txBody>
                  <a:tcPr/>
                </a:tc>
                <a:tc>
                  <a:txBody>
                    <a:bodyPr/>
                    <a:lstStyle/>
                    <a:p>
                      <a:r>
                        <a:rPr lang="en-US" dirty="0" smtClean="0"/>
                        <a:t>162-0=162</a:t>
                      </a:r>
                      <a:endParaRPr lang="en-US" dirty="0"/>
                    </a:p>
                  </a:txBody>
                  <a:tcPr/>
                </a:tc>
                <a:tc>
                  <a:txBody>
                    <a:bodyPr/>
                    <a:lstStyle/>
                    <a:p>
                      <a:r>
                        <a:rPr lang="en-US" dirty="0" smtClean="0"/>
                        <a:t>162-68=94</a:t>
                      </a:r>
                      <a:endParaRPr lang="en-US" dirty="0"/>
                    </a:p>
                  </a:txBody>
                  <a:tcPr/>
                </a:tc>
              </a:tr>
              <a:tr h="469739">
                <a:tc>
                  <a:txBody>
                    <a:bodyPr/>
                    <a:lstStyle/>
                    <a:p>
                      <a:r>
                        <a:rPr lang="en-US" dirty="0" smtClean="0"/>
                        <a:t>P4</a:t>
                      </a:r>
                      <a:endParaRPr lang="en-US" dirty="0"/>
                    </a:p>
                  </a:txBody>
                  <a:tcPr/>
                </a:tc>
                <a:tc>
                  <a:txBody>
                    <a:bodyPr/>
                    <a:lstStyle/>
                    <a:p>
                      <a:r>
                        <a:rPr lang="en-US" dirty="0" smtClean="0"/>
                        <a:t>24</a:t>
                      </a:r>
                      <a:endParaRPr lang="en-US" dirty="0"/>
                    </a:p>
                  </a:txBody>
                  <a:tcPr/>
                </a:tc>
                <a:tc>
                  <a:txBody>
                    <a:bodyPr/>
                    <a:lstStyle/>
                    <a:p>
                      <a:r>
                        <a:rPr lang="en-US" dirty="0" smtClean="0"/>
                        <a:t>0</a:t>
                      </a:r>
                      <a:endParaRPr lang="en-US" dirty="0"/>
                    </a:p>
                  </a:txBody>
                  <a:tcPr/>
                </a:tc>
                <a:tc>
                  <a:txBody>
                    <a:bodyPr/>
                    <a:lstStyle/>
                    <a:p>
                      <a:r>
                        <a:rPr lang="en-US" dirty="0" smtClean="0"/>
                        <a:t>125</a:t>
                      </a:r>
                      <a:endParaRPr lang="en-US" dirty="0"/>
                    </a:p>
                  </a:txBody>
                  <a:tcPr/>
                </a:tc>
                <a:tc>
                  <a:txBody>
                    <a:bodyPr/>
                    <a:lstStyle/>
                    <a:p>
                      <a:r>
                        <a:rPr lang="en-US" dirty="0" smtClean="0"/>
                        <a:t>125-0=125</a:t>
                      </a:r>
                      <a:endParaRPr lang="en-US" dirty="0"/>
                    </a:p>
                  </a:txBody>
                  <a:tcPr/>
                </a:tc>
                <a:tc>
                  <a:txBody>
                    <a:bodyPr/>
                    <a:lstStyle/>
                    <a:p>
                      <a:r>
                        <a:rPr lang="en-US" dirty="0" smtClean="0"/>
                        <a:t>125-24=101</a:t>
                      </a:r>
                      <a:endParaRPr lang="en-US" dirty="0"/>
                    </a:p>
                  </a:txBody>
                  <a:tcPr/>
                </a:tc>
              </a:tr>
            </a:tbl>
          </a:graphicData>
        </a:graphic>
      </p:graphicFrame>
    </p:spTree>
    <p:extLst>
      <p:ext uri="{BB962C8B-B14F-4D97-AF65-F5344CB8AC3E}">
        <p14:creationId xmlns:p14="http://schemas.microsoft.com/office/powerpoint/2010/main" val="9738044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0640"/>
          </a:xfrm>
        </p:spPr>
        <p:txBody>
          <a:bodyPr/>
          <a:lstStyle/>
          <a:p>
            <a:pPr algn="ctr"/>
            <a:r>
              <a:rPr lang="en-US" b="1" dirty="0">
                <a:latin typeface="Times New Roman" panose="02020603050405020304" pitchFamily="18" charset="0"/>
                <a:cs typeface="Times New Roman" panose="02020603050405020304" pitchFamily="18" charset="0"/>
              </a:rPr>
              <a:t>Thread Scheduling</a:t>
            </a:r>
          </a:p>
        </p:txBody>
      </p:sp>
      <p:sp>
        <p:nvSpPr>
          <p:cNvPr id="3" name="Content Placeholder 2"/>
          <p:cNvSpPr>
            <a:spLocks noGrp="1"/>
          </p:cNvSpPr>
          <p:nvPr>
            <p:ph idx="1"/>
          </p:nvPr>
        </p:nvSpPr>
        <p:spPr>
          <a:xfrm>
            <a:off x="838200" y="1075766"/>
            <a:ext cx="10515600" cy="5101197"/>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When several processes each have multiple threads, we have two </a:t>
            </a:r>
            <a:r>
              <a:rPr lang="en-US" dirty="0" smtClean="0">
                <a:latin typeface="Times New Roman" panose="02020603050405020304" pitchFamily="18" charset="0"/>
                <a:cs typeface="Times New Roman" panose="02020603050405020304" pitchFamily="18" charset="0"/>
              </a:rPr>
              <a:t>levels </a:t>
            </a:r>
            <a:r>
              <a:rPr lang="en-US" dirty="0">
                <a:latin typeface="Times New Roman" panose="02020603050405020304" pitchFamily="18" charset="0"/>
                <a:cs typeface="Times New Roman" panose="02020603050405020304" pitchFamily="18" charset="0"/>
              </a:rPr>
              <a:t>of </a:t>
            </a:r>
            <a:r>
              <a:rPr lang="en-US" dirty="0" smtClean="0">
                <a:latin typeface="Times New Roman" panose="02020603050405020304" pitchFamily="18" charset="0"/>
                <a:cs typeface="Times New Roman" panose="02020603050405020304" pitchFamily="18" charset="0"/>
              </a:rPr>
              <a:t>parallelism present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processes and threads</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Scheduling </a:t>
            </a:r>
            <a:r>
              <a:rPr lang="en-US" dirty="0">
                <a:latin typeface="Times New Roman" panose="02020603050405020304" pitchFamily="18" charset="0"/>
                <a:cs typeface="Times New Roman" panose="02020603050405020304" pitchFamily="18" charset="0"/>
              </a:rPr>
              <a:t>in such systems differs </a:t>
            </a:r>
            <a:r>
              <a:rPr lang="en-US" dirty="0" smtClean="0">
                <a:latin typeface="Times New Roman" panose="02020603050405020304" pitchFamily="18" charset="0"/>
                <a:cs typeface="Times New Roman" panose="02020603050405020304" pitchFamily="18" charset="0"/>
              </a:rPr>
              <a:t>substantially depending </a:t>
            </a:r>
            <a:r>
              <a:rPr lang="en-US" dirty="0">
                <a:latin typeface="Times New Roman" panose="02020603050405020304" pitchFamily="18" charset="0"/>
                <a:cs typeface="Times New Roman" panose="02020603050405020304" pitchFamily="18" charset="0"/>
              </a:rPr>
              <a:t>on whether user-level threads or kernel-level </a:t>
            </a:r>
            <a:r>
              <a:rPr lang="en-US" dirty="0" smtClean="0">
                <a:latin typeface="Times New Roman" panose="02020603050405020304" pitchFamily="18" charset="0"/>
                <a:cs typeface="Times New Roman" panose="02020603050405020304" pitchFamily="18" charset="0"/>
              </a:rPr>
              <a:t>threads.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On most modern operating systems it is kernel-level threads—not processes— that are being scheduled by the operating system.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User-level </a:t>
            </a:r>
            <a:r>
              <a:rPr lang="en-US" dirty="0">
                <a:latin typeface="Times New Roman" panose="02020603050405020304" pitchFamily="18" charset="0"/>
                <a:cs typeface="Times New Roman" panose="02020603050405020304" pitchFamily="18" charset="0"/>
              </a:rPr>
              <a:t>threads are managed by a thread library, and the kernel is unaware of them</a:t>
            </a:r>
          </a:p>
        </p:txBody>
      </p:sp>
    </p:spTree>
    <p:extLst>
      <p:ext uri="{BB962C8B-B14F-4D97-AF65-F5344CB8AC3E}">
        <p14:creationId xmlns:p14="http://schemas.microsoft.com/office/powerpoint/2010/main" val="3166891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7541"/>
            <a:ext cx="10515600" cy="5679422"/>
          </a:xfrm>
        </p:spPr>
        <p:txBody>
          <a:bodyPr>
            <a:normAutofit fontScale="850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Let us consider user-level threads first. Since the kernel is not aware of the </a:t>
            </a:r>
            <a:r>
              <a:rPr lang="en-US" dirty="0" smtClean="0">
                <a:latin typeface="Times New Roman" panose="02020603050405020304" pitchFamily="18" charset="0"/>
                <a:cs typeface="Times New Roman" panose="02020603050405020304" pitchFamily="18" charset="0"/>
              </a:rPr>
              <a:t>existence of </a:t>
            </a:r>
            <a:r>
              <a:rPr lang="en-US" dirty="0">
                <a:latin typeface="Times New Roman" panose="02020603050405020304" pitchFamily="18" charset="0"/>
                <a:cs typeface="Times New Roman" panose="02020603050405020304" pitchFamily="18" charset="0"/>
              </a:rPr>
              <a:t>threads, it operates as it always does, picking a process, say, </a:t>
            </a:r>
            <a:r>
              <a:rPr lang="en-US" i="1"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 and </a:t>
            </a:r>
            <a:r>
              <a:rPr lang="en-US" dirty="0" smtClean="0">
                <a:latin typeface="Times New Roman" panose="02020603050405020304" pitchFamily="18" charset="0"/>
                <a:cs typeface="Times New Roman" panose="02020603050405020304" pitchFamily="18" charset="0"/>
              </a:rPr>
              <a:t>giving </a:t>
            </a:r>
            <a:r>
              <a:rPr lang="en-US" i="1"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control for its quantum.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thread scheduler inside </a:t>
            </a:r>
            <a:r>
              <a:rPr lang="en-US" i="1" dirty="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decides which </a:t>
            </a:r>
            <a:r>
              <a:rPr lang="en-US" dirty="0" smtClean="0">
                <a:latin typeface="Times New Roman" panose="02020603050405020304" pitchFamily="18" charset="0"/>
                <a:cs typeface="Times New Roman" panose="02020603050405020304" pitchFamily="18" charset="0"/>
              </a:rPr>
              <a:t>thread to </a:t>
            </a:r>
            <a:r>
              <a:rPr lang="en-US" dirty="0">
                <a:latin typeface="Times New Roman" panose="02020603050405020304" pitchFamily="18" charset="0"/>
                <a:cs typeface="Times New Roman" panose="02020603050405020304" pitchFamily="18" charset="0"/>
              </a:rPr>
              <a:t>run, say </a:t>
            </a:r>
            <a:r>
              <a:rPr lang="en-US" i="1" dirty="0">
                <a:latin typeface="Times New Roman" panose="02020603050405020304" pitchFamily="18" charset="0"/>
                <a:cs typeface="Times New Roman" panose="02020603050405020304" pitchFamily="18" charset="0"/>
              </a:rPr>
              <a:t>A1</a:t>
            </a:r>
            <a:r>
              <a:rPr lang="en-US" dirty="0">
                <a:latin typeface="Times New Roman" panose="02020603050405020304" pitchFamily="18" charset="0"/>
                <a:cs typeface="Times New Roman" panose="02020603050405020304" pitchFamily="18" charset="0"/>
              </a:rPr>
              <a:t>. Since there are no clock interrupts to multiprogram threads, </a:t>
            </a:r>
            <a:r>
              <a:rPr lang="en-US" dirty="0" smtClean="0">
                <a:latin typeface="Times New Roman" panose="02020603050405020304" pitchFamily="18" charset="0"/>
                <a:cs typeface="Times New Roman" panose="02020603050405020304" pitchFamily="18" charset="0"/>
              </a:rPr>
              <a:t>this thread </a:t>
            </a:r>
            <a:r>
              <a:rPr lang="en-US" dirty="0">
                <a:latin typeface="Times New Roman" panose="02020603050405020304" pitchFamily="18" charset="0"/>
                <a:cs typeface="Times New Roman" panose="02020603050405020304" pitchFamily="18" charset="0"/>
              </a:rPr>
              <a:t>may continue running as long as it wants to.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it uses up the process’ </a:t>
            </a:r>
            <a:r>
              <a:rPr lang="en-US" dirty="0" smtClean="0">
                <a:latin typeface="Times New Roman" panose="02020603050405020304" pitchFamily="18" charset="0"/>
                <a:cs typeface="Times New Roman" panose="02020603050405020304" pitchFamily="18" charset="0"/>
              </a:rPr>
              <a:t>entire quantum</a:t>
            </a:r>
            <a:r>
              <a:rPr lang="en-US" dirty="0">
                <a:latin typeface="Times New Roman" panose="02020603050405020304" pitchFamily="18" charset="0"/>
                <a:cs typeface="Times New Roman" panose="02020603050405020304" pitchFamily="18" charset="0"/>
              </a:rPr>
              <a:t>, the kernel will select another process to run.</a:t>
            </a:r>
          </a:p>
          <a:p>
            <a:pPr algn="just">
              <a:lnSpc>
                <a:spcPct val="150000"/>
              </a:lnSpc>
            </a:pPr>
            <a:r>
              <a:rPr lang="en-US" dirty="0">
                <a:latin typeface="Times New Roman" panose="02020603050405020304" pitchFamily="18" charset="0"/>
                <a:cs typeface="Times New Roman" panose="02020603050405020304" pitchFamily="18" charset="0"/>
              </a:rPr>
              <a:t>When the process </a:t>
            </a:r>
            <a:r>
              <a:rPr lang="en-US" i="1" dirty="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finally runs again, thread </a:t>
            </a:r>
            <a:r>
              <a:rPr lang="en-US" i="1" dirty="0">
                <a:latin typeface="Times New Roman" panose="02020603050405020304" pitchFamily="18" charset="0"/>
                <a:cs typeface="Times New Roman" panose="02020603050405020304" pitchFamily="18" charset="0"/>
              </a:rPr>
              <a:t>A1 </a:t>
            </a:r>
            <a:r>
              <a:rPr lang="en-US" dirty="0">
                <a:latin typeface="Times New Roman" panose="02020603050405020304" pitchFamily="18" charset="0"/>
                <a:cs typeface="Times New Roman" panose="02020603050405020304" pitchFamily="18" charset="0"/>
              </a:rPr>
              <a:t>will resume running.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It will continue </a:t>
            </a:r>
            <a:r>
              <a:rPr lang="en-US" dirty="0">
                <a:latin typeface="Times New Roman" panose="02020603050405020304" pitchFamily="18" charset="0"/>
                <a:cs typeface="Times New Roman" panose="02020603050405020304" pitchFamily="18" charset="0"/>
              </a:rPr>
              <a:t>to consume all of </a:t>
            </a:r>
            <a:r>
              <a:rPr lang="en-US" i="1"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’s time until it is finished</a:t>
            </a:r>
            <a:r>
              <a:rPr lang="en-US" dirty="0"/>
              <a:t>. </a:t>
            </a:r>
            <a:r>
              <a:rPr lang="en-US" dirty="0" smtClean="0"/>
              <a:t>.</a:t>
            </a:r>
            <a:endParaRPr lang="en-US" dirty="0"/>
          </a:p>
        </p:txBody>
      </p:sp>
    </p:spTree>
    <p:extLst>
      <p:ext uri="{BB962C8B-B14F-4D97-AF65-F5344CB8AC3E}">
        <p14:creationId xmlns:p14="http://schemas.microsoft.com/office/powerpoint/2010/main" val="4530169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4094"/>
            <a:ext cx="10515600" cy="5692869"/>
          </a:xfrm>
        </p:spPr>
        <p:txBody>
          <a:bodyPr>
            <a:normAutofit fontScale="85000" lnSpcReduction="20000"/>
          </a:bodyPr>
          <a:lstStyle/>
          <a:p>
            <a:pPr algn="just">
              <a:lnSpc>
                <a:spcPct val="170000"/>
              </a:lnSpc>
            </a:pPr>
            <a:r>
              <a:rPr lang="en-US" dirty="0">
                <a:latin typeface="Times New Roman" panose="02020603050405020304" pitchFamily="18" charset="0"/>
                <a:cs typeface="Times New Roman" panose="02020603050405020304" pitchFamily="18" charset="0"/>
              </a:rPr>
              <a:t>Now consider the case that </a:t>
            </a:r>
            <a:r>
              <a:rPr lang="en-US" i="1" dirty="0">
                <a:latin typeface="Times New Roman" panose="02020603050405020304" pitchFamily="18" charset="0"/>
                <a:cs typeface="Times New Roman" panose="02020603050405020304" pitchFamily="18" charset="0"/>
              </a:rPr>
              <a:t>A</a:t>
            </a:r>
            <a:r>
              <a:rPr lang="en-US" dirty="0">
                <a:latin typeface="Times New Roman" panose="02020603050405020304" pitchFamily="18" charset="0"/>
                <a:cs typeface="Times New Roman" panose="02020603050405020304" pitchFamily="18" charset="0"/>
              </a:rPr>
              <a:t>’s threads have relatively little work to do </a:t>
            </a:r>
            <a:r>
              <a:rPr lang="en-US" dirty="0" smtClean="0">
                <a:latin typeface="Times New Roman" panose="02020603050405020304" pitchFamily="18" charset="0"/>
                <a:cs typeface="Times New Roman" panose="02020603050405020304" pitchFamily="18" charset="0"/>
              </a:rPr>
              <a:t>per CPU </a:t>
            </a:r>
            <a:r>
              <a:rPr lang="en-US" dirty="0">
                <a:latin typeface="Times New Roman" panose="02020603050405020304" pitchFamily="18" charset="0"/>
                <a:cs typeface="Times New Roman" panose="02020603050405020304" pitchFamily="18" charset="0"/>
              </a:rPr>
              <a:t>burst, for example, 5 msec of work within a 50-msec </a:t>
            </a:r>
            <a:r>
              <a:rPr lang="en-US" dirty="0" smtClean="0">
                <a:latin typeface="Times New Roman" panose="02020603050405020304" pitchFamily="18" charset="0"/>
                <a:cs typeface="Times New Roman" panose="02020603050405020304" pitchFamily="18" charset="0"/>
              </a:rPr>
              <a:t>quantum</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lnSpc>
                <a:spcPct val="170000"/>
              </a:lnSpc>
            </a:pPr>
            <a:r>
              <a:rPr lang="en-US" dirty="0" smtClean="0">
                <a:latin typeface="Times New Roman" panose="02020603050405020304" pitchFamily="18" charset="0"/>
                <a:cs typeface="Times New Roman" panose="02020603050405020304" pitchFamily="18" charset="0"/>
              </a:rPr>
              <a:t>Consequently, each </a:t>
            </a:r>
            <a:r>
              <a:rPr lang="en-US" dirty="0">
                <a:latin typeface="Times New Roman" panose="02020603050405020304" pitchFamily="18" charset="0"/>
                <a:cs typeface="Times New Roman" panose="02020603050405020304" pitchFamily="18" charset="0"/>
              </a:rPr>
              <a:t>one runs for a little while, then yields the CPU back to the thread scheduler.</a:t>
            </a:r>
          </a:p>
          <a:p>
            <a:pPr algn="just">
              <a:lnSpc>
                <a:spcPct val="170000"/>
              </a:lnSpc>
            </a:pPr>
            <a:r>
              <a:rPr lang="en-US" dirty="0">
                <a:latin typeface="Times New Roman" panose="02020603050405020304" pitchFamily="18" charset="0"/>
                <a:cs typeface="Times New Roman" panose="02020603050405020304" pitchFamily="18" charset="0"/>
              </a:rPr>
              <a:t>This might lead to the sequence </a:t>
            </a:r>
            <a:r>
              <a:rPr lang="en-US" i="1" dirty="0">
                <a:latin typeface="Times New Roman" panose="02020603050405020304" pitchFamily="18" charset="0"/>
                <a:cs typeface="Times New Roman" panose="02020603050405020304" pitchFamily="18" charset="0"/>
              </a:rPr>
              <a:t>A1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A2</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A3</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A2</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A3</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A2</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A3</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A1</a:t>
            </a:r>
            <a:r>
              <a:rPr lang="en-US" dirty="0">
                <a:latin typeface="Times New Roman" panose="02020603050405020304" pitchFamily="18" charset="0"/>
                <a:cs typeface="Times New Roman" panose="02020603050405020304" pitchFamily="18" charset="0"/>
              </a:rPr>
              <a:t>, before </a:t>
            </a:r>
            <a:r>
              <a:rPr lang="en-US" dirty="0" smtClean="0">
                <a:latin typeface="Times New Roman" panose="02020603050405020304" pitchFamily="18" charset="0"/>
                <a:cs typeface="Times New Roman" panose="02020603050405020304" pitchFamily="18" charset="0"/>
              </a:rPr>
              <a:t>the kernel </a:t>
            </a:r>
            <a:r>
              <a:rPr lang="en-US" dirty="0">
                <a:latin typeface="Times New Roman" panose="02020603050405020304" pitchFamily="18" charset="0"/>
                <a:cs typeface="Times New Roman" panose="02020603050405020304" pitchFamily="18" charset="0"/>
              </a:rPr>
              <a:t>switches to process </a:t>
            </a:r>
            <a:r>
              <a:rPr lang="en-US" i="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This situation is illustrated in </a:t>
            </a:r>
            <a:r>
              <a:rPr lang="en-US" dirty="0" smtClean="0">
                <a:latin typeface="Times New Roman" panose="02020603050405020304" pitchFamily="18" charset="0"/>
                <a:cs typeface="Times New Roman" panose="02020603050405020304" pitchFamily="18" charset="0"/>
              </a:rPr>
              <a:t>Figure (a).</a:t>
            </a:r>
          </a:p>
          <a:p>
            <a:pPr algn="just">
              <a:lnSpc>
                <a:spcPct val="170000"/>
              </a:lnSpc>
            </a:pPr>
            <a:r>
              <a:rPr lang="en-US" dirty="0">
                <a:latin typeface="Times New Roman" panose="02020603050405020304" pitchFamily="18" charset="0"/>
                <a:cs typeface="Times New Roman" panose="02020603050405020304" pitchFamily="18" charset="0"/>
              </a:rPr>
              <a:t>The scheduling algorithm used by the run-time system can be any of the </a:t>
            </a:r>
            <a:r>
              <a:rPr lang="en-US" dirty="0" smtClean="0">
                <a:latin typeface="Times New Roman" panose="02020603050405020304" pitchFamily="18" charset="0"/>
                <a:cs typeface="Times New Roman" panose="02020603050405020304" pitchFamily="18" charset="0"/>
              </a:rPr>
              <a:t>ones described </a:t>
            </a:r>
            <a:r>
              <a:rPr lang="en-US" dirty="0">
                <a:latin typeface="Times New Roman" panose="02020603050405020304" pitchFamily="18" charset="0"/>
                <a:cs typeface="Times New Roman" panose="02020603050405020304" pitchFamily="18" charset="0"/>
              </a:rPr>
              <a:t>above. </a:t>
            </a:r>
            <a:endParaRPr lang="en-US" dirty="0" smtClean="0">
              <a:latin typeface="Times New Roman" panose="02020603050405020304" pitchFamily="18" charset="0"/>
              <a:cs typeface="Times New Roman" panose="02020603050405020304" pitchFamily="18" charset="0"/>
            </a:endParaRPr>
          </a:p>
          <a:p>
            <a:pPr algn="just">
              <a:lnSpc>
                <a:spcPct val="170000"/>
              </a:lnSpc>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practice, </a:t>
            </a:r>
            <a:r>
              <a:rPr lang="en-US" b="1" dirty="0">
                <a:latin typeface="Times New Roman" panose="02020603050405020304" pitchFamily="18" charset="0"/>
                <a:cs typeface="Times New Roman" panose="02020603050405020304" pitchFamily="18" charset="0"/>
              </a:rPr>
              <a:t>round-robin scheduling and priority scheduling </a:t>
            </a:r>
            <a:r>
              <a:rPr lang="en-US" dirty="0" smtClean="0">
                <a:latin typeface="Times New Roman" panose="02020603050405020304" pitchFamily="18" charset="0"/>
                <a:cs typeface="Times New Roman" panose="02020603050405020304" pitchFamily="18" charset="0"/>
              </a:rPr>
              <a:t>are most </a:t>
            </a:r>
            <a:r>
              <a:rPr lang="en-US" dirty="0">
                <a:latin typeface="Times New Roman" panose="02020603050405020304" pitchFamily="18" charset="0"/>
                <a:cs typeface="Times New Roman" panose="02020603050405020304" pitchFamily="18" charset="0"/>
              </a:rPr>
              <a:t>common.</a:t>
            </a:r>
          </a:p>
        </p:txBody>
      </p:sp>
    </p:spTree>
    <p:extLst>
      <p:ext uri="{BB962C8B-B14F-4D97-AF65-F5344CB8AC3E}">
        <p14:creationId xmlns:p14="http://schemas.microsoft.com/office/powerpoint/2010/main" val="25505753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95083" y="730015"/>
            <a:ext cx="9439836" cy="3868879"/>
          </a:xfrm>
          <a:prstGeom prst="rect">
            <a:avLst/>
          </a:prstGeom>
        </p:spPr>
      </p:pic>
      <p:sp>
        <p:nvSpPr>
          <p:cNvPr id="5" name="TextBox 4"/>
          <p:cNvSpPr txBox="1"/>
          <p:nvPr/>
        </p:nvSpPr>
        <p:spPr>
          <a:xfrm>
            <a:off x="2299448" y="4719918"/>
            <a:ext cx="8135471" cy="1338828"/>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Figure </a:t>
            </a:r>
            <a:r>
              <a:rPr lang="en-US" b="1"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Possible scheduling of user-level threads with a 50-msec </a:t>
            </a:r>
            <a:r>
              <a:rPr lang="en-US" dirty="0" smtClean="0">
                <a:latin typeface="Times New Roman" panose="02020603050405020304" pitchFamily="18" charset="0"/>
                <a:cs typeface="Times New Roman" panose="02020603050405020304" pitchFamily="18" charset="0"/>
              </a:rPr>
              <a:t>process quantum </a:t>
            </a:r>
            <a:r>
              <a:rPr lang="en-US" dirty="0">
                <a:latin typeface="Times New Roman" panose="02020603050405020304" pitchFamily="18" charset="0"/>
                <a:cs typeface="Times New Roman" panose="02020603050405020304" pitchFamily="18" charset="0"/>
              </a:rPr>
              <a:t>and threads that run 5 msec per CPU burst.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b) Possible </a:t>
            </a:r>
            <a:r>
              <a:rPr lang="en-US" dirty="0" smtClean="0">
                <a:latin typeface="Times New Roman" panose="02020603050405020304" pitchFamily="18" charset="0"/>
                <a:cs typeface="Times New Roman" panose="02020603050405020304" pitchFamily="18" charset="0"/>
              </a:rPr>
              <a:t>scheduling of </a:t>
            </a:r>
            <a:r>
              <a:rPr lang="en-US" dirty="0">
                <a:latin typeface="Times New Roman" panose="02020603050405020304" pitchFamily="18" charset="0"/>
                <a:cs typeface="Times New Roman" panose="02020603050405020304" pitchFamily="18" charset="0"/>
              </a:rPr>
              <a:t>kernel-level threads with the same characteristics as (a).</a:t>
            </a:r>
          </a:p>
        </p:txBody>
      </p:sp>
    </p:spTree>
    <p:extLst>
      <p:ext uri="{BB962C8B-B14F-4D97-AF65-F5344CB8AC3E}">
        <p14:creationId xmlns:p14="http://schemas.microsoft.com/office/powerpoint/2010/main" val="33193675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9624"/>
            <a:ext cx="10515600" cy="5827339"/>
          </a:xfrm>
        </p:spPr>
        <p:txBody>
          <a:bodyPr>
            <a:normAutofit fontScale="925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Now consider the situation with kernel-level threads. Here the kernel picks </a:t>
            </a:r>
            <a:r>
              <a:rPr lang="en-US" dirty="0" smtClean="0">
                <a:latin typeface="Times New Roman" panose="02020603050405020304" pitchFamily="18" charset="0"/>
                <a:cs typeface="Times New Roman" panose="02020603050405020304" pitchFamily="18" charset="0"/>
              </a:rPr>
              <a:t>a particular </a:t>
            </a:r>
            <a:r>
              <a:rPr lang="en-US" dirty="0">
                <a:latin typeface="Times New Roman" panose="02020603050405020304" pitchFamily="18" charset="0"/>
                <a:cs typeface="Times New Roman" panose="02020603050405020304" pitchFamily="18" charset="0"/>
              </a:rPr>
              <a:t>thread to run</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does not have to take into account which process </a:t>
            </a:r>
            <a:r>
              <a:rPr lang="en-US" dirty="0" smtClean="0">
                <a:latin typeface="Times New Roman" panose="02020603050405020304" pitchFamily="18" charset="0"/>
                <a:cs typeface="Times New Roman" panose="02020603050405020304" pitchFamily="18" charset="0"/>
              </a:rPr>
              <a:t>the thread </a:t>
            </a:r>
            <a:r>
              <a:rPr lang="en-US" dirty="0">
                <a:latin typeface="Times New Roman" panose="02020603050405020304" pitchFamily="18" charset="0"/>
                <a:cs typeface="Times New Roman" panose="02020603050405020304" pitchFamily="18" charset="0"/>
              </a:rPr>
              <a:t>belongs to, but it can if it wants to</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thread is given a quantum and is </a:t>
            </a:r>
            <a:r>
              <a:rPr lang="en-US" dirty="0" smtClean="0">
                <a:latin typeface="Times New Roman" panose="02020603050405020304" pitchFamily="18" charset="0"/>
                <a:cs typeface="Times New Roman" panose="02020603050405020304" pitchFamily="18" charset="0"/>
              </a:rPr>
              <a:t>forcibly suspended </a:t>
            </a:r>
            <a:r>
              <a:rPr lang="en-US" dirty="0">
                <a:latin typeface="Times New Roman" panose="02020603050405020304" pitchFamily="18" charset="0"/>
                <a:cs typeface="Times New Roman" panose="02020603050405020304" pitchFamily="18" charset="0"/>
              </a:rPr>
              <a:t>if it exceeds the quantum</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With a 50-msec quantum but </a:t>
            </a:r>
            <a:r>
              <a:rPr lang="en-US" dirty="0" smtClean="0">
                <a:latin typeface="Times New Roman" panose="02020603050405020304" pitchFamily="18" charset="0"/>
                <a:cs typeface="Times New Roman" panose="02020603050405020304" pitchFamily="18" charset="0"/>
              </a:rPr>
              <a:t>threads that </a:t>
            </a:r>
            <a:r>
              <a:rPr lang="en-US" dirty="0">
                <a:latin typeface="Times New Roman" panose="02020603050405020304" pitchFamily="18" charset="0"/>
                <a:cs typeface="Times New Roman" panose="02020603050405020304" pitchFamily="18" charset="0"/>
              </a:rPr>
              <a:t>block after 5 msec, the thread order for some period of 30 msec might be </a:t>
            </a:r>
            <a:r>
              <a:rPr lang="en-US" i="1" dirty="0" smtClean="0">
                <a:latin typeface="Times New Roman" panose="02020603050405020304" pitchFamily="18" charset="0"/>
                <a:cs typeface="Times New Roman" panose="02020603050405020304" pitchFamily="18" charset="0"/>
              </a:rPr>
              <a:t>A1</a:t>
            </a:r>
            <a:r>
              <a:rPr lang="en-US" dirty="0" smtClean="0">
                <a:latin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cs typeface="Times New Roman" panose="02020603050405020304" pitchFamily="18" charset="0"/>
              </a:rPr>
              <a:t>B1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A2</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B2</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A3</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B3</a:t>
            </a:r>
            <a:r>
              <a:rPr lang="en-US" dirty="0">
                <a:latin typeface="Times New Roman" panose="02020603050405020304" pitchFamily="18" charset="0"/>
                <a:cs typeface="Times New Roman" panose="02020603050405020304" pitchFamily="18" charset="0"/>
              </a:rPr>
              <a:t>, something not possible with these parameters and </a:t>
            </a:r>
            <a:r>
              <a:rPr lang="en-US" dirty="0" smtClean="0">
                <a:latin typeface="Times New Roman" panose="02020603050405020304" pitchFamily="18" charset="0"/>
                <a:cs typeface="Times New Roman" panose="02020603050405020304" pitchFamily="18" charset="0"/>
              </a:rPr>
              <a:t>user-level threads.</a:t>
            </a:r>
          </a:p>
          <a:p>
            <a:pPr algn="just">
              <a:lnSpc>
                <a:spcPct val="150000"/>
              </a:lnSpc>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situation is partially depicted in </a:t>
            </a:r>
            <a:r>
              <a:rPr lang="en-US" dirty="0" smtClean="0">
                <a:latin typeface="Times New Roman" panose="02020603050405020304" pitchFamily="18" charset="0"/>
                <a:cs typeface="Times New Roman" panose="02020603050405020304" pitchFamily="18" charset="0"/>
              </a:rPr>
              <a:t>Figure(b</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355682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latin typeface="Times New Roman" pitchFamily="18" charset="0"/>
                <a:cs typeface="Times New Roman" pitchFamily="18" charset="0"/>
              </a:rPr>
              <a:t>Process Synchronization</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lgn="just">
              <a:lnSpc>
                <a:spcPct val="200000"/>
              </a:lnSpc>
            </a:pPr>
            <a:r>
              <a:rPr lang="en-US" dirty="0" smtClean="0">
                <a:latin typeface="Times New Roman" pitchFamily="18" charset="0"/>
                <a:cs typeface="Times New Roman" pitchFamily="18" charset="0"/>
              </a:rPr>
              <a:t>How to make sure two or more processes do not get into each other’s way when engaging in shared resources?</a:t>
            </a:r>
          </a:p>
          <a:p>
            <a:pPr algn="just">
              <a:lnSpc>
                <a:spcPct val="200000"/>
              </a:lnSpc>
            </a:pPr>
            <a:r>
              <a:rPr lang="en-US" dirty="0" smtClean="0">
                <a:latin typeface="Times New Roman" pitchFamily="18" charset="0"/>
                <a:cs typeface="Times New Roman" pitchFamily="18" charset="0"/>
              </a:rPr>
              <a:t>How to maintain the proper sequence when dependencies are presents?</a:t>
            </a:r>
          </a:p>
          <a:p>
            <a:pPr algn="just">
              <a:lnSpc>
                <a:spcPct val="200000"/>
              </a:lnSpc>
              <a:buNone/>
            </a:pPr>
            <a:r>
              <a:rPr lang="en-US" b="1" i="1" dirty="0" smtClean="0">
                <a:latin typeface="Times New Roman" pitchFamily="18" charset="0"/>
                <a:cs typeface="Times New Roman" pitchFamily="18" charset="0"/>
              </a:rPr>
              <a:t>    </a:t>
            </a:r>
            <a:r>
              <a:rPr lang="en-US" b="1" i="1" dirty="0" smtClean="0">
                <a:solidFill>
                  <a:srgbClr val="FF0000"/>
                </a:solidFill>
                <a:latin typeface="Times New Roman" pitchFamily="18" charset="0"/>
                <a:cs typeface="Times New Roman" pitchFamily="18" charset="0"/>
              </a:rPr>
              <a:t>Process synchronization – synchronize the process actions</a:t>
            </a:r>
            <a:endParaRPr lang="en-US"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60591686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Race Conditions</a:t>
            </a:r>
            <a:endParaRPr lang="en-US" b="1" dirty="0">
              <a:solidFill>
                <a:srgbClr val="FF000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600891" y="875211"/>
            <a:ext cx="10881359" cy="5569813"/>
          </a:xfrm>
          <a:prstGeom prst="rect">
            <a:avLst/>
          </a:prstGeom>
          <a:noFill/>
          <a:ln w="9525">
            <a:noFill/>
            <a:miter lim="800000"/>
            <a:headEnd/>
            <a:tailEnd/>
          </a:ln>
          <a:effectLst/>
        </p:spPr>
      </p:pic>
    </p:spTree>
    <p:extLst>
      <p:ext uri="{BB962C8B-B14F-4D97-AF65-F5344CB8AC3E}">
        <p14:creationId xmlns:p14="http://schemas.microsoft.com/office/powerpoint/2010/main" val="30515073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lstStyle/>
          <a:p>
            <a:pPr algn="ctr"/>
            <a:r>
              <a:rPr lang="en-US" b="1" dirty="0" smtClean="0">
                <a:solidFill>
                  <a:srgbClr val="FF0000"/>
                </a:solidFill>
                <a:latin typeface="Times New Roman" pitchFamily="18" charset="0"/>
                <a:cs typeface="Times New Roman" pitchFamily="18" charset="0"/>
              </a:rPr>
              <a:t>Mutual Exclusion</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175656"/>
            <a:ext cx="10515600" cy="5290457"/>
          </a:xfrm>
        </p:spPr>
        <p:txBody>
          <a:bodyPr>
            <a:normAutofit fontScale="92500" lnSpcReduction="20000"/>
          </a:bodyPr>
          <a:lstStyle/>
          <a:p>
            <a:pPr algn="just">
              <a:lnSpc>
                <a:spcPct val="150000"/>
              </a:lnSpc>
            </a:pPr>
            <a:r>
              <a:rPr lang="en-US" b="1" dirty="0" smtClean="0">
                <a:latin typeface="Times New Roman" pitchFamily="18" charset="0"/>
                <a:cs typeface="Times New Roman" pitchFamily="18" charset="0"/>
              </a:rPr>
              <a:t>Possibilities of race:</a:t>
            </a:r>
          </a:p>
          <a:p>
            <a:pPr lvl="1" algn="just">
              <a:lnSpc>
                <a:spcPct val="150000"/>
              </a:lnSpc>
              <a:buNone/>
            </a:pPr>
            <a:r>
              <a:rPr lang="en-US" dirty="0" smtClean="0">
                <a:latin typeface="Times New Roman" pitchFamily="18" charset="0"/>
                <a:cs typeface="Times New Roman" pitchFamily="18" charset="0"/>
              </a:rPr>
              <a:t>- many concurrent process read the same data.</a:t>
            </a:r>
          </a:p>
          <a:p>
            <a:pPr lvl="1" algn="just">
              <a:lnSpc>
                <a:spcPct val="150000"/>
              </a:lnSpc>
              <a:buNone/>
            </a:pPr>
            <a:r>
              <a:rPr lang="en-US" dirty="0" smtClean="0">
                <a:latin typeface="Times New Roman" pitchFamily="18" charset="0"/>
                <a:cs typeface="Times New Roman" pitchFamily="18" charset="0"/>
              </a:rPr>
              <a:t>- one process reading and another process writing same data.</a:t>
            </a:r>
          </a:p>
          <a:p>
            <a:pPr lvl="1" algn="just">
              <a:lnSpc>
                <a:spcPct val="150000"/>
              </a:lnSpc>
              <a:buNone/>
            </a:pPr>
            <a:r>
              <a:rPr lang="en-US" dirty="0" smtClean="0">
                <a:latin typeface="Times New Roman" pitchFamily="18" charset="0"/>
                <a:cs typeface="Times New Roman" pitchFamily="18" charset="0"/>
              </a:rPr>
              <a:t>- two or more process writing same data.</a:t>
            </a:r>
          </a:p>
          <a:p>
            <a:pPr algn="just">
              <a:lnSpc>
                <a:spcPct val="150000"/>
              </a:lnSpc>
              <a:buNone/>
            </a:pPr>
            <a:r>
              <a:rPr lang="en-US" b="1" dirty="0" smtClean="0">
                <a:latin typeface="Times New Roman" pitchFamily="18" charset="0"/>
                <a:cs typeface="Times New Roman" pitchFamily="18" charset="0"/>
              </a:rPr>
              <a:t>Solution: </a:t>
            </a:r>
            <a:r>
              <a:rPr lang="en-US" i="1" dirty="0" smtClean="0">
                <a:latin typeface="Times New Roman" pitchFamily="18" charset="0"/>
                <a:cs typeface="Times New Roman" pitchFamily="18" charset="0"/>
              </a:rPr>
              <a:t>prohibiting more than one process from reading writing the same data at the same time- </a:t>
            </a:r>
            <a:r>
              <a:rPr lang="en-US" b="1" i="1" dirty="0" smtClean="0">
                <a:latin typeface="Times New Roman" pitchFamily="18" charset="0"/>
                <a:cs typeface="Times New Roman" pitchFamily="18" charset="0"/>
              </a:rPr>
              <a:t>Mutual Exclusion</a:t>
            </a:r>
            <a:r>
              <a:rPr lang="en-US" i="1" dirty="0" smtClean="0">
                <a:latin typeface="Times New Roman" pitchFamily="18" charset="0"/>
                <a:cs typeface="Times New Roman" pitchFamily="18" charset="0"/>
              </a:rPr>
              <a:t>.</a:t>
            </a:r>
          </a:p>
          <a:p>
            <a:pPr algn="just">
              <a:lnSpc>
                <a:spcPct val="150000"/>
              </a:lnSpc>
              <a:buNone/>
            </a:pPr>
            <a:r>
              <a:rPr lang="en-US" b="1" dirty="0" smtClean="0">
                <a:latin typeface="Times New Roman" pitchFamily="18" charset="0"/>
                <a:cs typeface="Times New Roman" pitchFamily="18" charset="0"/>
              </a:rPr>
              <a:t>Mutual Exclusion:</a:t>
            </a:r>
          </a:p>
          <a:p>
            <a:pPr algn="just">
              <a:lnSpc>
                <a:spcPct val="150000"/>
              </a:lnSpc>
            </a:pPr>
            <a:r>
              <a:rPr lang="en-US" i="1" dirty="0" smtClean="0">
                <a:latin typeface="Times New Roman" pitchFamily="18" charset="0"/>
                <a:cs typeface="Times New Roman" pitchFamily="18" charset="0"/>
              </a:rPr>
              <a:t>Some way of making sure that if one process is using a shared variables or files, the other process will be excluded from doing the same thing.</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70606480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0714"/>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Critical Section Problem</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149531"/>
            <a:ext cx="10515600" cy="5027432"/>
          </a:xfrm>
        </p:spPr>
        <p:txBody>
          <a:bodyPr/>
          <a:lstStyle/>
          <a:p>
            <a:pPr algn="just">
              <a:lnSpc>
                <a:spcPct val="150000"/>
              </a:lnSpc>
              <a:buNone/>
            </a:pPr>
            <a:r>
              <a:rPr lang="en-US" b="1" dirty="0" smtClean="0">
                <a:latin typeface="Times New Roman" pitchFamily="18" charset="0"/>
                <a:cs typeface="Times New Roman" pitchFamily="18" charset="0"/>
              </a:rPr>
              <a:t>Problem: How to avoid race?</a:t>
            </a:r>
          </a:p>
          <a:p>
            <a:pPr algn="just">
              <a:lnSpc>
                <a:spcPct val="150000"/>
              </a:lnSpc>
              <a:buNone/>
            </a:pPr>
            <a:r>
              <a:rPr lang="en-US" b="1" dirty="0" smtClean="0">
                <a:latin typeface="Times New Roman" pitchFamily="18" charset="0"/>
                <a:cs typeface="Times New Roman" pitchFamily="18" charset="0"/>
              </a:rPr>
              <a:t>Fact: </a:t>
            </a:r>
            <a:r>
              <a:rPr lang="en-US" dirty="0" smtClean="0">
                <a:latin typeface="Times New Roman" pitchFamily="18" charset="0"/>
                <a:cs typeface="Times New Roman" pitchFamily="18" charset="0"/>
              </a:rPr>
              <a:t>The part of the time, process is busy doing internal computations and other things that do not lead to the race condition.</a:t>
            </a:r>
          </a:p>
          <a:p>
            <a:pPr algn="just">
              <a:lnSpc>
                <a:spcPct val="150000"/>
              </a:lnSpc>
            </a:pPr>
            <a:r>
              <a:rPr lang="en-US" dirty="0" smtClean="0">
                <a:latin typeface="Times New Roman" pitchFamily="18" charset="0"/>
                <a:cs typeface="Times New Roman" pitchFamily="18" charset="0"/>
              </a:rPr>
              <a:t>Code executed by the process can be grouped into sections, some of which require access to shared resources, and other that do not.</a:t>
            </a:r>
          </a:p>
          <a:p>
            <a:pPr algn="just">
              <a:lnSpc>
                <a:spcPct val="150000"/>
              </a:lnSpc>
            </a:pPr>
            <a:r>
              <a:rPr lang="en-US" b="1" i="1" dirty="0" smtClean="0">
                <a:latin typeface="Times New Roman" pitchFamily="18" charset="0"/>
                <a:cs typeface="Times New Roman" pitchFamily="18" charset="0"/>
              </a:rPr>
              <a:t>The sections of the code, common to all cooperating processes, that require access to shared resources are called critical section.</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253731427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892246" cy="5969726"/>
          </a:xfrm>
        </p:spPr>
        <p:txBody>
          <a:bodyPr>
            <a:normAutofit fontScale="62500" lnSpcReduction="20000"/>
          </a:bodyPr>
          <a:lstStyle/>
          <a:p>
            <a:pPr algn="just">
              <a:buNone/>
            </a:pPr>
            <a:r>
              <a:rPr lang="en-US" b="1" dirty="0" smtClean="0">
                <a:latin typeface="Times New Roman" pitchFamily="18" charset="0"/>
                <a:cs typeface="Times New Roman" pitchFamily="18" charset="0"/>
              </a:rPr>
              <a:t>General structure of process</a:t>
            </a:r>
          </a:p>
          <a:p>
            <a:pPr lvl="1" algn="just">
              <a:lnSpc>
                <a:spcPct val="160000"/>
              </a:lnSpc>
              <a:buNone/>
            </a:pPr>
            <a:r>
              <a:rPr lang="en-US" sz="2800" b="1" dirty="0" smtClean="0">
                <a:solidFill>
                  <a:srgbClr val="FF0000"/>
                </a:solidFill>
                <a:latin typeface="Times New Roman" pitchFamily="18" charset="0"/>
                <a:cs typeface="Times New Roman" pitchFamily="18" charset="0"/>
              </a:rPr>
              <a:t>while(true){</a:t>
            </a:r>
          </a:p>
          <a:p>
            <a:pPr lvl="1" algn="just">
              <a:lnSpc>
                <a:spcPct val="160000"/>
              </a:lnSpc>
              <a:buNone/>
            </a:pPr>
            <a:r>
              <a:rPr lang="en-US" sz="2800" i="1" dirty="0" err="1" smtClean="0">
                <a:solidFill>
                  <a:srgbClr val="FF0000"/>
                </a:solidFill>
                <a:latin typeface="Times New Roman" pitchFamily="18" charset="0"/>
                <a:cs typeface="Times New Roman" pitchFamily="18" charset="0"/>
              </a:rPr>
              <a:t>entry_section</a:t>
            </a:r>
            <a:endParaRPr lang="en-US" sz="2800" i="1" dirty="0" smtClean="0">
              <a:solidFill>
                <a:srgbClr val="FF0000"/>
              </a:solidFill>
              <a:latin typeface="Times New Roman" pitchFamily="18" charset="0"/>
              <a:cs typeface="Times New Roman" pitchFamily="18" charset="0"/>
            </a:endParaRPr>
          </a:p>
          <a:p>
            <a:pPr lvl="1" algn="just">
              <a:lnSpc>
                <a:spcPct val="160000"/>
              </a:lnSpc>
              <a:buNone/>
            </a:pPr>
            <a:r>
              <a:rPr lang="en-US" sz="2800" dirty="0" err="1" smtClean="0">
                <a:solidFill>
                  <a:srgbClr val="FF0000"/>
                </a:solidFill>
                <a:latin typeface="Times New Roman" pitchFamily="18" charset="0"/>
                <a:cs typeface="Times New Roman" pitchFamily="18" charset="0"/>
              </a:rPr>
              <a:t>critical_section</a:t>
            </a:r>
            <a:endParaRPr lang="en-US" sz="2800" dirty="0" smtClean="0">
              <a:solidFill>
                <a:srgbClr val="FF0000"/>
              </a:solidFill>
              <a:latin typeface="Times New Roman" pitchFamily="18" charset="0"/>
              <a:cs typeface="Times New Roman" pitchFamily="18" charset="0"/>
            </a:endParaRPr>
          </a:p>
          <a:p>
            <a:pPr lvl="1" algn="just">
              <a:lnSpc>
                <a:spcPct val="160000"/>
              </a:lnSpc>
              <a:buNone/>
            </a:pPr>
            <a:r>
              <a:rPr lang="en-US" sz="2800" i="1" dirty="0" err="1" smtClean="0">
                <a:solidFill>
                  <a:srgbClr val="FF0000"/>
                </a:solidFill>
                <a:latin typeface="Times New Roman" pitchFamily="18" charset="0"/>
                <a:cs typeface="Times New Roman" pitchFamily="18" charset="0"/>
              </a:rPr>
              <a:t>exit_section</a:t>
            </a:r>
            <a:endParaRPr lang="en-US" sz="2800" i="1" dirty="0" smtClean="0">
              <a:solidFill>
                <a:srgbClr val="FF0000"/>
              </a:solidFill>
              <a:latin typeface="Times New Roman" pitchFamily="18" charset="0"/>
              <a:cs typeface="Times New Roman" pitchFamily="18" charset="0"/>
            </a:endParaRPr>
          </a:p>
          <a:p>
            <a:pPr lvl="1" algn="just">
              <a:lnSpc>
                <a:spcPct val="160000"/>
              </a:lnSpc>
              <a:buNone/>
            </a:pPr>
            <a:r>
              <a:rPr lang="en-US" sz="2800" dirty="0" err="1" smtClean="0">
                <a:solidFill>
                  <a:srgbClr val="FF0000"/>
                </a:solidFill>
                <a:latin typeface="Times New Roman" pitchFamily="18" charset="0"/>
                <a:cs typeface="Times New Roman" pitchFamily="18" charset="0"/>
              </a:rPr>
              <a:t>reminder_section</a:t>
            </a:r>
            <a:endParaRPr lang="en-US" sz="2800" dirty="0" smtClean="0">
              <a:solidFill>
                <a:srgbClr val="FF0000"/>
              </a:solidFill>
              <a:latin typeface="Times New Roman" pitchFamily="18" charset="0"/>
              <a:cs typeface="Times New Roman" pitchFamily="18" charset="0"/>
            </a:endParaRPr>
          </a:p>
          <a:p>
            <a:pPr lvl="1" algn="just">
              <a:lnSpc>
                <a:spcPct val="160000"/>
              </a:lnSpc>
              <a:buNone/>
            </a:pPr>
            <a:r>
              <a:rPr lang="en-US" sz="2800" dirty="0" smtClean="0">
                <a:solidFill>
                  <a:srgbClr val="FF0000"/>
                </a:solidFill>
                <a:latin typeface="Times New Roman" pitchFamily="18" charset="0"/>
                <a:cs typeface="Times New Roman" pitchFamily="18" charset="0"/>
              </a:rPr>
              <a:t>}</a:t>
            </a:r>
          </a:p>
          <a:p>
            <a:pPr algn="just">
              <a:lnSpc>
                <a:spcPct val="170000"/>
              </a:lnSpc>
              <a:buNone/>
            </a:pPr>
            <a:r>
              <a:rPr lang="en-US" sz="3200" dirty="0" smtClean="0">
                <a:latin typeface="Times New Roman" pitchFamily="18" charset="0"/>
                <a:cs typeface="Times New Roman" pitchFamily="18" charset="0"/>
              </a:rPr>
              <a:t>Solution to Critical Section Problem (CSP) must satisfy the following conditions:</a:t>
            </a:r>
          </a:p>
          <a:p>
            <a:pPr algn="just">
              <a:lnSpc>
                <a:spcPct val="170000"/>
              </a:lnSpc>
              <a:buNone/>
            </a:pPr>
            <a:r>
              <a:rPr lang="en-US" sz="3200" dirty="0" smtClean="0">
                <a:latin typeface="Times New Roman" pitchFamily="18" charset="0"/>
                <a:cs typeface="Times New Roman" pitchFamily="18" charset="0"/>
              </a:rPr>
              <a:t>1. No two processes may be simultaneously inside their critical sections </a:t>
            </a:r>
            <a:r>
              <a:rPr lang="en-US" sz="3200" b="1" dirty="0" smtClean="0">
                <a:latin typeface="Times New Roman" pitchFamily="18" charset="0"/>
                <a:cs typeface="Times New Roman" pitchFamily="18" charset="0"/>
              </a:rPr>
              <a:t>(mutual exclusion).</a:t>
            </a:r>
          </a:p>
          <a:p>
            <a:pPr algn="just">
              <a:lnSpc>
                <a:spcPct val="170000"/>
              </a:lnSpc>
              <a:buNone/>
            </a:pPr>
            <a:r>
              <a:rPr lang="en-US" sz="3200" dirty="0" smtClean="0">
                <a:latin typeface="Times New Roman" pitchFamily="18" charset="0"/>
                <a:cs typeface="Times New Roman" pitchFamily="18" charset="0"/>
              </a:rPr>
              <a:t>2. No process running outside its critical section may block other process to enter into Critical Section. (</a:t>
            </a:r>
            <a:r>
              <a:rPr lang="en-US" sz="3200" b="1" dirty="0" smtClean="0">
                <a:latin typeface="Times New Roman" pitchFamily="18" charset="0"/>
                <a:cs typeface="Times New Roman" pitchFamily="18" charset="0"/>
              </a:rPr>
              <a:t>Progress</a:t>
            </a:r>
            <a:r>
              <a:rPr lang="en-US" sz="3200" dirty="0" smtClean="0">
                <a:latin typeface="Times New Roman" pitchFamily="18" charset="0"/>
                <a:cs typeface="Times New Roman" pitchFamily="18" charset="0"/>
              </a:rPr>
              <a:t>) </a:t>
            </a:r>
          </a:p>
          <a:p>
            <a:pPr algn="just">
              <a:lnSpc>
                <a:spcPct val="170000"/>
              </a:lnSpc>
              <a:buNone/>
            </a:pPr>
            <a:r>
              <a:rPr lang="en-US" sz="3200" dirty="0" smtClean="0">
                <a:latin typeface="Times New Roman" pitchFamily="18" charset="0"/>
                <a:cs typeface="Times New Roman" pitchFamily="18" charset="0"/>
              </a:rPr>
              <a:t>3. No process should have to wait forever to enter its Critical Section. (</a:t>
            </a:r>
            <a:r>
              <a:rPr lang="en-US" sz="3200" b="1" dirty="0" smtClean="0">
                <a:latin typeface="Times New Roman" pitchFamily="18" charset="0"/>
                <a:cs typeface="Times New Roman" pitchFamily="18" charset="0"/>
              </a:rPr>
              <a:t>Bounded waiting</a:t>
            </a:r>
            <a:r>
              <a:rPr lang="en-US"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75707747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Critical Section Problem</a:t>
            </a:r>
            <a:endParaRPr lang="en-US" b="1" dirty="0">
              <a:solidFill>
                <a:srgbClr val="FF0000"/>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901337" y="1005840"/>
            <a:ext cx="9862457" cy="5337810"/>
          </a:xfrm>
          <a:prstGeom prst="rect">
            <a:avLst/>
          </a:prstGeom>
          <a:noFill/>
          <a:ln w="9525">
            <a:noFill/>
            <a:miter lim="800000"/>
            <a:headEnd/>
            <a:tailEnd/>
          </a:ln>
          <a:effectLst/>
        </p:spPr>
      </p:pic>
    </p:spTree>
    <p:extLst>
      <p:ext uri="{BB962C8B-B14F-4D97-AF65-F5344CB8AC3E}">
        <p14:creationId xmlns:p14="http://schemas.microsoft.com/office/powerpoint/2010/main" val="92375098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
            </a:r>
            <a:br>
              <a:rPr lang="en-US" b="1" dirty="0" smtClean="0">
                <a:solidFill>
                  <a:srgbClr val="FF0000"/>
                </a:solidFill>
                <a:latin typeface="Times New Roman" pitchFamily="18" charset="0"/>
                <a:cs typeface="Times New Roman" pitchFamily="18" charset="0"/>
              </a:rPr>
            </a:br>
            <a:r>
              <a:rPr lang="en-US" b="1" dirty="0" smtClean="0">
                <a:solidFill>
                  <a:srgbClr val="FF0000"/>
                </a:solidFill>
                <a:latin typeface="Times New Roman" pitchFamily="18" charset="0"/>
                <a:cs typeface="Times New Roman" pitchFamily="18" charset="0"/>
              </a:rPr>
              <a:t>Solution to CSP: Disabling Interrupts</a:t>
            </a:r>
            <a:br>
              <a:rPr lang="en-US" b="1" dirty="0" smtClean="0">
                <a:solidFill>
                  <a:srgbClr val="FF0000"/>
                </a:solidFill>
                <a:latin typeface="Times New Roman" pitchFamily="18" charset="0"/>
                <a:cs typeface="Times New Roman" pitchFamily="18" charset="0"/>
              </a:rPr>
            </a:br>
            <a:endParaRPr lang="en-US"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110342"/>
            <a:ext cx="10515600" cy="5290457"/>
          </a:xfrm>
        </p:spPr>
        <p:txBody>
          <a:bodyPr>
            <a:normAutofit fontScale="70000" lnSpcReduction="20000"/>
          </a:bodyPr>
          <a:lstStyle/>
          <a:p>
            <a:pPr algn="just">
              <a:lnSpc>
                <a:spcPct val="160000"/>
              </a:lnSpc>
            </a:pPr>
            <a:r>
              <a:rPr lang="en-US" dirty="0" smtClean="0">
                <a:latin typeface="Times New Roman" pitchFamily="18" charset="0"/>
                <a:cs typeface="Times New Roman" pitchFamily="18" charset="0"/>
              </a:rPr>
              <a:t>Perhaps the most obvious way of achieving mutual exclusion is to allow a process to disable interrupts before it enters its critical section and then enable interrupts after it leaves its critical section.</a:t>
            </a:r>
          </a:p>
          <a:p>
            <a:pPr algn="just">
              <a:lnSpc>
                <a:spcPct val="160000"/>
              </a:lnSpc>
            </a:pPr>
            <a:r>
              <a:rPr lang="en-US" dirty="0" smtClean="0">
                <a:latin typeface="Times New Roman" pitchFamily="18" charset="0"/>
                <a:cs typeface="Times New Roman" pitchFamily="18" charset="0"/>
              </a:rPr>
              <a:t>By disabling interrupts the CPU will be unable to switch processes. This guarantees that the process can use the shared variable without another process accessing it.</a:t>
            </a:r>
          </a:p>
          <a:p>
            <a:pPr algn="just">
              <a:lnSpc>
                <a:spcPct val="160000"/>
              </a:lnSpc>
            </a:pPr>
            <a:r>
              <a:rPr lang="en-US" dirty="0" smtClean="0">
                <a:latin typeface="Times New Roman" pitchFamily="18" charset="0"/>
                <a:cs typeface="Times New Roman" pitchFamily="18" charset="0"/>
              </a:rPr>
              <a:t>But, disabling interrupts, is a major undertaking. At best, the computer will not be able to service interrupts for, maybe, a long time (who knows what a process is doing in its critical section?). </a:t>
            </a:r>
          </a:p>
          <a:p>
            <a:pPr algn="just">
              <a:lnSpc>
                <a:spcPct val="160000"/>
              </a:lnSpc>
            </a:pPr>
            <a:r>
              <a:rPr lang="en-US" dirty="0" smtClean="0">
                <a:latin typeface="Times New Roman" pitchFamily="18" charset="0"/>
                <a:cs typeface="Times New Roman" pitchFamily="18" charset="0"/>
              </a:rPr>
              <a:t>At worst, the process may never enable interrupts, thus (effectively) crashing the computer.</a:t>
            </a:r>
          </a:p>
          <a:p>
            <a:pPr algn="just">
              <a:lnSpc>
                <a:spcPct val="160000"/>
              </a:lnSpc>
            </a:pPr>
            <a:r>
              <a:rPr lang="en-US" dirty="0" smtClean="0">
                <a:latin typeface="Times New Roman" pitchFamily="18" charset="0"/>
                <a:cs typeface="Times New Roman" pitchFamily="18" charset="0"/>
              </a:rPr>
              <a:t>Although disabling interrupts might seem a good solution its disadvantages far outweigh the advantages.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82754148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Solution to CSP: Lock Variables</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58090"/>
            <a:ext cx="10515600" cy="5189243"/>
          </a:xfrm>
        </p:spPr>
        <p:txBody>
          <a:bodyPr>
            <a:normAutofit/>
          </a:bodyPr>
          <a:lstStyle/>
          <a:p>
            <a:pPr algn="just">
              <a:lnSpc>
                <a:spcPct val="150000"/>
              </a:lnSpc>
            </a:pPr>
            <a:r>
              <a:rPr lang="en-US" sz="2000" dirty="0" smtClean="0">
                <a:latin typeface="Times New Roman" pitchFamily="18" charset="0"/>
                <a:cs typeface="Times New Roman" pitchFamily="18" charset="0"/>
              </a:rPr>
              <a:t>In this mechanism, a Lock variable </a:t>
            </a:r>
            <a:r>
              <a:rPr lang="en-US" sz="2000" b="1" dirty="0" smtClean="0">
                <a:latin typeface="Times New Roman" pitchFamily="18" charset="0"/>
                <a:cs typeface="Times New Roman" pitchFamily="18" charset="0"/>
              </a:rPr>
              <a:t>lock </a:t>
            </a:r>
            <a:r>
              <a:rPr lang="en-US" sz="2000" dirty="0" smtClean="0">
                <a:latin typeface="Times New Roman" pitchFamily="18" charset="0"/>
                <a:cs typeface="Times New Roman" pitchFamily="18" charset="0"/>
              </a:rPr>
              <a:t>is used. Two values of lock can be possible, either 0 or 1. Lock value 0 means that the critical section is vacant while the lock value 1 means that it is occupied.</a:t>
            </a:r>
            <a:endParaRPr lang="en-US" sz="2000" i="1" dirty="0" smtClean="0">
              <a:latin typeface="Times New Roman" pitchFamily="18" charset="0"/>
              <a:cs typeface="Times New Roman" pitchFamily="18" charset="0"/>
            </a:endParaRPr>
          </a:p>
          <a:p>
            <a:pPr algn="just">
              <a:lnSpc>
                <a:spcPct val="150000"/>
              </a:lnSpc>
            </a:pPr>
            <a:r>
              <a:rPr lang="en-US" sz="2000" i="1" dirty="0" smtClean="0">
                <a:latin typeface="Times New Roman" pitchFamily="18" charset="0"/>
                <a:cs typeface="Times New Roman" pitchFamily="18" charset="0"/>
              </a:rPr>
              <a:t>A single, shared (lock) variable (flag), initially 0. </a:t>
            </a:r>
          </a:p>
          <a:p>
            <a:pPr algn="just">
              <a:lnSpc>
                <a:spcPct val="150000"/>
              </a:lnSpc>
            </a:pPr>
            <a:r>
              <a:rPr lang="en-US" sz="2000" i="1" dirty="0" smtClean="0">
                <a:latin typeface="Times New Roman" pitchFamily="18" charset="0"/>
                <a:cs typeface="Times New Roman" pitchFamily="18" charset="0"/>
              </a:rPr>
              <a:t>When a process wants to enter its CR, it first test the lock. If the lock is 0, the process set it to 1 and enters the CR</a:t>
            </a:r>
          </a:p>
          <a:p>
            <a:pPr algn="just">
              <a:lnSpc>
                <a:spcPct val="150000"/>
              </a:lnSpc>
            </a:pPr>
            <a:r>
              <a:rPr lang="en-US" sz="2000" i="1" dirty="0" smtClean="0">
                <a:latin typeface="Times New Roman" pitchFamily="18" charset="0"/>
                <a:cs typeface="Times New Roman" pitchFamily="18" charset="0"/>
              </a:rPr>
              <a:t> If the lock is already 1, the process just waits until it becomes 0.</a:t>
            </a:r>
            <a:endParaRPr lang="en-US" sz="2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8007533" y="3637237"/>
            <a:ext cx="3174274" cy="1761853"/>
          </a:xfrm>
          <a:prstGeom prst="rect">
            <a:avLst/>
          </a:prstGeom>
          <a:noFill/>
          <a:ln w="9525">
            <a:noFill/>
            <a:miter lim="800000"/>
            <a:headEnd/>
            <a:tailEnd/>
          </a:ln>
          <a:effectLst/>
        </p:spPr>
      </p:pic>
      <p:sp>
        <p:nvSpPr>
          <p:cNvPr id="5" name="object 3"/>
          <p:cNvSpPr txBox="1"/>
          <p:nvPr/>
        </p:nvSpPr>
        <p:spPr>
          <a:xfrm>
            <a:off x="950287" y="4573283"/>
            <a:ext cx="4140200" cy="720710"/>
          </a:xfrm>
          <a:prstGeom prst="rect">
            <a:avLst/>
          </a:prstGeom>
        </p:spPr>
        <p:txBody>
          <a:bodyPr vert="horz" wrap="square" lIns="0" tIns="88900" rIns="0" bIns="0" rtlCol="0">
            <a:spAutoFit/>
          </a:bodyPr>
          <a:lstStyle/>
          <a:p>
            <a:pPr marL="12700">
              <a:lnSpc>
                <a:spcPct val="100000"/>
              </a:lnSpc>
              <a:spcBef>
                <a:spcPts val="700"/>
              </a:spcBef>
            </a:pPr>
            <a:r>
              <a:rPr b="1" dirty="0">
                <a:solidFill>
                  <a:srgbClr val="188989"/>
                </a:solidFill>
                <a:latin typeface="Times New Roman"/>
                <a:cs typeface="Times New Roman"/>
              </a:rPr>
              <a:t>Advantages:</a:t>
            </a:r>
            <a:r>
              <a:rPr b="1" spc="-45" dirty="0">
                <a:solidFill>
                  <a:srgbClr val="188989"/>
                </a:solidFill>
                <a:latin typeface="Times New Roman"/>
                <a:cs typeface="Times New Roman"/>
              </a:rPr>
              <a:t> </a:t>
            </a:r>
            <a:r>
              <a:rPr dirty="0">
                <a:latin typeface="Times New Roman"/>
                <a:cs typeface="Times New Roman"/>
              </a:rPr>
              <a:t>seems</a:t>
            </a:r>
            <a:r>
              <a:rPr spc="-55" dirty="0">
                <a:latin typeface="Times New Roman"/>
                <a:cs typeface="Times New Roman"/>
              </a:rPr>
              <a:t> </a:t>
            </a:r>
            <a:r>
              <a:rPr dirty="0">
                <a:latin typeface="Times New Roman"/>
                <a:cs typeface="Times New Roman"/>
              </a:rPr>
              <a:t>no</a:t>
            </a:r>
            <a:r>
              <a:rPr spc="-55" dirty="0">
                <a:latin typeface="Times New Roman"/>
                <a:cs typeface="Times New Roman"/>
              </a:rPr>
              <a:t> </a:t>
            </a:r>
            <a:r>
              <a:rPr spc="-10" dirty="0">
                <a:latin typeface="Times New Roman"/>
                <a:cs typeface="Times New Roman"/>
              </a:rPr>
              <a:t>problems.</a:t>
            </a:r>
            <a:endParaRPr dirty="0">
              <a:latin typeface="Times New Roman"/>
              <a:cs typeface="Times New Roman"/>
            </a:endParaRPr>
          </a:p>
          <a:p>
            <a:pPr marL="12700">
              <a:lnSpc>
                <a:spcPct val="100000"/>
              </a:lnSpc>
              <a:spcBef>
                <a:spcPts val="600"/>
              </a:spcBef>
            </a:pPr>
            <a:r>
              <a:rPr b="1" spc="-10" dirty="0">
                <a:solidFill>
                  <a:srgbClr val="006A6A"/>
                </a:solidFill>
                <a:latin typeface="Times New Roman"/>
                <a:cs typeface="Times New Roman"/>
              </a:rPr>
              <a:t>Problems:</a:t>
            </a:r>
            <a:endParaRPr dirty="0">
              <a:latin typeface="Times New Roman"/>
              <a:cs typeface="Times New Roman"/>
            </a:endParaRPr>
          </a:p>
        </p:txBody>
      </p:sp>
      <p:sp>
        <p:nvSpPr>
          <p:cNvPr id="6" name="object 4"/>
          <p:cNvSpPr txBox="1"/>
          <p:nvPr/>
        </p:nvSpPr>
        <p:spPr>
          <a:xfrm>
            <a:off x="986117" y="5361579"/>
            <a:ext cx="8752205" cy="885755"/>
          </a:xfrm>
          <a:prstGeom prst="rect">
            <a:avLst/>
          </a:prstGeom>
        </p:spPr>
        <p:txBody>
          <a:bodyPr vert="horz" wrap="square" lIns="0" tIns="45085" rIns="0" bIns="0" rtlCol="0">
            <a:spAutoFit/>
          </a:bodyPr>
          <a:lstStyle/>
          <a:p>
            <a:pPr marL="12700" marR="5080" algn="just">
              <a:lnSpc>
                <a:spcPct val="91100"/>
              </a:lnSpc>
              <a:spcBef>
                <a:spcPts val="355"/>
              </a:spcBef>
            </a:pPr>
            <a:r>
              <a:rPr sz="2000" dirty="0">
                <a:latin typeface="Times New Roman"/>
                <a:cs typeface="Times New Roman"/>
              </a:rPr>
              <a:t>Suppose</a:t>
            </a:r>
            <a:r>
              <a:rPr sz="2000" spc="250" dirty="0">
                <a:latin typeface="Times New Roman"/>
                <a:cs typeface="Times New Roman"/>
              </a:rPr>
              <a:t> </a:t>
            </a:r>
            <a:r>
              <a:rPr sz="2000" dirty="0">
                <a:latin typeface="Times New Roman"/>
                <a:cs typeface="Times New Roman"/>
              </a:rPr>
              <a:t>that</a:t>
            </a:r>
            <a:r>
              <a:rPr sz="2000" spc="275" dirty="0">
                <a:latin typeface="Times New Roman"/>
                <a:cs typeface="Times New Roman"/>
              </a:rPr>
              <a:t> </a:t>
            </a:r>
            <a:r>
              <a:rPr sz="2000" dirty="0">
                <a:latin typeface="Times New Roman"/>
                <a:cs typeface="Times New Roman"/>
              </a:rPr>
              <a:t>one</a:t>
            </a:r>
            <a:r>
              <a:rPr sz="2000" spc="254" dirty="0">
                <a:latin typeface="Times New Roman"/>
                <a:cs typeface="Times New Roman"/>
              </a:rPr>
              <a:t> </a:t>
            </a:r>
            <a:r>
              <a:rPr sz="2000" dirty="0">
                <a:latin typeface="Times New Roman"/>
                <a:cs typeface="Times New Roman"/>
              </a:rPr>
              <a:t>process</a:t>
            </a:r>
            <a:r>
              <a:rPr sz="2000" spc="260" dirty="0">
                <a:latin typeface="Times New Roman"/>
                <a:cs typeface="Times New Roman"/>
              </a:rPr>
              <a:t> </a:t>
            </a:r>
            <a:r>
              <a:rPr sz="2000" dirty="0">
                <a:latin typeface="Times New Roman"/>
                <a:cs typeface="Times New Roman"/>
              </a:rPr>
              <a:t>reads</a:t>
            </a:r>
            <a:r>
              <a:rPr sz="2000" spc="260" dirty="0">
                <a:latin typeface="Times New Roman"/>
                <a:cs typeface="Times New Roman"/>
              </a:rPr>
              <a:t> </a:t>
            </a:r>
            <a:r>
              <a:rPr sz="2000" dirty="0">
                <a:latin typeface="Times New Roman"/>
                <a:cs typeface="Times New Roman"/>
              </a:rPr>
              <a:t>the</a:t>
            </a:r>
            <a:r>
              <a:rPr sz="2000" spc="260" dirty="0">
                <a:latin typeface="Times New Roman"/>
                <a:cs typeface="Times New Roman"/>
              </a:rPr>
              <a:t> </a:t>
            </a:r>
            <a:r>
              <a:rPr sz="2000" dirty="0">
                <a:latin typeface="Times New Roman"/>
                <a:cs typeface="Times New Roman"/>
              </a:rPr>
              <a:t>lock</a:t>
            </a:r>
            <a:r>
              <a:rPr sz="2000" spc="260" dirty="0">
                <a:latin typeface="Times New Roman"/>
                <a:cs typeface="Times New Roman"/>
              </a:rPr>
              <a:t> </a:t>
            </a:r>
            <a:r>
              <a:rPr sz="2000" dirty="0">
                <a:latin typeface="Times New Roman"/>
                <a:cs typeface="Times New Roman"/>
              </a:rPr>
              <a:t>and</a:t>
            </a:r>
            <a:r>
              <a:rPr sz="2000" spc="265" dirty="0">
                <a:latin typeface="Times New Roman"/>
                <a:cs typeface="Times New Roman"/>
              </a:rPr>
              <a:t> </a:t>
            </a:r>
            <a:r>
              <a:rPr sz="2000" dirty="0">
                <a:latin typeface="Times New Roman"/>
                <a:cs typeface="Times New Roman"/>
              </a:rPr>
              <a:t>sees</a:t>
            </a:r>
            <a:r>
              <a:rPr sz="2000" spc="265" dirty="0">
                <a:latin typeface="Times New Roman"/>
                <a:cs typeface="Times New Roman"/>
              </a:rPr>
              <a:t> </a:t>
            </a:r>
            <a:r>
              <a:rPr sz="2000" dirty="0">
                <a:latin typeface="Times New Roman"/>
                <a:cs typeface="Times New Roman"/>
              </a:rPr>
              <a:t>that</a:t>
            </a:r>
            <a:r>
              <a:rPr sz="2000" spc="245" dirty="0">
                <a:latin typeface="Times New Roman"/>
                <a:cs typeface="Times New Roman"/>
              </a:rPr>
              <a:t> </a:t>
            </a:r>
            <a:r>
              <a:rPr sz="2000" dirty="0">
                <a:latin typeface="Times New Roman"/>
                <a:cs typeface="Times New Roman"/>
              </a:rPr>
              <a:t>it</a:t>
            </a:r>
            <a:r>
              <a:rPr sz="2000" spc="245" dirty="0">
                <a:latin typeface="Times New Roman"/>
                <a:cs typeface="Times New Roman"/>
              </a:rPr>
              <a:t> </a:t>
            </a:r>
            <a:r>
              <a:rPr sz="2000" dirty="0">
                <a:latin typeface="Times New Roman"/>
                <a:cs typeface="Times New Roman"/>
              </a:rPr>
              <a:t>is</a:t>
            </a:r>
            <a:r>
              <a:rPr sz="2000" spc="270" dirty="0">
                <a:latin typeface="Times New Roman"/>
                <a:cs typeface="Times New Roman"/>
              </a:rPr>
              <a:t> </a:t>
            </a:r>
            <a:r>
              <a:rPr sz="2000" dirty="0">
                <a:latin typeface="Times New Roman"/>
                <a:cs typeface="Times New Roman"/>
              </a:rPr>
              <a:t>0,</a:t>
            </a:r>
            <a:r>
              <a:rPr sz="2000" spc="240" dirty="0">
                <a:latin typeface="Times New Roman"/>
                <a:cs typeface="Times New Roman"/>
              </a:rPr>
              <a:t> </a:t>
            </a:r>
            <a:r>
              <a:rPr sz="2000" dirty="0">
                <a:latin typeface="Times New Roman"/>
                <a:cs typeface="Times New Roman"/>
              </a:rPr>
              <a:t>(due</a:t>
            </a:r>
            <a:r>
              <a:rPr sz="2000" spc="250" dirty="0">
                <a:latin typeface="Times New Roman"/>
                <a:cs typeface="Times New Roman"/>
              </a:rPr>
              <a:t> </a:t>
            </a:r>
            <a:r>
              <a:rPr sz="2000" spc="-25" dirty="0">
                <a:latin typeface="Times New Roman"/>
                <a:cs typeface="Times New Roman"/>
              </a:rPr>
              <a:t>to </a:t>
            </a:r>
            <a:r>
              <a:rPr sz="2000" dirty="0">
                <a:latin typeface="Times New Roman"/>
                <a:cs typeface="Times New Roman"/>
              </a:rPr>
              <a:t>quantum</a:t>
            </a:r>
            <a:r>
              <a:rPr sz="2000" spc="80" dirty="0">
                <a:latin typeface="Times New Roman"/>
                <a:cs typeface="Times New Roman"/>
              </a:rPr>
              <a:t> </a:t>
            </a:r>
            <a:r>
              <a:rPr sz="2000" dirty="0">
                <a:latin typeface="Times New Roman"/>
                <a:cs typeface="Times New Roman"/>
              </a:rPr>
              <a:t>expire)</a:t>
            </a:r>
            <a:r>
              <a:rPr sz="2000" spc="70" dirty="0">
                <a:latin typeface="Times New Roman"/>
                <a:cs typeface="Times New Roman"/>
              </a:rPr>
              <a:t> </a:t>
            </a:r>
            <a:r>
              <a:rPr sz="2000" dirty="0">
                <a:latin typeface="Times New Roman"/>
                <a:cs typeface="Times New Roman"/>
              </a:rPr>
              <a:t>before</a:t>
            </a:r>
            <a:r>
              <a:rPr sz="2000" spc="65" dirty="0">
                <a:latin typeface="Times New Roman"/>
                <a:cs typeface="Times New Roman"/>
              </a:rPr>
              <a:t> </a:t>
            </a:r>
            <a:r>
              <a:rPr sz="2000" dirty="0">
                <a:latin typeface="Times New Roman"/>
                <a:cs typeface="Times New Roman"/>
              </a:rPr>
              <a:t>it</a:t>
            </a:r>
            <a:r>
              <a:rPr sz="2000" spc="90" dirty="0">
                <a:latin typeface="Times New Roman"/>
                <a:cs typeface="Times New Roman"/>
              </a:rPr>
              <a:t> </a:t>
            </a:r>
            <a:r>
              <a:rPr sz="2000" dirty="0">
                <a:latin typeface="Times New Roman"/>
                <a:cs typeface="Times New Roman"/>
              </a:rPr>
              <a:t>can</a:t>
            </a:r>
            <a:r>
              <a:rPr sz="2000" spc="75" dirty="0">
                <a:latin typeface="Times New Roman"/>
                <a:cs typeface="Times New Roman"/>
              </a:rPr>
              <a:t> </a:t>
            </a:r>
            <a:r>
              <a:rPr dirty="0">
                <a:latin typeface="Times New Roman"/>
                <a:cs typeface="Times New Roman"/>
              </a:rPr>
              <a:t>set</a:t>
            </a:r>
            <a:r>
              <a:rPr sz="2000" spc="85" dirty="0">
                <a:latin typeface="Times New Roman"/>
                <a:cs typeface="Times New Roman"/>
              </a:rPr>
              <a:t> </a:t>
            </a:r>
            <a:r>
              <a:rPr sz="2000" dirty="0">
                <a:latin typeface="Times New Roman"/>
                <a:cs typeface="Times New Roman"/>
              </a:rPr>
              <a:t>lock</a:t>
            </a:r>
            <a:r>
              <a:rPr sz="2000" spc="80" dirty="0">
                <a:latin typeface="Times New Roman"/>
                <a:cs typeface="Times New Roman"/>
              </a:rPr>
              <a:t> </a:t>
            </a:r>
            <a:r>
              <a:rPr sz="2000" dirty="0">
                <a:latin typeface="Times New Roman"/>
                <a:cs typeface="Times New Roman"/>
              </a:rPr>
              <a:t>to</a:t>
            </a:r>
            <a:r>
              <a:rPr sz="2000" spc="80" dirty="0">
                <a:latin typeface="Times New Roman"/>
                <a:cs typeface="Times New Roman"/>
              </a:rPr>
              <a:t> </a:t>
            </a:r>
            <a:r>
              <a:rPr sz="2000" dirty="0">
                <a:latin typeface="Times New Roman"/>
                <a:cs typeface="Times New Roman"/>
              </a:rPr>
              <a:t>1,</a:t>
            </a:r>
            <a:r>
              <a:rPr sz="2000" spc="80" dirty="0">
                <a:latin typeface="Times New Roman"/>
                <a:cs typeface="Times New Roman"/>
              </a:rPr>
              <a:t> </a:t>
            </a:r>
            <a:r>
              <a:rPr sz="2000" dirty="0">
                <a:latin typeface="Times New Roman"/>
                <a:cs typeface="Times New Roman"/>
              </a:rPr>
              <a:t>another</a:t>
            </a:r>
            <a:r>
              <a:rPr sz="2000" spc="70" dirty="0">
                <a:latin typeface="Times New Roman"/>
                <a:cs typeface="Times New Roman"/>
              </a:rPr>
              <a:t> </a:t>
            </a:r>
            <a:r>
              <a:rPr sz="2000" dirty="0">
                <a:latin typeface="Times New Roman"/>
                <a:cs typeface="Times New Roman"/>
              </a:rPr>
              <a:t>process</a:t>
            </a:r>
            <a:r>
              <a:rPr sz="2000" spc="85" dirty="0">
                <a:latin typeface="Times New Roman"/>
                <a:cs typeface="Times New Roman"/>
              </a:rPr>
              <a:t> </a:t>
            </a:r>
            <a:r>
              <a:rPr sz="2000" spc="-10" dirty="0">
                <a:latin typeface="Times New Roman"/>
                <a:cs typeface="Times New Roman"/>
              </a:rPr>
              <a:t>scheduled, </a:t>
            </a:r>
            <a:r>
              <a:rPr sz="2000" dirty="0">
                <a:latin typeface="Times New Roman"/>
                <a:cs typeface="Times New Roman"/>
              </a:rPr>
              <a:t>enter</a:t>
            </a:r>
            <a:r>
              <a:rPr sz="2000" spc="240" dirty="0">
                <a:latin typeface="Times New Roman"/>
                <a:cs typeface="Times New Roman"/>
              </a:rPr>
              <a:t> </a:t>
            </a:r>
            <a:r>
              <a:rPr sz="2000" dirty="0">
                <a:latin typeface="Times New Roman"/>
                <a:cs typeface="Times New Roman"/>
              </a:rPr>
              <a:t>the</a:t>
            </a:r>
            <a:r>
              <a:rPr sz="2000" spc="245" dirty="0">
                <a:latin typeface="Times New Roman"/>
                <a:cs typeface="Times New Roman"/>
              </a:rPr>
              <a:t> </a:t>
            </a:r>
            <a:r>
              <a:rPr sz="2000" dirty="0">
                <a:latin typeface="Times New Roman"/>
                <a:cs typeface="Times New Roman"/>
              </a:rPr>
              <a:t>CR,</a:t>
            </a:r>
            <a:r>
              <a:rPr sz="2000" spc="250" dirty="0">
                <a:latin typeface="Times New Roman"/>
                <a:cs typeface="Times New Roman"/>
              </a:rPr>
              <a:t> </a:t>
            </a:r>
            <a:r>
              <a:rPr sz="2000" dirty="0">
                <a:latin typeface="Times New Roman"/>
                <a:cs typeface="Times New Roman"/>
              </a:rPr>
              <a:t>set</a:t>
            </a:r>
            <a:r>
              <a:rPr sz="2000" spc="254" dirty="0">
                <a:latin typeface="Times New Roman"/>
                <a:cs typeface="Times New Roman"/>
              </a:rPr>
              <a:t> </a:t>
            </a:r>
            <a:r>
              <a:rPr sz="2000" dirty="0">
                <a:latin typeface="Times New Roman"/>
                <a:cs typeface="Times New Roman"/>
              </a:rPr>
              <a:t>lock</a:t>
            </a:r>
            <a:r>
              <a:rPr sz="2000" spc="220" dirty="0">
                <a:latin typeface="Times New Roman"/>
                <a:cs typeface="Times New Roman"/>
              </a:rPr>
              <a:t> </a:t>
            </a:r>
            <a:r>
              <a:rPr sz="2000" dirty="0">
                <a:latin typeface="Times New Roman"/>
                <a:cs typeface="Times New Roman"/>
              </a:rPr>
              <a:t>to</a:t>
            </a:r>
            <a:r>
              <a:rPr sz="2000" spc="229" dirty="0">
                <a:latin typeface="Times New Roman"/>
                <a:cs typeface="Times New Roman"/>
              </a:rPr>
              <a:t> </a:t>
            </a:r>
            <a:r>
              <a:rPr sz="2000" dirty="0">
                <a:latin typeface="Times New Roman"/>
                <a:cs typeface="Times New Roman"/>
              </a:rPr>
              <a:t>1</a:t>
            </a:r>
            <a:r>
              <a:rPr sz="2000" spc="245" dirty="0">
                <a:latin typeface="Times New Roman"/>
                <a:cs typeface="Times New Roman"/>
              </a:rPr>
              <a:t> </a:t>
            </a:r>
            <a:r>
              <a:rPr sz="2000" dirty="0">
                <a:latin typeface="Times New Roman"/>
                <a:cs typeface="Times New Roman"/>
              </a:rPr>
              <a:t>and</a:t>
            </a:r>
            <a:r>
              <a:rPr sz="2000" spc="250" dirty="0">
                <a:latin typeface="Times New Roman"/>
                <a:cs typeface="Times New Roman"/>
              </a:rPr>
              <a:t> </a:t>
            </a:r>
            <a:r>
              <a:rPr sz="2000" dirty="0">
                <a:latin typeface="Times New Roman"/>
                <a:cs typeface="Times New Roman"/>
              </a:rPr>
              <a:t>can</a:t>
            </a:r>
            <a:r>
              <a:rPr sz="2000" spc="245" dirty="0">
                <a:latin typeface="Times New Roman"/>
                <a:cs typeface="Times New Roman"/>
              </a:rPr>
              <a:t> </a:t>
            </a:r>
            <a:r>
              <a:rPr sz="2000" dirty="0">
                <a:latin typeface="Times New Roman"/>
                <a:cs typeface="Times New Roman"/>
              </a:rPr>
              <a:t>have</a:t>
            </a:r>
            <a:r>
              <a:rPr sz="2000" spc="240" dirty="0">
                <a:latin typeface="Times New Roman"/>
                <a:cs typeface="Times New Roman"/>
              </a:rPr>
              <a:t> </a:t>
            </a:r>
            <a:r>
              <a:rPr sz="2000" dirty="0">
                <a:latin typeface="Times New Roman"/>
                <a:cs typeface="Times New Roman"/>
              </a:rPr>
              <a:t>two</a:t>
            </a:r>
            <a:r>
              <a:rPr sz="2000" spc="245" dirty="0">
                <a:latin typeface="Times New Roman"/>
                <a:cs typeface="Times New Roman"/>
              </a:rPr>
              <a:t> </a:t>
            </a:r>
            <a:r>
              <a:rPr sz="2000" dirty="0">
                <a:latin typeface="Times New Roman"/>
                <a:cs typeface="Times New Roman"/>
              </a:rPr>
              <a:t>process</a:t>
            </a:r>
            <a:r>
              <a:rPr sz="2000" spc="250" dirty="0">
                <a:latin typeface="Times New Roman"/>
                <a:cs typeface="Times New Roman"/>
              </a:rPr>
              <a:t> </a:t>
            </a:r>
            <a:r>
              <a:rPr sz="2000" dirty="0">
                <a:latin typeface="Times New Roman"/>
                <a:cs typeface="Times New Roman"/>
              </a:rPr>
              <a:t>at</a:t>
            </a:r>
            <a:r>
              <a:rPr sz="2000" spc="250" dirty="0">
                <a:latin typeface="Times New Roman"/>
                <a:cs typeface="Times New Roman"/>
              </a:rPr>
              <a:t> </a:t>
            </a:r>
            <a:r>
              <a:rPr sz="2000" dirty="0">
                <a:latin typeface="Times New Roman"/>
                <a:cs typeface="Times New Roman"/>
              </a:rPr>
              <a:t>CR</a:t>
            </a:r>
            <a:r>
              <a:rPr sz="2000" spc="260" dirty="0">
                <a:latin typeface="Times New Roman"/>
                <a:cs typeface="Times New Roman"/>
              </a:rPr>
              <a:t> </a:t>
            </a:r>
            <a:r>
              <a:rPr sz="2000" spc="-10" dirty="0">
                <a:latin typeface="Times New Roman"/>
                <a:cs typeface="Times New Roman"/>
              </a:rPr>
              <a:t>(violates </a:t>
            </a:r>
            <a:r>
              <a:rPr sz="2000" dirty="0">
                <a:latin typeface="Times New Roman"/>
                <a:cs typeface="Times New Roman"/>
              </a:rPr>
              <a:t>mutual</a:t>
            </a:r>
            <a:r>
              <a:rPr sz="2000" spc="-25" dirty="0">
                <a:latin typeface="Times New Roman"/>
                <a:cs typeface="Times New Roman"/>
              </a:rPr>
              <a:t> </a:t>
            </a:r>
            <a:r>
              <a:rPr sz="2000" spc="-10" dirty="0">
                <a:latin typeface="Times New Roman"/>
                <a:cs typeface="Times New Roman"/>
              </a:rPr>
              <a:t>exclusion).</a:t>
            </a:r>
            <a:endParaRPr sz="2000" dirty="0">
              <a:latin typeface="Times New Roman"/>
              <a:cs typeface="Times New Roman"/>
            </a:endParaRPr>
          </a:p>
        </p:txBody>
      </p:sp>
    </p:spTree>
    <p:extLst>
      <p:ext uri="{BB962C8B-B14F-4D97-AF65-F5344CB8AC3E}">
        <p14:creationId xmlns:p14="http://schemas.microsoft.com/office/powerpoint/2010/main" val="312564866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5400"/>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Solution to CSP: Strict Alternation</a:t>
            </a:r>
            <a:endParaRPr lang="en-US" b="1" dirty="0">
              <a:solidFill>
                <a:srgbClr val="FF0000"/>
              </a:solidFill>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666206" y="862013"/>
            <a:ext cx="10607040" cy="5434284"/>
          </a:xfrm>
          <a:prstGeom prst="rect">
            <a:avLst/>
          </a:prstGeom>
          <a:noFill/>
          <a:ln w="9525">
            <a:noFill/>
            <a:miter lim="800000"/>
            <a:headEnd/>
            <a:tailEnd/>
          </a:ln>
          <a:effectLst/>
        </p:spPr>
      </p:pic>
    </p:spTree>
    <p:extLst>
      <p:ext uri="{BB962C8B-B14F-4D97-AF65-F5344CB8AC3E}">
        <p14:creationId xmlns:p14="http://schemas.microsoft.com/office/powerpoint/2010/main" val="150404945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Solution to CSP: Peterson's Algorithm</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240971"/>
            <a:ext cx="10515600" cy="5264332"/>
          </a:xfrm>
        </p:spPr>
        <p:txBody>
          <a:bodyPr>
            <a:normAutofit fontScale="92500" lnSpcReduction="10000"/>
          </a:bodyPr>
          <a:lstStyle/>
          <a:p>
            <a:pPr algn="just"/>
            <a:r>
              <a:rPr lang="en-US" dirty="0" smtClean="0">
                <a:latin typeface="Times New Roman" pitchFamily="18" charset="0"/>
                <a:cs typeface="Times New Roman" pitchFamily="18" charset="0"/>
              </a:rPr>
              <a:t>The two processes share two variables: </a:t>
            </a:r>
            <a:r>
              <a:rPr lang="en-US" dirty="0" err="1" smtClean="0">
                <a:latin typeface="Times New Roman" pitchFamily="18" charset="0"/>
                <a:cs typeface="Times New Roman" pitchFamily="18" charset="0"/>
              </a:rPr>
              <a:t>int</a:t>
            </a: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turn; Boolean ready[2]</a:t>
            </a:r>
          </a:p>
          <a:p>
            <a:pPr algn="just"/>
            <a:r>
              <a:rPr lang="en-US" dirty="0" smtClean="0">
                <a:latin typeface="Times New Roman" pitchFamily="18" charset="0"/>
                <a:cs typeface="Times New Roman" pitchFamily="18" charset="0"/>
              </a:rPr>
              <a:t>The variable </a:t>
            </a:r>
            <a:r>
              <a:rPr lang="en-US" b="1" dirty="0" smtClean="0">
                <a:latin typeface="Times New Roman" pitchFamily="18" charset="0"/>
                <a:cs typeface="Times New Roman" pitchFamily="18" charset="0"/>
              </a:rPr>
              <a:t>turn indicates whose turn it is to enter the critical section</a:t>
            </a:r>
          </a:p>
          <a:p>
            <a:pPr algn="just"/>
            <a:r>
              <a:rPr lang="en-US" dirty="0" smtClean="0">
                <a:latin typeface="Times New Roman" pitchFamily="18" charset="0"/>
                <a:cs typeface="Times New Roman" pitchFamily="18" charset="0"/>
              </a:rPr>
              <a:t>The </a:t>
            </a:r>
            <a:r>
              <a:rPr lang="en-US" b="1" dirty="0" smtClean="0">
                <a:latin typeface="Times New Roman" pitchFamily="18" charset="0"/>
                <a:cs typeface="Times New Roman" pitchFamily="18" charset="0"/>
              </a:rPr>
              <a:t>ready array is used to indicate if a process is ready to enter the </a:t>
            </a:r>
            <a:r>
              <a:rPr lang="en-US" dirty="0" smtClean="0">
                <a:latin typeface="Times New Roman" pitchFamily="18" charset="0"/>
                <a:cs typeface="Times New Roman" pitchFamily="18" charset="0"/>
              </a:rPr>
              <a:t>critical section.</a:t>
            </a:r>
          </a:p>
          <a:p>
            <a:pPr algn="just"/>
            <a:r>
              <a:rPr lang="en-US" b="1" dirty="0" smtClean="0">
                <a:latin typeface="Times New Roman" pitchFamily="18" charset="0"/>
                <a:cs typeface="Times New Roman" pitchFamily="18" charset="0"/>
              </a:rPr>
              <a:t>ready[</a:t>
            </a:r>
            <a:r>
              <a:rPr lang="en-US" b="1" dirty="0" err="1" smtClean="0">
                <a:latin typeface="Times New Roman" pitchFamily="18" charset="0"/>
                <a:cs typeface="Times New Roman" pitchFamily="18" charset="0"/>
              </a:rPr>
              <a:t>i</a:t>
            </a:r>
            <a:r>
              <a:rPr lang="en-US" b="1" dirty="0" smtClean="0">
                <a:latin typeface="Times New Roman" pitchFamily="18" charset="0"/>
                <a:cs typeface="Times New Roman" pitchFamily="18" charset="0"/>
              </a:rPr>
              <a:t>] = true =&gt; </a:t>
            </a:r>
            <a:r>
              <a:rPr lang="en-US" b="1" i="1" dirty="0" smtClean="0">
                <a:latin typeface="Times New Roman" pitchFamily="18" charset="0"/>
                <a:cs typeface="Times New Roman" pitchFamily="18" charset="0"/>
              </a:rPr>
              <a:t>Pi ready to enter its critical section</a:t>
            </a:r>
          </a:p>
          <a:p>
            <a:pPr algn="just">
              <a:buNone/>
            </a:pPr>
            <a:r>
              <a:rPr lang="en-US" b="1" dirty="0" smtClean="0">
                <a:solidFill>
                  <a:srgbClr val="FF0000"/>
                </a:solidFill>
                <a:latin typeface="Times New Roman" pitchFamily="18" charset="0"/>
                <a:cs typeface="Times New Roman" pitchFamily="18" charset="0"/>
              </a:rPr>
              <a:t>Algorithm for Process Pi</a:t>
            </a:r>
          </a:p>
          <a:p>
            <a:pPr lvl="1" algn="just">
              <a:buNone/>
            </a:pPr>
            <a:r>
              <a:rPr lang="en-US" b="1" dirty="0" smtClean="0">
                <a:latin typeface="Times New Roman" pitchFamily="18" charset="0"/>
                <a:cs typeface="Times New Roman" pitchFamily="18" charset="0"/>
              </a:rPr>
              <a:t>do {</a:t>
            </a:r>
          </a:p>
          <a:p>
            <a:pPr lvl="1" algn="just">
              <a:buNone/>
            </a:pPr>
            <a:r>
              <a:rPr lang="en-US" b="1" dirty="0" smtClean="0">
                <a:latin typeface="Times New Roman" pitchFamily="18" charset="0"/>
                <a:cs typeface="Times New Roman" pitchFamily="18" charset="0"/>
              </a:rPr>
              <a:t>ready[</a:t>
            </a:r>
            <a:r>
              <a:rPr lang="en-US" b="1" dirty="0" err="1" smtClean="0">
                <a:latin typeface="Times New Roman" pitchFamily="18" charset="0"/>
                <a:cs typeface="Times New Roman" pitchFamily="18" charset="0"/>
              </a:rPr>
              <a:t>i</a:t>
            </a:r>
            <a:r>
              <a:rPr lang="en-US" b="1" dirty="0" smtClean="0">
                <a:latin typeface="Times New Roman" pitchFamily="18" charset="0"/>
                <a:cs typeface="Times New Roman" pitchFamily="18" charset="0"/>
              </a:rPr>
              <a:t>] = true; /* Pi is ready for CS*/</a:t>
            </a:r>
          </a:p>
          <a:p>
            <a:pPr lvl="1" algn="just">
              <a:buNone/>
            </a:pPr>
            <a:r>
              <a:rPr lang="en-US" b="1" dirty="0" smtClean="0">
                <a:latin typeface="Times New Roman" pitchFamily="18" charset="0"/>
                <a:cs typeface="Times New Roman" pitchFamily="18" charset="0"/>
              </a:rPr>
              <a:t>turn = j; /* set turn to other*/</a:t>
            </a:r>
          </a:p>
          <a:p>
            <a:pPr lvl="1" algn="just">
              <a:buNone/>
            </a:pPr>
            <a:r>
              <a:rPr lang="en-US" b="1" dirty="0" smtClean="0">
                <a:latin typeface="Times New Roman" pitchFamily="18" charset="0"/>
                <a:cs typeface="Times New Roman" pitchFamily="18" charset="0"/>
              </a:rPr>
              <a:t>while (ready[j] ==true and turn == j) ; /* null statement*/</a:t>
            </a:r>
          </a:p>
          <a:p>
            <a:pPr lvl="1" algn="just">
              <a:buNone/>
            </a:pPr>
            <a:r>
              <a:rPr lang="en-US" dirty="0" smtClean="0">
                <a:latin typeface="Times New Roman" pitchFamily="18" charset="0"/>
                <a:cs typeface="Times New Roman" pitchFamily="18" charset="0"/>
              </a:rPr>
              <a:t>critical section</a:t>
            </a:r>
          </a:p>
          <a:p>
            <a:pPr lvl="1" algn="just">
              <a:buNone/>
            </a:pPr>
            <a:r>
              <a:rPr lang="en-US" b="1" dirty="0" smtClean="0">
                <a:latin typeface="Times New Roman" pitchFamily="18" charset="0"/>
                <a:cs typeface="Times New Roman" pitchFamily="18" charset="0"/>
              </a:rPr>
              <a:t>ready[</a:t>
            </a:r>
            <a:r>
              <a:rPr lang="en-US" b="1" dirty="0" err="1" smtClean="0">
                <a:latin typeface="Times New Roman" pitchFamily="18" charset="0"/>
                <a:cs typeface="Times New Roman" pitchFamily="18" charset="0"/>
              </a:rPr>
              <a:t>i</a:t>
            </a:r>
            <a:r>
              <a:rPr lang="en-US" b="1" dirty="0" smtClean="0">
                <a:latin typeface="Times New Roman" pitchFamily="18" charset="0"/>
                <a:cs typeface="Times New Roman" pitchFamily="18" charset="0"/>
              </a:rPr>
              <a:t>] = false;</a:t>
            </a:r>
          </a:p>
          <a:p>
            <a:pPr lvl="1" algn="just">
              <a:buNone/>
            </a:pPr>
            <a:r>
              <a:rPr lang="en-US" dirty="0" smtClean="0">
                <a:latin typeface="Times New Roman" pitchFamily="18" charset="0"/>
                <a:cs typeface="Times New Roman" pitchFamily="18" charset="0"/>
              </a:rPr>
              <a:t>remainder section</a:t>
            </a:r>
          </a:p>
          <a:p>
            <a:pPr lvl="1" algn="just">
              <a:buNone/>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while (1);</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95291930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3954"/>
            <a:ext cx="10515600" cy="5563009"/>
          </a:xfrm>
        </p:spPr>
        <p:txBody>
          <a:bodyPr/>
          <a:lstStyle/>
          <a:p>
            <a:pPr>
              <a:buNone/>
            </a:pPr>
            <a:r>
              <a:rPr lang="en-US" b="1" dirty="0" smtClean="0"/>
              <a:t>Advantages:</a:t>
            </a:r>
            <a:r>
              <a:rPr lang="en-US" dirty="0" smtClean="0"/>
              <a:t> Preserves all conditions.</a:t>
            </a:r>
          </a:p>
          <a:p>
            <a:pPr>
              <a:buNone/>
            </a:pPr>
            <a:r>
              <a:rPr lang="en-US" b="1" dirty="0" smtClean="0"/>
              <a:t>Problems:</a:t>
            </a:r>
            <a:r>
              <a:rPr lang="en-US" dirty="0" smtClean="0"/>
              <a:t> difficult to program for n-processes system and less efficient</a:t>
            </a:r>
          </a:p>
          <a:p>
            <a:pPr>
              <a:buNone/>
            </a:pPr>
            <a:r>
              <a:rPr lang="en-US" dirty="0" smtClean="0"/>
              <a:t>Solve the critical-section problem for two processes only</a:t>
            </a:r>
            <a:endParaRPr lang="en-US" dirty="0"/>
          </a:p>
        </p:txBody>
      </p:sp>
    </p:spTree>
    <p:extLst>
      <p:ext uri="{BB962C8B-B14F-4D97-AF65-F5344CB8AC3E}">
        <p14:creationId xmlns:p14="http://schemas.microsoft.com/office/powerpoint/2010/main" val="338221420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normAutofit fontScale="90000"/>
          </a:bodyPr>
          <a:lstStyle/>
          <a:p>
            <a:r>
              <a:rPr lang="en-US" b="1" dirty="0" smtClean="0">
                <a:solidFill>
                  <a:srgbClr val="FF0000"/>
                </a:solidFill>
                <a:latin typeface="Times New Roman" pitchFamily="18" charset="0"/>
                <a:cs typeface="Times New Roman" pitchFamily="18" charset="0"/>
              </a:rPr>
              <a:t>Solution to CSP: The TSL Instruction</a:t>
            </a:r>
            <a:endParaRPr lang="en-US" dirty="0"/>
          </a:p>
        </p:txBody>
      </p:sp>
      <p:sp>
        <p:nvSpPr>
          <p:cNvPr id="3" name="Content Placeholder 2"/>
          <p:cNvSpPr>
            <a:spLocks noGrp="1"/>
          </p:cNvSpPr>
          <p:nvPr>
            <p:ph idx="1"/>
          </p:nvPr>
        </p:nvSpPr>
        <p:spPr>
          <a:xfrm>
            <a:off x="838200" y="1097280"/>
            <a:ext cx="10515600" cy="5079683"/>
          </a:xfrm>
        </p:spPr>
        <p:txBody>
          <a:bodyPr>
            <a:normAutofit/>
          </a:bodyPr>
          <a:lstStyle/>
          <a:p>
            <a:pPr algn="just">
              <a:lnSpc>
                <a:spcPct val="150000"/>
              </a:lnSpc>
            </a:pPr>
            <a:r>
              <a:rPr lang="en-US" sz="1800" dirty="0" smtClean="0">
                <a:latin typeface="Times New Roman" pitchFamily="18" charset="0"/>
                <a:cs typeface="Times New Roman" pitchFamily="18" charset="0"/>
              </a:rPr>
              <a:t>TSL(Test And Set Lock) is a hardware solution of critical section problem.</a:t>
            </a:r>
          </a:p>
          <a:p>
            <a:pPr algn="just">
              <a:lnSpc>
                <a:spcPct val="150000"/>
              </a:lnSpc>
            </a:pPr>
            <a:r>
              <a:rPr lang="en-US" sz="1800" dirty="0" smtClean="0">
                <a:latin typeface="Times New Roman" pitchFamily="18" charset="0"/>
                <a:cs typeface="Times New Roman" pitchFamily="18" charset="0"/>
              </a:rPr>
              <a:t>To use the TSL instruction, we will use a shared variable, lock, to coordinate access to shared memory.</a:t>
            </a:r>
          </a:p>
          <a:p>
            <a:pPr algn="just">
              <a:lnSpc>
                <a:spcPct val="150000"/>
              </a:lnSpc>
            </a:pPr>
            <a:r>
              <a:rPr lang="en-US" sz="1800" dirty="0" smtClean="0">
                <a:latin typeface="Times New Roman" pitchFamily="18" charset="0"/>
                <a:cs typeface="Times New Roman" pitchFamily="18" charset="0"/>
              </a:rPr>
              <a:t>When lock is 0, any process may set to 1 using TSL instruction and then read or write shared memory.</a:t>
            </a:r>
          </a:p>
          <a:p>
            <a:pPr algn="just">
              <a:lnSpc>
                <a:spcPct val="150000"/>
              </a:lnSpc>
            </a:pPr>
            <a:r>
              <a:rPr lang="en-US" sz="1800" dirty="0" smtClean="0">
                <a:latin typeface="Times New Roman" pitchFamily="18" charset="0"/>
                <a:cs typeface="Times New Roman" pitchFamily="18" charset="0"/>
              </a:rPr>
              <a:t>When it is done, the process sets lock back to 0 using an ordinary move instruction.</a:t>
            </a:r>
          </a:p>
          <a:p>
            <a:pPr algn="just">
              <a:lnSpc>
                <a:spcPct val="150000"/>
              </a:lnSpc>
            </a:pPr>
            <a:r>
              <a:rPr lang="en-US" sz="1800" dirty="0" smtClean="0">
                <a:latin typeface="Times New Roman" pitchFamily="18" charset="0"/>
                <a:cs typeface="Times New Roman" pitchFamily="18" charset="0"/>
              </a:rPr>
              <a:t>When lock=1 no process can use it</a:t>
            </a:r>
          </a:p>
          <a:p>
            <a:pPr algn="just">
              <a:lnSpc>
                <a:spcPct val="150000"/>
              </a:lnSpc>
              <a:buNone/>
            </a:pPr>
            <a:endParaRPr lang="en-US" sz="1800" dirty="0" smtClean="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4781006" y="3309817"/>
            <a:ext cx="6257941" cy="3086100"/>
          </a:xfrm>
          <a:prstGeom prst="rect">
            <a:avLst/>
          </a:prstGeom>
          <a:noFill/>
          <a:ln w="9525">
            <a:noFill/>
            <a:miter lim="800000"/>
            <a:headEnd/>
            <a:tailEnd/>
          </a:ln>
          <a:effectLst/>
        </p:spPr>
      </p:pic>
    </p:spTree>
    <p:extLst>
      <p:ext uri="{BB962C8B-B14F-4D97-AF65-F5344CB8AC3E}">
        <p14:creationId xmlns:p14="http://schemas.microsoft.com/office/powerpoint/2010/main" val="346382316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7829"/>
            <a:ext cx="10515600" cy="5589134"/>
          </a:xfrm>
        </p:spPr>
        <p:txBody>
          <a:bodyPr/>
          <a:lstStyle/>
          <a:p>
            <a:pPr>
              <a:buNone/>
            </a:pPr>
            <a:r>
              <a:rPr lang="en-US" b="1" dirty="0" smtClean="0"/>
              <a:t>Implementation of TSL using XCHG instruction</a:t>
            </a:r>
          </a:p>
          <a:p>
            <a:pPr>
              <a:buNone/>
            </a:pPr>
            <a:endParaRPr lang="en-US" b="1" dirty="0" smtClean="0"/>
          </a:p>
          <a:p>
            <a:pPr lvl="1">
              <a:buNone/>
            </a:pPr>
            <a:r>
              <a:rPr lang="en-US" b="1" dirty="0" err="1" smtClean="0"/>
              <a:t>Entry_Section</a:t>
            </a:r>
            <a:endParaRPr lang="en-US" dirty="0" smtClean="0"/>
          </a:p>
          <a:p>
            <a:pPr lvl="1">
              <a:buNone/>
            </a:pPr>
            <a:r>
              <a:rPr lang="en-US" dirty="0" smtClean="0"/>
              <a:t>Loop: Move Register, #1         </a:t>
            </a:r>
            <a:r>
              <a:rPr lang="en-US" b="1" dirty="0" smtClean="0"/>
              <a:t>//copy lock to register and set lock to 1</a:t>
            </a:r>
            <a:endParaRPr lang="en-US" dirty="0" smtClean="0"/>
          </a:p>
          <a:p>
            <a:pPr lvl="1">
              <a:buNone/>
            </a:pPr>
            <a:r>
              <a:rPr lang="en-US" dirty="0" smtClean="0"/>
              <a:t>           XCHG Register, lock           </a:t>
            </a:r>
          </a:p>
          <a:p>
            <a:pPr lvl="1">
              <a:buNone/>
            </a:pPr>
            <a:r>
              <a:rPr lang="en-US" dirty="0" smtClean="0"/>
              <a:t>           CMP Register, #0         </a:t>
            </a:r>
            <a:r>
              <a:rPr lang="en-US" b="1" dirty="0" smtClean="0"/>
              <a:t>//was lock is 0?</a:t>
            </a:r>
            <a:endParaRPr lang="en-US" dirty="0" smtClean="0"/>
          </a:p>
          <a:p>
            <a:pPr lvl="1">
              <a:buNone/>
            </a:pPr>
            <a:r>
              <a:rPr lang="en-US" dirty="0" smtClean="0"/>
              <a:t>           JNZ Loop                    </a:t>
            </a:r>
            <a:r>
              <a:rPr lang="en-US" b="1" dirty="0" smtClean="0"/>
              <a:t>//jump not zero on loop</a:t>
            </a:r>
            <a:endParaRPr lang="en-US" dirty="0" smtClean="0"/>
          </a:p>
          <a:p>
            <a:pPr lvl="1">
              <a:buNone/>
            </a:pPr>
            <a:r>
              <a:rPr lang="en-US" dirty="0" smtClean="0"/>
              <a:t>           </a:t>
            </a:r>
            <a:r>
              <a:rPr lang="en-US" b="1" dirty="0" smtClean="0"/>
              <a:t>Critical Section</a:t>
            </a:r>
            <a:endParaRPr lang="en-US" dirty="0" smtClean="0"/>
          </a:p>
          <a:p>
            <a:pPr lvl="1">
              <a:buNone/>
            </a:pPr>
            <a:r>
              <a:rPr lang="en-US" b="1" dirty="0" smtClean="0"/>
              <a:t> Exit Section</a:t>
            </a:r>
            <a:endParaRPr lang="en-US" dirty="0" smtClean="0"/>
          </a:p>
          <a:p>
            <a:pPr lvl="1">
              <a:buNone/>
            </a:pPr>
            <a:r>
              <a:rPr lang="en-US" dirty="0" smtClean="0"/>
              <a:t>    Move lock, #0                   </a:t>
            </a:r>
            <a:r>
              <a:rPr lang="en-US" b="1" dirty="0" smtClean="0"/>
              <a:t>//store 0 in lock</a:t>
            </a:r>
            <a:r>
              <a:rPr lang="en-US" dirty="0" smtClean="0"/>
              <a:t> </a:t>
            </a:r>
          </a:p>
          <a:p>
            <a:pPr lvl="1">
              <a:buNone/>
            </a:pPr>
            <a:r>
              <a:rPr lang="en-US" b="1" dirty="0" smtClean="0"/>
              <a:t> Non-critical Section       	</a:t>
            </a:r>
            <a:endParaRPr lang="en-US" dirty="0" smtClean="0"/>
          </a:p>
          <a:p>
            <a:endParaRPr lang="en-US" dirty="0"/>
          </a:p>
        </p:txBody>
      </p:sp>
    </p:spTree>
    <p:extLst>
      <p:ext uri="{BB962C8B-B14F-4D97-AF65-F5344CB8AC3E}">
        <p14:creationId xmlns:p14="http://schemas.microsoft.com/office/powerpoint/2010/main" val="211815346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5400"/>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Sleep and Wake-up</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188720"/>
            <a:ext cx="10515600" cy="4988243"/>
          </a:xfrm>
        </p:spPr>
        <p:txBody>
          <a:bodyPr>
            <a:normAutofit fontScale="85000" lnSpcReduction="10000"/>
          </a:bodyPr>
          <a:lstStyle/>
          <a:p>
            <a:pPr algn="just">
              <a:lnSpc>
                <a:spcPct val="160000"/>
              </a:lnSpc>
            </a:pPr>
            <a:r>
              <a:rPr lang="en-US" dirty="0" smtClean="0">
                <a:latin typeface="Times New Roman" pitchFamily="18" charset="0"/>
                <a:cs typeface="Times New Roman" pitchFamily="18" charset="0"/>
              </a:rPr>
              <a:t>Both  Peterson and TSL solution have the defect of requiring Busy Waiting.</a:t>
            </a:r>
          </a:p>
          <a:p>
            <a:pPr>
              <a:lnSpc>
                <a:spcPct val="160000"/>
              </a:lnSpc>
            </a:pPr>
            <a:r>
              <a:rPr lang="en-US" b="1" dirty="0" smtClean="0">
                <a:latin typeface="Times New Roman" pitchFamily="18" charset="0"/>
                <a:cs typeface="Times New Roman" pitchFamily="18" charset="0"/>
              </a:rPr>
              <a:t>Busy waiting</a:t>
            </a:r>
            <a:r>
              <a:rPr lang="en-US" dirty="0" smtClean="0">
                <a:latin typeface="Times New Roman" pitchFamily="18" charset="0"/>
                <a:cs typeface="Times New Roman" pitchFamily="18" charset="0"/>
              </a:rPr>
              <a:t>: When a process want to enter its CS, it checks to see if the entry is allowed, if it is not, the process just sits in a tight loop waiting until it is.</a:t>
            </a:r>
          </a:p>
          <a:p>
            <a:pPr algn="just">
              <a:lnSpc>
                <a:spcPct val="160000"/>
              </a:lnSpc>
            </a:pPr>
            <a:r>
              <a:rPr lang="en-US" dirty="0" smtClean="0">
                <a:latin typeface="Times New Roman" pitchFamily="18" charset="0"/>
                <a:cs typeface="Times New Roman" pitchFamily="18" charset="0"/>
              </a:rPr>
              <a:t>So we can have problem like </a:t>
            </a:r>
          </a:p>
          <a:p>
            <a:pPr lvl="1" algn="just">
              <a:lnSpc>
                <a:spcPct val="160000"/>
              </a:lnSpc>
            </a:pPr>
            <a:r>
              <a:rPr lang="en-US" b="1" i="1" dirty="0" smtClean="0">
                <a:solidFill>
                  <a:srgbClr val="FF0000"/>
                </a:solidFill>
                <a:latin typeface="Times New Roman" pitchFamily="18" charset="0"/>
                <a:cs typeface="Times New Roman" pitchFamily="18" charset="0"/>
              </a:rPr>
              <a:t>CPU  time is wasted</a:t>
            </a:r>
          </a:p>
          <a:p>
            <a:pPr lvl="1" algn="just">
              <a:lnSpc>
                <a:spcPct val="160000"/>
              </a:lnSpc>
            </a:pPr>
            <a:r>
              <a:rPr lang="en-US" b="1" i="1" dirty="0" smtClean="0">
                <a:solidFill>
                  <a:srgbClr val="FF0000"/>
                </a:solidFill>
                <a:latin typeface="Times New Roman" pitchFamily="18" charset="0"/>
                <a:cs typeface="Times New Roman" pitchFamily="18" charset="0"/>
              </a:rPr>
              <a:t>Priority inversion problem</a:t>
            </a:r>
          </a:p>
          <a:p>
            <a:pPr algn="just">
              <a:lnSpc>
                <a:spcPct val="160000"/>
              </a:lnSpc>
            </a:pPr>
            <a:r>
              <a:rPr lang="en-US" dirty="0" smtClean="0">
                <a:latin typeface="Times New Roman" pitchFamily="18" charset="0"/>
                <a:cs typeface="Times New Roman" pitchFamily="18" charset="0"/>
              </a:rPr>
              <a:t>These problem can be solved by using </a:t>
            </a:r>
            <a:r>
              <a:rPr lang="en-US" b="1" dirty="0" smtClean="0">
                <a:latin typeface="Times New Roman" pitchFamily="18" charset="0"/>
                <a:cs typeface="Times New Roman" pitchFamily="18" charset="0"/>
              </a:rPr>
              <a:t>Sleep</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Wakeup</a:t>
            </a:r>
            <a:r>
              <a:rPr lang="en-US" dirty="0" smtClean="0">
                <a:latin typeface="Times New Roman" pitchFamily="18" charset="0"/>
                <a:cs typeface="Times New Roman" pitchFamily="18" charset="0"/>
              </a:rPr>
              <a:t> primitives (System calls)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9863780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1972"/>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Sleep and Wakeup</a:t>
            </a:r>
            <a:br>
              <a:rPr lang="en-US" b="1" dirty="0" smtClean="0">
                <a:solidFill>
                  <a:srgbClr val="FF0000"/>
                </a:solidFill>
                <a:latin typeface="Times New Roman" pitchFamily="18" charset="0"/>
                <a:cs typeface="Times New Roman" pitchFamily="18" charset="0"/>
              </a:rPr>
            </a:br>
            <a:r>
              <a:rPr lang="en-US" b="1" dirty="0" smtClean="0">
                <a:solidFill>
                  <a:srgbClr val="FF0000"/>
                </a:solidFill>
                <a:latin typeface="Times New Roman" pitchFamily="18" charset="0"/>
                <a:cs typeface="Times New Roman" pitchFamily="18" charset="0"/>
              </a:rPr>
              <a:t>Producer-Consumer Problem</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384663"/>
            <a:ext cx="10515600" cy="4792300"/>
          </a:xfrm>
        </p:spPr>
        <p:txBody>
          <a:bodyPr>
            <a:normAutofit lnSpcReduction="10000"/>
          </a:bodyPr>
          <a:lstStyle/>
          <a:p>
            <a:pPr algn="just">
              <a:lnSpc>
                <a:spcPct val="150000"/>
              </a:lnSpc>
            </a:pPr>
            <a:r>
              <a:rPr lang="en-US" dirty="0" smtClean="0">
                <a:latin typeface="Times New Roman" pitchFamily="18" charset="0"/>
                <a:cs typeface="Times New Roman" pitchFamily="18" charset="0"/>
              </a:rPr>
              <a:t>Two process share a common, fixed sized buffer.</a:t>
            </a:r>
          </a:p>
          <a:p>
            <a:pPr algn="just">
              <a:lnSpc>
                <a:spcPct val="150000"/>
              </a:lnSpc>
              <a:buNone/>
            </a:pPr>
            <a:r>
              <a:rPr lang="en-US" dirty="0" smtClean="0">
                <a:latin typeface="Times New Roman" pitchFamily="18" charset="0"/>
                <a:cs typeface="Times New Roman" pitchFamily="18" charset="0"/>
              </a:rPr>
              <a:t>• Suppose one process, producer, is generating information that the second process, consumer, is using.</a:t>
            </a:r>
          </a:p>
          <a:p>
            <a:pPr algn="just">
              <a:lnSpc>
                <a:spcPct val="150000"/>
              </a:lnSpc>
              <a:buNone/>
            </a:pPr>
            <a:r>
              <a:rPr lang="en-US" dirty="0" smtClean="0">
                <a:latin typeface="Times New Roman" pitchFamily="18" charset="0"/>
                <a:cs typeface="Times New Roman" pitchFamily="18" charset="0"/>
              </a:rPr>
              <a:t>• Their speed may be mismatched, if producer insert item rapidly, the buffer will full and go to the sleep until consumer consumes some item, while consumer consumes rapidly, the buffer will empty and go to sleep until producer put something in the buffer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5862105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4137"/>
            <a:ext cx="10515600" cy="5732826"/>
          </a:xfrm>
        </p:spPr>
        <p:txBody>
          <a:bodyPr/>
          <a:lstStyle/>
          <a:p>
            <a:pPr>
              <a:buNone/>
            </a:pPr>
            <a:r>
              <a:rPr lang="en-US" dirty="0" smtClean="0"/>
              <a:t>Example:</a:t>
            </a:r>
            <a:endParaRPr lang="en-US" dirty="0"/>
          </a:p>
        </p:txBody>
      </p:sp>
      <p:pic>
        <p:nvPicPr>
          <p:cNvPr id="2050" name="Picture 2"/>
          <p:cNvPicPr>
            <a:picLocks noChangeAspect="1" noChangeArrowheads="1"/>
          </p:cNvPicPr>
          <p:nvPr/>
        </p:nvPicPr>
        <p:blipFill>
          <a:blip r:embed="rId2"/>
          <a:srcRect/>
          <a:stretch>
            <a:fillRect/>
          </a:stretch>
        </p:blipFill>
        <p:spPr bwMode="auto">
          <a:xfrm>
            <a:off x="927463" y="1005840"/>
            <a:ext cx="10607040" cy="5368834"/>
          </a:xfrm>
          <a:prstGeom prst="rect">
            <a:avLst/>
          </a:prstGeom>
          <a:noFill/>
          <a:ln w="9525">
            <a:noFill/>
            <a:miter lim="800000"/>
            <a:headEnd/>
            <a:tailEnd/>
          </a:ln>
          <a:effectLst/>
        </p:spPr>
      </p:pic>
    </p:spTree>
    <p:extLst>
      <p:ext uri="{BB962C8B-B14F-4D97-AF65-F5344CB8AC3E}">
        <p14:creationId xmlns:p14="http://schemas.microsoft.com/office/powerpoint/2010/main" val="244241230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Sleep and Wakeup</a:t>
            </a:r>
            <a:br>
              <a:rPr lang="en-US" b="1" dirty="0" smtClean="0">
                <a:solidFill>
                  <a:srgbClr val="FF0000"/>
                </a:solidFill>
                <a:latin typeface="Times New Roman" pitchFamily="18" charset="0"/>
                <a:cs typeface="Times New Roman" pitchFamily="18" charset="0"/>
              </a:rPr>
            </a:br>
            <a:r>
              <a:rPr lang="en-US" b="1" dirty="0" smtClean="0">
                <a:solidFill>
                  <a:srgbClr val="FF0000"/>
                </a:solidFill>
                <a:latin typeface="Times New Roman" pitchFamily="18" charset="0"/>
                <a:cs typeface="Times New Roman" pitchFamily="18" charset="0"/>
              </a:rPr>
              <a:t>Producer-Consumer Problem</a:t>
            </a:r>
            <a:endParaRPr lang="en-US" dirty="0"/>
          </a:p>
        </p:txBody>
      </p:sp>
      <p:sp>
        <p:nvSpPr>
          <p:cNvPr id="3" name="Content Placeholder 2"/>
          <p:cNvSpPr>
            <a:spLocks noGrp="1"/>
          </p:cNvSpPr>
          <p:nvPr>
            <p:ph idx="1"/>
          </p:nvPr>
        </p:nvSpPr>
        <p:spPr>
          <a:xfrm>
            <a:off x="838200" y="1463040"/>
            <a:ext cx="10515600" cy="4713923"/>
          </a:xfrm>
        </p:spPr>
        <p:txBody>
          <a:bodyPr/>
          <a:lstStyle/>
          <a:p>
            <a:pPr algn="just">
              <a:buNone/>
            </a:pPr>
            <a:r>
              <a:rPr lang="en-US" b="1" dirty="0" smtClean="0">
                <a:latin typeface="Times New Roman" pitchFamily="18" charset="0"/>
                <a:cs typeface="Times New Roman" pitchFamily="18" charset="0"/>
              </a:rPr>
              <a:t>Problem:</a:t>
            </a:r>
          </a:p>
          <a:p>
            <a:pPr algn="just">
              <a:buNone/>
            </a:pPr>
            <a:r>
              <a:rPr lang="en-US" dirty="0" smtClean="0">
                <a:latin typeface="Times New Roman" pitchFamily="18" charset="0"/>
                <a:cs typeface="Times New Roman" pitchFamily="18" charset="0"/>
              </a:rPr>
              <a:t>What happen if buffer is empty, the consumer just reads count</a:t>
            </a:r>
          </a:p>
          <a:p>
            <a:pPr algn="just">
              <a:buNone/>
            </a:pPr>
            <a:r>
              <a:rPr lang="en-US" dirty="0" smtClean="0">
                <a:latin typeface="Times New Roman" pitchFamily="18" charset="0"/>
                <a:cs typeface="Times New Roman" pitchFamily="18" charset="0"/>
              </a:rPr>
              <a:t>and quantum is expired, the producer inserts an item in the buffer,</a:t>
            </a:r>
          </a:p>
          <a:p>
            <a:pPr algn="just">
              <a:buNone/>
            </a:pPr>
            <a:r>
              <a:rPr lang="en-US" dirty="0" smtClean="0">
                <a:latin typeface="Times New Roman" pitchFamily="18" charset="0"/>
                <a:cs typeface="Times New Roman" pitchFamily="18" charset="0"/>
              </a:rPr>
              <a:t>increments count and wake up consumer. The consumer not yet</a:t>
            </a:r>
          </a:p>
          <a:p>
            <a:pPr algn="just">
              <a:buNone/>
            </a:pPr>
            <a:r>
              <a:rPr lang="en-US" dirty="0" smtClean="0">
                <a:latin typeface="Times New Roman" pitchFamily="18" charset="0"/>
                <a:cs typeface="Times New Roman" pitchFamily="18" charset="0"/>
              </a:rPr>
              <a:t>asleep, so the wakeup signal is lost, the consumer has the count value</a:t>
            </a:r>
          </a:p>
          <a:p>
            <a:pPr algn="just">
              <a:buNone/>
            </a:pPr>
            <a:r>
              <a:rPr lang="en-US" dirty="0" smtClean="0">
                <a:latin typeface="Times New Roman" pitchFamily="18" charset="0"/>
                <a:cs typeface="Times New Roman" pitchFamily="18" charset="0"/>
              </a:rPr>
              <a:t>0 from the last read so go to the sleep. Producer keeps on producing</a:t>
            </a:r>
          </a:p>
          <a:p>
            <a:pPr algn="just">
              <a:buNone/>
            </a:pPr>
            <a:r>
              <a:rPr lang="en-US" dirty="0" smtClean="0">
                <a:latin typeface="Times New Roman" pitchFamily="18" charset="0"/>
                <a:cs typeface="Times New Roman" pitchFamily="18" charset="0"/>
              </a:rPr>
              <a:t>and fill the buffer and go to sleep, both will sleep forever.</a:t>
            </a:r>
          </a:p>
          <a:p>
            <a:pPr algn="just">
              <a:buNone/>
            </a:pPr>
            <a:r>
              <a:rPr lang="en-US" i="1" dirty="0" smtClean="0">
                <a:latin typeface="Times New Roman" pitchFamily="18" charset="0"/>
                <a:cs typeface="Times New Roman" pitchFamily="18" charset="0"/>
              </a:rPr>
              <a:t>Think: If we were able to save the wakeup signal that was lost........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91696371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pPr algn="ctr"/>
            <a:r>
              <a:rPr lang="en-US" b="1" dirty="0" smtClean="0">
                <a:solidFill>
                  <a:srgbClr val="FF0000"/>
                </a:solidFill>
                <a:latin typeface="Times New Roman" pitchFamily="18" charset="0"/>
                <a:cs typeface="Times New Roman" pitchFamily="18" charset="0"/>
              </a:rPr>
              <a:t>Semaphore</a:t>
            </a:r>
            <a:endParaRPr lang="en-US"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097280"/>
            <a:ext cx="10515600" cy="5316583"/>
          </a:xfrm>
        </p:spPr>
        <p:txBody>
          <a:bodyPr>
            <a:normAutofit/>
          </a:bodyPr>
          <a:lstStyle/>
          <a:p>
            <a:pPr algn="just">
              <a:lnSpc>
                <a:spcPct val="150000"/>
              </a:lnSpc>
            </a:pPr>
            <a:r>
              <a:rPr lang="en-US" sz="2000" dirty="0" smtClean="0">
                <a:latin typeface="Times New Roman" pitchFamily="18" charset="0"/>
                <a:cs typeface="Times New Roman" pitchFamily="18" charset="0"/>
              </a:rPr>
              <a:t>E. W. </a:t>
            </a:r>
            <a:r>
              <a:rPr lang="en-US" sz="2000" dirty="0" err="1" smtClean="0">
                <a:latin typeface="Times New Roman" pitchFamily="18" charset="0"/>
                <a:cs typeface="Times New Roman" pitchFamily="18" charset="0"/>
              </a:rPr>
              <a:t>Dijkstra</a:t>
            </a:r>
            <a:r>
              <a:rPr lang="en-US" sz="2000" dirty="0" smtClean="0">
                <a:latin typeface="Times New Roman" pitchFamily="18" charset="0"/>
                <a:cs typeface="Times New Roman" pitchFamily="18" charset="0"/>
              </a:rPr>
              <a:t> (1965) suggested using an integer variable to count the number of wakeups, called a semaphore.</a:t>
            </a:r>
          </a:p>
          <a:p>
            <a:pPr algn="just">
              <a:lnSpc>
                <a:spcPct val="150000"/>
              </a:lnSpc>
            </a:pPr>
            <a:r>
              <a:rPr lang="en-US" sz="2000" dirty="0" smtClean="0">
                <a:latin typeface="Times New Roman" pitchFamily="18" charset="0"/>
                <a:cs typeface="Times New Roman" pitchFamily="18" charset="0"/>
              </a:rPr>
              <a:t>A semaphore is an integer variable which is accessed through  two atomic  operation </a:t>
            </a:r>
            <a:r>
              <a:rPr lang="en-US" sz="2000" b="1" dirty="0" smtClean="0">
                <a:latin typeface="Times New Roman" pitchFamily="18" charset="0"/>
                <a:cs typeface="Times New Roman" pitchFamily="18" charset="0"/>
              </a:rPr>
              <a:t>wait </a:t>
            </a:r>
            <a:r>
              <a:rPr lang="en-US" sz="2000" dirty="0" smtClean="0">
                <a:latin typeface="Times New Roman" pitchFamily="18" charset="0"/>
                <a:cs typeface="Times New Roman" pitchFamily="18" charset="0"/>
              </a:rPr>
              <a:t>and</a:t>
            </a:r>
            <a:r>
              <a:rPr lang="en-US" sz="2000" b="1" dirty="0" smtClean="0">
                <a:latin typeface="Times New Roman" pitchFamily="18" charset="0"/>
                <a:cs typeface="Times New Roman" pitchFamily="18" charset="0"/>
              </a:rPr>
              <a:t> signal.</a:t>
            </a:r>
          </a:p>
          <a:p>
            <a:pPr algn="just">
              <a:lnSpc>
                <a:spcPct val="150000"/>
              </a:lnSpc>
            </a:pPr>
            <a:r>
              <a:rPr lang="en-US" sz="2000" dirty="0" smtClean="0">
                <a:latin typeface="Times New Roman" pitchFamily="18" charset="0"/>
                <a:cs typeface="Times New Roman" pitchFamily="18" charset="0"/>
              </a:rPr>
              <a:t>These operations are turned as  ‘P’ for wait i.e. to test and ‘V’  for signal  i.e. to increment</a:t>
            </a:r>
          </a:p>
          <a:p>
            <a:pPr algn="just">
              <a:lnSpc>
                <a:spcPct val="150000"/>
              </a:lnSpc>
            </a:pPr>
            <a:r>
              <a:rPr lang="en-US" sz="2000" dirty="0" smtClean="0">
                <a:latin typeface="Times New Roman" pitchFamily="18" charset="0"/>
                <a:cs typeface="Times New Roman" pitchFamily="18" charset="0"/>
              </a:rPr>
              <a:t>Semaphore S;</a:t>
            </a:r>
          </a:p>
          <a:p>
            <a:pPr algn="just">
              <a:lnSpc>
                <a:spcPct val="150000"/>
              </a:lnSpc>
            </a:pPr>
            <a:endParaRPr lang="en-US" sz="2000" dirty="0">
              <a:latin typeface="Times New Roman" pitchFamily="18" charset="0"/>
              <a:cs typeface="Times New Roman" pitchFamily="18" charset="0"/>
            </a:endParaRPr>
          </a:p>
        </p:txBody>
      </p:sp>
      <p:sp>
        <p:nvSpPr>
          <p:cNvPr id="5" name="TextBox 4"/>
          <p:cNvSpPr txBox="1"/>
          <p:nvPr/>
        </p:nvSpPr>
        <p:spPr>
          <a:xfrm>
            <a:off x="1471749" y="4632960"/>
            <a:ext cx="2194560" cy="1477328"/>
          </a:xfrm>
          <a:prstGeom prst="rect">
            <a:avLst/>
          </a:prstGeom>
          <a:noFill/>
        </p:spPr>
        <p:txBody>
          <a:bodyPr wrap="square" rtlCol="0">
            <a:spAutoFit/>
          </a:bodyPr>
          <a:lstStyle/>
          <a:p>
            <a:r>
              <a:rPr lang="en-US" b="1" dirty="0" smtClean="0">
                <a:latin typeface="Times New Roman" pitchFamily="18" charset="0"/>
                <a:cs typeface="Times New Roman" pitchFamily="18" charset="0"/>
              </a:rPr>
              <a:t>Wait(S)</a:t>
            </a:r>
          </a:p>
          <a:p>
            <a:r>
              <a:rPr lang="en-US" b="1"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      while(S&lt;=0);</a:t>
            </a:r>
          </a:p>
          <a:p>
            <a:r>
              <a:rPr lang="en-US" b="1" dirty="0" smtClean="0">
                <a:latin typeface="Times New Roman" pitchFamily="18" charset="0"/>
                <a:cs typeface="Times New Roman" pitchFamily="18" charset="0"/>
              </a:rPr>
              <a:t>       S=S-1;</a:t>
            </a:r>
          </a:p>
          <a:p>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
        <p:nvSpPr>
          <p:cNvPr id="6" name="TextBox 5"/>
          <p:cNvSpPr txBox="1"/>
          <p:nvPr/>
        </p:nvSpPr>
        <p:spPr>
          <a:xfrm>
            <a:off x="5691094" y="4737463"/>
            <a:ext cx="2194560" cy="1200329"/>
          </a:xfrm>
          <a:prstGeom prst="rect">
            <a:avLst/>
          </a:prstGeom>
          <a:noFill/>
        </p:spPr>
        <p:txBody>
          <a:bodyPr wrap="square" rtlCol="0">
            <a:spAutoFit/>
          </a:bodyPr>
          <a:lstStyle/>
          <a:p>
            <a:r>
              <a:rPr lang="en-US" b="1" dirty="0" smtClean="0">
                <a:latin typeface="Times New Roman" pitchFamily="18" charset="0"/>
                <a:cs typeface="Times New Roman" pitchFamily="18" charset="0"/>
              </a:rPr>
              <a:t>Signal(S)</a:t>
            </a:r>
          </a:p>
          <a:p>
            <a:r>
              <a:rPr lang="en-US" b="1" dirty="0" smtClean="0">
                <a:latin typeface="Times New Roman" pitchFamily="18" charset="0"/>
                <a:cs typeface="Times New Roman" pitchFamily="18" charset="0"/>
              </a:rPr>
              <a:t>{</a:t>
            </a:r>
          </a:p>
          <a:p>
            <a:r>
              <a:rPr lang="en-US" b="1" dirty="0" smtClean="0">
                <a:latin typeface="Times New Roman" pitchFamily="18" charset="0"/>
                <a:cs typeface="Times New Roman" pitchFamily="18" charset="0"/>
              </a:rPr>
              <a:t>     S=S+1;</a:t>
            </a:r>
          </a:p>
          <a:p>
            <a:r>
              <a:rPr lang="en-US" b="1" dirty="0" smtClean="0">
                <a:latin typeface="Times New Roman" pitchFamily="18" charset="0"/>
                <a:cs typeface="Times New Roman" pitchFamily="18" charset="0"/>
              </a:rPr>
              <a:t>}</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41195155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1886"/>
            <a:ext cx="10515600" cy="5785077"/>
          </a:xfrm>
        </p:spPr>
        <p:txBody>
          <a:bodyPr/>
          <a:lstStyle/>
          <a:p>
            <a:pPr algn="just">
              <a:buNone/>
            </a:pPr>
            <a:r>
              <a:rPr lang="en-US" b="1" dirty="0" smtClean="0">
                <a:solidFill>
                  <a:srgbClr val="FF0000"/>
                </a:solidFill>
                <a:latin typeface="Times New Roman" pitchFamily="18" charset="0"/>
                <a:cs typeface="Times New Roman" pitchFamily="18" charset="0"/>
              </a:rPr>
              <a:t>Uses of Semaphore</a:t>
            </a:r>
          </a:p>
          <a:p>
            <a:pPr algn="just"/>
            <a:r>
              <a:rPr lang="en-US" dirty="0" smtClean="0">
                <a:latin typeface="Times New Roman" pitchFamily="18" charset="0"/>
                <a:cs typeface="Times New Roman" pitchFamily="18" charset="0"/>
              </a:rPr>
              <a:t>To solve critical section problem.</a:t>
            </a: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To decide order of process execution.</a:t>
            </a:r>
          </a:p>
          <a:p>
            <a:pPr algn="just"/>
            <a:r>
              <a:rPr lang="en-US" dirty="0" smtClean="0">
                <a:latin typeface="Times New Roman" pitchFamily="18" charset="0"/>
                <a:cs typeface="Times New Roman" pitchFamily="18" charset="0"/>
              </a:rPr>
              <a:t>To manage the resources.</a:t>
            </a:r>
            <a:endParaRPr lang="en-US" dirty="0">
              <a:latin typeface="Times New Roman" pitchFamily="18" charset="0"/>
              <a:cs typeface="Times New Roman" pitchFamily="18" charset="0"/>
            </a:endParaRPr>
          </a:p>
        </p:txBody>
      </p:sp>
      <p:sp>
        <p:nvSpPr>
          <p:cNvPr id="4" name="TextBox 3"/>
          <p:cNvSpPr txBox="1"/>
          <p:nvPr/>
        </p:nvSpPr>
        <p:spPr>
          <a:xfrm>
            <a:off x="1658983" y="1463006"/>
            <a:ext cx="2194560" cy="369332"/>
          </a:xfrm>
          <a:prstGeom prst="rect">
            <a:avLst/>
          </a:prstGeom>
          <a:noFill/>
        </p:spPr>
        <p:txBody>
          <a:bodyPr wrap="square" rtlCol="0">
            <a:spAutoFit/>
          </a:bodyPr>
          <a:lstStyle/>
          <a:p>
            <a:endParaRPr lang="en-US" dirty="0"/>
          </a:p>
        </p:txBody>
      </p:sp>
      <p:sp>
        <p:nvSpPr>
          <p:cNvPr id="5" name="TextBox 4"/>
          <p:cNvSpPr txBox="1"/>
          <p:nvPr/>
        </p:nvSpPr>
        <p:spPr>
          <a:xfrm>
            <a:off x="1737358" y="1502228"/>
            <a:ext cx="4284619" cy="3268652"/>
          </a:xfrm>
          <a:prstGeom prst="rect">
            <a:avLst/>
          </a:prstGeom>
          <a:noFill/>
        </p:spPr>
        <p:txBody>
          <a:bodyPr wrap="square" rtlCol="0">
            <a:spAutoFit/>
          </a:bodyPr>
          <a:lstStyle/>
          <a:p>
            <a:pPr algn="just">
              <a:lnSpc>
                <a:spcPct val="150000"/>
              </a:lnSpc>
            </a:pPr>
            <a:r>
              <a:rPr lang="en-US" sz="2000" b="1" dirty="0" err="1" smtClean="0">
                <a:latin typeface="Times New Roman" pitchFamily="18" charset="0"/>
                <a:cs typeface="Times New Roman" pitchFamily="18" charset="0"/>
              </a:rPr>
              <a:t>Int</a:t>
            </a:r>
            <a:r>
              <a:rPr lang="en-US" sz="2000" b="1" dirty="0" smtClean="0">
                <a:latin typeface="Times New Roman" pitchFamily="18" charset="0"/>
                <a:cs typeface="Times New Roman" pitchFamily="18" charset="0"/>
              </a:rPr>
              <a:t> S=1;</a:t>
            </a:r>
          </a:p>
          <a:p>
            <a:pPr algn="just">
              <a:lnSpc>
                <a:spcPct val="150000"/>
              </a:lnSpc>
            </a:pPr>
            <a:r>
              <a:rPr lang="en-US" sz="2000" b="1" dirty="0" smtClean="0">
                <a:latin typeface="Times New Roman" pitchFamily="18" charset="0"/>
                <a:cs typeface="Times New Roman" pitchFamily="18" charset="0"/>
              </a:rPr>
              <a:t>do{</a:t>
            </a:r>
          </a:p>
          <a:p>
            <a:pPr algn="just">
              <a:lnSpc>
                <a:spcPct val="150000"/>
              </a:lnSpc>
            </a:pPr>
            <a:r>
              <a:rPr lang="en-US" sz="2000" b="1" dirty="0" smtClean="0">
                <a:latin typeface="Times New Roman" pitchFamily="18" charset="0"/>
                <a:cs typeface="Times New Roman" pitchFamily="18" charset="0"/>
              </a:rPr>
              <a:t>       Wait(S);</a:t>
            </a:r>
          </a:p>
          <a:p>
            <a:pPr algn="just">
              <a:lnSpc>
                <a:spcPct val="150000"/>
              </a:lnSpc>
            </a:pPr>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Critical_section</a:t>
            </a:r>
            <a:r>
              <a:rPr lang="en-US" sz="2000" b="1" dirty="0" smtClean="0">
                <a:latin typeface="Times New Roman" pitchFamily="18" charset="0"/>
                <a:cs typeface="Times New Roman" pitchFamily="18" charset="0"/>
              </a:rPr>
              <a:t>();</a:t>
            </a:r>
          </a:p>
          <a:p>
            <a:pPr algn="just">
              <a:lnSpc>
                <a:spcPct val="150000"/>
              </a:lnSpc>
            </a:pPr>
            <a:r>
              <a:rPr lang="en-US" sz="2000" b="1" dirty="0" smtClean="0">
                <a:latin typeface="Times New Roman" pitchFamily="18" charset="0"/>
                <a:cs typeface="Times New Roman" pitchFamily="18" charset="0"/>
              </a:rPr>
              <a:t>        Signal(S);</a:t>
            </a:r>
          </a:p>
          <a:p>
            <a:pPr algn="just">
              <a:lnSpc>
                <a:spcPct val="150000"/>
              </a:lnSpc>
            </a:pPr>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Remainder_section</a:t>
            </a:r>
            <a:r>
              <a:rPr lang="en-US" sz="2000" b="1" dirty="0" smtClean="0">
                <a:latin typeface="Times New Roman" pitchFamily="18" charset="0"/>
                <a:cs typeface="Times New Roman" pitchFamily="18" charset="0"/>
              </a:rPr>
              <a:t>();</a:t>
            </a:r>
          </a:p>
          <a:p>
            <a:pPr algn="just">
              <a:lnSpc>
                <a:spcPct val="150000"/>
              </a:lnSpc>
            </a:pPr>
            <a:r>
              <a:rPr lang="en-US" sz="2000" b="1" dirty="0" smtClean="0">
                <a:latin typeface="Times New Roman" pitchFamily="18" charset="0"/>
                <a:cs typeface="Times New Roman" pitchFamily="18" charset="0"/>
              </a:rPr>
              <a:t>}while(1)</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192834691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9634"/>
            <a:ext cx="10515600" cy="5837329"/>
          </a:xfrm>
        </p:spPr>
        <p:txBody>
          <a:bodyPr>
            <a:normAutofit fontScale="70000" lnSpcReduction="20000"/>
          </a:bodyPr>
          <a:lstStyle/>
          <a:p>
            <a:pPr algn="just">
              <a:lnSpc>
                <a:spcPct val="160000"/>
              </a:lnSpc>
              <a:buNone/>
            </a:pPr>
            <a:r>
              <a:rPr lang="en-US" b="1" u="sng" dirty="0" smtClean="0">
                <a:solidFill>
                  <a:srgbClr val="FF0000"/>
                </a:solidFill>
              </a:rPr>
              <a:t>Types of Semaphore</a:t>
            </a:r>
          </a:p>
          <a:p>
            <a:pPr algn="just">
              <a:lnSpc>
                <a:spcPct val="160000"/>
              </a:lnSpc>
              <a:buNone/>
            </a:pPr>
            <a:endParaRPr lang="en-US" b="1" dirty="0" smtClean="0"/>
          </a:p>
          <a:p>
            <a:pPr algn="just">
              <a:lnSpc>
                <a:spcPct val="160000"/>
              </a:lnSpc>
              <a:buNone/>
            </a:pPr>
            <a:endParaRPr lang="en-US" b="1" dirty="0" smtClean="0"/>
          </a:p>
          <a:p>
            <a:pPr algn="just">
              <a:lnSpc>
                <a:spcPct val="160000"/>
              </a:lnSpc>
              <a:buNone/>
            </a:pPr>
            <a:endParaRPr lang="en-US" b="1" dirty="0" smtClean="0"/>
          </a:p>
          <a:p>
            <a:pPr algn="just">
              <a:lnSpc>
                <a:spcPct val="160000"/>
              </a:lnSpc>
              <a:buNone/>
            </a:pPr>
            <a:r>
              <a:rPr lang="en-US" sz="2900" b="1" dirty="0" smtClean="0">
                <a:latin typeface="Times New Roman" pitchFamily="18" charset="0"/>
                <a:cs typeface="Times New Roman" pitchFamily="18" charset="0"/>
              </a:rPr>
              <a:t>Counting Semaphore: </a:t>
            </a:r>
            <a:r>
              <a:rPr lang="en-US" sz="2900" dirty="0" smtClean="0">
                <a:latin typeface="Times New Roman" pitchFamily="18" charset="0"/>
                <a:cs typeface="Times New Roman" pitchFamily="18" charset="0"/>
              </a:rPr>
              <a:t> integer value can range over an unrestricted domain.</a:t>
            </a:r>
          </a:p>
          <a:p>
            <a:pPr lvl="1" algn="just">
              <a:lnSpc>
                <a:spcPct val="160000"/>
              </a:lnSpc>
            </a:pPr>
            <a:r>
              <a:rPr lang="en-US" sz="2900" dirty="0" smtClean="0">
                <a:latin typeface="Times New Roman" pitchFamily="18" charset="0"/>
                <a:cs typeface="Times New Roman" pitchFamily="18" charset="0"/>
              </a:rPr>
              <a:t>Full: counts the number of slots that are full</a:t>
            </a:r>
          </a:p>
          <a:p>
            <a:pPr lvl="1" algn="just">
              <a:lnSpc>
                <a:spcPct val="160000"/>
              </a:lnSpc>
            </a:pPr>
            <a:r>
              <a:rPr lang="en-US" sz="2900" dirty="0" smtClean="0">
                <a:latin typeface="Times New Roman" pitchFamily="18" charset="0"/>
                <a:cs typeface="Times New Roman" pitchFamily="18" charset="0"/>
              </a:rPr>
              <a:t>Empty: counts the number of slots empty.</a:t>
            </a:r>
          </a:p>
          <a:p>
            <a:pPr algn="just">
              <a:lnSpc>
                <a:spcPct val="160000"/>
              </a:lnSpc>
              <a:buNone/>
            </a:pPr>
            <a:r>
              <a:rPr lang="en-US" sz="2900" dirty="0" smtClean="0">
                <a:latin typeface="Times New Roman" pitchFamily="18" charset="0"/>
                <a:cs typeface="Times New Roman" pitchFamily="18" charset="0"/>
              </a:rPr>
              <a:t>Counting semaphore can be used for mutual exclusion and conditional synchronization.</a:t>
            </a:r>
          </a:p>
          <a:p>
            <a:pPr algn="just">
              <a:lnSpc>
                <a:spcPct val="160000"/>
              </a:lnSpc>
              <a:buNone/>
            </a:pPr>
            <a:r>
              <a:rPr lang="en-US" sz="2900" b="1" dirty="0" smtClean="0">
                <a:latin typeface="Times New Roman" pitchFamily="18" charset="0"/>
                <a:cs typeface="Times New Roman" pitchFamily="18" charset="0"/>
              </a:rPr>
              <a:t>Binary Semaphore: </a:t>
            </a:r>
            <a:r>
              <a:rPr lang="en-US" sz="2900" dirty="0" smtClean="0">
                <a:latin typeface="Times New Roman" pitchFamily="18" charset="0"/>
                <a:cs typeface="Times New Roman" pitchFamily="18" charset="0"/>
              </a:rPr>
              <a:t>integer value can range only between 0 and 1; can be simpler to implement.</a:t>
            </a:r>
          </a:p>
          <a:p>
            <a:pPr algn="just">
              <a:lnSpc>
                <a:spcPct val="160000"/>
              </a:lnSpc>
              <a:buNone/>
            </a:pPr>
            <a:r>
              <a:rPr lang="en-US" sz="2900" dirty="0" smtClean="0">
                <a:latin typeface="Times New Roman" pitchFamily="18" charset="0"/>
                <a:cs typeface="Times New Roman" pitchFamily="18" charset="0"/>
              </a:rPr>
              <a:t>Binary semaphore is specially designed for mutual exclusion.</a:t>
            </a:r>
          </a:p>
          <a:p>
            <a:pPr algn="just">
              <a:lnSpc>
                <a:spcPct val="160000"/>
              </a:lnSpc>
              <a:buNone/>
            </a:pPr>
            <a:endParaRPr lang="en-US" dirty="0"/>
          </a:p>
        </p:txBody>
      </p:sp>
      <p:pic>
        <p:nvPicPr>
          <p:cNvPr id="1026" name="Picture 2" descr="Semaphore | Semaphore in OS | Binary Semaphore | Gate Vidyalay"/>
          <p:cNvPicPr>
            <a:picLocks noChangeAspect="1" noChangeArrowheads="1"/>
          </p:cNvPicPr>
          <p:nvPr/>
        </p:nvPicPr>
        <p:blipFill>
          <a:blip r:embed="rId2"/>
          <a:srcRect/>
          <a:stretch>
            <a:fillRect/>
          </a:stretch>
        </p:blipFill>
        <p:spPr bwMode="auto">
          <a:xfrm>
            <a:off x="2141130" y="862149"/>
            <a:ext cx="4867275" cy="1587545"/>
          </a:xfrm>
          <a:prstGeom prst="rect">
            <a:avLst/>
          </a:prstGeom>
          <a:noFill/>
        </p:spPr>
      </p:pic>
    </p:spTree>
    <p:extLst>
      <p:ext uri="{BB962C8B-B14F-4D97-AF65-F5344CB8AC3E}">
        <p14:creationId xmlns:p14="http://schemas.microsoft.com/office/powerpoint/2010/main" val="1013804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spc="-10" dirty="0" smtClean="0">
                <a:solidFill>
                  <a:srgbClr val="FF0000"/>
                </a:solidFill>
                <a:latin typeface="Times New Roman" panose="02020603050405020304" pitchFamily="18" charset="0"/>
                <a:cs typeface="Times New Roman" panose="02020603050405020304" pitchFamily="18" charset="0"/>
              </a:rPr>
              <a:t>Semaphores</a:t>
            </a:r>
            <a:br>
              <a:rPr lang="en-US" sz="4000" b="1" spc="-10" dirty="0" smtClean="0">
                <a:solidFill>
                  <a:srgbClr val="FF0000"/>
                </a:solidFill>
                <a:latin typeface="Times New Roman" panose="02020603050405020304" pitchFamily="18" charset="0"/>
                <a:cs typeface="Times New Roman" panose="02020603050405020304" pitchFamily="18" charset="0"/>
              </a:rPr>
            </a:br>
            <a:r>
              <a:rPr lang="en-US" sz="4000" b="1" spc="-30" dirty="0">
                <a:solidFill>
                  <a:srgbClr val="FF0000"/>
                </a:solidFill>
                <a:latin typeface="Times New Roman" panose="02020603050405020304" pitchFamily="18" charset="0"/>
                <a:cs typeface="Times New Roman" panose="02020603050405020304" pitchFamily="18" charset="0"/>
              </a:rPr>
              <a:t>Producer-</a:t>
            </a:r>
            <a:r>
              <a:rPr lang="en-US" sz="4000" b="1" dirty="0">
                <a:solidFill>
                  <a:srgbClr val="FF0000"/>
                </a:solidFill>
                <a:latin typeface="Times New Roman" panose="02020603050405020304" pitchFamily="18" charset="0"/>
                <a:cs typeface="Times New Roman" panose="02020603050405020304" pitchFamily="18" charset="0"/>
              </a:rPr>
              <a:t>Consumer using</a:t>
            </a:r>
            <a:r>
              <a:rPr lang="en-US" sz="4000" b="1" spc="-10" dirty="0">
                <a:solidFill>
                  <a:srgbClr val="FF0000"/>
                </a:solidFill>
                <a:latin typeface="Times New Roman" panose="02020603050405020304" pitchFamily="18" charset="0"/>
                <a:cs typeface="Times New Roman" panose="02020603050405020304" pitchFamily="18" charset="0"/>
              </a:rPr>
              <a:t> </a:t>
            </a:r>
            <a:r>
              <a:rPr lang="en-US" sz="4000" b="1" spc="-10" dirty="0" smtClean="0">
                <a:solidFill>
                  <a:srgbClr val="FF0000"/>
                </a:solidFill>
                <a:latin typeface="Times New Roman" panose="02020603050405020304" pitchFamily="18" charset="0"/>
                <a:cs typeface="Times New Roman" panose="02020603050405020304" pitchFamily="18" charset="0"/>
              </a:rPr>
              <a:t>Semaphore</a:t>
            </a:r>
            <a:endParaRPr lang="en-US" sz="4000" b="1" dirty="0">
              <a:solidFill>
                <a:srgbClr val="FF0000"/>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1290918" y="1924844"/>
            <a:ext cx="9735670" cy="4328038"/>
          </a:xfrm>
          <a:prstGeom prst="rect">
            <a:avLst/>
          </a:prstGeom>
        </p:spPr>
      </p:pic>
    </p:spTree>
    <p:extLst>
      <p:ext uri="{BB962C8B-B14F-4D97-AF65-F5344CB8AC3E}">
        <p14:creationId xmlns:p14="http://schemas.microsoft.com/office/powerpoint/2010/main" val="307908992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spc="-10" dirty="0">
                <a:solidFill>
                  <a:srgbClr val="FF0000"/>
                </a:solidFill>
                <a:latin typeface="Times New Roman" panose="02020603050405020304" pitchFamily="18" charset="0"/>
                <a:cs typeface="Times New Roman" panose="02020603050405020304" pitchFamily="18" charset="0"/>
              </a:rPr>
              <a:t>Semaphores</a:t>
            </a:r>
            <a:br>
              <a:rPr lang="en-US" b="1" spc="-10" dirty="0">
                <a:solidFill>
                  <a:srgbClr val="FF0000"/>
                </a:solidFill>
                <a:latin typeface="Times New Roman" panose="02020603050405020304" pitchFamily="18" charset="0"/>
                <a:cs typeface="Times New Roman" panose="02020603050405020304" pitchFamily="18" charset="0"/>
              </a:rPr>
            </a:br>
            <a:r>
              <a:rPr lang="en-US" b="1" spc="-30" dirty="0">
                <a:solidFill>
                  <a:srgbClr val="FF0000"/>
                </a:solidFill>
                <a:latin typeface="Times New Roman" panose="02020603050405020304" pitchFamily="18" charset="0"/>
                <a:cs typeface="Times New Roman" panose="02020603050405020304" pitchFamily="18" charset="0"/>
              </a:rPr>
              <a:t>Producer-</a:t>
            </a:r>
            <a:r>
              <a:rPr lang="en-US" b="1" dirty="0">
                <a:solidFill>
                  <a:srgbClr val="FF0000"/>
                </a:solidFill>
                <a:latin typeface="Times New Roman" panose="02020603050405020304" pitchFamily="18" charset="0"/>
                <a:cs typeface="Times New Roman" panose="02020603050405020304" pitchFamily="18" charset="0"/>
              </a:rPr>
              <a:t>Consumer using</a:t>
            </a:r>
            <a:r>
              <a:rPr lang="en-US" b="1" spc="-10" dirty="0">
                <a:solidFill>
                  <a:srgbClr val="FF0000"/>
                </a:solidFill>
                <a:latin typeface="Times New Roman" panose="02020603050405020304" pitchFamily="18" charset="0"/>
                <a:cs typeface="Times New Roman" panose="02020603050405020304" pitchFamily="18" charset="0"/>
              </a:rPr>
              <a:t> Semaphore</a:t>
            </a:r>
            <a:endParaRPr lang="en-US" dirty="0">
              <a:solidFill>
                <a:srgbClr val="FF0000"/>
              </a:solidFill>
            </a:endParaRPr>
          </a:p>
        </p:txBody>
      </p:sp>
      <p:sp>
        <p:nvSpPr>
          <p:cNvPr id="5" name="object 6"/>
          <p:cNvSpPr txBox="1"/>
          <p:nvPr/>
        </p:nvSpPr>
        <p:spPr>
          <a:xfrm>
            <a:off x="802104" y="2149642"/>
            <a:ext cx="3339589" cy="3435556"/>
          </a:xfrm>
          <a:prstGeom prst="rect">
            <a:avLst/>
          </a:prstGeom>
        </p:spPr>
        <p:txBody>
          <a:bodyPr vert="horz" wrap="square" lIns="0" tIns="11430" rIns="0" bIns="0" rtlCol="0">
            <a:spAutoFit/>
          </a:bodyPr>
          <a:lstStyle/>
          <a:p>
            <a:pPr marL="12700">
              <a:lnSpc>
                <a:spcPts val="2290"/>
              </a:lnSpc>
              <a:spcBef>
                <a:spcPts val="90"/>
              </a:spcBef>
            </a:pPr>
            <a:r>
              <a:rPr sz="2000" dirty="0">
                <a:latin typeface="Times New Roman"/>
                <a:cs typeface="Times New Roman"/>
              </a:rPr>
              <a:t>void</a:t>
            </a:r>
            <a:r>
              <a:rPr sz="2000" spc="-30" dirty="0">
                <a:latin typeface="Times New Roman"/>
                <a:cs typeface="Times New Roman"/>
              </a:rPr>
              <a:t> </a:t>
            </a:r>
            <a:r>
              <a:rPr sz="2000" spc="-10" dirty="0">
                <a:latin typeface="Times New Roman"/>
                <a:cs typeface="Times New Roman"/>
              </a:rPr>
              <a:t>consumer(void)</a:t>
            </a:r>
            <a:endParaRPr sz="2000" dirty="0">
              <a:latin typeface="Times New Roman"/>
              <a:cs typeface="Times New Roman"/>
            </a:endParaRPr>
          </a:p>
          <a:p>
            <a:pPr marL="12700">
              <a:lnSpc>
                <a:spcPts val="2185"/>
              </a:lnSpc>
            </a:pPr>
            <a:r>
              <a:rPr sz="2000" spc="-50" dirty="0">
                <a:latin typeface="Times New Roman"/>
                <a:cs typeface="Times New Roman"/>
              </a:rPr>
              <a:t>{</a:t>
            </a:r>
            <a:endParaRPr sz="2000" dirty="0">
              <a:latin typeface="Times New Roman"/>
              <a:cs typeface="Times New Roman"/>
            </a:endParaRPr>
          </a:p>
          <a:p>
            <a:pPr marL="12700" marR="1700530">
              <a:lnSpc>
                <a:spcPts val="2180"/>
              </a:lnSpc>
              <a:spcBef>
                <a:spcPts val="150"/>
              </a:spcBef>
            </a:pPr>
            <a:r>
              <a:rPr lang="en-US" sz="2000" dirty="0" smtClean="0">
                <a:latin typeface="Times New Roman"/>
                <a:cs typeface="Times New Roman"/>
              </a:rPr>
              <a:t>    </a:t>
            </a:r>
            <a:r>
              <a:rPr lang="en-US" sz="2000" dirty="0" err="1" smtClean="0">
                <a:latin typeface="Times New Roman"/>
                <a:cs typeface="Times New Roman"/>
              </a:rPr>
              <a:t>i</a:t>
            </a:r>
            <a:r>
              <a:rPr sz="2000" dirty="0" err="1" smtClean="0">
                <a:latin typeface="Times New Roman"/>
                <a:cs typeface="Times New Roman"/>
              </a:rPr>
              <a:t>nt</a:t>
            </a:r>
            <a:r>
              <a:rPr sz="2000" spc="-35" dirty="0" smtClean="0">
                <a:latin typeface="Times New Roman"/>
                <a:cs typeface="Times New Roman"/>
              </a:rPr>
              <a:t> </a:t>
            </a:r>
            <a:r>
              <a:rPr sz="2000" spc="-10" dirty="0">
                <a:latin typeface="Times New Roman"/>
                <a:cs typeface="Times New Roman"/>
              </a:rPr>
              <a:t>item; </a:t>
            </a:r>
            <a:r>
              <a:rPr lang="en-US" sz="2000" spc="-10" dirty="0" smtClean="0">
                <a:latin typeface="Times New Roman"/>
                <a:cs typeface="Times New Roman"/>
              </a:rPr>
              <a:t>        </a:t>
            </a:r>
            <a:r>
              <a:rPr sz="2000" spc="-20" dirty="0" smtClean="0">
                <a:latin typeface="Times New Roman"/>
                <a:cs typeface="Times New Roman"/>
              </a:rPr>
              <a:t>while(TRUE</a:t>
            </a:r>
            <a:r>
              <a:rPr sz="2000" spc="-20" dirty="0">
                <a:latin typeface="Times New Roman"/>
                <a:cs typeface="Times New Roman"/>
              </a:rPr>
              <a:t>){</a:t>
            </a:r>
            <a:endParaRPr sz="2000" dirty="0">
              <a:latin typeface="Times New Roman"/>
              <a:cs typeface="Times New Roman"/>
            </a:endParaRPr>
          </a:p>
          <a:p>
            <a:pPr marL="927100" marR="870585">
              <a:lnSpc>
                <a:spcPts val="2180"/>
              </a:lnSpc>
              <a:spcBef>
                <a:spcPts val="5"/>
              </a:spcBef>
            </a:pPr>
            <a:r>
              <a:rPr lang="en-US" sz="2000" spc="-10" dirty="0" smtClean="0">
                <a:latin typeface="Times New Roman"/>
                <a:cs typeface="Times New Roman"/>
              </a:rPr>
              <a:t>wait</a:t>
            </a:r>
            <a:r>
              <a:rPr sz="2000" spc="-10" dirty="0" smtClean="0">
                <a:latin typeface="Times New Roman"/>
                <a:cs typeface="Times New Roman"/>
              </a:rPr>
              <a:t>(full</a:t>
            </a:r>
            <a:r>
              <a:rPr sz="2000" spc="-10" dirty="0">
                <a:latin typeface="Times New Roman"/>
                <a:cs typeface="Times New Roman"/>
              </a:rPr>
              <a:t>); </a:t>
            </a:r>
            <a:r>
              <a:rPr lang="en-US" sz="2000" spc="-20" dirty="0" smtClean="0">
                <a:latin typeface="Times New Roman"/>
                <a:cs typeface="Times New Roman"/>
              </a:rPr>
              <a:t>wait</a:t>
            </a:r>
            <a:r>
              <a:rPr sz="2000" spc="-20" dirty="0" smtClean="0">
                <a:latin typeface="Times New Roman"/>
                <a:cs typeface="Times New Roman"/>
              </a:rPr>
              <a:t>(</a:t>
            </a:r>
            <a:r>
              <a:rPr sz="2000" spc="-20" dirty="0" err="1" smtClean="0">
                <a:latin typeface="Times New Roman"/>
                <a:cs typeface="Times New Roman"/>
              </a:rPr>
              <a:t>mutex</a:t>
            </a:r>
            <a:r>
              <a:rPr sz="2000" spc="-20" dirty="0" smtClean="0">
                <a:latin typeface="Times New Roman"/>
                <a:cs typeface="Times New Roman"/>
              </a:rPr>
              <a:t>)</a:t>
            </a:r>
            <a:r>
              <a:rPr lang="en-US" sz="2000" spc="-20" dirty="0" smtClean="0">
                <a:latin typeface="Times New Roman"/>
                <a:cs typeface="Times New Roman"/>
              </a:rPr>
              <a:t>;</a:t>
            </a:r>
            <a:endParaRPr sz="2000" dirty="0">
              <a:latin typeface="Times New Roman"/>
              <a:cs typeface="Times New Roman"/>
            </a:endParaRPr>
          </a:p>
          <a:p>
            <a:pPr marL="927100" marR="5080">
              <a:lnSpc>
                <a:spcPts val="2180"/>
              </a:lnSpc>
              <a:spcBef>
                <a:spcPts val="10"/>
              </a:spcBef>
            </a:pPr>
            <a:r>
              <a:rPr sz="2000" dirty="0">
                <a:latin typeface="Times New Roman"/>
                <a:cs typeface="Times New Roman"/>
              </a:rPr>
              <a:t>item</a:t>
            </a:r>
            <a:r>
              <a:rPr sz="2000" spc="-25" dirty="0">
                <a:latin typeface="Times New Roman"/>
                <a:cs typeface="Times New Roman"/>
              </a:rPr>
              <a:t> </a:t>
            </a:r>
            <a:r>
              <a:rPr sz="2000" dirty="0">
                <a:latin typeface="Times New Roman"/>
                <a:cs typeface="Times New Roman"/>
              </a:rPr>
              <a:t>=</a:t>
            </a:r>
            <a:r>
              <a:rPr sz="2000" spc="-10" dirty="0">
                <a:latin typeface="Times New Roman"/>
                <a:cs typeface="Times New Roman"/>
              </a:rPr>
              <a:t> remove_item(); </a:t>
            </a:r>
            <a:r>
              <a:rPr lang="en-US" sz="2000" spc="-10" dirty="0" smtClean="0">
                <a:latin typeface="Times New Roman"/>
                <a:cs typeface="Times New Roman"/>
              </a:rPr>
              <a:t>Signal</a:t>
            </a:r>
            <a:r>
              <a:rPr sz="2000" spc="-10" dirty="0" smtClean="0">
                <a:latin typeface="Times New Roman"/>
                <a:cs typeface="Times New Roman"/>
              </a:rPr>
              <a:t>(</a:t>
            </a:r>
            <a:r>
              <a:rPr sz="2000" spc="-10" dirty="0" err="1" smtClean="0">
                <a:latin typeface="Times New Roman"/>
                <a:cs typeface="Times New Roman"/>
              </a:rPr>
              <a:t>mutex</a:t>
            </a:r>
            <a:r>
              <a:rPr sz="2000" spc="-10" dirty="0" smtClean="0">
                <a:latin typeface="Times New Roman"/>
                <a:cs typeface="Times New Roman"/>
              </a:rPr>
              <a:t>);</a:t>
            </a:r>
            <a:endParaRPr lang="en-US" sz="2000" spc="-10" dirty="0">
              <a:latin typeface="Times New Roman"/>
              <a:cs typeface="Times New Roman"/>
            </a:endParaRPr>
          </a:p>
          <a:p>
            <a:pPr marL="927100" marR="5080">
              <a:lnSpc>
                <a:spcPts val="2180"/>
              </a:lnSpc>
              <a:spcBef>
                <a:spcPts val="10"/>
              </a:spcBef>
            </a:pPr>
            <a:r>
              <a:rPr sz="2000" spc="500" dirty="0" smtClean="0">
                <a:latin typeface="Times New Roman"/>
                <a:cs typeface="Times New Roman"/>
              </a:rPr>
              <a:t> </a:t>
            </a:r>
            <a:r>
              <a:rPr lang="en-US" sz="2000" spc="-10" dirty="0" smtClean="0">
                <a:latin typeface="Times New Roman"/>
                <a:cs typeface="Times New Roman"/>
              </a:rPr>
              <a:t>Signal(</a:t>
            </a:r>
            <a:r>
              <a:rPr sz="2000" spc="-10" dirty="0" smtClean="0">
                <a:latin typeface="Times New Roman"/>
                <a:cs typeface="Times New Roman"/>
              </a:rPr>
              <a:t>empty</a:t>
            </a:r>
            <a:r>
              <a:rPr sz="2000" spc="-10" dirty="0">
                <a:latin typeface="Times New Roman"/>
                <a:cs typeface="Times New Roman"/>
              </a:rPr>
              <a:t>); consume_item();</a:t>
            </a:r>
            <a:endParaRPr sz="2000" dirty="0">
              <a:latin typeface="Times New Roman"/>
              <a:cs typeface="Times New Roman"/>
            </a:endParaRPr>
          </a:p>
          <a:p>
            <a:pPr marL="12700">
              <a:lnSpc>
                <a:spcPts val="2050"/>
              </a:lnSpc>
            </a:pPr>
            <a:r>
              <a:rPr sz="2000" spc="-50" dirty="0">
                <a:latin typeface="Times New Roman"/>
                <a:cs typeface="Times New Roman"/>
              </a:rPr>
              <a:t>}</a:t>
            </a:r>
            <a:endParaRPr sz="2000" dirty="0">
              <a:latin typeface="Times New Roman"/>
              <a:cs typeface="Times New Roman"/>
            </a:endParaRPr>
          </a:p>
          <a:p>
            <a:pPr marL="12700">
              <a:lnSpc>
                <a:spcPts val="2290"/>
              </a:lnSpc>
            </a:pPr>
            <a:r>
              <a:rPr sz="2000" spc="-50" dirty="0">
                <a:latin typeface="Times New Roman"/>
                <a:cs typeface="Times New Roman"/>
              </a:rPr>
              <a:t>}</a:t>
            </a:r>
            <a:endParaRPr sz="2000" dirty="0">
              <a:latin typeface="Times New Roman"/>
              <a:cs typeface="Times New Roman"/>
            </a:endParaRPr>
          </a:p>
        </p:txBody>
      </p:sp>
      <p:sp>
        <p:nvSpPr>
          <p:cNvPr id="6" name="object 7"/>
          <p:cNvSpPr txBox="1"/>
          <p:nvPr/>
        </p:nvSpPr>
        <p:spPr>
          <a:xfrm>
            <a:off x="4353650" y="3219971"/>
            <a:ext cx="4467860" cy="1993264"/>
          </a:xfrm>
          <a:prstGeom prst="rect">
            <a:avLst/>
          </a:prstGeom>
        </p:spPr>
        <p:txBody>
          <a:bodyPr vert="horz" wrap="square" lIns="0" tIns="11430" rIns="0" bIns="0" rtlCol="0">
            <a:spAutoFit/>
          </a:bodyPr>
          <a:lstStyle/>
          <a:p>
            <a:pPr marL="12700">
              <a:lnSpc>
                <a:spcPts val="2290"/>
              </a:lnSpc>
              <a:spcBef>
                <a:spcPts val="90"/>
              </a:spcBef>
            </a:pPr>
            <a:r>
              <a:rPr sz="2000" dirty="0">
                <a:latin typeface="Times New Roman"/>
                <a:cs typeface="Times New Roman"/>
              </a:rPr>
              <a:t>/*repeat</a:t>
            </a:r>
            <a:r>
              <a:rPr sz="2000" spc="-55" dirty="0">
                <a:latin typeface="Times New Roman"/>
                <a:cs typeface="Times New Roman"/>
              </a:rPr>
              <a:t> </a:t>
            </a:r>
            <a:r>
              <a:rPr sz="2000" spc="-10" dirty="0">
                <a:latin typeface="Times New Roman"/>
                <a:cs typeface="Times New Roman"/>
              </a:rPr>
              <a:t>forever*/</a:t>
            </a:r>
            <a:endParaRPr sz="2000" dirty="0">
              <a:latin typeface="Times New Roman"/>
              <a:cs typeface="Times New Roman"/>
            </a:endParaRPr>
          </a:p>
          <a:p>
            <a:pPr marL="927100">
              <a:lnSpc>
                <a:spcPts val="2185"/>
              </a:lnSpc>
            </a:pPr>
            <a:r>
              <a:rPr sz="2000" dirty="0">
                <a:latin typeface="Times New Roman"/>
                <a:cs typeface="Times New Roman"/>
              </a:rPr>
              <a:t>/*decrement</a:t>
            </a:r>
            <a:r>
              <a:rPr sz="2000" spc="-25" dirty="0">
                <a:latin typeface="Times New Roman"/>
                <a:cs typeface="Times New Roman"/>
              </a:rPr>
              <a:t> </a:t>
            </a:r>
            <a:r>
              <a:rPr sz="2000" dirty="0">
                <a:latin typeface="Times New Roman"/>
                <a:cs typeface="Times New Roman"/>
              </a:rPr>
              <a:t>full</a:t>
            </a:r>
            <a:r>
              <a:rPr sz="2000" spc="-60" dirty="0">
                <a:latin typeface="Times New Roman"/>
                <a:cs typeface="Times New Roman"/>
              </a:rPr>
              <a:t> </a:t>
            </a:r>
            <a:r>
              <a:rPr sz="2000" dirty="0">
                <a:latin typeface="Times New Roman"/>
                <a:cs typeface="Times New Roman"/>
              </a:rPr>
              <a:t>count</a:t>
            </a:r>
            <a:r>
              <a:rPr sz="2000" spc="-85" dirty="0">
                <a:latin typeface="Times New Roman"/>
                <a:cs typeface="Times New Roman"/>
              </a:rPr>
              <a:t> </a:t>
            </a:r>
            <a:r>
              <a:rPr sz="2000" spc="-25" dirty="0">
                <a:latin typeface="Times New Roman"/>
                <a:cs typeface="Times New Roman"/>
              </a:rPr>
              <a:t>*/</a:t>
            </a:r>
            <a:endParaRPr sz="2000" dirty="0">
              <a:latin typeface="Times New Roman"/>
              <a:cs typeface="Times New Roman"/>
            </a:endParaRPr>
          </a:p>
          <a:p>
            <a:pPr marL="927100">
              <a:lnSpc>
                <a:spcPts val="2185"/>
              </a:lnSpc>
            </a:pPr>
            <a:r>
              <a:rPr sz="2000" dirty="0">
                <a:latin typeface="Times New Roman"/>
                <a:cs typeface="Times New Roman"/>
              </a:rPr>
              <a:t>/*enter</a:t>
            </a:r>
            <a:r>
              <a:rPr sz="2000" spc="-35" dirty="0">
                <a:latin typeface="Times New Roman"/>
                <a:cs typeface="Times New Roman"/>
              </a:rPr>
              <a:t> </a:t>
            </a:r>
            <a:r>
              <a:rPr sz="2000" spc="-20" dirty="0">
                <a:latin typeface="Times New Roman"/>
                <a:cs typeface="Times New Roman"/>
              </a:rPr>
              <a:t>CR*/</a:t>
            </a:r>
            <a:endParaRPr sz="2000" dirty="0">
              <a:latin typeface="Times New Roman"/>
              <a:cs typeface="Times New Roman"/>
            </a:endParaRPr>
          </a:p>
          <a:p>
            <a:pPr marL="927100">
              <a:lnSpc>
                <a:spcPts val="2185"/>
              </a:lnSpc>
            </a:pPr>
            <a:r>
              <a:rPr sz="2000" dirty="0">
                <a:latin typeface="Times New Roman"/>
                <a:cs typeface="Times New Roman"/>
              </a:rPr>
              <a:t>/*take item</a:t>
            </a:r>
            <a:r>
              <a:rPr sz="2000" spc="-50" dirty="0">
                <a:latin typeface="Times New Roman"/>
                <a:cs typeface="Times New Roman"/>
              </a:rPr>
              <a:t> </a:t>
            </a:r>
            <a:r>
              <a:rPr sz="2000" dirty="0">
                <a:latin typeface="Times New Roman"/>
                <a:cs typeface="Times New Roman"/>
              </a:rPr>
              <a:t>from</a:t>
            </a:r>
            <a:r>
              <a:rPr sz="2000" spc="-55" dirty="0">
                <a:latin typeface="Times New Roman"/>
                <a:cs typeface="Times New Roman"/>
              </a:rPr>
              <a:t> </a:t>
            </a:r>
            <a:r>
              <a:rPr sz="2000" spc="-10" dirty="0">
                <a:latin typeface="Times New Roman"/>
                <a:cs typeface="Times New Roman"/>
              </a:rPr>
              <a:t>buffer*/</a:t>
            </a:r>
            <a:endParaRPr sz="2000" dirty="0">
              <a:latin typeface="Times New Roman"/>
              <a:cs typeface="Times New Roman"/>
            </a:endParaRPr>
          </a:p>
          <a:p>
            <a:pPr marL="927100">
              <a:lnSpc>
                <a:spcPts val="2185"/>
              </a:lnSpc>
            </a:pPr>
            <a:r>
              <a:rPr sz="2000" dirty="0">
                <a:latin typeface="Times New Roman"/>
                <a:cs typeface="Times New Roman"/>
              </a:rPr>
              <a:t>/*leave</a:t>
            </a:r>
            <a:r>
              <a:rPr sz="2000" spc="-50" dirty="0">
                <a:latin typeface="Times New Roman"/>
                <a:cs typeface="Times New Roman"/>
              </a:rPr>
              <a:t> </a:t>
            </a:r>
            <a:r>
              <a:rPr sz="2000" spc="-20" dirty="0">
                <a:latin typeface="Times New Roman"/>
                <a:cs typeface="Times New Roman"/>
              </a:rPr>
              <a:t>CR*/</a:t>
            </a:r>
            <a:endParaRPr sz="2000" dirty="0">
              <a:latin typeface="Times New Roman"/>
              <a:cs typeface="Times New Roman"/>
            </a:endParaRPr>
          </a:p>
          <a:p>
            <a:pPr marL="927100">
              <a:lnSpc>
                <a:spcPts val="2185"/>
              </a:lnSpc>
            </a:pPr>
            <a:r>
              <a:rPr sz="2000" dirty="0">
                <a:latin typeface="Times New Roman"/>
                <a:cs typeface="Times New Roman"/>
              </a:rPr>
              <a:t>/*increment count</a:t>
            </a:r>
            <a:r>
              <a:rPr sz="2000" spc="-75" dirty="0">
                <a:latin typeface="Times New Roman"/>
                <a:cs typeface="Times New Roman"/>
              </a:rPr>
              <a:t> </a:t>
            </a:r>
            <a:r>
              <a:rPr sz="2000" dirty="0">
                <a:latin typeface="Times New Roman"/>
                <a:cs typeface="Times New Roman"/>
              </a:rPr>
              <a:t>of</a:t>
            </a:r>
            <a:r>
              <a:rPr sz="2000" spc="-70" dirty="0">
                <a:latin typeface="Times New Roman"/>
                <a:cs typeface="Times New Roman"/>
              </a:rPr>
              <a:t> </a:t>
            </a:r>
            <a:r>
              <a:rPr sz="2000" dirty="0">
                <a:latin typeface="Times New Roman"/>
                <a:cs typeface="Times New Roman"/>
              </a:rPr>
              <a:t>empty</a:t>
            </a:r>
            <a:r>
              <a:rPr sz="2000" spc="-65" dirty="0">
                <a:latin typeface="Times New Roman"/>
                <a:cs typeface="Times New Roman"/>
              </a:rPr>
              <a:t> </a:t>
            </a:r>
            <a:r>
              <a:rPr sz="2000" spc="-10" dirty="0">
                <a:latin typeface="Times New Roman"/>
                <a:cs typeface="Times New Roman"/>
              </a:rPr>
              <a:t>slots*/</a:t>
            </a:r>
            <a:endParaRPr sz="2000" dirty="0">
              <a:latin typeface="Times New Roman"/>
              <a:cs typeface="Times New Roman"/>
            </a:endParaRPr>
          </a:p>
          <a:p>
            <a:pPr marL="12700">
              <a:lnSpc>
                <a:spcPts val="2290"/>
              </a:lnSpc>
            </a:pPr>
            <a:r>
              <a:rPr sz="2000" dirty="0">
                <a:latin typeface="Times New Roman"/>
                <a:cs typeface="Times New Roman"/>
              </a:rPr>
              <a:t>/*print</a:t>
            </a:r>
            <a:r>
              <a:rPr sz="2000" spc="-60" dirty="0">
                <a:latin typeface="Times New Roman"/>
                <a:cs typeface="Times New Roman"/>
              </a:rPr>
              <a:t> </a:t>
            </a:r>
            <a:r>
              <a:rPr sz="2000" spc="-10" dirty="0">
                <a:latin typeface="Times New Roman"/>
                <a:cs typeface="Times New Roman"/>
              </a:rPr>
              <a:t>item*/</a:t>
            </a:r>
            <a:endParaRPr sz="2000" dirty="0">
              <a:latin typeface="Times New Roman"/>
              <a:cs typeface="Times New Roman"/>
            </a:endParaRPr>
          </a:p>
        </p:txBody>
      </p:sp>
    </p:spTree>
    <p:extLst>
      <p:ext uri="{BB962C8B-B14F-4D97-AF65-F5344CB8AC3E}">
        <p14:creationId xmlns:p14="http://schemas.microsoft.com/office/powerpoint/2010/main" val="161091134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0299"/>
          </a:xfrm>
        </p:spPr>
        <p:txBody>
          <a:bodyPr>
            <a:normAutofit fontScale="90000"/>
          </a:bodyPr>
          <a:lstStyle/>
          <a:p>
            <a:pPr algn="ctr"/>
            <a:r>
              <a:rPr lang="en-US" b="1" spc="-10" dirty="0">
                <a:latin typeface="Times New Roman" panose="02020603050405020304" pitchFamily="18" charset="0"/>
                <a:cs typeface="Times New Roman" panose="02020603050405020304" pitchFamily="18" charset="0"/>
              </a:rPr>
              <a:t>Deadlock</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69894"/>
            <a:ext cx="10515600" cy="5007069"/>
          </a:xfrm>
        </p:spPr>
        <p:txBody>
          <a:bodyPr>
            <a:normAutofit/>
          </a:bodyPr>
          <a:lstStyle/>
          <a:p>
            <a:pPr algn="just">
              <a:lnSpc>
                <a:spcPct val="150000"/>
              </a:lnSpc>
            </a:pPr>
            <a:r>
              <a:rPr lang="en-US" sz="2000" dirty="0">
                <a:latin typeface="Times New Roman"/>
                <a:cs typeface="Times New Roman"/>
              </a:rPr>
              <a:t>A</a:t>
            </a:r>
            <a:r>
              <a:rPr lang="en-US" sz="2000" spc="-210" dirty="0">
                <a:latin typeface="Times New Roman"/>
                <a:cs typeface="Times New Roman"/>
              </a:rPr>
              <a:t> </a:t>
            </a:r>
            <a:r>
              <a:rPr lang="en-US" sz="2000" dirty="0">
                <a:latin typeface="Times New Roman"/>
                <a:cs typeface="Times New Roman"/>
              </a:rPr>
              <a:t>process</a:t>
            </a:r>
            <a:r>
              <a:rPr lang="en-US" sz="2000" spc="-70" dirty="0">
                <a:latin typeface="Times New Roman"/>
                <a:cs typeface="Times New Roman"/>
              </a:rPr>
              <a:t> </a:t>
            </a:r>
            <a:r>
              <a:rPr lang="en-US" sz="2000" dirty="0">
                <a:latin typeface="Times New Roman"/>
                <a:cs typeface="Times New Roman"/>
              </a:rPr>
              <a:t>in</a:t>
            </a:r>
            <a:r>
              <a:rPr lang="en-US" sz="2000" spc="-60" dirty="0">
                <a:latin typeface="Times New Roman"/>
                <a:cs typeface="Times New Roman"/>
              </a:rPr>
              <a:t> </a:t>
            </a:r>
            <a:r>
              <a:rPr lang="en-US" sz="2000" dirty="0">
                <a:latin typeface="Times New Roman"/>
                <a:cs typeface="Times New Roman"/>
              </a:rPr>
              <a:t>a</a:t>
            </a:r>
            <a:r>
              <a:rPr lang="en-US" sz="2000" spc="-55" dirty="0">
                <a:latin typeface="Times New Roman"/>
                <a:cs typeface="Times New Roman"/>
              </a:rPr>
              <a:t> </a:t>
            </a:r>
            <a:r>
              <a:rPr lang="en-US" sz="2000" spc="-10" dirty="0">
                <a:latin typeface="Times New Roman"/>
                <a:cs typeface="Times New Roman"/>
              </a:rPr>
              <a:t>multiprogramming</a:t>
            </a:r>
            <a:r>
              <a:rPr lang="en-US" sz="2000" spc="50" dirty="0">
                <a:latin typeface="Times New Roman"/>
                <a:cs typeface="Times New Roman"/>
              </a:rPr>
              <a:t> </a:t>
            </a:r>
            <a:r>
              <a:rPr lang="en-US" sz="2000" dirty="0">
                <a:latin typeface="Times New Roman"/>
                <a:cs typeface="Times New Roman"/>
              </a:rPr>
              <a:t>system</a:t>
            </a:r>
            <a:r>
              <a:rPr lang="en-US" sz="2000" spc="-35" dirty="0">
                <a:latin typeface="Times New Roman"/>
                <a:cs typeface="Times New Roman"/>
              </a:rPr>
              <a:t> </a:t>
            </a:r>
            <a:r>
              <a:rPr lang="en-US" sz="2000" dirty="0">
                <a:latin typeface="Times New Roman"/>
                <a:cs typeface="Times New Roman"/>
              </a:rPr>
              <a:t>is</a:t>
            </a:r>
            <a:r>
              <a:rPr lang="en-US" sz="2000" spc="-45" dirty="0">
                <a:latin typeface="Times New Roman"/>
                <a:cs typeface="Times New Roman"/>
              </a:rPr>
              <a:t> </a:t>
            </a:r>
            <a:r>
              <a:rPr lang="en-US" sz="2000" dirty="0">
                <a:latin typeface="Times New Roman"/>
                <a:cs typeface="Times New Roman"/>
              </a:rPr>
              <a:t>said</a:t>
            </a:r>
            <a:r>
              <a:rPr lang="en-US" sz="2000" spc="-60" dirty="0">
                <a:latin typeface="Times New Roman"/>
                <a:cs typeface="Times New Roman"/>
              </a:rPr>
              <a:t> </a:t>
            </a:r>
            <a:r>
              <a:rPr lang="en-US" sz="2000" dirty="0">
                <a:latin typeface="Times New Roman"/>
                <a:cs typeface="Times New Roman"/>
              </a:rPr>
              <a:t>to</a:t>
            </a:r>
            <a:r>
              <a:rPr lang="en-US" sz="2000" spc="-60" dirty="0">
                <a:latin typeface="Times New Roman"/>
                <a:cs typeface="Times New Roman"/>
              </a:rPr>
              <a:t> </a:t>
            </a:r>
            <a:r>
              <a:rPr lang="en-US" sz="2000" spc="-25" dirty="0">
                <a:latin typeface="Times New Roman"/>
                <a:cs typeface="Times New Roman"/>
              </a:rPr>
              <a:t>be </a:t>
            </a:r>
            <a:r>
              <a:rPr lang="en-US" sz="2000" dirty="0">
                <a:latin typeface="Times New Roman"/>
                <a:cs typeface="Times New Roman"/>
              </a:rPr>
              <a:t>in</a:t>
            </a:r>
            <a:r>
              <a:rPr lang="en-US" sz="2000" spc="-45" dirty="0">
                <a:latin typeface="Times New Roman"/>
                <a:cs typeface="Times New Roman"/>
              </a:rPr>
              <a:t> </a:t>
            </a:r>
            <a:r>
              <a:rPr lang="en-US" sz="2000" dirty="0">
                <a:latin typeface="Times New Roman"/>
                <a:cs typeface="Times New Roman"/>
              </a:rPr>
              <a:t>dead</a:t>
            </a:r>
            <a:r>
              <a:rPr lang="en-US" sz="2000" spc="-45" dirty="0">
                <a:latin typeface="Times New Roman"/>
                <a:cs typeface="Times New Roman"/>
              </a:rPr>
              <a:t> </a:t>
            </a:r>
            <a:r>
              <a:rPr lang="en-US" sz="2000" dirty="0">
                <a:latin typeface="Times New Roman"/>
                <a:cs typeface="Times New Roman"/>
              </a:rPr>
              <a:t>lock</a:t>
            </a:r>
            <a:r>
              <a:rPr lang="en-US" sz="2000" spc="-40" dirty="0">
                <a:latin typeface="Times New Roman"/>
                <a:cs typeface="Times New Roman"/>
              </a:rPr>
              <a:t> </a:t>
            </a:r>
            <a:r>
              <a:rPr lang="en-US" sz="2000" dirty="0">
                <a:latin typeface="Times New Roman"/>
                <a:cs typeface="Times New Roman"/>
              </a:rPr>
              <a:t>if</a:t>
            </a:r>
            <a:r>
              <a:rPr lang="en-US" sz="2000" spc="-35" dirty="0">
                <a:latin typeface="Times New Roman"/>
                <a:cs typeface="Times New Roman"/>
              </a:rPr>
              <a:t> </a:t>
            </a:r>
            <a:r>
              <a:rPr lang="en-US" sz="2000" dirty="0">
                <a:latin typeface="Times New Roman"/>
                <a:cs typeface="Times New Roman"/>
              </a:rPr>
              <a:t>it</a:t>
            </a:r>
            <a:r>
              <a:rPr lang="en-US" sz="2000" spc="-50" dirty="0">
                <a:latin typeface="Times New Roman"/>
                <a:cs typeface="Times New Roman"/>
              </a:rPr>
              <a:t> </a:t>
            </a:r>
            <a:r>
              <a:rPr lang="en-US" sz="2000" dirty="0">
                <a:latin typeface="Times New Roman"/>
                <a:cs typeface="Times New Roman"/>
              </a:rPr>
              <a:t>is</a:t>
            </a:r>
            <a:r>
              <a:rPr lang="en-US" sz="2000" spc="-30" dirty="0">
                <a:latin typeface="Times New Roman"/>
                <a:cs typeface="Times New Roman"/>
              </a:rPr>
              <a:t> </a:t>
            </a:r>
            <a:r>
              <a:rPr lang="en-US" sz="2000" dirty="0">
                <a:latin typeface="Times New Roman"/>
                <a:cs typeface="Times New Roman"/>
              </a:rPr>
              <a:t>waiting</a:t>
            </a:r>
            <a:r>
              <a:rPr lang="en-US" sz="2000" spc="-40" dirty="0">
                <a:latin typeface="Times New Roman"/>
                <a:cs typeface="Times New Roman"/>
              </a:rPr>
              <a:t> </a:t>
            </a:r>
            <a:r>
              <a:rPr lang="en-US" sz="2000" dirty="0">
                <a:latin typeface="Times New Roman"/>
                <a:cs typeface="Times New Roman"/>
              </a:rPr>
              <a:t>for</a:t>
            </a:r>
            <a:r>
              <a:rPr lang="en-US" sz="2000" spc="-60" dirty="0">
                <a:latin typeface="Times New Roman"/>
                <a:cs typeface="Times New Roman"/>
              </a:rPr>
              <a:t> </a:t>
            </a:r>
            <a:r>
              <a:rPr lang="en-US" sz="2000" dirty="0">
                <a:latin typeface="Times New Roman"/>
                <a:cs typeface="Times New Roman"/>
              </a:rPr>
              <a:t>a</a:t>
            </a:r>
            <a:r>
              <a:rPr lang="en-US" sz="2000" spc="-45" dirty="0">
                <a:latin typeface="Times New Roman"/>
                <a:cs typeface="Times New Roman"/>
              </a:rPr>
              <a:t> </a:t>
            </a:r>
            <a:r>
              <a:rPr lang="en-US" sz="2000" dirty="0">
                <a:latin typeface="Times New Roman"/>
                <a:cs typeface="Times New Roman"/>
              </a:rPr>
              <a:t>particular event</a:t>
            </a:r>
            <a:r>
              <a:rPr lang="en-US" sz="2000" spc="-50" dirty="0">
                <a:latin typeface="Times New Roman"/>
                <a:cs typeface="Times New Roman"/>
              </a:rPr>
              <a:t> </a:t>
            </a:r>
            <a:r>
              <a:rPr lang="en-US" sz="2000" spc="-20" dirty="0">
                <a:latin typeface="Times New Roman"/>
                <a:cs typeface="Times New Roman"/>
              </a:rPr>
              <a:t>that </a:t>
            </a:r>
            <a:r>
              <a:rPr lang="en-US" sz="2000" dirty="0">
                <a:latin typeface="Times New Roman"/>
                <a:cs typeface="Times New Roman"/>
              </a:rPr>
              <a:t>will</a:t>
            </a:r>
            <a:r>
              <a:rPr lang="en-US" sz="2000" spc="-50" dirty="0">
                <a:latin typeface="Times New Roman"/>
                <a:cs typeface="Times New Roman"/>
              </a:rPr>
              <a:t> </a:t>
            </a:r>
            <a:r>
              <a:rPr lang="en-US" sz="2000" dirty="0">
                <a:latin typeface="Times New Roman"/>
                <a:cs typeface="Times New Roman"/>
              </a:rPr>
              <a:t>never</a:t>
            </a:r>
            <a:r>
              <a:rPr lang="en-US" sz="2000" spc="-70" dirty="0">
                <a:latin typeface="Times New Roman"/>
                <a:cs typeface="Times New Roman"/>
              </a:rPr>
              <a:t> </a:t>
            </a:r>
            <a:r>
              <a:rPr lang="en-US" sz="2000" spc="-10" dirty="0">
                <a:latin typeface="Times New Roman"/>
                <a:cs typeface="Times New Roman"/>
              </a:rPr>
              <a:t>occur.</a:t>
            </a:r>
            <a:endParaRPr lang="en-US" sz="2000" dirty="0"/>
          </a:p>
        </p:txBody>
      </p:sp>
      <p:pic>
        <p:nvPicPr>
          <p:cNvPr id="4" name="object 6"/>
          <p:cNvPicPr/>
          <p:nvPr/>
        </p:nvPicPr>
        <p:blipFill>
          <a:blip r:embed="rId2" cstate="print"/>
          <a:stretch>
            <a:fillRect/>
          </a:stretch>
        </p:blipFill>
        <p:spPr>
          <a:xfrm>
            <a:off x="3370729" y="2247810"/>
            <a:ext cx="3733800" cy="2794837"/>
          </a:xfrm>
          <a:prstGeom prst="rect">
            <a:avLst/>
          </a:prstGeom>
        </p:spPr>
      </p:pic>
      <p:sp>
        <p:nvSpPr>
          <p:cNvPr id="5" name="TextBox 4"/>
          <p:cNvSpPr txBox="1"/>
          <p:nvPr/>
        </p:nvSpPr>
        <p:spPr>
          <a:xfrm>
            <a:off x="7418294" y="1830954"/>
            <a:ext cx="3621741" cy="3231654"/>
          </a:xfrm>
          <a:prstGeom prst="rect">
            <a:avLst/>
          </a:prstGeom>
          <a:noFill/>
        </p:spPr>
        <p:txBody>
          <a:bodyPr wrap="square" rtlCol="0">
            <a:sp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automobiles trying to cross. </a:t>
            </a:r>
            <a:endParaRPr lang="en-US" sz="20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Traffic </a:t>
            </a:r>
            <a:r>
              <a:rPr lang="en-US" sz="2000" dirty="0">
                <a:latin typeface="Times New Roman" panose="02020603050405020304" pitchFamily="18" charset="0"/>
                <a:cs typeface="Times New Roman" panose="02020603050405020304" pitchFamily="18" charset="0"/>
              </a:rPr>
              <a:t>Completely stopped</a:t>
            </a:r>
            <a:r>
              <a:rPr lang="en-US" sz="20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Not </a:t>
            </a:r>
            <a:r>
              <a:rPr lang="en-US" sz="2000" dirty="0">
                <a:latin typeface="Times New Roman" panose="02020603050405020304" pitchFamily="18" charset="0"/>
                <a:cs typeface="Times New Roman" panose="02020603050405020304" pitchFamily="18" charset="0"/>
              </a:rPr>
              <a:t>possible without backing some. </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6" name="TextBox 5"/>
          <p:cNvSpPr txBox="1"/>
          <p:nvPr/>
        </p:nvSpPr>
        <p:spPr>
          <a:xfrm>
            <a:off x="954741" y="5082989"/>
            <a:ext cx="10219765" cy="960328"/>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Deadlock is a situation where a set of processes are blocked </a:t>
            </a:r>
            <a:r>
              <a:rPr lang="en-US" sz="2000" dirty="0" smtClean="0">
                <a:latin typeface="Times New Roman" panose="02020603050405020304" pitchFamily="18" charset="0"/>
                <a:cs typeface="Times New Roman" panose="02020603050405020304" pitchFamily="18" charset="0"/>
              </a:rPr>
              <a:t>because each </a:t>
            </a:r>
            <a:r>
              <a:rPr lang="en-US" sz="2000" dirty="0">
                <a:latin typeface="Times New Roman" panose="02020603050405020304" pitchFamily="18" charset="0"/>
                <a:cs typeface="Times New Roman" panose="02020603050405020304" pitchFamily="18" charset="0"/>
              </a:rPr>
              <a:t>process is holding a resource and waiting for another </a:t>
            </a:r>
            <a:r>
              <a:rPr lang="en-US" sz="2000" dirty="0" smtClean="0">
                <a:latin typeface="Times New Roman" panose="02020603050405020304" pitchFamily="18" charset="0"/>
                <a:cs typeface="Times New Roman" panose="02020603050405020304" pitchFamily="18" charset="0"/>
              </a:rPr>
              <a:t>resource acquired </a:t>
            </a:r>
            <a:r>
              <a:rPr lang="en-US" sz="2000" dirty="0">
                <a:latin typeface="Times New Roman" panose="02020603050405020304" pitchFamily="18" charset="0"/>
                <a:cs typeface="Times New Roman" panose="02020603050405020304" pitchFamily="18" charset="0"/>
              </a:rPr>
              <a:t>by some other process</a:t>
            </a:r>
          </a:p>
        </p:txBody>
      </p:sp>
    </p:spTree>
    <p:extLst>
      <p:ext uri="{BB962C8B-B14F-4D97-AF65-F5344CB8AC3E}">
        <p14:creationId xmlns:p14="http://schemas.microsoft.com/office/powerpoint/2010/main" val="175636662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6851"/>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Resource</a:t>
            </a:r>
            <a:r>
              <a:rPr lang="en-US" b="1" spc="-155"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Deadlock</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69894"/>
            <a:ext cx="10515600" cy="5007069"/>
          </a:xfrm>
        </p:spPr>
        <p:txBody>
          <a:bodyPr>
            <a:normAutofit/>
          </a:bodyPr>
          <a:lstStyle/>
          <a:p>
            <a:pPr marL="314325" indent="0">
              <a:lnSpc>
                <a:spcPct val="100000"/>
              </a:lnSpc>
              <a:spcBef>
                <a:spcPts val="650"/>
              </a:spcBef>
              <a:buNone/>
            </a:pPr>
            <a:r>
              <a:rPr lang="en-US" sz="2400" i="1" dirty="0">
                <a:latin typeface="Times New Roman"/>
                <a:cs typeface="Times New Roman"/>
              </a:rPr>
              <a:t>A</a:t>
            </a:r>
            <a:r>
              <a:rPr lang="en-US" sz="2400" i="1" spc="-35" dirty="0">
                <a:latin typeface="Times New Roman"/>
                <a:cs typeface="Times New Roman"/>
              </a:rPr>
              <a:t> </a:t>
            </a:r>
            <a:r>
              <a:rPr lang="en-US" sz="2400" i="1" spc="-10" dirty="0">
                <a:latin typeface="Times New Roman"/>
                <a:cs typeface="Times New Roman"/>
              </a:rPr>
              <a:t>process</a:t>
            </a:r>
            <a:r>
              <a:rPr lang="en-US" sz="2400" i="1" spc="-90" dirty="0">
                <a:latin typeface="Times New Roman"/>
                <a:cs typeface="Times New Roman"/>
              </a:rPr>
              <a:t> </a:t>
            </a:r>
            <a:r>
              <a:rPr lang="en-US" sz="2400" i="1" dirty="0">
                <a:latin typeface="Times New Roman"/>
                <a:cs typeface="Times New Roman"/>
              </a:rPr>
              <a:t>request</a:t>
            </a:r>
            <a:r>
              <a:rPr lang="en-US" sz="2400" i="1" spc="-60" dirty="0">
                <a:latin typeface="Times New Roman"/>
                <a:cs typeface="Times New Roman"/>
              </a:rPr>
              <a:t> </a:t>
            </a:r>
            <a:r>
              <a:rPr lang="en-US" sz="2400" i="1" dirty="0">
                <a:latin typeface="Times New Roman"/>
                <a:cs typeface="Times New Roman"/>
              </a:rPr>
              <a:t>a</a:t>
            </a:r>
            <a:r>
              <a:rPr lang="en-US" sz="2400" i="1" spc="-5" dirty="0">
                <a:latin typeface="Times New Roman"/>
                <a:cs typeface="Times New Roman"/>
              </a:rPr>
              <a:t> </a:t>
            </a:r>
            <a:r>
              <a:rPr lang="en-US" sz="2400" i="1" spc="-20" dirty="0">
                <a:latin typeface="Times New Roman"/>
                <a:cs typeface="Times New Roman"/>
              </a:rPr>
              <a:t>resource</a:t>
            </a:r>
            <a:r>
              <a:rPr lang="en-US" sz="2400" i="1" spc="-70" dirty="0">
                <a:latin typeface="Times New Roman"/>
                <a:cs typeface="Times New Roman"/>
              </a:rPr>
              <a:t> </a:t>
            </a:r>
            <a:r>
              <a:rPr lang="en-US" sz="2400" i="1" spc="-10" dirty="0">
                <a:latin typeface="Times New Roman"/>
                <a:cs typeface="Times New Roman"/>
              </a:rPr>
              <a:t>before</a:t>
            </a:r>
            <a:r>
              <a:rPr lang="en-US" sz="2400" i="1" spc="-75" dirty="0">
                <a:latin typeface="Times New Roman"/>
                <a:cs typeface="Times New Roman"/>
              </a:rPr>
              <a:t> </a:t>
            </a:r>
            <a:r>
              <a:rPr lang="en-US" sz="2400" i="1" dirty="0">
                <a:latin typeface="Times New Roman"/>
                <a:cs typeface="Times New Roman"/>
              </a:rPr>
              <a:t>using</a:t>
            </a:r>
            <a:r>
              <a:rPr lang="en-US" sz="2400" i="1" spc="-45" dirty="0">
                <a:latin typeface="Times New Roman"/>
                <a:cs typeface="Times New Roman"/>
              </a:rPr>
              <a:t> </a:t>
            </a:r>
            <a:r>
              <a:rPr lang="en-US" sz="2400" i="1" dirty="0">
                <a:latin typeface="Times New Roman"/>
                <a:cs typeface="Times New Roman"/>
              </a:rPr>
              <a:t>it,</a:t>
            </a:r>
            <a:r>
              <a:rPr lang="en-US" sz="2400" i="1" spc="-25" dirty="0">
                <a:latin typeface="Times New Roman"/>
                <a:cs typeface="Times New Roman"/>
              </a:rPr>
              <a:t> </a:t>
            </a:r>
            <a:r>
              <a:rPr lang="en-US" sz="2400" i="1" dirty="0">
                <a:latin typeface="Times New Roman"/>
                <a:cs typeface="Times New Roman"/>
              </a:rPr>
              <a:t>and</a:t>
            </a:r>
            <a:r>
              <a:rPr lang="en-US" sz="2400" i="1" spc="-5" dirty="0">
                <a:latin typeface="Times New Roman"/>
                <a:cs typeface="Times New Roman"/>
              </a:rPr>
              <a:t> </a:t>
            </a:r>
            <a:r>
              <a:rPr lang="en-US" sz="2400" i="1" spc="-10" dirty="0">
                <a:latin typeface="Times New Roman"/>
                <a:cs typeface="Times New Roman"/>
              </a:rPr>
              <a:t>release</a:t>
            </a:r>
            <a:r>
              <a:rPr lang="en-US" sz="2400" i="1" spc="-90" dirty="0">
                <a:latin typeface="Times New Roman"/>
                <a:cs typeface="Times New Roman"/>
              </a:rPr>
              <a:t> </a:t>
            </a:r>
            <a:r>
              <a:rPr lang="en-US" sz="2400" i="1" dirty="0">
                <a:latin typeface="Times New Roman"/>
                <a:cs typeface="Times New Roman"/>
              </a:rPr>
              <a:t>after</a:t>
            </a:r>
            <a:r>
              <a:rPr lang="en-US" sz="2400" i="1" spc="-45" dirty="0">
                <a:latin typeface="Times New Roman"/>
                <a:cs typeface="Times New Roman"/>
              </a:rPr>
              <a:t> </a:t>
            </a:r>
            <a:r>
              <a:rPr lang="en-US" sz="2400" i="1" dirty="0">
                <a:latin typeface="Times New Roman"/>
                <a:cs typeface="Times New Roman"/>
              </a:rPr>
              <a:t>using</a:t>
            </a:r>
            <a:r>
              <a:rPr lang="en-US" sz="2400" i="1" spc="-50" dirty="0">
                <a:latin typeface="Times New Roman"/>
                <a:cs typeface="Times New Roman"/>
              </a:rPr>
              <a:t> </a:t>
            </a:r>
            <a:r>
              <a:rPr lang="en-US" sz="2400" i="1" spc="-25" dirty="0">
                <a:latin typeface="Times New Roman"/>
                <a:cs typeface="Times New Roman"/>
              </a:rPr>
              <a:t>it.</a:t>
            </a:r>
            <a:endParaRPr lang="en-US" sz="2400" dirty="0">
              <a:latin typeface="Times New Roman"/>
              <a:cs typeface="Times New Roman"/>
            </a:endParaRPr>
          </a:p>
          <a:p>
            <a:pPr marL="1078865" lvl="1" indent="-608965">
              <a:lnSpc>
                <a:spcPct val="100000"/>
              </a:lnSpc>
              <a:spcBef>
                <a:spcPts val="550"/>
              </a:spcBef>
              <a:buAutoNum type="arabicPeriod"/>
              <a:tabLst>
                <a:tab pos="621665" algn="l"/>
              </a:tabLst>
            </a:pPr>
            <a:r>
              <a:rPr lang="en-US" sz="2000" dirty="0">
                <a:latin typeface="Times New Roman"/>
                <a:cs typeface="Times New Roman"/>
              </a:rPr>
              <a:t>Request</a:t>
            </a:r>
            <a:r>
              <a:rPr lang="en-US" sz="2000" spc="-40" dirty="0">
                <a:latin typeface="Times New Roman"/>
                <a:cs typeface="Times New Roman"/>
              </a:rPr>
              <a:t> </a:t>
            </a:r>
            <a:r>
              <a:rPr lang="en-US" sz="2000" dirty="0">
                <a:latin typeface="Times New Roman"/>
                <a:cs typeface="Times New Roman"/>
              </a:rPr>
              <a:t>the</a:t>
            </a:r>
            <a:r>
              <a:rPr lang="en-US" sz="2000" spc="-20" dirty="0">
                <a:latin typeface="Times New Roman"/>
                <a:cs typeface="Times New Roman"/>
              </a:rPr>
              <a:t> </a:t>
            </a:r>
            <a:r>
              <a:rPr lang="en-US" sz="2000" spc="-10" dirty="0">
                <a:latin typeface="Times New Roman"/>
                <a:cs typeface="Times New Roman"/>
              </a:rPr>
              <a:t>resource.</a:t>
            </a:r>
            <a:endParaRPr lang="en-US" sz="2000" dirty="0">
              <a:latin typeface="Times New Roman"/>
              <a:cs typeface="Times New Roman"/>
            </a:endParaRPr>
          </a:p>
          <a:p>
            <a:pPr marL="1078865" lvl="1" indent="-608965">
              <a:lnSpc>
                <a:spcPct val="100000"/>
              </a:lnSpc>
              <a:spcBef>
                <a:spcPts val="555"/>
              </a:spcBef>
              <a:buAutoNum type="arabicPeriod"/>
              <a:tabLst>
                <a:tab pos="621665" algn="l"/>
              </a:tabLst>
            </a:pPr>
            <a:r>
              <a:rPr lang="en-US" sz="2000" dirty="0">
                <a:latin typeface="Times New Roman"/>
                <a:cs typeface="Times New Roman"/>
              </a:rPr>
              <a:t>Use</a:t>
            </a:r>
            <a:r>
              <a:rPr lang="en-US" sz="2000" spc="-20" dirty="0">
                <a:latin typeface="Times New Roman"/>
                <a:cs typeface="Times New Roman"/>
              </a:rPr>
              <a:t> </a:t>
            </a:r>
            <a:r>
              <a:rPr lang="en-US" sz="2000" dirty="0">
                <a:latin typeface="Times New Roman"/>
                <a:cs typeface="Times New Roman"/>
              </a:rPr>
              <a:t>the</a:t>
            </a:r>
            <a:r>
              <a:rPr lang="en-US" sz="2000" spc="-20" dirty="0">
                <a:latin typeface="Times New Roman"/>
                <a:cs typeface="Times New Roman"/>
              </a:rPr>
              <a:t> </a:t>
            </a:r>
            <a:r>
              <a:rPr lang="en-US" sz="2000" spc="-10" dirty="0">
                <a:latin typeface="Times New Roman"/>
                <a:cs typeface="Times New Roman"/>
              </a:rPr>
              <a:t>resource.</a:t>
            </a:r>
            <a:endParaRPr lang="en-US" sz="2000" dirty="0">
              <a:latin typeface="Times New Roman"/>
              <a:cs typeface="Times New Roman"/>
            </a:endParaRPr>
          </a:p>
          <a:p>
            <a:pPr marL="1078865" lvl="1" indent="-608965">
              <a:lnSpc>
                <a:spcPct val="100000"/>
              </a:lnSpc>
              <a:spcBef>
                <a:spcPts val="575"/>
              </a:spcBef>
              <a:buAutoNum type="arabicPeriod"/>
              <a:tabLst>
                <a:tab pos="621665" algn="l"/>
              </a:tabLst>
            </a:pPr>
            <a:r>
              <a:rPr lang="en-US" sz="2000" dirty="0">
                <a:latin typeface="Times New Roman"/>
                <a:cs typeface="Times New Roman"/>
              </a:rPr>
              <a:t>Release</a:t>
            </a:r>
            <a:r>
              <a:rPr lang="en-US" sz="2000" spc="-70" dirty="0">
                <a:latin typeface="Times New Roman"/>
                <a:cs typeface="Times New Roman"/>
              </a:rPr>
              <a:t> </a:t>
            </a:r>
            <a:r>
              <a:rPr lang="en-US" sz="2000" dirty="0">
                <a:latin typeface="Times New Roman"/>
                <a:cs typeface="Times New Roman"/>
              </a:rPr>
              <a:t>the</a:t>
            </a:r>
            <a:r>
              <a:rPr lang="en-US" sz="2000" spc="-10" dirty="0">
                <a:latin typeface="Times New Roman"/>
                <a:cs typeface="Times New Roman"/>
              </a:rPr>
              <a:t> resource.</a:t>
            </a:r>
            <a:endParaRPr lang="en-US" sz="2000" dirty="0">
              <a:latin typeface="Times New Roman"/>
              <a:cs typeface="Times New Roman"/>
            </a:endParaRPr>
          </a:p>
          <a:p>
            <a:pPr marR="5080">
              <a:lnSpc>
                <a:spcPts val="2400"/>
              </a:lnSpc>
              <a:spcBef>
                <a:spcPts val="830"/>
              </a:spcBef>
            </a:pPr>
            <a:r>
              <a:rPr lang="en-US" sz="2000" dirty="0">
                <a:latin typeface="Times New Roman"/>
                <a:cs typeface="Times New Roman"/>
              </a:rPr>
              <a:t>If</a:t>
            </a:r>
            <a:r>
              <a:rPr lang="en-US" sz="2000" spc="30" dirty="0">
                <a:latin typeface="Times New Roman"/>
                <a:cs typeface="Times New Roman"/>
              </a:rPr>
              <a:t> </a:t>
            </a:r>
            <a:r>
              <a:rPr lang="en-US" sz="2000" dirty="0">
                <a:latin typeface="Times New Roman"/>
                <a:cs typeface="Times New Roman"/>
              </a:rPr>
              <a:t>the</a:t>
            </a:r>
            <a:r>
              <a:rPr lang="en-US" sz="2000" spc="-20" dirty="0">
                <a:latin typeface="Times New Roman"/>
                <a:cs typeface="Times New Roman"/>
              </a:rPr>
              <a:t> </a:t>
            </a:r>
            <a:r>
              <a:rPr lang="en-US" sz="2000" dirty="0">
                <a:latin typeface="Times New Roman"/>
                <a:cs typeface="Times New Roman"/>
              </a:rPr>
              <a:t>resource</a:t>
            </a:r>
            <a:r>
              <a:rPr lang="en-US" sz="2000" spc="-40" dirty="0">
                <a:latin typeface="Times New Roman"/>
                <a:cs typeface="Times New Roman"/>
              </a:rPr>
              <a:t> </a:t>
            </a:r>
            <a:r>
              <a:rPr lang="en-US" sz="2000" dirty="0">
                <a:latin typeface="Times New Roman"/>
                <a:cs typeface="Times New Roman"/>
              </a:rPr>
              <a:t>is</a:t>
            </a:r>
            <a:r>
              <a:rPr lang="en-US" sz="2000" spc="-45" dirty="0">
                <a:latin typeface="Times New Roman"/>
                <a:cs typeface="Times New Roman"/>
              </a:rPr>
              <a:t> </a:t>
            </a:r>
            <a:r>
              <a:rPr lang="en-US" sz="2000" dirty="0">
                <a:latin typeface="Times New Roman"/>
                <a:cs typeface="Times New Roman"/>
              </a:rPr>
              <a:t>not</a:t>
            </a:r>
            <a:r>
              <a:rPr lang="en-US" sz="2000" spc="15" dirty="0">
                <a:latin typeface="Times New Roman"/>
                <a:cs typeface="Times New Roman"/>
              </a:rPr>
              <a:t> </a:t>
            </a:r>
            <a:r>
              <a:rPr lang="en-US" sz="2000" dirty="0">
                <a:latin typeface="Times New Roman"/>
                <a:cs typeface="Times New Roman"/>
              </a:rPr>
              <a:t>available</a:t>
            </a:r>
            <a:r>
              <a:rPr lang="en-US" sz="2000" spc="-70" dirty="0">
                <a:latin typeface="Times New Roman"/>
                <a:cs typeface="Times New Roman"/>
              </a:rPr>
              <a:t> </a:t>
            </a:r>
            <a:r>
              <a:rPr lang="en-US" sz="2000" dirty="0">
                <a:latin typeface="Times New Roman"/>
                <a:cs typeface="Times New Roman"/>
              </a:rPr>
              <a:t>when</a:t>
            </a:r>
            <a:r>
              <a:rPr lang="en-US" sz="2000" spc="5" dirty="0">
                <a:latin typeface="Times New Roman"/>
                <a:cs typeface="Times New Roman"/>
              </a:rPr>
              <a:t> </a:t>
            </a:r>
            <a:r>
              <a:rPr lang="en-US" sz="2000" dirty="0">
                <a:latin typeface="Times New Roman"/>
                <a:cs typeface="Times New Roman"/>
              </a:rPr>
              <a:t>it</a:t>
            </a:r>
            <a:r>
              <a:rPr lang="en-US" sz="2000" spc="-15" dirty="0">
                <a:latin typeface="Times New Roman"/>
                <a:cs typeface="Times New Roman"/>
              </a:rPr>
              <a:t> </a:t>
            </a:r>
            <a:r>
              <a:rPr lang="en-US" sz="2000" dirty="0">
                <a:latin typeface="Times New Roman"/>
                <a:cs typeface="Times New Roman"/>
              </a:rPr>
              <a:t>is</a:t>
            </a:r>
            <a:r>
              <a:rPr lang="en-US" sz="2000" spc="-45" dirty="0">
                <a:latin typeface="Times New Roman"/>
                <a:cs typeface="Times New Roman"/>
              </a:rPr>
              <a:t> </a:t>
            </a:r>
            <a:r>
              <a:rPr lang="en-US" sz="2000" dirty="0">
                <a:latin typeface="Times New Roman"/>
                <a:cs typeface="Times New Roman"/>
              </a:rPr>
              <a:t>requested,</a:t>
            </a:r>
            <a:r>
              <a:rPr lang="en-US" sz="2000" spc="-65" dirty="0">
                <a:latin typeface="Times New Roman"/>
                <a:cs typeface="Times New Roman"/>
              </a:rPr>
              <a:t> </a:t>
            </a:r>
            <a:r>
              <a:rPr lang="en-US" sz="2000" dirty="0">
                <a:latin typeface="Times New Roman"/>
                <a:cs typeface="Times New Roman"/>
              </a:rPr>
              <a:t>the</a:t>
            </a:r>
            <a:r>
              <a:rPr lang="en-US" sz="2000" spc="-20" dirty="0">
                <a:latin typeface="Times New Roman"/>
                <a:cs typeface="Times New Roman"/>
              </a:rPr>
              <a:t> </a:t>
            </a:r>
            <a:r>
              <a:rPr lang="en-US" sz="2000" dirty="0">
                <a:latin typeface="Times New Roman"/>
                <a:cs typeface="Times New Roman"/>
              </a:rPr>
              <a:t>requesting</a:t>
            </a:r>
            <a:r>
              <a:rPr lang="en-US" sz="2000" spc="-65" dirty="0">
                <a:latin typeface="Times New Roman"/>
                <a:cs typeface="Times New Roman"/>
              </a:rPr>
              <a:t> </a:t>
            </a:r>
            <a:r>
              <a:rPr lang="en-US" sz="2000" dirty="0">
                <a:latin typeface="Times New Roman"/>
                <a:cs typeface="Times New Roman"/>
              </a:rPr>
              <a:t>process</a:t>
            </a:r>
            <a:r>
              <a:rPr lang="en-US" sz="2000" spc="-65" dirty="0">
                <a:latin typeface="Times New Roman"/>
                <a:cs typeface="Times New Roman"/>
              </a:rPr>
              <a:t> </a:t>
            </a:r>
            <a:r>
              <a:rPr lang="en-US" sz="2000" spc="-25" dirty="0">
                <a:latin typeface="Times New Roman"/>
                <a:cs typeface="Times New Roman"/>
              </a:rPr>
              <a:t>is </a:t>
            </a:r>
            <a:r>
              <a:rPr lang="en-US" sz="2000" dirty="0">
                <a:latin typeface="Times New Roman"/>
                <a:cs typeface="Times New Roman"/>
              </a:rPr>
              <a:t>force</a:t>
            </a:r>
            <a:r>
              <a:rPr lang="en-US" sz="2000" spc="-45" dirty="0">
                <a:latin typeface="Times New Roman"/>
                <a:cs typeface="Times New Roman"/>
              </a:rPr>
              <a:t> </a:t>
            </a:r>
            <a:r>
              <a:rPr lang="en-US" sz="2000" dirty="0">
                <a:latin typeface="Times New Roman"/>
                <a:cs typeface="Times New Roman"/>
              </a:rPr>
              <a:t>to</a:t>
            </a:r>
            <a:r>
              <a:rPr lang="en-US" sz="2000" spc="10" dirty="0">
                <a:latin typeface="Times New Roman"/>
                <a:cs typeface="Times New Roman"/>
              </a:rPr>
              <a:t> </a:t>
            </a:r>
            <a:r>
              <a:rPr lang="en-US" sz="2000" spc="-20" dirty="0">
                <a:latin typeface="Times New Roman"/>
                <a:cs typeface="Times New Roman"/>
              </a:rPr>
              <a:t>wait.</a:t>
            </a:r>
            <a:endParaRPr lang="en-US" sz="2000" dirty="0">
              <a:latin typeface="Times New Roman"/>
              <a:cs typeface="Times New Roman"/>
            </a:endParaRPr>
          </a:p>
          <a:p>
            <a:pPr marR="686435">
              <a:lnSpc>
                <a:spcPts val="2400"/>
              </a:lnSpc>
              <a:spcBef>
                <a:spcPts val="815"/>
              </a:spcBef>
            </a:pPr>
            <a:r>
              <a:rPr lang="en-US" sz="2000" dirty="0">
                <a:latin typeface="Times New Roman"/>
                <a:cs typeface="Times New Roman"/>
              </a:rPr>
              <a:t>Most</a:t>
            </a:r>
            <a:r>
              <a:rPr lang="en-US" sz="2000" spc="-45" dirty="0">
                <a:latin typeface="Times New Roman"/>
                <a:cs typeface="Times New Roman"/>
              </a:rPr>
              <a:t> </a:t>
            </a:r>
            <a:r>
              <a:rPr lang="en-US" sz="2000" dirty="0">
                <a:latin typeface="Times New Roman"/>
                <a:cs typeface="Times New Roman"/>
              </a:rPr>
              <a:t>deadlocks</a:t>
            </a:r>
            <a:r>
              <a:rPr lang="en-US" sz="2000" spc="-50" dirty="0">
                <a:latin typeface="Times New Roman"/>
                <a:cs typeface="Times New Roman"/>
              </a:rPr>
              <a:t> </a:t>
            </a:r>
            <a:r>
              <a:rPr lang="en-US" sz="2000" dirty="0">
                <a:latin typeface="Times New Roman"/>
                <a:cs typeface="Times New Roman"/>
              </a:rPr>
              <a:t>in</a:t>
            </a:r>
            <a:r>
              <a:rPr lang="en-US" sz="2000" spc="-30" dirty="0">
                <a:latin typeface="Times New Roman"/>
                <a:cs typeface="Times New Roman"/>
              </a:rPr>
              <a:t> </a:t>
            </a:r>
            <a:r>
              <a:rPr lang="en-US" sz="2000" dirty="0">
                <a:latin typeface="Times New Roman"/>
                <a:cs typeface="Times New Roman"/>
              </a:rPr>
              <a:t>OS</a:t>
            </a:r>
            <a:r>
              <a:rPr lang="en-US" sz="2000" spc="-10" dirty="0">
                <a:latin typeface="Times New Roman"/>
                <a:cs typeface="Times New Roman"/>
              </a:rPr>
              <a:t> </a:t>
            </a:r>
            <a:r>
              <a:rPr lang="en-US" sz="2000" dirty="0">
                <a:latin typeface="Times New Roman"/>
                <a:cs typeface="Times New Roman"/>
              </a:rPr>
              <a:t>developed</a:t>
            </a:r>
            <a:r>
              <a:rPr lang="en-US" sz="2000" spc="-35" dirty="0">
                <a:latin typeface="Times New Roman"/>
                <a:cs typeface="Times New Roman"/>
              </a:rPr>
              <a:t> </a:t>
            </a:r>
            <a:r>
              <a:rPr lang="en-US" sz="2000" dirty="0">
                <a:latin typeface="Times New Roman"/>
                <a:cs typeface="Times New Roman"/>
              </a:rPr>
              <a:t>because</a:t>
            </a:r>
            <a:r>
              <a:rPr lang="en-US" sz="2000" spc="-75" dirty="0">
                <a:latin typeface="Times New Roman"/>
                <a:cs typeface="Times New Roman"/>
              </a:rPr>
              <a:t> </a:t>
            </a:r>
            <a:r>
              <a:rPr lang="en-US" sz="2000" dirty="0">
                <a:latin typeface="Times New Roman"/>
                <a:cs typeface="Times New Roman"/>
              </a:rPr>
              <a:t>of the</a:t>
            </a:r>
            <a:r>
              <a:rPr lang="en-US" sz="2000" spc="-25" dirty="0">
                <a:latin typeface="Times New Roman"/>
                <a:cs typeface="Times New Roman"/>
              </a:rPr>
              <a:t> </a:t>
            </a:r>
            <a:r>
              <a:rPr lang="en-US" sz="2000" dirty="0">
                <a:latin typeface="Times New Roman"/>
                <a:cs typeface="Times New Roman"/>
              </a:rPr>
              <a:t>normal contention</a:t>
            </a:r>
            <a:r>
              <a:rPr lang="en-US" sz="2000" spc="-100" dirty="0">
                <a:latin typeface="Times New Roman"/>
                <a:cs typeface="Times New Roman"/>
              </a:rPr>
              <a:t> </a:t>
            </a:r>
            <a:r>
              <a:rPr lang="en-US" sz="2000" spc="-25" dirty="0">
                <a:latin typeface="Times New Roman"/>
                <a:cs typeface="Times New Roman"/>
              </a:rPr>
              <a:t>for </a:t>
            </a:r>
            <a:r>
              <a:rPr lang="en-US" sz="2000" dirty="0">
                <a:latin typeface="Times New Roman"/>
                <a:cs typeface="Times New Roman"/>
              </a:rPr>
              <a:t>dedicated</a:t>
            </a:r>
            <a:r>
              <a:rPr lang="en-US" sz="2000" spc="-60" dirty="0">
                <a:latin typeface="Times New Roman"/>
                <a:cs typeface="Times New Roman"/>
              </a:rPr>
              <a:t> </a:t>
            </a:r>
            <a:r>
              <a:rPr lang="en-US" sz="2000" spc="-10" dirty="0">
                <a:latin typeface="Times New Roman"/>
                <a:cs typeface="Times New Roman"/>
              </a:rPr>
              <a:t>resources.</a:t>
            </a:r>
            <a:endParaRPr lang="en-US" sz="2000" dirty="0">
              <a:latin typeface="Times New Roman"/>
              <a:cs typeface="Times New Roman"/>
            </a:endParaRPr>
          </a:p>
        </p:txBody>
      </p:sp>
      <p:pic>
        <p:nvPicPr>
          <p:cNvPr id="4" name="Picture 3"/>
          <p:cNvPicPr>
            <a:picLocks noChangeAspect="1"/>
          </p:cNvPicPr>
          <p:nvPr/>
        </p:nvPicPr>
        <p:blipFill>
          <a:blip r:embed="rId2"/>
          <a:stretch>
            <a:fillRect/>
          </a:stretch>
        </p:blipFill>
        <p:spPr>
          <a:xfrm>
            <a:off x="6176957" y="3787303"/>
            <a:ext cx="3760419" cy="1900803"/>
          </a:xfrm>
          <a:prstGeom prst="rect">
            <a:avLst/>
          </a:prstGeom>
        </p:spPr>
      </p:pic>
      <p:sp>
        <p:nvSpPr>
          <p:cNvPr id="5" name="object 15"/>
          <p:cNvSpPr txBox="1"/>
          <p:nvPr/>
        </p:nvSpPr>
        <p:spPr>
          <a:xfrm>
            <a:off x="1109679" y="3757860"/>
            <a:ext cx="4753239" cy="1917833"/>
          </a:xfrm>
          <a:prstGeom prst="rect">
            <a:avLst/>
          </a:prstGeom>
        </p:spPr>
        <p:txBody>
          <a:bodyPr vert="horz" wrap="square" lIns="0" tIns="70485" rIns="0" bIns="0" rtlCol="0">
            <a:spAutoFit/>
          </a:bodyPr>
          <a:lstStyle/>
          <a:p>
            <a:pPr marL="12700" marR="5080">
              <a:lnSpc>
                <a:spcPct val="150000"/>
              </a:lnSpc>
              <a:spcBef>
                <a:spcPts val="555"/>
              </a:spcBef>
            </a:pPr>
            <a:r>
              <a:rPr sz="2000" dirty="0">
                <a:latin typeface="Times New Roman"/>
                <a:cs typeface="Times New Roman"/>
              </a:rPr>
              <a:t>Process</a:t>
            </a:r>
            <a:r>
              <a:rPr sz="2000" spc="-60" dirty="0">
                <a:latin typeface="Times New Roman"/>
                <a:cs typeface="Times New Roman"/>
              </a:rPr>
              <a:t> </a:t>
            </a:r>
            <a:r>
              <a:rPr sz="2000" dirty="0">
                <a:latin typeface="Times New Roman"/>
                <a:cs typeface="Times New Roman"/>
              </a:rPr>
              <a:t>P1</a:t>
            </a:r>
            <a:r>
              <a:rPr sz="2000" spc="-35" dirty="0">
                <a:latin typeface="Times New Roman"/>
                <a:cs typeface="Times New Roman"/>
              </a:rPr>
              <a:t> </a:t>
            </a:r>
            <a:r>
              <a:rPr sz="2000" dirty="0">
                <a:latin typeface="Times New Roman"/>
                <a:cs typeface="Times New Roman"/>
              </a:rPr>
              <a:t>holds</a:t>
            </a:r>
            <a:r>
              <a:rPr sz="2000" spc="-30" dirty="0">
                <a:latin typeface="Times New Roman"/>
                <a:cs typeface="Times New Roman"/>
              </a:rPr>
              <a:t> </a:t>
            </a:r>
            <a:r>
              <a:rPr sz="2000" dirty="0">
                <a:latin typeface="Times New Roman"/>
                <a:cs typeface="Times New Roman"/>
              </a:rPr>
              <a:t>resource</a:t>
            </a:r>
            <a:r>
              <a:rPr sz="2000" spc="-25" dirty="0">
                <a:latin typeface="Times New Roman"/>
                <a:cs typeface="Times New Roman"/>
              </a:rPr>
              <a:t> R1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needs</a:t>
            </a:r>
            <a:r>
              <a:rPr sz="2000" spc="-25" dirty="0">
                <a:latin typeface="Times New Roman"/>
                <a:cs typeface="Times New Roman"/>
              </a:rPr>
              <a:t> </a:t>
            </a:r>
            <a:r>
              <a:rPr sz="2000" dirty="0">
                <a:latin typeface="Times New Roman"/>
                <a:cs typeface="Times New Roman"/>
              </a:rPr>
              <a:t>resource</a:t>
            </a:r>
            <a:r>
              <a:rPr sz="2000" spc="-60" dirty="0">
                <a:latin typeface="Times New Roman"/>
                <a:cs typeface="Times New Roman"/>
              </a:rPr>
              <a:t> </a:t>
            </a:r>
            <a:r>
              <a:rPr sz="2000" dirty="0">
                <a:latin typeface="Times New Roman"/>
                <a:cs typeface="Times New Roman"/>
              </a:rPr>
              <a:t>R2</a:t>
            </a:r>
            <a:r>
              <a:rPr sz="2000" spc="-30" dirty="0">
                <a:latin typeface="Times New Roman"/>
                <a:cs typeface="Times New Roman"/>
              </a:rPr>
              <a:t> </a:t>
            </a:r>
            <a:r>
              <a:rPr sz="2000" spc="-25" dirty="0">
                <a:latin typeface="Times New Roman"/>
                <a:cs typeface="Times New Roman"/>
              </a:rPr>
              <a:t>to </a:t>
            </a:r>
            <a:r>
              <a:rPr sz="2000" dirty="0">
                <a:latin typeface="Times New Roman"/>
                <a:cs typeface="Times New Roman"/>
              </a:rPr>
              <a:t>continue;</a:t>
            </a:r>
            <a:r>
              <a:rPr sz="2000" spc="-15" dirty="0">
                <a:latin typeface="Times New Roman"/>
                <a:cs typeface="Times New Roman"/>
              </a:rPr>
              <a:t> </a:t>
            </a:r>
            <a:r>
              <a:rPr sz="2000" dirty="0">
                <a:latin typeface="Times New Roman"/>
                <a:cs typeface="Times New Roman"/>
              </a:rPr>
              <a:t>Process</a:t>
            </a:r>
            <a:r>
              <a:rPr sz="2000" spc="-65" dirty="0">
                <a:latin typeface="Times New Roman"/>
                <a:cs typeface="Times New Roman"/>
              </a:rPr>
              <a:t> </a:t>
            </a:r>
            <a:r>
              <a:rPr sz="2000" dirty="0">
                <a:latin typeface="Times New Roman"/>
                <a:cs typeface="Times New Roman"/>
              </a:rPr>
              <a:t>P2</a:t>
            </a:r>
            <a:r>
              <a:rPr sz="2000" spc="-45" dirty="0">
                <a:latin typeface="Times New Roman"/>
                <a:cs typeface="Times New Roman"/>
              </a:rPr>
              <a:t> </a:t>
            </a:r>
            <a:r>
              <a:rPr sz="2000" spc="-20" dirty="0">
                <a:latin typeface="Times New Roman"/>
                <a:cs typeface="Times New Roman"/>
              </a:rPr>
              <a:t>holds </a:t>
            </a:r>
            <a:r>
              <a:rPr sz="2000" dirty="0">
                <a:latin typeface="Times New Roman"/>
                <a:cs typeface="Times New Roman"/>
              </a:rPr>
              <a:t>resource</a:t>
            </a:r>
            <a:r>
              <a:rPr sz="2000" spc="-40" dirty="0">
                <a:latin typeface="Times New Roman"/>
                <a:cs typeface="Times New Roman"/>
              </a:rPr>
              <a:t> </a:t>
            </a:r>
            <a:r>
              <a:rPr sz="2000" dirty="0">
                <a:latin typeface="Times New Roman"/>
                <a:cs typeface="Times New Roman"/>
              </a:rPr>
              <a:t>R2</a:t>
            </a:r>
            <a:r>
              <a:rPr sz="2000" spc="-3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dirty="0">
                <a:latin typeface="Times New Roman"/>
                <a:cs typeface="Times New Roman"/>
              </a:rPr>
              <a:t>needs</a:t>
            </a:r>
            <a:r>
              <a:rPr sz="2000" spc="-50" dirty="0">
                <a:latin typeface="Times New Roman"/>
                <a:cs typeface="Times New Roman"/>
              </a:rPr>
              <a:t> </a:t>
            </a:r>
            <a:r>
              <a:rPr sz="2000" spc="-10" dirty="0">
                <a:latin typeface="Times New Roman"/>
                <a:cs typeface="Times New Roman"/>
              </a:rPr>
              <a:t>resource </a:t>
            </a:r>
            <a:r>
              <a:rPr sz="2000" dirty="0">
                <a:latin typeface="Times New Roman"/>
                <a:cs typeface="Times New Roman"/>
              </a:rPr>
              <a:t>R1</a:t>
            </a:r>
            <a:r>
              <a:rPr sz="2000" spc="-25"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continue</a:t>
            </a:r>
            <a:r>
              <a:rPr sz="2000" spc="-10" dirty="0">
                <a:latin typeface="Times New Roman"/>
                <a:cs typeface="Times New Roman"/>
              </a:rPr>
              <a:t> </a:t>
            </a:r>
            <a:r>
              <a:rPr sz="2000" dirty="0">
                <a:latin typeface="Times New Roman"/>
                <a:cs typeface="Times New Roman"/>
              </a:rPr>
              <a:t>–</a:t>
            </a:r>
            <a:r>
              <a:rPr sz="2000" spc="-45" dirty="0">
                <a:latin typeface="Times New Roman"/>
                <a:cs typeface="Times New Roman"/>
              </a:rPr>
              <a:t> </a:t>
            </a:r>
            <a:r>
              <a:rPr sz="2000" spc="-10" dirty="0">
                <a:latin typeface="Times New Roman"/>
                <a:cs typeface="Times New Roman"/>
              </a:rPr>
              <a:t>deadlock.</a:t>
            </a:r>
            <a:endParaRPr sz="2000" dirty="0">
              <a:latin typeface="Times New Roman"/>
              <a:cs typeface="Times New Roman"/>
            </a:endParaRPr>
          </a:p>
        </p:txBody>
      </p:sp>
      <p:sp>
        <p:nvSpPr>
          <p:cNvPr id="6" name="object 16"/>
          <p:cNvSpPr txBox="1"/>
          <p:nvPr/>
        </p:nvSpPr>
        <p:spPr>
          <a:xfrm>
            <a:off x="1104921" y="5596762"/>
            <a:ext cx="3063875" cy="329565"/>
          </a:xfrm>
          <a:prstGeom prst="rect">
            <a:avLst/>
          </a:prstGeom>
        </p:spPr>
        <p:txBody>
          <a:bodyPr vert="horz" wrap="square" lIns="0" tIns="11430" rIns="0" bIns="0" rtlCol="0">
            <a:spAutoFit/>
          </a:bodyPr>
          <a:lstStyle/>
          <a:p>
            <a:pPr marL="12700">
              <a:lnSpc>
                <a:spcPct val="100000"/>
              </a:lnSpc>
              <a:spcBef>
                <a:spcPts val="90"/>
              </a:spcBef>
            </a:pPr>
            <a:r>
              <a:rPr sz="2000" i="1" dirty="0">
                <a:latin typeface="Times New Roman"/>
                <a:cs typeface="Times New Roman"/>
              </a:rPr>
              <a:t>Key:</a:t>
            </a:r>
            <a:r>
              <a:rPr sz="2000" i="1" spc="-20" dirty="0">
                <a:latin typeface="Times New Roman"/>
                <a:cs typeface="Times New Roman"/>
              </a:rPr>
              <a:t> </a:t>
            </a:r>
            <a:r>
              <a:rPr sz="2000" i="1" spc="-10" dirty="0">
                <a:latin typeface="Times New Roman"/>
                <a:cs typeface="Times New Roman"/>
              </a:rPr>
              <a:t>Circular</a:t>
            </a:r>
            <a:r>
              <a:rPr sz="2000" i="1" spc="-30" dirty="0">
                <a:latin typeface="Times New Roman"/>
                <a:cs typeface="Times New Roman"/>
              </a:rPr>
              <a:t> </a:t>
            </a:r>
            <a:r>
              <a:rPr sz="2000" i="1" dirty="0">
                <a:latin typeface="Times New Roman"/>
                <a:cs typeface="Times New Roman"/>
              </a:rPr>
              <a:t>wait</a:t>
            </a:r>
            <a:r>
              <a:rPr sz="2000" i="1" spc="-30" dirty="0">
                <a:latin typeface="Times New Roman"/>
                <a:cs typeface="Times New Roman"/>
              </a:rPr>
              <a:t> </a:t>
            </a:r>
            <a:r>
              <a:rPr sz="2000" i="1" dirty="0">
                <a:latin typeface="Times New Roman"/>
                <a:cs typeface="Times New Roman"/>
              </a:rPr>
              <a:t>-</a:t>
            </a:r>
            <a:r>
              <a:rPr sz="2000" i="1" spc="-20" dirty="0">
                <a:latin typeface="Times New Roman"/>
                <a:cs typeface="Times New Roman"/>
              </a:rPr>
              <a:t> </a:t>
            </a:r>
            <a:r>
              <a:rPr sz="2000" i="1" spc="-10" dirty="0">
                <a:latin typeface="Times New Roman"/>
                <a:cs typeface="Times New Roman"/>
              </a:rPr>
              <a:t>deadlock</a:t>
            </a:r>
            <a:endParaRPr sz="2000" dirty="0">
              <a:latin typeface="Times New Roman"/>
              <a:cs typeface="Times New Roman"/>
            </a:endParaRPr>
          </a:p>
        </p:txBody>
      </p:sp>
    </p:spTree>
    <p:extLst>
      <p:ext uri="{BB962C8B-B14F-4D97-AF65-F5344CB8AC3E}">
        <p14:creationId xmlns:p14="http://schemas.microsoft.com/office/powerpoint/2010/main" val="21510650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63"/>
          </a:xfrm>
        </p:spPr>
        <p:txBody>
          <a:bodyPr/>
          <a:lstStyle/>
          <a:p>
            <a:pPr algn="ctr"/>
            <a:r>
              <a:rPr lang="en-US" b="1" dirty="0">
                <a:latin typeface="Times New Roman" panose="02020603050405020304" pitchFamily="18" charset="0"/>
                <a:cs typeface="Times New Roman" panose="02020603050405020304" pitchFamily="18" charset="0"/>
              </a:rPr>
              <a:t>Conditions</a:t>
            </a:r>
            <a:r>
              <a:rPr lang="en-US" b="1" spc="-12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for</a:t>
            </a:r>
            <a:r>
              <a:rPr lang="en-US" b="1" spc="-120"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Deadlock</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96788"/>
            <a:ext cx="10515600" cy="4980175"/>
          </a:xfrm>
        </p:spPr>
        <p:txBody>
          <a:bodyPr>
            <a:normAutofit fontScale="77500" lnSpcReduction="20000"/>
          </a:bodyPr>
          <a:lstStyle/>
          <a:p>
            <a:pPr marL="622300" marR="384810" indent="-609600" algn="just">
              <a:lnSpc>
                <a:spcPct val="150000"/>
              </a:lnSpc>
              <a:spcBef>
                <a:spcPts val="425"/>
              </a:spcBef>
              <a:buAutoNum type="arabicPeriod"/>
              <a:tabLst>
                <a:tab pos="622300" algn="l"/>
              </a:tabLst>
            </a:pPr>
            <a:r>
              <a:rPr lang="en-US" b="1" i="1" dirty="0">
                <a:latin typeface="Times New Roman"/>
                <a:cs typeface="Times New Roman"/>
              </a:rPr>
              <a:t>Mutual</a:t>
            </a:r>
            <a:r>
              <a:rPr lang="en-US" b="1" i="1" spc="-35" dirty="0">
                <a:latin typeface="Times New Roman"/>
                <a:cs typeface="Times New Roman"/>
              </a:rPr>
              <a:t> </a:t>
            </a:r>
            <a:r>
              <a:rPr lang="en-US" b="1" i="1" dirty="0">
                <a:latin typeface="Times New Roman"/>
                <a:cs typeface="Times New Roman"/>
              </a:rPr>
              <a:t>Exclusion</a:t>
            </a:r>
            <a:r>
              <a:rPr lang="en-US" i="1" dirty="0">
                <a:latin typeface="Times New Roman"/>
                <a:cs typeface="Times New Roman"/>
              </a:rPr>
              <a:t>:</a:t>
            </a:r>
            <a:r>
              <a:rPr lang="en-US" i="1" spc="-45" dirty="0">
                <a:latin typeface="Times New Roman"/>
                <a:cs typeface="Times New Roman"/>
              </a:rPr>
              <a:t> </a:t>
            </a:r>
            <a:r>
              <a:rPr lang="en-US" dirty="0">
                <a:latin typeface="Times New Roman"/>
                <a:cs typeface="Times New Roman"/>
              </a:rPr>
              <a:t>Process</a:t>
            </a:r>
            <a:r>
              <a:rPr lang="en-US" spc="-35" dirty="0">
                <a:latin typeface="Times New Roman"/>
                <a:cs typeface="Times New Roman"/>
              </a:rPr>
              <a:t> </a:t>
            </a:r>
            <a:r>
              <a:rPr lang="en-US" dirty="0">
                <a:latin typeface="Times New Roman"/>
                <a:cs typeface="Times New Roman"/>
              </a:rPr>
              <a:t>claims</a:t>
            </a:r>
            <a:r>
              <a:rPr lang="en-US" spc="-35" dirty="0">
                <a:latin typeface="Times New Roman"/>
                <a:cs typeface="Times New Roman"/>
              </a:rPr>
              <a:t> </a:t>
            </a:r>
            <a:r>
              <a:rPr lang="en-US" dirty="0">
                <a:latin typeface="Times New Roman"/>
                <a:cs typeface="Times New Roman"/>
              </a:rPr>
              <a:t>exclusive</a:t>
            </a:r>
            <a:r>
              <a:rPr lang="en-US" spc="-45" dirty="0">
                <a:latin typeface="Times New Roman"/>
                <a:cs typeface="Times New Roman"/>
              </a:rPr>
              <a:t> </a:t>
            </a:r>
            <a:r>
              <a:rPr lang="en-US" dirty="0">
                <a:latin typeface="Times New Roman"/>
                <a:cs typeface="Times New Roman"/>
              </a:rPr>
              <a:t>control</a:t>
            </a:r>
            <a:r>
              <a:rPr lang="en-US" spc="-35" dirty="0">
                <a:latin typeface="Times New Roman"/>
                <a:cs typeface="Times New Roman"/>
              </a:rPr>
              <a:t> </a:t>
            </a:r>
            <a:r>
              <a:rPr lang="en-US" dirty="0">
                <a:latin typeface="Times New Roman"/>
                <a:cs typeface="Times New Roman"/>
              </a:rPr>
              <a:t>of</a:t>
            </a:r>
            <a:r>
              <a:rPr lang="en-US" spc="-45" dirty="0">
                <a:latin typeface="Times New Roman"/>
                <a:cs typeface="Times New Roman"/>
              </a:rPr>
              <a:t> </a:t>
            </a:r>
            <a:r>
              <a:rPr lang="en-US" spc="-10" dirty="0">
                <a:latin typeface="Times New Roman"/>
                <a:cs typeface="Times New Roman"/>
              </a:rPr>
              <a:t>resources </a:t>
            </a:r>
            <a:r>
              <a:rPr lang="en-US" dirty="0">
                <a:latin typeface="Times New Roman"/>
                <a:cs typeface="Times New Roman"/>
              </a:rPr>
              <a:t>they</a:t>
            </a:r>
            <a:r>
              <a:rPr lang="en-US" spc="-10" dirty="0">
                <a:latin typeface="Times New Roman"/>
                <a:cs typeface="Times New Roman"/>
              </a:rPr>
              <a:t> require.</a:t>
            </a:r>
            <a:endParaRPr lang="en-US" dirty="0">
              <a:latin typeface="Times New Roman"/>
              <a:cs typeface="Times New Roman"/>
            </a:endParaRPr>
          </a:p>
          <a:p>
            <a:pPr marL="622300" marR="119380" indent="-609600" algn="just">
              <a:lnSpc>
                <a:spcPct val="150000"/>
              </a:lnSpc>
              <a:spcBef>
                <a:spcPts val="800"/>
              </a:spcBef>
              <a:buAutoNum type="arabicPeriod"/>
              <a:tabLst>
                <a:tab pos="622300" algn="l"/>
              </a:tabLst>
            </a:pPr>
            <a:r>
              <a:rPr lang="en-US" b="1" i="1" dirty="0">
                <a:latin typeface="Times New Roman"/>
                <a:cs typeface="Times New Roman"/>
              </a:rPr>
              <a:t>Hold</a:t>
            </a:r>
            <a:r>
              <a:rPr lang="en-US" b="1" i="1" spc="-50" dirty="0">
                <a:latin typeface="Times New Roman"/>
                <a:cs typeface="Times New Roman"/>
              </a:rPr>
              <a:t> </a:t>
            </a:r>
            <a:r>
              <a:rPr lang="en-US" b="1" i="1" dirty="0">
                <a:latin typeface="Times New Roman"/>
                <a:cs typeface="Times New Roman"/>
              </a:rPr>
              <a:t>and</a:t>
            </a:r>
            <a:r>
              <a:rPr lang="en-US" b="1" i="1" spc="-45" dirty="0">
                <a:latin typeface="Times New Roman"/>
                <a:cs typeface="Times New Roman"/>
              </a:rPr>
              <a:t> </a:t>
            </a:r>
            <a:r>
              <a:rPr lang="en-US" b="1" i="1" spc="-30" dirty="0">
                <a:latin typeface="Times New Roman"/>
                <a:cs typeface="Times New Roman"/>
              </a:rPr>
              <a:t>Wait</a:t>
            </a:r>
            <a:r>
              <a:rPr lang="en-US" i="1" spc="-30" dirty="0">
                <a:latin typeface="Times New Roman"/>
                <a:cs typeface="Times New Roman"/>
              </a:rPr>
              <a:t>:</a:t>
            </a:r>
            <a:r>
              <a:rPr lang="en-US" i="1" spc="-5" dirty="0">
                <a:latin typeface="Times New Roman"/>
                <a:cs typeface="Times New Roman"/>
              </a:rPr>
              <a:t> </a:t>
            </a:r>
            <a:r>
              <a:rPr lang="en-US" dirty="0">
                <a:latin typeface="Times New Roman"/>
                <a:cs typeface="Times New Roman"/>
              </a:rPr>
              <a:t>Processes</a:t>
            </a:r>
            <a:r>
              <a:rPr lang="en-US" spc="-25" dirty="0">
                <a:latin typeface="Times New Roman"/>
                <a:cs typeface="Times New Roman"/>
              </a:rPr>
              <a:t> </a:t>
            </a:r>
            <a:r>
              <a:rPr lang="en-US" dirty="0">
                <a:latin typeface="Times New Roman"/>
                <a:cs typeface="Times New Roman"/>
              </a:rPr>
              <a:t>hold</a:t>
            </a:r>
            <a:r>
              <a:rPr lang="en-US" spc="-70" dirty="0">
                <a:latin typeface="Times New Roman"/>
                <a:cs typeface="Times New Roman"/>
              </a:rPr>
              <a:t> </a:t>
            </a:r>
            <a:r>
              <a:rPr lang="en-US" dirty="0">
                <a:latin typeface="Times New Roman"/>
                <a:cs typeface="Times New Roman"/>
              </a:rPr>
              <a:t>resources already</a:t>
            </a:r>
            <a:r>
              <a:rPr lang="en-US" spc="-25" dirty="0">
                <a:latin typeface="Times New Roman"/>
                <a:cs typeface="Times New Roman"/>
              </a:rPr>
              <a:t> </a:t>
            </a:r>
            <a:r>
              <a:rPr lang="en-US" dirty="0">
                <a:latin typeface="Times New Roman"/>
                <a:cs typeface="Times New Roman"/>
              </a:rPr>
              <a:t>allocated</a:t>
            </a:r>
            <a:r>
              <a:rPr lang="en-US" spc="-45" dirty="0">
                <a:latin typeface="Times New Roman"/>
                <a:cs typeface="Times New Roman"/>
              </a:rPr>
              <a:t> </a:t>
            </a:r>
            <a:r>
              <a:rPr lang="en-US" dirty="0">
                <a:latin typeface="Times New Roman"/>
                <a:cs typeface="Times New Roman"/>
              </a:rPr>
              <a:t>to</a:t>
            </a:r>
            <a:r>
              <a:rPr lang="en-US" spc="-70" dirty="0">
                <a:latin typeface="Times New Roman"/>
                <a:cs typeface="Times New Roman"/>
              </a:rPr>
              <a:t> </a:t>
            </a:r>
            <a:r>
              <a:rPr lang="en-US" spc="-20" dirty="0">
                <a:latin typeface="Times New Roman"/>
                <a:cs typeface="Times New Roman"/>
              </a:rPr>
              <a:t>them </a:t>
            </a:r>
            <a:r>
              <a:rPr lang="en-US" dirty="0">
                <a:latin typeface="Times New Roman"/>
                <a:cs typeface="Times New Roman"/>
              </a:rPr>
              <a:t>while</a:t>
            </a:r>
            <a:r>
              <a:rPr lang="en-US" spc="-40" dirty="0">
                <a:latin typeface="Times New Roman"/>
                <a:cs typeface="Times New Roman"/>
              </a:rPr>
              <a:t> </a:t>
            </a:r>
            <a:r>
              <a:rPr lang="en-US" dirty="0">
                <a:latin typeface="Times New Roman"/>
                <a:cs typeface="Times New Roman"/>
              </a:rPr>
              <a:t>waiting</a:t>
            </a:r>
            <a:r>
              <a:rPr lang="en-US" spc="-50" dirty="0">
                <a:latin typeface="Times New Roman"/>
                <a:cs typeface="Times New Roman"/>
              </a:rPr>
              <a:t> </a:t>
            </a:r>
            <a:r>
              <a:rPr lang="en-US" dirty="0">
                <a:latin typeface="Times New Roman"/>
                <a:cs typeface="Times New Roman"/>
              </a:rPr>
              <a:t>for</a:t>
            </a:r>
            <a:r>
              <a:rPr lang="en-US" spc="-10" dirty="0">
                <a:latin typeface="Times New Roman"/>
                <a:cs typeface="Times New Roman"/>
              </a:rPr>
              <a:t> </a:t>
            </a:r>
            <a:r>
              <a:rPr lang="en-US" dirty="0">
                <a:latin typeface="Times New Roman"/>
                <a:cs typeface="Times New Roman"/>
              </a:rPr>
              <a:t>additional</a:t>
            </a:r>
            <a:r>
              <a:rPr lang="en-US" spc="-45" dirty="0">
                <a:latin typeface="Times New Roman"/>
                <a:cs typeface="Times New Roman"/>
              </a:rPr>
              <a:t> </a:t>
            </a:r>
            <a:r>
              <a:rPr lang="en-US" spc="-10" dirty="0">
                <a:latin typeface="Times New Roman"/>
                <a:cs typeface="Times New Roman"/>
              </a:rPr>
              <a:t>resources.</a:t>
            </a:r>
            <a:endParaRPr lang="en-US" dirty="0">
              <a:latin typeface="Times New Roman"/>
              <a:cs typeface="Times New Roman"/>
            </a:endParaRPr>
          </a:p>
          <a:p>
            <a:pPr marL="622300" marR="280670" indent="-609600" algn="just">
              <a:lnSpc>
                <a:spcPct val="150000"/>
              </a:lnSpc>
              <a:spcBef>
                <a:spcPts val="795"/>
              </a:spcBef>
              <a:buAutoNum type="arabicPeriod"/>
              <a:tabLst>
                <a:tab pos="622300" algn="l"/>
              </a:tabLst>
            </a:pPr>
            <a:r>
              <a:rPr lang="en-US" b="1" i="1" dirty="0">
                <a:latin typeface="Times New Roman"/>
                <a:cs typeface="Times New Roman"/>
              </a:rPr>
              <a:t>No</a:t>
            </a:r>
            <a:r>
              <a:rPr lang="en-US" b="1" i="1" spc="-40" dirty="0">
                <a:latin typeface="Times New Roman"/>
                <a:cs typeface="Times New Roman"/>
              </a:rPr>
              <a:t> </a:t>
            </a:r>
            <a:r>
              <a:rPr lang="en-US" b="1" i="1" spc="-10" dirty="0">
                <a:latin typeface="Times New Roman"/>
                <a:cs typeface="Times New Roman"/>
              </a:rPr>
              <a:t>preemption</a:t>
            </a:r>
            <a:r>
              <a:rPr lang="en-US" i="1" spc="-10" dirty="0">
                <a:latin typeface="Times New Roman"/>
                <a:cs typeface="Times New Roman"/>
              </a:rPr>
              <a:t>:</a:t>
            </a:r>
            <a:r>
              <a:rPr lang="en-US" i="1" spc="-25" dirty="0">
                <a:latin typeface="Times New Roman"/>
                <a:cs typeface="Times New Roman"/>
              </a:rPr>
              <a:t> </a:t>
            </a:r>
            <a:r>
              <a:rPr lang="en-US" dirty="0">
                <a:latin typeface="Times New Roman"/>
                <a:cs typeface="Times New Roman"/>
              </a:rPr>
              <a:t>Resources</a:t>
            </a:r>
            <a:r>
              <a:rPr lang="en-US" spc="-40" dirty="0">
                <a:latin typeface="Times New Roman"/>
                <a:cs typeface="Times New Roman"/>
              </a:rPr>
              <a:t> </a:t>
            </a:r>
            <a:r>
              <a:rPr lang="en-US" dirty="0">
                <a:latin typeface="Times New Roman"/>
                <a:cs typeface="Times New Roman"/>
              </a:rPr>
              <a:t>previously</a:t>
            </a:r>
            <a:r>
              <a:rPr lang="en-US" spc="-35" dirty="0">
                <a:latin typeface="Times New Roman"/>
                <a:cs typeface="Times New Roman"/>
              </a:rPr>
              <a:t> </a:t>
            </a:r>
            <a:r>
              <a:rPr lang="en-US" dirty="0">
                <a:latin typeface="Times New Roman"/>
                <a:cs typeface="Times New Roman"/>
              </a:rPr>
              <a:t>granted</a:t>
            </a:r>
            <a:r>
              <a:rPr lang="en-US" spc="-20" dirty="0">
                <a:latin typeface="Times New Roman"/>
                <a:cs typeface="Times New Roman"/>
              </a:rPr>
              <a:t> </a:t>
            </a:r>
            <a:r>
              <a:rPr lang="en-US" dirty="0">
                <a:latin typeface="Times New Roman"/>
                <a:cs typeface="Times New Roman"/>
              </a:rPr>
              <a:t>can</a:t>
            </a:r>
            <a:r>
              <a:rPr lang="en-US" spc="-40" dirty="0">
                <a:latin typeface="Times New Roman"/>
                <a:cs typeface="Times New Roman"/>
              </a:rPr>
              <a:t> </a:t>
            </a:r>
            <a:r>
              <a:rPr lang="en-US" dirty="0">
                <a:latin typeface="Times New Roman"/>
                <a:cs typeface="Times New Roman"/>
              </a:rPr>
              <a:t>not</a:t>
            </a:r>
            <a:r>
              <a:rPr lang="en-US" spc="-35" dirty="0">
                <a:latin typeface="Times New Roman"/>
                <a:cs typeface="Times New Roman"/>
              </a:rPr>
              <a:t> </a:t>
            </a:r>
            <a:r>
              <a:rPr lang="en-US" dirty="0">
                <a:latin typeface="Times New Roman"/>
                <a:cs typeface="Times New Roman"/>
              </a:rPr>
              <a:t>be</a:t>
            </a:r>
            <a:r>
              <a:rPr lang="en-US" spc="-45" dirty="0">
                <a:latin typeface="Times New Roman"/>
                <a:cs typeface="Times New Roman"/>
              </a:rPr>
              <a:t> </a:t>
            </a:r>
            <a:r>
              <a:rPr lang="en-US" spc="-10" dirty="0">
                <a:latin typeface="Times New Roman"/>
                <a:cs typeface="Times New Roman"/>
              </a:rPr>
              <a:t>forcibly </a:t>
            </a:r>
            <a:r>
              <a:rPr lang="en-US" dirty="0">
                <a:latin typeface="Times New Roman"/>
                <a:cs typeface="Times New Roman"/>
              </a:rPr>
              <a:t>taken</a:t>
            </a:r>
            <a:r>
              <a:rPr lang="en-US" spc="-25" dirty="0">
                <a:latin typeface="Times New Roman"/>
                <a:cs typeface="Times New Roman"/>
              </a:rPr>
              <a:t> </a:t>
            </a:r>
            <a:r>
              <a:rPr lang="en-US" dirty="0">
                <a:latin typeface="Times New Roman"/>
                <a:cs typeface="Times New Roman"/>
              </a:rPr>
              <a:t>away</a:t>
            </a:r>
            <a:r>
              <a:rPr lang="en-US" spc="-5" dirty="0">
                <a:latin typeface="Times New Roman"/>
                <a:cs typeface="Times New Roman"/>
              </a:rPr>
              <a:t> </a:t>
            </a:r>
            <a:r>
              <a:rPr lang="en-US" dirty="0">
                <a:latin typeface="Times New Roman"/>
                <a:cs typeface="Times New Roman"/>
              </a:rPr>
              <a:t>from</a:t>
            </a:r>
            <a:r>
              <a:rPr lang="en-US" spc="-20" dirty="0">
                <a:latin typeface="Times New Roman"/>
                <a:cs typeface="Times New Roman"/>
              </a:rPr>
              <a:t> </a:t>
            </a:r>
            <a:r>
              <a:rPr lang="en-US" dirty="0">
                <a:latin typeface="Times New Roman"/>
                <a:cs typeface="Times New Roman"/>
              </a:rPr>
              <a:t>the</a:t>
            </a:r>
            <a:r>
              <a:rPr lang="en-US" spc="-30" dirty="0">
                <a:latin typeface="Times New Roman"/>
                <a:cs typeface="Times New Roman"/>
              </a:rPr>
              <a:t> </a:t>
            </a:r>
            <a:r>
              <a:rPr lang="en-US" spc="-10" dirty="0">
                <a:latin typeface="Times New Roman"/>
                <a:cs typeface="Times New Roman"/>
              </a:rPr>
              <a:t>process.</a:t>
            </a:r>
            <a:endParaRPr lang="en-US" dirty="0">
              <a:latin typeface="Times New Roman"/>
              <a:cs typeface="Times New Roman"/>
            </a:endParaRPr>
          </a:p>
          <a:p>
            <a:pPr marL="622300" marR="330835" indent="-609600" algn="just">
              <a:lnSpc>
                <a:spcPct val="150000"/>
              </a:lnSpc>
              <a:spcBef>
                <a:spcPts val="819"/>
              </a:spcBef>
              <a:buAutoNum type="arabicPeriod"/>
              <a:tabLst>
                <a:tab pos="622300" algn="l"/>
              </a:tabLst>
            </a:pPr>
            <a:r>
              <a:rPr lang="en-US" b="1" i="1" dirty="0">
                <a:latin typeface="Times New Roman"/>
                <a:cs typeface="Times New Roman"/>
              </a:rPr>
              <a:t>Circular</a:t>
            </a:r>
            <a:r>
              <a:rPr lang="en-US" b="1" i="1" spc="-45" dirty="0">
                <a:latin typeface="Times New Roman"/>
                <a:cs typeface="Times New Roman"/>
              </a:rPr>
              <a:t> </a:t>
            </a:r>
            <a:r>
              <a:rPr lang="en-US" b="1" i="1" dirty="0">
                <a:latin typeface="Times New Roman"/>
                <a:cs typeface="Times New Roman"/>
              </a:rPr>
              <a:t>wait</a:t>
            </a:r>
            <a:r>
              <a:rPr lang="en-US" i="1" dirty="0">
                <a:latin typeface="Times New Roman"/>
                <a:cs typeface="Times New Roman"/>
              </a:rPr>
              <a:t>:</a:t>
            </a:r>
            <a:r>
              <a:rPr lang="en-US" i="1" spc="-60" dirty="0">
                <a:latin typeface="Times New Roman"/>
                <a:cs typeface="Times New Roman"/>
              </a:rPr>
              <a:t> </a:t>
            </a:r>
            <a:r>
              <a:rPr lang="en-US" dirty="0">
                <a:latin typeface="Times New Roman"/>
                <a:cs typeface="Times New Roman"/>
              </a:rPr>
              <a:t>Each</a:t>
            </a:r>
            <a:r>
              <a:rPr lang="en-US" spc="-45" dirty="0">
                <a:latin typeface="Times New Roman"/>
                <a:cs typeface="Times New Roman"/>
              </a:rPr>
              <a:t> </a:t>
            </a:r>
            <a:r>
              <a:rPr lang="en-US" dirty="0">
                <a:latin typeface="Times New Roman"/>
                <a:cs typeface="Times New Roman"/>
              </a:rPr>
              <a:t>process</a:t>
            </a:r>
            <a:r>
              <a:rPr lang="en-US" spc="-15" dirty="0">
                <a:latin typeface="Times New Roman"/>
                <a:cs typeface="Times New Roman"/>
              </a:rPr>
              <a:t> </a:t>
            </a:r>
            <a:r>
              <a:rPr lang="en-US" dirty="0">
                <a:latin typeface="Times New Roman"/>
                <a:cs typeface="Times New Roman"/>
              </a:rPr>
              <a:t>holds</a:t>
            </a:r>
            <a:r>
              <a:rPr lang="en-US" spc="-40" dirty="0">
                <a:latin typeface="Times New Roman"/>
                <a:cs typeface="Times New Roman"/>
              </a:rPr>
              <a:t> </a:t>
            </a:r>
            <a:r>
              <a:rPr lang="en-US" dirty="0">
                <a:latin typeface="Times New Roman"/>
                <a:cs typeface="Times New Roman"/>
              </a:rPr>
              <a:t>one</a:t>
            </a:r>
            <a:r>
              <a:rPr lang="en-US" spc="-50" dirty="0">
                <a:latin typeface="Times New Roman"/>
                <a:cs typeface="Times New Roman"/>
              </a:rPr>
              <a:t> </a:t>
            </a:r>
            <a:r>
              <a:rPr lang="en-US" dirty="0">
                <a:latin typeface="Times New Roman"/>
                <a:cs typeface="Times New Roman"/>
              </a:rPr>
              <a:t>or</a:t>
            </a:r>
            <a:r>
              <a:rPr lang="en-US" spc="-25" dirty="0">
                <a:latin typeface="Times New Roman"/>
                <a:cs typeface="Times New Roman"/>
              </a:rPr>
              <a:t> </a:t>
            </a:r>
            <a:r>
              <a:rPr lang="en-US" dirty="0">
                <a:latin typeface="Times New Roman"/>
                <a:cs typeface="Times New Roman"/>
              </a:rPr>
              <a:t>more</a:t>
            </a:r>
            <a:r>
              <a:rPr lang="en-US" spc="-50" dirty="0">
                <a:latin typeface="Times New Roman"/>
                <a:cs typeface="Times New Roman"/>
              </a:rPr>
              <a:t> </a:t>
            </a:r>
            <a:r>
              <a:rPr lang="en-US" dirty="0">
                <a:latin typeface="Times New Roman"/>
                <a:cs typeface="Times New Roman"/>
              </a:rPr>
              <a:t>resources</a:t>
            </a:r>
            <a:r>
              <a:rPr lang="en-US" spc="-20" dirty="0">
                <a:latin typeface="Times New Roman"/>
                <a:cs typeface="Times New Roman"/>
              </a:rPr>
              <a:t> </a:t>
            </a:r>
            <a:r>
              <a:rPr lang="en-US" dirty="0">
                <a:latin typeface="Times New Roman"/>
                <a:cs typeface="Times New Roman"/>
              </a:rPr>
              <a:t>that</a:t>
            </a:r>
            <a:r>
              <a:rPr lang="en-US" spc="-35" dirty="0">
                <a:latin typeface="Times New Roman"/>
                <a:cs typeface="Times New Roman"/>
              </a:rPr>
              <a:t> </a:t>
            </a:r>
            <a:r>
              <a:rPr lang="en-US" spc="-25" dirty="0">
                <a:latin typeface="Times New Roman"/>
                <a:cs typeface="Times New Roman"/>
              </a:rPr>
              <a:t>are </a:t>
            </a:r>
            <a:r>
              <a:rPr lang="en-US" dirty="0">
                <a:latin typeface="Times New Roman"/>
                <a:cs typeface="Times New Roman"/>
              </a:rPr>
              <a:t>requested</a:t>
            </a:r>
            <a:r>
              <a:rPr lang="en-US" spc="-5" dirty="0">
                <a:latin typeface="Times New Roman"/>
                <a:cs typeface="Times New Roman"/>
              </a:rPr>
              <a:t> </a:t>
            </a:r>
            <a:r>
              <a:rPr lang="en-US" dirty="0">
                <a:latin typeface="Times New Roman"/>
                <a:cs typeface="Times New Roman"/>
              </a:rPr>
              <a:t>by</a:t>
            </a:r>
            <a:r>
              <a:rPr lang="en-US" spc="-20" dirty="0">
                <a:latin typeface="Times New Roman"/>
                <a:cs typeface="Times New Roman"/>
              </a:rPr>
              <a:t> </a:t>
            </a:r>
            <a:r>
              <a:rPr lang="en-US" dirty="0">
                <a:latin typeface="Times New Roman"/>
                <a:cs typeface="Times New Roman"/>
              </a:rPr>
              <a:t>next</a:t>
            </a:r>
            <a:r>
              <a:rPr lang="en-US" spc="-20" dirty="0">
                <a:latin typeface="Times New Roman"/>
                <a:cs typeface="Times New Roman"/>
              </a:rPr>
              <a:t> </a:t>
            </a:r>
            <a:r>
              <a:rPr lang="en-US" dirty="0">
                <a:latin typeface="Times New Roman"/>
                <a:cs typeface="Times New Roman"/>
              </a:rPr>
              <a:t>process in</a:t>
            </a:r>
            <a:r>
              <a:rPr lang="en-US" spc="-45" dirty="0">
                <a:latin typeface="Times New Roman"/>
                <a:cs typeface="Times New Roman"/>
              </a:rPr>
              <a:t> </a:t>
            </a:r>
            <a:r>
              <a:rPr lang="en-US" dirty="0">
                <a:latin typeface="Times New Roman"/>
                <a:cs typeface="Times New Roman"/>
              </a:rPr>
              <a:t>the</a:t>
            </a:r>
            <a:r>
              <a:rPr lang="en-US" spc="-30" dirty="0">
                <a:latin typeface="Times New Roman"/>
                <a:cs typeface="Times New Roman"/>
              </a:rPr>
              <a:t> </a:t>
            </a:r>
            <a:r>
              <a:rPr lang="en-US" spc="-10" dirty="0">
                <a:latin typeface="Times New Roman"/>
                <a:cs typeface="Times New Roman"/>
              </a:rPr>
              <a:t>chain.</a:t>
            </a:r>
            <a:endParaRPr lang="en-US" dirty="0">
              <a:latin typeface="Times New Roman"/>
              <a:cs typeface="Times New Roman"/>
            </a:endParaRPr>
          </a:p>
          <a:p>
            <a:pPr algn="just">
              <a:lnSpc>
                <a:spcPct val="150000"/>
              </a:lnSpc>
              <a:spcBef>
                <a:spcPts val="1090"/>
              </a:spcBef>
            </a:pPr>
            <a:endParaRPr lang="en-US" dirty="0">
              <a:latin typeface="Times New Roman"/>
              <a:cs typeface="Times New Roman"/>
            </a:endParaRPr>
          </a:p>
          <a:p>
            <a:pPr marL="0" indent="0" algn="just">
              <a:lnSpc>
                <a:spcPct val="150000"/>
              </a:lnSpc>
              <a:buNone/>
            </a:pPr>
            <a:r>
              <a:rPr lang="en-US" i="1" dirty="0">
                <a:latin typeface="Times New Roman"/>
                <a:cs typeface="Times New Roman"/>
              </a:rPr>
              <a:t>A</a:t>
            </a:r>
            <a:r>
              <a:rPr lang="en-US" i="1" spc="-150" dirty="0">
                <a:latin typeface="Times New Roman"/>
                <a:cs typeface="Times New Roman"/>
              </a:rPr>
              <a:t> </a:t>
            </a:r>
            <a:r>
              <a:rPr lang="en-US" i="1" dirty="0">
                <a:latin typeface="Times New Roman"/>
                <a:cs typeface="Times New Roman"/>
              </a:rPr>
              <a:t>deadlock</a:t>
            </a:r>
            <a:r>
              <a:rPr lang="en-US" i="1" spc="-25" dirty="0">
                <a:latin typeface="Times New Roman"/>
                <a:cs typeface="Times New Roman"/>
              </a:rPr>
              <a:t> </a:t>
            </a:r>
            <a:r>
              <a:rPr lang="en-US" i="1" dirty="0">
                <a:latin typeface="Times New Roman"/>
                <a:cs typeface="Times New Roman"/>
              </a:rPr>
              <a:t>situation</a:t>
            </a:r>
            <a:r>
              <a:rPr lang="en-US" i="1" spc="-45" dirty="0">
                <a:latin typeface="Times New Roman"/>
                <a:cs typeface="Times New Roman"/>
              </a:rPr>
              <a:t> </a:t>
            </a:r>
            <a:r>
              <a:rPr lang="en-US" i="1" dirty="0">
                <a:latin typeface="Times New Roman"/>
                <a:cs typeface="Times New Roman"/>
              </a:rPr>
              <a:t>can</a:t>
            </a:r>
            <a:r>
              <a:rPr lang="en-US" i="1" spc="-5" dirty="0">
                <a:latin typeface="Times New Roman"/>
                <a:cs typeface="Times New Roman"/>
              </a:rPr>
              <a:t> </a:t>
            </a:r>
            <a:r>
              <a:rPr lang="en-US" i="1" dirty="0">
                <a:latin typeface="Times New Roman"/>
                <a:cs typeface="Times New Roman"/>
              </a:rPr>
              <a:t>arise</a:t>
            </a:r>
            <a:r>
              <a:rPr lang="en-US" i="1" spc="-30" dirty="0">
                <a:latin typeface="Times New Roman"/>
                <a:cs typeface="Times New Roman"/>
              </a:rPr>
              <a:t> </a:t>
            </a:r>
            <a:r>
              <a:rPr lang="en-US" i="1" dirty="0">
                <a:latin typeface="Times New Roman"/>
                <a:cs typeface="Times New Roman"/>
              </a:rPr>
              <a:t>if</a:t>
            </a:r>
            <a:r>
              <a:rPr lang="en-US" i="1" spc="-35" dirty="0">
                <a:latin typeface="Times New Roman"/>
                <a:cs typeface="Times New Roman"/>
              </a:rPr>
              <a:t> </a:t>
            </a:r>
            <a:r>
              <a:rPr lang="en-US" i="1" dirty="0">
                <a:latin typeface="Times New Roman"/>
                <a:cs typeface="Times New Roman"/>
              </a:rPr>
              <a:t>all</a:t>
            </a:r>
            <a:r>
              <a:rPr lang="en-US" i="1" spc="-20" dirty="0">
                <a:latin typeface="Times New Roman"/>
                <a:cs typeface="Times New Roman"/>
              </a:rPr>
              <a:t> </a:t>
            </a:r>
            <a:r>
              <a:rPr lang="en-US" i="1" dirty="0">
                <a:latin typeface="Times New Roman"/>
                <a:cs typeface="Times New Roman"/>
              </a:rPr>
              <a:t>four</a:t>
            </a:r>
            <a:r>
              <a:rPr lang="en-US" i="1" spc="-30" dirty="0">
                <a:latin typeface="Times New Roman"/>
                <a:cs typeface="Times New Roman"/>
              </a:rPr>
              <a:t> </a:t>
            </a:r>
            <a:r>
              <a:rPr lang="en-US" i="1" dirty="0">
                <a:latin typeface="Times New Roman"/>
                <a:cs typeface="Times New Roman"/>
              </a:rPr>
              <a:t>conditions</a:t>
            </a:r>
            <a:r>
              <a:rPr lang="en-US" i="1" spc="-45" dirty="0">
                <a:latin typeface="Times New Roman"/>
                <a:cs typeface="Times New Roman"/>
              </a:rPr>
              <a:t> </a:t>
            </a:r>
            <a:r>
              <a:rPr lang="en-US" i="1" dirty="0">
                <a:latin typeface="Times New Roman"/>
                <a:cs typeface="Times New Roman"/>
              </a:rPr>
              <a:t>hold</a:t>
            </a:r>
            <a:r>
              <a:rPr lang="en-US" i="1" spc="-25" dirty="0">
                <a:latin typeface="Times New Roman"/>
                <a:cs typeface="Times New Roman"/>
              </a:rPr>
              <a:t> </a:t>
            </a:r>
            <a:r>
              <a:rPr lang="en-US" i="1" spc="-10" dirty="0" smtClean="0">
                <a:latin typeface="Times New Roman"/>
                <a:cs typeface="Times New Roman"/>
              </a:rPr>
              <a:t>simultaneously</a:t>
            </a:r>
            <a:r>
              <a:rPr lang="en-US" i="1" dirty="0" smtClean="0">
                <a:latin typeface="Times New Roman"/>
                <a:cs typeface="Times New Roman"/>
              </a:rPr>
              <a:t> in </a:t>
            </a:r>
            <a:r>
              <a:rPr lang="en-US" i="1" dirty="0">
                <a:latin typeface="Times New Roman"/>
                <a:cs typeface="Times New Roman"/>
              </a:rPr>
              <a:t>the</a:t>
            </a:r>
            <a:r>
              <a:rPr lang="en-US" i="1" spc="-30" dirty="0">
                <a:latin typeface="Times New Roman"/>
                <a:cs typeface="Times New Roman"/>
              </a:rPr>
              <a:t> </a:t>
            </a:r>
            <a:r>
              <a:rPr lang="en-US" i="1" spc="-10" dirty="0">
                <a:latin typeface="Times New Roman"/>
                <a:cs typeface="Times New Roman"/>
              </a:rPr>
              <a:t>system</a:t>
            </a:r>
            <a:r>
              <a:rPr lang="en-US" i="1" spc="-10" dirty="0" smtClean="0">
                <a:latin typeface="Times New Roman"/>
                <a:cs typeface="Times New Roman"/>
              </a:rPr>
              <a:t>.</a:t>
            </a:r>
            <a:endParaRPr lang="en-US" i="1" dirty="0">
              <a:latin typeface="Times New Roman"/>
              <a:cs typeface="Times New Roman"/>
            </a:endParaRPr>
          </a:p>
        </p:txBody>
      </p:sp>
    </p:spTree>
    <p:extLst>
      <p:ext uri="{BB962C8B-B14F-4D97-AF65-F5344CB8AC3E}">
        <p14:creationId xmlns:p14="http://schemas.microsoft.com/office/powerpoint/2010/main" val="30918898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7534"/>
          </a:xfrm>
        </p:spPr>
        <p:txBody>
          <a:bodyPr/>
          <a:lstStyle/>
          <a:p>
            <a:pPr algn="ctr"/>
            <a:r>
              <a:rPr lang="en-US" b="1" dirty="0">
                <a:latin typeface="Times New Roman" panose="02020603050405020304" pitchFamily="18" charset="0"/>
                <a:cs typeface="Times New Roman" panose="02020603050405020304" pitchFamily="18" charset="0"/>
              </a:rPr>
              <a:t>Handling</a:t>
            </a:r>
            <a:r>
              <a:rPr lang="en-US" b="1" spc="-170"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Deadlocks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02660"/>
            <a:ext cx="10515600" cy="5074303"/>
          </a:xfrm>
        </p:spPr>
        <p:txBody>
          <a:bodyPr>
            <a:normAutofit lnSpcReduction="10000"/>
          </a:bodyPr>
          <a:lstStyle/>
          <a:p>
            <a:pPr marL="0" indent="0" algn="just">
              <a:lnSpc>
                <a:spcPct val="150000"/>
              </a:lnSpc>
              <a:spcBef>
                <a:spcPts val="565"/>
              </a:spcBef>
              <a:buNone/>
            </a:pPr>
            <a:r>
              <a:rPr lang="en-US" sz="2400" dirty="0">
                <a:latin typeface="Times New Roman"/>
                <a:cs typeface="Times New Roman"/>
              </a:rPr>
              <a:t>Deadlock</a:t>
            </a:r>
            <a:r>
              <a:rPr lang="en-US" sz="2400" spc="-90" dirty="0">
                <a:latin typeface="Times New Roman"/>
                <a:cs typeface="Times New Roman"/>
              </a:rPr>
              <a:t> </a:t>
            </a:r>
            <a:r>
              <a:rPr lang="en-US" sz="2400" dirty="0">
                <a:latin typeface="Times New Roman"/>
                <a:cs typeface="Times New Roman"/>
              </a:rPr>
              <a:t>handling</a:t>
            </a:r>
            <a:r>
              <a:rPr lang="en-US" sz="2400" spc="-120" dirty="0">
                <a:latin typeface="Times New Roman"/>
                <a:cs typeface="Times New Roman"/>
              </a:rPr>
              <a:t> </a:t>
            </a:r>
            <a:r>
              <a:rPr lang="en-US" sz="2400" spc="-10" dirty="0" smtClean="0">
                <a:latin typeface="Times New Roman"/>
                <a:cs typeface="Times New Roman"/>
              </a:rPr>
              <a:t>strategies:</a:t>
            </a:r>
          </a:p>
          <a:p>
            <a:pPr lvl="1" algn="just">
              <a:lnSpc>
                <a:spcPct val="150000"/>
              </a:lnSpc>
              <a:spcBef>
                <a:spcPts val="565"/>
              </a:spcBef>
            </a:pPr>
            <a:r>
              <a:rPr lang="en-US" sz="2000" spc="-80" dirty="0" smtClean="0">
                <a:latin typeface="Times New Roman"/>
                <a:cs typeface="Times New Roman"/>
              </a:rPr>
              <a:t>We</a:t>
            </a:r>
            <a:r>
              <a:rPr lang="en-US" sz="2000" spc="-25" dirty="0" smtClean="0">
                <a:latin typeface="Times New Roman"/>
                <a:cs typeface="Times New Roman"/>
              </a:rPr>
              <a:t> </a:t>
            </a:r>
            <a:r>
              <a:rPr lang="en-US" sz="2000" dirty="0">
                <a:latin typeface="Times New Roman"/>
                <a:cs typeface="Times New Roman"/>
              </a:rPr>
              <a:t>can</a:t>
            </a:r>
            <a:r>
              <a:rPr lang="en-US" sz="2000" spc="-30" dirty="0">
                <a:latin typeface="Times New Roman"/>
                <a:cs typeface="Times New Roman"/>
              </a:rPr>
              <a:t> </a:t>
            </a:r>
            <a:r>
              <a:rPr lang="en-US" sz="2000" dirty="0">
                <a:latin typeface="Times New Roman"/>
                <a:cs typeface="Times New Roman"/>
              </a:rPr>
              <a:t>use</a:t>
            </a:r>
            <a:r>
              <a:rPr lang="en-US" sz="2000" spc="-70" dirty="0">
                <a:latin typeface="Times New Roman"/>
                <a:cs typeface="Times New Roman"/>
              </a:rPr>
              <a:t> </a:t>
            </a:r>
            <a:r>
              <a:rPr lang="en-US" sz="2000" dirty="0">
                <a:latin typeface="Times New Roman"/>
                <a:cs typeface="Times New Roman"/>
              </a:rPr>
              <a:t>a</a:t>
            </a:r>
            <a:r>
              <a:rPr lang="en-US" sz="2000" spc="-20" dirty="0">
                <a:latin typeface="Times New Roman"/>
                <a:cs typeface="Times New Roman"/>
              </a:rPr>
              <a:t> </a:t>
            </a:r>
            <a:r>
              <a:rPr lang="en-US" sz="2000" dirty="0">
                <a:latin typeface="Times New Roman"/>
                <a:cs typeface="Times New Roman"/>
              </a:rPr>
              <a:t>protocol</a:t>
            </a:r>
            <a:r>
              <a:rPr lang="en-US" sz="2000" spc="-80" dirty="0">
                <a:latin typeface="Times New Roman"/>
                <a:cs typeface="Times New Roman"/>
              </a:rPr>
              <a:t> </a:t>
            </a:r>
            <a:r>
              <a:rPr lang="en-US" sz="2000" dirty="0">
                <a:latin typeface="Times New Roman"/>
                <a:cs typeface="Times New Roman"/>
              </a:rPr>
              <a:t>to</a:t>
            </a:r>
            <a:r>
              <a:rPr lang="en-US" sz="2000" spc="-25" dirty="0">
                <a:latin typeface="Times New Roman"/>
                <a:cs typeface="Times New Roman"/>
              </a:rPr>
              <a:t> </a:t>
            </a:r>
            <a:r>
              <a:rPr lang="en-US" sz="2000" i="1" dirty="0">
                <a:latin typeface="Times New Roman"/>
                <a:cs typeface="Times New Roman"/>
              </a:rPr>
              <a:t>prevent</a:t>
            </a:r>
            <a:r>
              <a:rPr lang="en-US" sz="2000" i="1" spc="-100" dirty="0">
                <a:latin typeface="Times New Roman"/>
                <a:cs typeface="Times New Roman"/>
              </a:rPr>
              <a:t> </a:t>
            </a:r>
            <a:r>
              <a:rPr lang="en-US" sz="2000" dirty="0">
                <a:latin typeface="Times New Roman"/>
                <a:cs typeface="Times New Roman"/>
              </a:rPr>
              <a:t>or</a:t>
            </a:r>
            <a:r>
              <a:rPr lang="en-US" sz="2000" spc="-20" dirty="0">
                <a:latin typeface="Times New Roman"/>
                <a:cs typeface="Times New Roman"/>
              </a:rPr>
              <a:t> </a:t>
            </a:r>
            <a:r>
              <a:rPr lang="en-US" sz="2000" i="1" spc="-10" dirty="0">
                <a:latin typeface="Times New Roman"/>
                <a:cs typeface="Times New Roman"/>
              </a:rPr>
              <a:t>avoid </a:t>
            </a:r>
            <a:r>
              <a:rPr lang="en-US" sz="2000" dirty="0">
                <a:latin typeface="Times New Roman"/>
                <a:cs typeface="Times New Roman"/>
              </a:rPr>
              <a:t>deadlocks,</a:t>
            </a:r>
            <a:r>
              <a:rPr lang="en-US" sz="2000" spc="-65" dirty="0">
                <a:latin typeface="Times New Roman"/>
                <a:cs typeface="Times New Roman"/>
              </a:rPr>
              <a:t> </a:t>
            </a:r>
            <a:r>
              <a:rPr lang="en-US" sz="2000" dirty="0">
                <a:latin typeface="Times New Roman"/>
                <a:cs typeface="Times New Roman"/>
              </a:rPr>
              <a:t>ensuring</a:t>
            </a:r>
            <a:r>
              <a:rPr lang="en-US" sz="2000" spc="-50" dirty="0">
                <a:latin typeface="Times New Roman"/>
                <a:cs typeface="Times New Roman"/>
              </a:rPr>
              <a:t> </a:t>
            </a:r>
            <a:r>
              <a:rPr lang="en-US" sz="2000" dirty="0">
                <a:latin typeface="Times New Roman"/>
                <a:cs typeface="Times New Roman"/>
              </a:rPr>
              <a:t>that</a:t>
            </a:r>
            <a:r>
              <a:rPr lang="en-US" sz="2000" spc="-50" dirty="0">
                <a:latin typeface="Times New Roman"/>
                <a:cs typeface="Times New Roman"/>
              </a:rPr>
              <a:t> </a:t>
            </a:r>
            <a:r>
              <a:rPr lang="en-US" sz="2000" dirty="0">
                <a:latin typeface="Times New Roman"/>
                <a:cs typeface="Times New Roman"/>
              </a:rPr>
              <a:t>the</a:t>
            </a:r>
            <a:r>
              <a:rPr lang="en-US" sz="2000" spc="-15" dirty="0">
                <a:latin typeface="Times New Roman"/>
                <a:cs typeface="Times New Roman"/>
              </a:rPr>
              <a:t> </a:t>
            </a:r>
            <a:r>
              <a:rPr lang="en-US" sz="2000" dirty="0">
                <a:latin typeface="Times New Roman"/>
                <a:cs typeface="Times New Roman"/>
              </a:rPr>
              <a:t>system</a:t>
            </a:r>
            <a:r>
              <a:rPr lang="en-US" sz="2000" spc="-40" dirty="0">
                <a:latin typeface="Times New Roman"/>
                <a:cs typeface="Times New Roman"/>
              </a:rPr>
              <a:t> </a:t>
            </a:r>
            <a:r>
              <a:rPr lang="en-US" sz="2000" dirty="0">
                <a:latin typeface="Times New Roman"/>
                <a:cs typeface="Times New Roman"/>
              </a:rPr>
              <a:t>never</a:t>
            </a:r>
            <a:r>
              <a:rPr lang="en-US" sz="2000" spc="-40" dirty="0">
                <a:latin typeface="Times New Roman"/>
                <a:cs typeface="Times New Roman"/>
              </a:rPr>
              <a:t> </a:t>
            </a:r>
            <a:r>
              <a:rPr lang="en-US" sz="2000" dirty="0">
                <a:latin typeface="Times New Roman"/>
                <a:cs typeface="Times New Roman"/>
              </a:rPr>
              <a:t>enter</a:t>
            </a:r>
            <a:r>
              <a:rPr lang="en-US" sz="2000" spc="-35" dirty="0">
                <a:latin typeface="Times New Roman"/>
                <a:cs typeface="Times New Roman"/>
              </a:rPr>
              <a:t> </a:t>
            </a:r>
            <a:r>
              <a:rPr lang="en-US" sz="2000" spc="-50" dirty="0">
                <a:latin typeface="Times New Roman"/>
                <a:cs typeface="Times New Roman"/>
              </a:rPr>
              <a:t>a </a:t>
            </a:r>
            <a:r>
              <a:rPr lang="en-US" sz="2000" dirty="0">
                <a:latin typeface="Times New Roman"/>
                <a:cs typeface="Times New Roman"/>
              </a:rPr>
              <a:t>deadlock</a:t>
            </a:r>
            <a:r>
              <a:rPr lang="en-US" sz="2000" spc="-70" dirty="0">
                <a:latin typeface="Times New Roman"/>
                <a:cs typeface="Times New Roman"/>
              </a:rPr>
              <a:t> </a:t>
            </a:r>
            <a:r>
              <a:rPr lang="en-US" sz="2000" spc="-10" dirty="0" smtClean="0">
                <a:latin typeface="Times New Roman"/>
                <a:cs typeface="Times New Roman"/>
              </a:rPr>
              <a:t>state.</a:t>
            </a:r>
          </a:p>
          <a:p>
            <a:pPr lvl="1" algn="just">
              <a:lnSpc>
                <a:spcPct val="150000"/>
              </a:lnSpc>
              <a:spcBef>
                <a:spcPts val="565"/>
              </a:spcBef>
            </a:pPr>
            <a:r>
              <a:rPr lang="en-US" sz="2000" spc="-80" dirty="0" smtClean="0">
                <a:latin typeface="Times New Roman"/>
                <a:cs typeface="Times New Roman"/>
              </a:rPr>
              <a:t>We</a:t>
            </a:r>
            <a:r>
              <a:rPr lang="en-US" sz="2000" spc="-5" dirty="0" smtClean="0">
                <a:latin typeface="Times New Roman"/>
                <a:cs typeface="Times New Roman"/>
              </a:rPr>
              <a:t> </a:t>
            </a:r>
            <a:r>
              <a:rPr lang="en-US" sz="2000" dirty="0">
                <a:latin typeface="Times New Roman"/>
                <a:cs typeface="Times New Roman"/>
              </a:rPr>
              <a:t>can</a:t>
            </a:r>
            <a:r>
              <a:rPr lang="en-US" sz="2000" spc="-15" dirty="0">
                <a:latin typeface="Times New Roman"/>
                <a:cs typeface="Times New Roman"/>
              </a:rPr>
              <a:t> </a:t>
            </a:r>
            <a:r>
              <a:rPr lang="en-US" sz="2000" dirty="0">
                <a:latin typeface="Times New Roman"/>
                <a:cs typeface="Times New Roman"/>
              </a:rPr>
              <a:t>allow</a:t>
            </a:r>
            <a:r>
              <a:rPr lang="en-US" sz="2000" spc="-65" dirty="0">
                <a:latin typeface="Times New Roman"/>
                <a:cs typeface="Times New Roman"/>
              </a:rPr>
              <a:t> </a:t>
            </a:r>
            <a:r>
              <a:rPr lang="en-US" sz="2000" dirty="0">
                <a:latin typeface="Times New Roman"/>
                <a:cs typeface="Times New Roman"/>
              </a:rPr>
              <a:t>the</a:t>
            </a:r>
            <a:r>
              <a:rPr lang="en-US" sz="2000" spc="-55" dirty="0">
                <a:latin typeface="Times New Roman"/>
                <a:cs typeface="Times New Roman"/>
              </a:rPr>
              <a:t> </a:t>
            </a:r>
            <a:r>
              <a:rPr lang="en-US" sz="2000" dirty="0">
                <a:latin typeface="Times New Roman"/>
                <a:cs typeface="Times New Roman"/>
              </a:rPr>
              <a:t>system</a:t>
            </a:r>
            <a:r>
              <a:rPr lang="en-US" sz="2000" spc="-30" dirty="0">
                <a:latin typeface="Times New Roman"/>
                <a:cs typeface="Times New Roman"/>
              </a:rPr>
              <a:t> </a:t>
            </a:r>
            <a:r>
              <a:rPr lang="en-US" sz="2000" dirty="0">
                <a:latin typeface="Times New Roman"/>
                <a:cs typeface="Times New Roman"/>
              </a:rPr>
              <a:t>to</a:t>
            </a:r>
            <a:r>
              <a:rPr lang="en-US" sz="2000" spc="-15" dirty="0">
                <a:latin typeface="Times New Roman"/>
                <a:cs typeface="Times New Roman"/>
              </a:rPr>
              <a:t> </a:t>
            </a:r>
            <a:r>
              <a:rPr lang="en-US" sz="2000" dirty="0">
                <a:latin typeface="Times New Roman"/>
                <a:cs typeface="Times New Roman"/>
              </a:rPr>
              <a:t>enter</a:t>
            </a:r>
            <a:r>
              <a:rPr lang="en-US" sz="2000" spc="-55" dirty="0">
                <a:latin typeface="Times New Roman"/>
                <a:cs typeface="Times New Roman"/>
              </a:rPr>
              <a:t> </a:t>
            </a:r>
            <a:r>
              <a:rPr lang="en-US" sz="2000" dirty="0">
                <a:latin typeface="Times New Roman"/>
                <a:cs typeface="Times New Roman"/>
              </a:rPr>
              <a:t>a</a:t>
            </a:r>
            <a:r>
              <a:rPr lang="en-US" sz="2000" spc="-30" dirty="0">
                <a:latin typeface="Times New Roman"/>
                <a:cs typeface="Times New Roman"/>
              </a:rPr>
              <a:t> </a:t>
            </a:r>
            <a:r>
              <a:rPr lang="en-US" sz="2000" dirty="0">
                <a:latin typeface="Times New Roman"/>
                <a:cs typeface="Times New Roman"/>
              </a:rPr>
              <a:t>deadlock</a:t>
            </a:r>
            <a:r>
              <a:rPr lang="en-US" sz="2000" spc="-65" dirty="0">
                <a:latin typeface="Times New Roman"/>
                <a:cs typeface="Times New Roman"/>
              </a:rPr>
              <a:t> </a:t>
            </a:r>
            <a:r>
              <a:rPr lang="en-US" sz="2000" spc="-10" dirty="0" smtClean="0">
                <a:latin typeface="Times New Roman"/>
                <a:cs typeface="Times New Roman"/>
              </a:rPr>
              <a:t>state,</a:t>
            </a:r>
            <a:r>
              <a:rPr lang="en-US" sz="2000" dirty="0" smtClean="0">
                <a:latin typeface="Times New Roman"/>
                <a:cs typeface="Times New Roman"/>
              </a:rPr>
              <a:t> </a:t>
            </a:r>
            <a:r>
              <a:rPr lang="en-US" sz="2000" i="1" dirty="0" smtClean="0">
                <a:latin typeface="Times New Roman"/>
                <a:cs typeface="Times New Roman"/>
              </a:rPr>
              <a:t>detect</a:t>
            </a:r>
            <a:r>
              <a:rPr lang="en-US" sz="2000" i="1" spc="-45" dirty="0" smtClean="0">
                <a:latin typeface="Times New Roman"/>
                <a:cs typeface="Times New Roman"/>
              </a:rPr>
              <a:t> </a:t>
            </a:r>
            <a:r>
              <a:rPr lang="en-US" sz="2000" dirty="0">
                <a:latin typeface="Times New Roman"/>
                <a:cs typeface="Times New Roman"/>
              </a:rPr>
              <a:t>it,</a:t>
            </a:r>
            <a:r>
              <a:rPr lang="en-US" sz="2000" spc="-20" dirty="0">
                <a:latin typeface="Times New Roman"/>
                <a:cs typeface="Times New Roman"/>
              </a:rPr>
              <a:t> </a:t>
            </a:r>
            <a:r>
              <a:rPr lang="en-US" sz="2000" dirty="0">
                <a:latin typeface="Times New Roman"/>
                <a:cs typeface="Times New Roman"/>
              </a:rPr>
              <a:t>and</a:t>
            </a:r>
            <a:r>
              <a:rPr lang="en-US" sz="2000" spc="-20" dirty="0">
                <a:latin typeface="Times New Roman"/>
                <a:cs typeface="Times New Roman"/>
              </a:rPr>
              <a:t> </a:t>
            </a:r>
            <a:r>
              <a:rPr lang="en-US" sz="2000" i="1" spc="-10" dirty="0" smtClean="0">
                <a:latin typeface="Times New Roman"/>
                <a:cs typeface="Times New Roman"/>
              </a:rPr>
              <a:t>recover</a:t>
            </a:r>
            <a:r>
              <a:rPr lang="en-US" sz="2000" spc="-10" dirty="0" smtClean="0">
                <a:latin typeface="Times New Roman"/>
                <a:cs typeface="Times New Roman"/>
              </a:rPr>
              <a:t>.</a:t>
            </a:r>
          </a:p>
          <a:p>
            <a:pPr lvl="1" algn="just">
              <a:lnSpc>
                <a:spcPct val="150000"/>
              </a:lnSpc>
              <a:spcBef>
                <a:spcPts val="565"/>
              </a:spcBef>
            </a:pPr>
            <a:r>
              <a:rPr lang="en-US" sz="2000" spc="-80" dirty="0" smtClean="0">
                <a:latin typeface="Times New Roman"/>
                <a:cs typeface="Times New Roman"/>
              </a:rPr>
              <a:t>We</a:t>
            </a:r>
            <a:r>
              <a:rPr lang="en-US" sz="2000" spc="-35" dirty="0" smtClean="0">
                <a:latin typeface="Times New Roman"/>
                <a:cs typeface="Times New Roman"/>
              </a:rPr>
              <a:t> </a:t>
            </a:r>
            <a:r>
              <a:rPr lang="en-US" sz="2000" dirty="0">
                <a:latin typeface="Times New Roman"/>
                <a:cs typeface="Times New Roman"/>
              </a:rPr>
              <a:t>can</a:t>
            </a:r>
            <a:r>
              <a:rPr lang="en-US" sz="2000" spc="-30" dirty="0">
                <a:latin typeface="Times New Roman"/>
                <a:cs typeface="Times New Roman"/>
              </a:rPr>
              <a:t> </a:t>
            </a:r>
            <a:r>
              <a:rPr lang="en-US" sz="2000" dirty="0">
                <a:latin typeface="Times New Roman"/>
                <a:cs typeface="Times New Roman"/>
              </a:rPr>
              <a:t>ignore</a:t>
            </a:r>
            <a:r>
              <a:rPr lang="en-US" sz="2000" spc="-90" dirty="0">
                <a:latin typeface="Times New Roman"/>
                <a:cs typeface="Times New Roman"/>
              </a:rPr>
              <a:t> </a:t>
            </a:r>
            <a:r>
              <a:rPr lang="en-US" sz="2000" spc="-25" dirty="0" smtClean="0">
                <a:latin typeface="Times New Roman"/>
                <a:cs typeface="Times New Roman"/>
              </a:rPr>
              <a:t>the</a:t>
            </a:r>
            <a:r>
              <a:rPr lang="en-US" sz="2000" dirty="0" smtClean="0">
                <a:latin typeface="Times New Roman"/>
                <a:cs typeface="Times New Roman"/>
              </a:rPr>
              <a:t> problem</a:t>
            </a:r>
            <a:r>
              <a:rPr lang="en-US" sz="2000" spc="-95" dirty="0" smtClean="0">
                <a:latin typeface="Times New Roman"/>
                <a:cs typeface="Times New Roman"/>
              </a:rPr>
              <a:t> </a:t>
            </a:r>
            <a:r>
              <a:rPr lang="en-US" sz="2000" dirty="0">
                <a:latin typeface="Times New Roman"/>
                <a:cs typeface="Times New Roman"/>
              </a:rPr>
              <a:t>all</a:t>
            </a:r>
            <a:r>
              <a:rPr lang="en-US" sz="2000" spc="-30" dirty="0">
                <a:latin typeface="Times New Roman"/>
                <a:cs typeface="Times New Roman"/>
              </a:rPr>
              <a:t> </a:t>
            </a:r>
            <a:r>
              <a:rPr lang="en-US" sz="2000" dirty="0">
                <a:latin typeface="Times New Roman"/>
                <a:cs typeface="Times New Roman"/>
              </a:rPr>
              <a:t>to</a:t>
            </a:r>
            <a:r>
              <a:rPr lang="en-US" sz="2000" spc="-60" dirty="0">
                <a:latin typeface="Times New Roman"/>
                <a:cs typeface="Times New Roman"/>
              </a:rPr>
              <a:t> </a:t>
            </a:r>
            <a:r>
              <a:rPr lang="en-US" sz="2000" dirty="0">
                <a:latin typeface="Times New Roman"/>
                <a:cs typeface="Times New Roman"/>
              </a:rPr>
              <a:t>gather,</a:t>
            </a:r>
            <a:r>
              <a:rPr lang="en-US" sz="2000" spc="-75" dirty="0">
                <a:latin typeface="Times New Roman"/>
                <a:cs typeface="Times New Roman"/>
              </a:rPr>
              <a:t> </a:t>
            </a:r>
            <a:r>
              <a:rPr lang="en-US" sz="2000" spc="-25" dirty="0">
                <a:latin typeface="Times New Roman"/>
                <a:cs typeface="Times New Roman"/>
              </a:rPr>
              <a:t>and </a:t>
            </a:r>
            <a:r>
              <a:rPr lang="en-US" sz="2000" dirty="0">
                <a:latin typeface="Times New Roman"/>
                <a:cs typeface="Times New Roman"/>
              </a:rPr>
              <a:t>pretended</a:t>
            </a:r>
            <a:r>
              <a:rPr lang="en-US" sz="2000" spc="-5" dirty="0">
                <a:latin typeface="Times New Roman"/>
                <a:cs typeface="Times New Roman"/>
              </a:rPr>
              <a:t> </a:t>
            </a:r>
            <a:r>
              <a:rPr lang="en-US" sz="2000" dirty="0">
                <a:latin typeface="Times New Roman"/>
                <a:cs typeface="Times New Roman"/>
              </a:rPr>
              <a:t>that</a:t>
            </a:r>
            <a:r>
              <a:rPr lang="en-US" sz="2000" spc="-75" dirty="0">
                <a:latin typeface="Times New Roman"/>
                <a:cs typeface="Times New Roman"/>
              </a:rPr>
              <a:t> </a:t>
            </a:r>
            <a:r>
              <a:rPr lang="en-US" sz="2000" dirty="0">
                <a:latin typeface="Times New Roman"/>
                <a:cs typeface="Times New Roman"/>
              </a:rPr>
              <a:t>deadlock</a:t>
            </a:r>
            <a:r>
              <a:rPr lang="en-US" sz="2000" spc="-50" dirty="0">
                <a:latin typeface="Times New Roman"/>
                <a:cs typeface="Times New Roman"/>
              </a:rPr>
              <a:t> </a:t>
            </a:r>
            <a:r>
              <a:rPr lang="en-US" sz="2000" dirty="0">
                <a:latin typeface="Times New Roman"/>
                <a:cs typeface="Times New Roman"/>
              </a:rPr>
              <a:t>never</a:t>
            </a:r>
            <a:r>
              <a:rPr lang="en-US" sz="2000" spc="-45" dirty="0">
                <a:latin typeface="Times New Roman"/>
                <a:cs typeface="Times New Roman"/>
              </a:rPr>
              <a:t> </a:t>
            </a:r>
            <a:r>
              <a:rPr lang="en-US" sz="2000" dirty="0">
                <a:latin typeface="Times New Roman"/>
                <a:cs typeface="Times New Roman"/>
              </a:rPr>
              <a:t>occur</a:t>
            </a:r>
            <a:r>
              <a:rPr lang="en-US" sz="2000" spc="-40" dirty="0">
                <a:latin typeface="Times New Roman"/>
                <a:cs typeface="Times New Roman"/>
              </a:rPr>
              <a:t> </a:t>
            </a:r>
            <a:r>
              <a:rPr lang="en-US" sz="2000" dirty="0">
                <a:latin typeface="Times New Roman"/>
                <a:cs typeface="Times New Roman"/>
              </a:rPr>
              <a:t>in</a:t>
            </a:r>
            <a:r>
              <a:rPr lang="en-US" sz="2000" spc="-5" dirty="0">
                <a:latin typeface="Times New Roman"/>
                <a:cs typeface="Times New Roman"/>
              </a:rPr>
              <a:t> </a:t>
            </a:r>
            <a:r>
              <a:rPr lang="en-US" sz="2000" dirty="0">
                <a:latin typeface="Times New Roman"/>
                <a:cs typeface="Times New Roman"/>
              </a:rPr>
              <a:t>the</a:t>
            </a:r>
            <a:r>
              <a:rPr lang="en-US" sz="2000" spc="-40" dirty="0">
                <a:latin typeface="Times New Roman"/>
                <a:cs typeface="Times New Roman"/>
              </a:rPr>
              <a:t> </a:t>
            </a:r>
            <a:r>
              <a:rPr lang="en-US" sz="2000" spc="-10" dirty="0" smtClean="0">
                <a:latin typeface="Times New Roman"/>
                <a:cs typeface="Times New Roman"/>
              </a:rPr>
              <a:t>system</a:t>
            </a:r>
          </a:p>
          <a:p>
            <a:pPr algn="just">
              <a:lnSpc>
                <a:spcPct val="150000"/>
              </a:lnSpc>
              <a:spcBef>
                <a:spcPts val="565"/>
              </a:spcBef>
            </a:pPr>
            <a:r>
              <a:rPr lang="en-US" sz="2000" dirty="0"/>
              <a:t>There are mainly four methods for handling deadlock</a:t>
            </a:r>
            <a:r>
              <a:rPr lang="en-US" sz="2000" dirty="0" smtClean="0"/>
              <a:t>.</a:t>
            </a:r>
            <a:endParaRPr lang="en-US" sz="2000" dirty="0"/>
          </a:p>
          <a:p>
            <a:pPr marL="457200" lvl="1" indent="0">
              <a:lnSpc>
                <a:spcPct val="150000"/>
              </a:lnSpc>
              <a:buNone/>
            </a:pPr>
            <a:r>
              <a:rPr lang="en-US" sz="2000" dirty="0">
                <a:latin typeface="Times New Roman" panose="02020603050405020304" pitchFamily="18" charset="0"/>
                <a:cs typeface="Times New Roman" panose="02020603050405020304" pitchFamily="18" charset="0"/>
              </a:rPr>
              <a:t>1</a:t>
            </a:r>
            <a:r>
              <a:rPr lang="en-US" sz="2000" b="1" dirty="0" smtClean="0">
                <a:latin typeface="Times New Roman" panose="02020603050405020304" pitchFamily="18" charset="0"/>
                <a:cs typeface="Times New Roman" panose="02020603050405020304" pitchFamily="18" charset="0"/>
              </a:rPr>
              <a:t>. Deadlock Prevention</a:t>
            </a:r>
          </a:p>
          <a:p>
            <a:pPr marL="457200" lvl="1" indent="0">
              <a:lnSpc>
                <a:spcPct val="150000"/>
              </a:lnSpc>
              <a:buNone/>
            </a:pPr>
            <a:r>
              <a:rPr lang="en-US" sz="2000" b="1" dirty="0" smtClean="0">
                <a:latin typeface="Times New Roman" panose="02020603050405020304" pitchFamily="18" charset="0"/>
                <a:cs typeface="Times New Roman" panose="02020603050405020304" pitchFamily="18" charset="0"/>
              </a:rPr>
              <a:t>2. Deadlock Ignorance(Ostrich Algorithm)</a:t>
            </a:r>
            <a:endParaRPr lang="en-US" sz="2000" b="1" dirty="0">
              <a:latin typeface="Times New Roman" panose="02020603050405020304" pitchFamily="18" charset="0"/>
              <a:cs typeface="Times New Roman" panose="02020603050405020304" pitchFamily="18" charset="0"/>
            </a:endParaRPr>
          </a:p>
          <a:p>
            <a:pPr marL="457200" lvl="1" indent="0">
              <a:lnSpc>
                <a:spcPct val="150000"/>
              </a:lnSpc>
              <a:buNone/>
            </a:pPr>
            <a:r>
              <a:rPr lang="en-US" sz="2000" b="1" dirty="0">
                <a:latin typeface="Times New Roman" panose="02020603050405020304" pitchFamily="18" charset="0"/>
                <a:cs typeface="Times New Roman" panose="02020603050405020304" pitchFamily="18" charset="0"/>
              </a:rPr>
              <a:t>3</a:t>
            </a:r>
            <a:r>
              <a:rPr lang="en-US" sz="2000" b="1" dirty="0" smtClean="0">
                <a:latin typeface="Times New Roman" panose="02020603050405020304" pitchFamily="18" charset="0"/>
                <a:cs typeface="Times New Roman" panose="02020603050405020304" pitchFamily="18" charset="0"/>
              </a:rPr>
              <a:t>. Deadlock </a:t>
            </a:r>
            <a:r>
              <a:rPr lang="en-US" sz="2000" b="1" dirty="0">
                <a:latin typeface="Times New Roman" panose="02020603050405020304" pitchFamily="18" charset="0"/>
                <a:cs typeface="Times New Roman" panose="02020603050405020304" pitchFamily="18" charset="0"/>
              </a:rPr>
              <a:t>Avoidance (Banker’s Algorithm)</a:t>
            </a:r>
          </a:p>
          <a:p>
            <a:pPr marL="457200" lvl="1" indent="0">
              <a:lnSpc>
                <a:spcPct val="150000"/>
              </a:lnSpc>
              <a:buNone/>
            </a:pPr>
            <a:r>
              <a:rPr lang="en-US" sz="2000" b="1" dirty="0" smtClean="0">
                <a:latin typeface="Times New Roman" panose="02020603050405020304" pitchFamily="18" charset="0"/>
                <a:cs typeface="Times New Roman" panose="02020603050405020304" pitchFamily="18" charset="0"/>
              </a:rPr>
              <a:t>4. Deadlock Detection and Recovery </a:t>
            </a:r>
            <a:r>
              <a:rPr lang="en-US" sz="2000" b="1" dirty="0">
                <a:latin typeface="Times New Roman" panose="02020603050405020304" pitchFamily="18" charset="0"/>
                <a:cs typeface="Times New Roman" panose="02020603050405020304" pitchFamily="18" charset="0"/>
              </a:rPr>
              <a:t>(Resource Allocation Graph)</a:t>
            </a:r>
          </a:p>
          <a:p>
            <a:pPr algn="just">
              <a:lnSpc>
                <a:spcPct val="150000"/>
              </a:lnSpc>
              <a:spcBef>
                <a:spcPts val="565"/>
              </a:spcBef>
            </a:pPr>
            <a:endParaRPr lang="en-US" sz="2000" dirty="0" smtClean="0"/>
          </a:p>
        </p:txBody>
      </p:sp>
    </p:spTree>
    <p:extLst>
      <p:ext uri="{BB962C8B-B14F-4D97-AF65-F5344CB8AC3E}">
        <p14:creationId xmlns:p14="http://schemas.microsoft.com/office/powerpoint/2010/main" val="15785933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3746"/>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Deadlock</a:t>
            </a:r>
            <a:r>
              <a:rPr lang="en-US" b="1" spc="-165" dirty="0">
                <a:solidFill>
                  <a:srgbClr val="FF0000"/>
                </a:solidFill>
                <a:latin typeface="Times New Roman" panose="02020603050405020304" pitchFamily="18" charset="0"/>
                <a:cs typeface="Times New Roman" panose="02020603050405020304" pitchFamily="18" charset="0"/>
              </a:rPr>
              <a:t> </a:t>
            </a:r>
            <a:r>
              <a:rPr lang="en-US" b="1" spc="-10" dirty="0">
                <a:solidFill>
                  <a:srgbClr val="FF0000"/>
                </a:solidFill>
                <a:latin typeface="Times New Roman" panose="02020603050405020304" pitchFamily="18" charset="0"/>
                <a:cs typeface="Times New Roman" panose="02020603050405020304" pitchFamily="18" charset="0"/>
              </a:rPr>
              <a:t>prevention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8872"/>
            <a:ext cx="10515600" cy="5128091"/>
          </a:xfrm>
        </p:spPr>
        <p:txBody>
          <a:bodyPr>
            <a:normAutofit fontScale="62500" lnSpcReduction="20000"/>
          </a:bodyPr>
          <a:lstStyle/>
          <a:p>
            <a:pPr marL="12065" marR="5080" indent="0" algn="just">
              <a:lnSpc>
                <a:spcPct val="150000"/>
              </a:lnSpc>
              <a:spcBef>
                <a:spcPts val="405"/>
              </a:spcBef>
              <a:buNone/>
            </a:pPr>
            <a:r>
              <a:rPr lang="en-US" dirty="0">
                <a:solidFill>
                  <a:srgbClr val="3333CC"/>
                </a:solidFill>
                <a:latin typeface="Times New Roman"/>
                <a:cs typeface="Times New Roman"/>
              </a:rPr>
              <a:t>Fact:</a:t>
            </a:r>
            <a:r>
              <a:rPr lang="en-US" spc="-40" dirty="0">
                <a:solidFill>
                  <a:srgbClr val="3333CC"/>
                </a:solidFill>
                <a:latin typeface="Times New Roman"/>
                <a:cs typeface="Times New Roman"/>
              </a:rPr>
              <a:t> </a:t>
            </a:r>
            <a:r>
              <a:rPr lang="en-US" i="1" dirty="0">
                <a:latin typeface="Times New Roman"/>
                <a:cs typeface="Times New Roman"/>
              </a:rPr>
              <a:t>If</a:t>
            </a:r>
            <a:r>
              <a:rPr lang="en-US" i="1" spc="-20" dirty="0">
                <a:latin typeface="Times New Roman"/>
                <a:cs typeface="Times New Roman"/>
              </a:rPr>
              <a:t> </a:t>
            </a:r>
            <a:r>
              <a:rPr lang="en-US" i="1" dirty="0">
                <a:latin typeface="Times New Roman"/>
                <a:cs typeface="Times New Roman"/>
              </a:rPr>
              <a:t>any</a:t>
            </a:r>
            <a:r>
              <a:rPr lang="en-US" i="1" spc="-10" dirty="0">
                <a:latin typeface="Times New Roman"/>
                <a:cs typeface="Times New Roman"/>
              </a:rPr>
              <a:t> </a:t>
            </a:r>
            <a:r>
              <a:rPr lang="en-US" i="1" dirty="0">
                <a:latin typeface="Times New Roman"/>
                <a:cs typeface="Times New Roman"/>
              </a:rPr>
              <a:t>one</a:t>
            </a:r>
            <a:r>
              <a:rPr lang="en-US" i="1" spc="-25" dirty="0">
                <a:latin typeface="Times New Roman"/>
                <a:cs typeface="Times New Roman"/>
              </a:rPr>
              <a:t> </a:t>
            </a:r>
            <a:r>
              <a:rPr lang="en-US" i="1" dirty="0">
                <a:latin typeface="Times New Roman"/>
                <a:cs typeface="Times New Roman"/>
              </a:rPr>
              <a:t>of</a:t>
            </a:r>
            <a:r>
              <a:rPr lang="en-US" i="1" spc="-20" dirty="0">
                <a:latin typeface="Times New Roman"/>
                <a:cs typeface="Times New Roman"/>
              </a:rPr>
              <a:t> </a:t>
            </a:r>
            <a:r>
              <a:rPr lang="en-US" i="1" dirty="0">
                <a:latin typeface="Times New Roman"/>
                <a:cs typeface="Times New Roman"/>
              </a:rPr>
              <a:t>the</a:t>
            </a:r>
            <a:r>
              <a:rPr lang="en-US" i="1" spc="-55" dirty="0">
                <a:latin typeface="Times New Roman"/>
                <a:cs typeface="Times New Roman"/>
              </a:rPr>
              <a:t> </a:t>
            </a:r>
            <a:r>
              <a:rPr lang="en-US" i="1" dirty="0">
                <a:latin typeface="Times New Roman"/>
                <a:cs typeface="Times New Roman"/>
              </a:rPr>
              <a:t>four</a:t>
            </a:r>
            <a:r>
              <a:rPr lang="en-US" i="1" spc="-15" dirty="0">
                <a:latin typeface="Times New Roman"/>
                <a:cs typeface="Times New Roman"/>
              </a:rPr>
              <a:t> </a:t>
            </a:r>
            <a:r>
              <a:rPr lang="en-US" i="1" dirty="0">
                <a:latin typeface="Times New Roman"/>
                <a:cs typeface="Times New Roman"/>
              </a:rPr>
              <a:t>necessary</a:t>
            </a:r>
            <a:r>
              <a:rPr lang="en-US" i="1" spc="-5" dirty="0">
                <a:latin typeface="Times New Roman"/>
                <a:cs typeface="Times New Roman"/>
              </a:rPr>
              <a:t> </a:t>
            </a:r>
            <a:r>
              <a:rPr lang="en-US" i="1" dirty="0">
                <a:latin typeface="Times New Roman"/>
                <a:cs typeface="Times New Roman"/>
              </a:rPr>
              <a:t>conditions</a:t>
            </a:r>
            <a:r>
              <a:rPr lang="en-US" i="1" spc="-20" dirty="0">
                <a:latin typeface="Times New Roman"/>
                <a:cs typeface="Times New Roman"/>
              </a:rPr>
              <a:t> </a:t>
            </a:r>
            <a:r>
              <a:rPr lang="en-US" i="1" dirty="0">
                <a:latin typeface="Times New Roman"/>
                <a:cs typeface="Times New Roman"/>
              </a:rPr>
              <a:t>is</a:t>
            </a:r>
            <a:r>
              <a:rPr lang="en-US" i="1" spc="-45" dirty="0">
                <a:latin typeface="Times New Roman"/>
                <a:cs typeface="Times New Roman"/>
              </a:rPr>
              <a:t> </a:t>
            </a:r>
            <a:r>
              <a:rPr lang="en-US" i="1" dirty="0">
                <a:latin typeface="Times New Roman"/>
                <a:cs typeface="Times New Roman"/>
              </a:rPr>
              <a:t>denied,</a:t>
            </a:r>
            <a:r>
              <a:rPr lang="en-US" i="1" spc="-15" dirty="0">
                <a:latin typeface="Times New Roman"/>
                <a:cs typeface="Times New Roman"/>
              </a:rPr>
              <a:t> </a:t>
            </a:r>
            <a:r>
              <a:rPr lang="en-US" i="1" dirty="0">
                <a:latin typeface="Times New Roman"/>
                <a:cs typeface="Times New Roman"/>
              </a:rPr>
              <a:t>a</a:t>
            </a:r>
            <a:r>
              <a:rPr lang="en-US" i="1" spc="-20" dirty="0">
                <a:latin typeface="Times New Roman"/>
                <a:cs typeface="Times New Roman"/>
              </a:rPr>
              <a:t> </a:t>
            </a:r>
            <a:r>
              <a:rPr lang="en-US" i="1" spc="-10" dirty="0">
                <a:latin typeface="Times New Roman"/>
                <a:cs typeface="Times New Roman"/>
              </a:rPr>
              <a:t>deadlock </a:t>
            </a:r>
            <a:r>
              <a:rPr lang="en-US" i="1" dirty="0">
                <a:latin typeface="Times New Roman"/>
                <a:cs typeface="Times New Roman"/>
              </a:rPr>
              <a:t>can</a:t>
            </a:r>
            <a:r>
              <a:rPr lang="en-US" i="1" spc="-5" dirty="0">
                <a:latin typeface="Times New Roman"/>
                <a:cs typeface="Times New Roman"/>
              </a:rPr>
              <a:t> </a:t>
            </a:r>
            <a:r>
              <a:rPr lang="en-US" i="1" dirty="0">
                <a:latin typeface="Times New Roman"/>
                <a:cs typeface="Times New Roman"/>
              </a:rPr>
              <a:t>not</a:t>
            </a:r>
            <a:r>
              <a:rPr lang="en-US" i="1" spc="-5" dirty="0">
                <a:latin typeface="Times New Roman"/>
                <a:cs typeface="Times New Roman"/>
              </a:rPr>
              <a:t> </a:t>
            </a:r>
            <a:r>
              <a:rPr lang="en-US" i="1" spc="-10" dirty="0">
                <a:latin typeface="Times New Roman"/>
                <a:cs typeface="Times New Roman"/>
              </a:rPr>
              <a:t>occur.</a:t>
            </a:r>
            <a:endParaRPr lang="en-US" dirty="0">
              <a:latin typeface="Times New Roman"/>
              <a:cs typeface="Times New Roman"/>
            </a:endParaRPr>
          </a:p>
          <a:p>
            <a:pPr marL="0" indent="0" algn="just">
              <a:lnSpc>
                <a:spcPct val="150000"/>
              </a:lnSpc>
              <a:spcBef>
                <a:spcPts val="220"/>
              </a:spcBef>
              <a:buNone/>
            </a:pPr>
            <a:r>
              <a:rPr lang="en-US" b="1" dirty="0">
                <a:solidFill>
                  <a:srgbClr val="3333CC"/>
                </a:solidFill>
                <a:latin typeface="Times New Roman"/>
                <a:cs typeface="Times New Roman"/>
              </a:rPr>
              <a:t>Denying</a:t>
            </a:r>
            <a:r>
              <a:rPr lang="en-US" b="1" spc="-40" dirty="0">
                <a:solidFill>
                  <a:srgbClr val="3333CC"/>
                </a:solidFill>
                <a:latin typeface="Times New Roman"/>
                <a:cs typeface="Times New Roman"/>
              </a:rPr>
              <a:t> </a:t>
            </a:r>
            <a:r>
              <a:rPr lang="en-US" b="1" dirty="0">
                <a:solidFill>
                  <a:srgbClr val="3333CC"/>
                </a:solidFill>
                <a:latin typeface="Times New Roman"/>
                <a:cs typeface="Times New Roman"/>
              </a:rPr>
              <a:t>Mutual</a:t>
            </a:r>
            <a:r>
              <a:rPr lang="en-US" b="1" spc="-30" dirty="0">
                <a:solidFill>
                  <a:srgbClr val="3333CC"/>
                </a:solidFill>
                <a:latin typeface="Times New Roman"/>
                <a:cs typeface="Times New Roman"/>
              </a:rPr>
              <a:t> </a:t>
            </a:r>
            <a:r>
              <a:rPr lang="en-US" b="1" spc="-10" dirty="0">
                <a:solidFill>
                  <a:srgbClr val="3333CC"/>
                </a:solidFill>
                <a:latin typeface="Times New Roman"/>
                <a:cs typeface="Times New Roman"/>
              </a:rPr>
              <a:t>Exclusion:</a:t>
            </a:r>
            <a:endParaRPr lang="en-US" dirty="0">
              <a:latin typeface="Times New Roman"/>
              <a:cs typeface="Times New Roman"/>
            </a:endParaRPr>
          </a:p>
          <a:p>
            <a:pPr marL="356870" marR="272415" algn="just">
              <a:lnSpc>
                <a:spcPct val="150000"/>
              </a:lnSpc>
              <a:spcBef>
                <a:spcPts val="475"/>
              </a:spcBef>
            </a:pPr>
            <a:r>
              <a:rPr lang="en-US" sz="2900" dirty="0">
                <a:latin typeface="Times New Roman"/>
                <a:cs typeface="Times New Roman"/>
              </a:rPr>
              <a:t>Sharable</a:t>
            </a:r>
            <a:r>
              <a:rPr lang="en-US" sz="2900" spc="-45" dirty="0">
                <a:latin typeface="Times New Roman"/>
                <a:cs typeface="Times New Roman"/>
              </a:rPr>
              <a:t> </a:t>
            </a:r>
            <a:r>
              <a:rPr lang="en-US" sz="2900" dirty="0">
                <a:latin typeface="Times New Roman"/>
                <a:cs typeface="Times New Roman"/>
              </a:rPr>
              <a:t>resources</a:t>
            </a:r>
            <a:r>
              <a:rPr lang="en-US" sz="2900" spc="-55" dirty="0">
                <a:latin typeface="Times New Roman"/>
                <a:cs typeface="Times New Roman"/>
              </a:rPr>
              <a:t> </a:t>
            </a:r>
            <a:r>
              <a:rPr lang="en-US" sz="2900" dirty="0">
                <a:latin typeface="Times New Roman"/>
                <a:cs typeface="Times New Roman"/>
              </a:rPr>
              <a:t>do</a:t>
            </a:r>
            <a:r>
              <a:rPr lang="en-US" sz="2900" spc="-60" dirty="0">
                <a:latin typeface="Times New Roman"/>
                <a:cs typeface="Times New Roman"/>
              </a:rPr>
              <a:t> </a:t>
            </a:r>
            <a:r>
              <a:rPr lang="en-US" sz="2900" dirty="0">
                <a:latin typeface="Times New Roman"/>
                <a:cs typeface="Times New Roman"/>
              </a:rPr>
              <a:t>not</a:t>
            </a:r>
            <a:r>
              <a:rPr lang="en-US" sz="2900" spc="-45" dirty="0">
                <a:latin typeface="Times New Roman"/>
                <a:cs typeface="Times New Roman"/>
              </a:rPr>
              <a:t> </a:t>
            </a:r>
            <a:r>
              <a:rPr lang="en-US" sz="2900" dirty="0">
                <a:latin typeface="Times New Roman"/>
                <a:cs typeface="Times New Roman"/>
              </a:rPr>
              <a:t>require</a:t>
            </a:r>
            <a:r>
              <a:rPr lang="en-US" sz="2900" spc="-70" dirty="0">
                <a:latin typeface="Times New Roman"/>
                <a:cs typeface="Times New Roman"/>
              </a:rPr>
              <a:t> </a:t>
            </a:r>
            <a:r>
              <a:rPr lang="en-US" sz="2900" dirty="0">
                <a:latin typeface="Times New Roman"/>
                <a:cs typeface="Times New Roman"/>
              </a:rPr>
              <a:t>mutually</a:t>
            </a:r>
            <a:r>
              <a:rPr lang="en-US" sz="2900" spc="30" dirty="0">
                <a:latin typeface="Times New Roman"/>
                <a:cs typeface="Times New Roman"/>
              </a:rPr>
              <a:t> </a:t>
            </a:r>
            <a:r>
              <a:rPr lang="en-US" sz="2900" dirty="0">
                <a:latin typeface="Times New Roman"/>
                <a:cs typeface="Times New Roman"/>
              </a:rPr>
              <a:t>exclusive</a:t>
            </a:r>
            <a:r>
              <a:rPr lang="en-US" sz="2900" spc="-20" dirty="0">
                <a:latin typeface="Times New Roman"/>
                <a:cs typeface="Times New Roman"/>
              </a:rPr>
              <a:t> </a:t>
            </a:r>
            <a:r>
              <a:rPr lang="en-US" sz="2900" dirty="0">
                <a:latin typeface="Times New Roman"/>
                <a:cs typeface="Times New Roman"/>
              </a:rPr>
              <a:t>access</a:t>
            </a:r>
            <a:r>
              <a:rPr lang="en-US" sz="2900" spc="-35" dirty="0">
                <a:latin typeface="Times New Roman"/>
                <a:cs typeface="Times New Roman"/>
              </a:rPr>
              <a:t> </a:t>
            </a:r>
            <a:r>
              <a:rPr lang="en-US" sz="2900" dirty="0">
                <a:latin typeface="Times New Roman"/>
                <a:cs typeface="Times New Roman"/>
              </a:rPr>
              <a:t>such</a:t>
            </a:r>
            <a:r>
              <a:rPr lang="en-US" sz="2900" spc="-35" dirty="0">
                <a:latin typeface="Times New Roman"/>
                <a:cs typeface="Times New Roman"/>
              </a:rPr>
              <a:t> </a:t>
            </a:r>
            <a:r>
              <a:rPr lang="en-US" sz="2900" dirty="0">
                <a:latin typeface="Times New Roman"/>
                <a:cs typeface="Times New Roman"/>
              </a:rPr>
              <a:t>as</a:t>
            </a:r>
            <a:r>
              <a:rPr lang="en-US" sz="2900" spc="-50" dirty="0">
                <a:latin typeface="Times New Roman"/>
                <a:cs typeface="Times New Roman"/>
              </a:rPr>
              <a:t> </a:t>
            </a:r>
            <a:r>
              <a:rPr lang="en-US" sz="2900" dirty="0">
                <a:latin typeface="Times New Roman"/>
                <a:cs typeface="Times New Roman"/>
              </a:rPr>
              <a:t>read</a:t>
            </a:r>
            <a:r>
              <a:rPr lang="en-US" sz="2900" spc="-60" dirty="0">
                <a:latin typeface="Times New Roman"/>
                <a:cs typeface="Times New Roman"/>
              </a:rPr>
              <a:t> </a:t>
            </a:r>
            <a:r>
              <a:rPr lang="en-US" sz="2900" spc="-20" dirty="0">
                <a:latin typeface="Times New Roman"/>
                <a:cs typeface="Times New Roman"/>
              </a:rPr>
              <a:t>only </a:t>
            </a:r>
            <a:r>
              <a:rPr lang="en-US" sz="2900" dirty="0">
                <a:latin typeface="Times New Roman"/>
                <a:cs typeface="Times New Roman"/>
              </a:rPr>
              <a:t>shared</a:t>
            </a:r>
            <a:r>
              <a:rPr lang="en-US" sz="2900" spc="-45" dirty="0">
                <a:latin typeface="Times New Roman"/>
                <a:cs typeface="Times New Roman"/>
              </a:rPr>
              <a:t> </a:t>
            </a:r>
            <a:r>
              <a:rPr lang="en-US" sz="2900" spc="-10" dirty="0">
                <a:latin typeface="Times New Roman"/>
                <a:cs typeface="Times New Roman"/>
              </a:rPr>
              <a:t>file.</a:t>
            </a:r>
            <a:endParaRPr lang="en-US" sz="2900" dirty="0">
              <a:latin typeface="Times New Roman"/>
              <a:cs typeface="Times New Roman"/>
            </a:endParaRPr>
          </a:p>
          <a:p>
            <a:pPr marL="128270" indent="0" algn="just">
              <a:lnSpc>
                <a:spcPct val="150000"/>
              </a:lnSpc>
              <a:buNone/>
            </a:pPr>
            <a:r>
              <a:rPr lang="en-US" sz="2900" b="1" dirty="0">
                <a:latin typeface="Times New Roman"/>
                <a:cs typeface="Times New Roman"/>
              </a:rPr>
              <a:t>Problem:</a:t>
            </a:r>
            <a:r>
              <a:rPr lang="en-US" sz="2900" b="1" spc="-25" dirty="0">
                <a:latin typeface="Times New Roman"/>
                <a:cs typeface="Times New Roman"/>
              </a:rPr>
              <a:t> </a:t>
            </a:r>
            <a:r>
              <a:rPr lang="en-US" sz="2900" dirty="0">
                <a:latin typeface="Times New Roman"/>
                <a:cs typeface="Times New Roman"/>
              </a:rPr>
              <a:t>Some</a:t>
            </a:r>
            <a:r>
              <a:rPr lang="en-US" sz="2900" spc="-35" dirty="0">
                <a:latin typeface="Times New Roman"/>
                <a:cs typeface="Times New Roman"/>
              </a:rPr>
              <a:t> </a:t>
            </a:r>
            <a:r>
              <a:rPr lang="en-US" sz="2900" dirty="0">
                <a:latin typeface="Times New Roman"/>
                <a:cs typeface="Times New Roman"/>
              </a:rPr>
              <a:t>resources</a:t>
            </a:r>
            <a:r>
              <a:rPr lang="en-US" sz="2900" spc="-100" dirty="0">
                <a:latin typeface="Times New Roman"/>
                <a:cs typeface="Times New Roman"/>
              </a:rPr>
              <a:t> </a:t>
            </a:r>
            <a:r>
              <a:rPr lang="en-US" sz="2900" dirty="0">
                <a:latin typeface="Times New Roman"/>
                <a:cs typeface="Times New Roman"/>
              </a:rPr>
              <a:t>are</a:t>
            </a:r>
            <a:r>
              <a:rPr lang="en-US" sz="2900" spc="-75" dirty="0">
                <a:latin typeface="Times New Roman"/>
                <a:cs typeface="Times New Roman"/>
              </a:rPr>
              <a:t> </a:t>
            </a:r>
            <a:r>
              <a:rPr lang="en-US" sz="2900" dirty="0">
                <a:latin typeface="Times New Roman"/>
                <a:cs typeface="Times New Roman"/>
              </a:rPr>
              <a:t>strictly</a:t>
            </a:r>
            <a:r>
              <a:rPr lang="en-US" sz="2900" spc="-85" dirty="0">
                <a:latin typeface="Times New Roman"/>
                <a:cs typeface="Times New Roman"/>
              </a:rPr>
              <a:t> </a:t>
            </a:r>
            <a:r>
              <a:rPr lang="en-US" sz="2900" dirty="0" smtClean="0">
                <a:latin typeface="Times New Roman"/>
                <a:cs typeface="Times New Roman"/>
              </a:rPr>
              <a:t>non-sharable,</a:t>
            </a:r>
            <a:r>
              <a:rPr lang="en-US" sz="2900" spc="-50" dirty="0" smtClean="0">
                <a:latin typeface="Times New Roman"/>
                <a:cs typeface="Times New Roman"/>
              </a:rPr>
              <a:t> </a:t>
            </a:r>
            <a:r>
              <a:rPr lang="en-US" sz="2900" dirty="0">
                <a:latin typeface="Times New Roman"/>
                <a:cs typeface="Times New Roman"/>
              </a:rPr>
              <a:t>mutually</a:t>
            </a:r>
            <a:r>
              <a:rPr lang="en-US" sz="2900" spc="-25" dirty="0">
                <a:latin typeface="Times New Roman"/>
                <a:cs typeface="Times New Roman"/>
              </a:rPr>
              <a:t> </a:t>
            </a:r>
            <a:r>
              <a:rPr lang="en-US" sz="2900" dirty="0">
                <a:latin typeface="Times New Roman"/>
                <a:cs typeface="Times New Roman"/>
              </a:rPr>
              <a:t>exclusive</a:t>
            </a:r>
            <a:r>
              <a:rPr lang="en-US" sz="2900" spc="-30" dirty="0">
                <a:latin typeface="Times New Roman"/>
                <a:cs typeface="Times New Roman"/>
              </a:rPr>
              <a:t> </a:t>
            </a:r>
            <a:r>
              <a:rPr lang="en-US" sz="2900" spc="-10" dirty="0" smtClean="0">
                <a:latin typeface="Times New Roman"/>
                <a:cs typeface="Times New Roman"/>
              </a:rPr>
              <a:t>control</a:t>
            </a:r>
            <a:r>
              <a:rPr lang="en-US" sz="2900" dirty="0" smtClean="0">
                <a:latin typeface="Times New Roman"/>
                <a:cs typeface="Times New Roman"/>
              </a:rPr>
              <a:t> </a:t>
            </a:r>
            <a:r>
              <a:rPr lang="en-US" sz="2900" spc="-10" dirty="0" smtClean="0">
                <a:latin typeface="Times New Roman"/>
                <a:cs typeface="Times New Roman"/>
              </a:rPr>
              <a:t>required</a:t>
            </a:r>
            <a:r>
              <a:rPr lang="en-US" sz="2900" spc="-10" dirty="0">
                <a:latin typeface="Times New Roman"/>
                <a:cs typeface="Times New Roman"/>
              </a:rPr>
              <a:t>.</a:t>
            </a:r>
            <a:endParaRPr lang="en-US" sz="2900" dirty="0">
              <a:latin typeface="Times New Roman"/>
              <a:cs typeface="Times New Roman"/>
            </a:endParaRPr>
          </a:p>
          <a:p>
            <a:pPr marL="927100" algn="just">
              <a:lnSpc>
                <a:spcPct val="150000"/>
              </a:lnSpc>
            </a:pPr>
            <a:r>
              <a:rPr lang="en-US" sz="2900" i="1" spc="-95" dirty="0">
                <a:latin typeface="Times New Roman"/>
                <a:cs typeface="Times New Roman"/>
              </a:rPr>
              <a:t>We</a:t>
            </a:r>
            <a:r>
              <a:rPr lang="en-US" sz="2900" i="1" dirty="0">
                <a:latin typeface="Times New Roman"/>
                <a:cs typeface="Times New Roman"/>
              </a:rPr>
              <a:t> can</a:t>
            </a:r>
            <a:r>
              <a:rPr lang="en-US" sz="2900" i="1" spc="-10" dirty="0">
                <a:latin typeface="Times New Roman"/>
                <a:cs typeface="Times New Roman"/>
              </a:rPr>
              <a:t> </a:t>
            </a:r>
            <a:r>
              <a:rPr lang="en-US" sz="2900" i="1" dirty="0">
                <a:latin typeface="Times New Roman"/>
                <a:cs typeface="Times New Roman"/>
              </a:rPr>
              <a:t>not</a:t>
            </a:r>
            <a:r>
              <a:rPr lang="en-US" sz="2900" i="1" spc="-45" dirty="0">
                <a:latin typeface="Times New Roman"/>
                <a:cs typeface="Times New Roman"/>
              </a:rPr>
              <a:t> </a:t>
            </a:r>
            <a:r>
              <a:rPr lang="en-US" sz="2900" i="1" spc="-10" dirty="0">
                <a:latin typeface="Times New Roman"/>
                <a:cs typeface="Times New Roman"/>
              </a:rPr>
              <a:t>prevent</a:t>
            </a:r>
            <a:r>
              <a:rPr lang="en-US" sz="2900" i="1" spc="-40" dirty="0">
                <a:latin typeface="Times New Roman"/>
                <a:cs typeface="Times New Roman"/>
              </a:rPr>
              <a:t> </a:t>
            </a:r>
            <a:r>
              <a:rPr lang="en-US" sz="2900" i="1" dirty="0">
                <a:latin typeface="Times New Roman"/>
                <a:cs typeface="Times New Roman"/>
              </a:rPr>
              <a:t>deadlock</a:t>
            </a:r>
            <a:r>
              <a:rPr lang="en-US" sz="2900" i="1" spc="-70" dirty="0">
                <a:latin typeface="Times New Roman"/>
                <a:cs typeface="Times New Roman"/>
              </a:rPr>
              <a:t> </a:t>
            </a:r>
            <a:r>
              <a:rPr lang="en-US" sz="2900" i="1" dirty="0">
                <a:latin typeface="Times New Roman"/>
                <a:cs typeface="Times New Roman"/>
              </a:rPr>
              <a:t>by</a:t>
            </a:r>
            <a:r>
              <a:rPr lang="en-US" sz="2900" i="1" spc="-20" dirty="0">
                <a:latin typeface="Times New Roman"/>
                <a:cs typeface="Times New Roman"/>
              </a:rPr>
              <a:t> </a:t>
            </a:r>
            <a:r>
              <a:rPr lang="en-US" sz="2900" i="1" dirty="0">
                <a:latin typeface="Times New Roman"/>
                <a:cs typeface="Times New Roman"/>
              </a:rPr>
              <a:t>denying</a:t>
            </a:r>
            <a:r>
              <a:rPr lang="en-US" sz="2900" i="1" spc="-60" dirty="0">
                <a:latin typeface="Times New Roman"/>
                <a:cs typeface="Times New Roman"/>
              </a:rPr>
              <a:t> </a:t>
            </a:r>
            <a:r>
              <a:rPr lang="en-US" sz="2900" i="1" dirty="0">
                <a:latin typeface="Times New Roman"/>
                <a:cs typeface="Times New Roman"/>
              </a:rPr>
              <a:t>the</a:t>
            </a:r>
            <a:r>
              <a:rPr lang="en-US" sz="2900" i="1" spc="-20" dirty="0">
                <a:latin typeface="Times New Roman"/>
                <a:cs typeface="Times New Roman"/>
              </a:rPr>
              <a:t> </a:t>
            </a:r>
            <a:r>
              <a:rPr lang="en-US" sz="2900" i="1" dirty="0">
                <a:latin typeface="Times New Roman"/>
                <a:cs typeface="Times New Roman"/>
              </a:rPr>
              <a:t>mutual</a:t>
            </a:r>
            <a:r>
              <a:rPr lang="en-US" sz="2900" i="1" spc="-40" dirty="0">
                <a:latin typeface="Times New Roman"/>
                <a:cs typeface="Times New Roman"/>
              </a:rPr>
              <a:t> </a:t>
            </a:r>
            <a:r>
              <a:rPr lang="en-US" sz="2900" i="1" spc="-10" dirty="0">
                <a:latin typeface="Times New Roman"/>
                <a:cs typeface="Times New Roman"/>
              </a:rPr>
              <a:t>exclusion</a:t>
            </a:r>
            <a:endParaRPr lang="en-US" sz="2900" dirty="0">
              <a:latin typeface="Times New Roman"/>
              <a:cs typeface="Times New Roman"/>
            </a:endParaRPr>
          </a:p>
          <a:p>
            <a:pPr marL="0" indent="0" algn="just">
              <a:lnSpc>
                <a:spcPct val="150000"/>
              </a:lnSpc>
              <a:buNone/>
            </a:pPr>
            <a:r>
              <a:rPr lang="en-US" b="1" dirty="0">
                <a:solidFill>
                  <a:srgbClr val="3333CC"/>
                </a:solidFill>
                <a:latin typeface="Times New Roman"/>
                <a:cs typeface="Times New Roman"/>
              </a:rPr>
              <a:t>Denying</a:t>
            </a:r>
            <a:r>
              <a:rPr lang="en-US" b="1" spc="-35" dirty="0">
                <a:solidFill>
                  <a:srgbClr val="3333CC"/>
                </a:solidFill>
                <a:latin typeface="Times New Roman"/>
                <a:cs typeface="Times New Roman"/>
              </a:rPr>
              <a:t> </a:t>
            </a:r>
            <a:r>
              <a:rPr lang="en-US" b="1" dirty="0">
                <a:solidFill>
                  <a:srgbClr val="3333CC"/>
                </a:solidFill>
                <a:latin typeface="Times New Roman"/>
                <a:cs typeface="Times New Roman"/>
              </a:rPr>
              <a:t>Hold</a:t>
            </a:r>
            <a:r>
              <a:rPr lang="en-US" b="1" spc="-30" dirty="0">
                <a:solidFill>
                  <a:srgbClr val="3333CC"/>
                </a:solidFill>
                <a:latin typeface="Times New Roman"/>
                <a:cs typeface="Times New Roman"/>
              </a:rPr>
              <a:t> </a:t>
            </a:r>
            <a:r>
              <a:rPr lang="en-US" b="1" dirty="0">
                <a:solidFill>
                  <a:srgbClr val="3333CC"/>
                </a:solidFill>
                <a:latin typeface="Times New Roman"/>
                <a:cs typeface="Times New Roman"/>
              </a:rPr>
              <a:t>and</a:t>
            </a:r>
            <a:r>
              <a:rPr lang="en-US" b="1" spc="-50" dirty="0">
                <a:solidFill>
                  <a:srgbClr val="3333CC"/>
                </a:solidFill>
                <a:latin typeface="Times New Roman"/>
                <a:cs typeface="Times New Roman"/>
              </a:rPr>
              <a:t> </a:t>
            </a:r>
            <a:r>
              <a:rPr lang="en-US" b="1" spc="-20" dirty="0">
                <a:solidFill>
                  <a:srgbClr val="3333CC"/>
                </a:solidFill>
                <a:latin typeface="Times New Roman"/>
                <a:cs typeface="Times New Roman"/>
              </a:rPr>
              <a:t>Wait:</a:t>
            </a:r>
            <a:endParaRPr lang="en-US" dirty="0">
              <a:latin typeface="Times New Roman"/>
              <a:cs typeface="Times New Roman"/>
            </a:endParaRPr>
          </a:p>
          <a:p>
            <a:pPr marL="356870" algn="just">
              <a:lnSpc>
                <a:spcPct val="150000"/>
              </a:lnSpc>
            </a:pPr>
            <a:r>
              <a:rPr lang="en-US" sz="2900" dirty="0">
                <a:latin typeface="Times New Roman"/>
                <a:cs typeface="Times New Roman"/>
              </a:rPr>
              <a:t>Resources</a:t>
            </a:r>
            <a:r>
              <a:rPr lang="en-US" sz="2900" spc="-10" dirty="0">
                <a:latin typeface="Times New Roman"/>
                <a:cs typeface="Times New Roman"/>
              </a:rPr>
              <a:t> </a:t>
            </a:r>
            <a:r>
              <a:rPr lang="en-US" sz="2900" dirty="0">
                <a:latin typeface="Times New Roman"/>
                <a:cs typeface="Times New Roman"/>
              </a:rPr>
              <a:t>grant on</a:t>
            </a:r>
            <a:r>
              <a:rPr lang="en-US" sz="2900" spc="-30" dirty="0">
                <a:latin typeface="Times New Roman"/>
                <a:cs typeface="Times New Roman"/>
              </a:rPr>
              <a:t> </a:t>
            </a:r>
            <a:r>
              <a:rPr lang="en-US" sz="2900" i="1" dirty="0">
                <a:latin typeface="Times New Roman"/>
                <a:cs typeface="Times New Roman"/>
              </a:rPr>
              <a:t>all</a:t>
            </a:r>
            <a:r>
              <a:rPr lang="en-US" sz="2900" i="1" spc="-45" dirty="0">
                <a:latin typeface="Times New Roman"/>
                <a:cs typeface="Times New Roman"/>
              </a:rPr>
              <a:t> </a:t>
            </a:r>
            <a:r>
              <a:rPr lang="en-US" sz="2900" i="1" dirty="0">
                <a:latin typeface="Times New Roman"/>
                <a:cs typeface="Times New Roman"/>
              </a:rPr>
              <a:t>or</a:t>
            </a:r>
            <a:r>
              <a:rPr lang="en-US" sz="2900" i="1" spc="-30" dirty="0">
                <a:latin typeface="Times New Roman"/>
                <a:cs typeface="Times New Roman"/>
              </a:rPr>
              <a:t> </a:t>
            </a:r>
            <a:r>
              <a:rPr lang="en-US" sz="2900" i="1" dirty="0">
                <a:latin typeface="Times New Roman"/>
                <a:cs typeface="Times New Roman"/>
              </a:rPr>
              <a:t>none</a:t>
            </a:r>
            <a:r>
              <a:rPr lang="en-US" sz="2900" i="1" spc="-50" dirty="0">
                <a:latin typeface="Times New Roman"/>
                <a:cs typeface="Times New Roman"/>
              </a:rPr>
              <a:t> </a:t>
            </a:r>
            <a:r>
              <a:rPr lang="en-US" sz="2900" spc="-10" dirty="0">
                <a:latin typeface="Times New Roman"/>
                <a:cs typeface="Times New Roman"/>
              </a:rPr>
              <a:t>basis;</a:t>
            </a:r>
            <a:endParaRPr lang="en-US" sz="2900" dirty="0">
              <a:latin typeface="Times New Roman"/>
              <a:cs typeface="Times New Roman"/>
            </a:endParaRPr>
          </a:p>
          <a:p>
            <a:pPr marL="356870" marR="151130" algn="just">
              <a:lnSpc>
                <a:spcPct val="150000"/>
              </a:lnSpc>
              <a:spcBef>
                <a:spcPts val="335"/>
              </a:spcBef>
            </a:pPr>
            <a:r>
              <a:rPr lang="en-US" sz="2900" dirty="0">
                <a:latin typeface="Times New Roman"/>
                <a:cs typeface="Times New Roman"/>
              </a:rPr>
              <a:t>If</a:t>
            </a:r>
            <a:r>
              <a:rPr lang="en-US" sz="2900" spc="-55" dirty="0">
                <a:latin typeface="Times New Roman"/>
                <a:cs typeface="Times New Roman"/>
              </a:rPr>
              <a:t> </a:t>
            </a:r>
            <a:r>
              <a:rPr lang="en-US" sz="2900" dirty="0">
                <a:latin typeface="Times New Roman"/>
                <a:cs typeface="Times New Roman"/>
              </a:rPr>
              <a:t>all</a:t>
            </a:r>
            <a:r>
              <a:rPr lang="en-US" sz="2900" spc="-40" dirty="0">
                <a:latin typeface="Times New Roman"/>
                <a:cs typeface="Times New Roman"/>
              </a:rPr>
              <a:t> </a:t>
            </a:r>
            <a:r>
              <a:rPr lang="en-US" sz="2900" dirty="0">
                <a:latin typeface="Times New Roman"/>
                <a:cs typeface="Times New Roman"/>
              </a:rPr>
              <a:t>resources</a:t>
            </a:r>
            <a:r>
              <a:rPr lang="en-US" sz="2900" spc="-45" dirty="0">
                <a:latin typeface="Times New Roman"/>
                <a:cs typeface="Times New Roman"/>
              </a:rPr>
              <a:t> </a:t>
            </a:r>
            <a:r>
              <a:rPr lang="en-US" sz="2900" dirty="0">
                <a:latin typeface="Times New Roman"/>
                <a:cs typeface="Times New Roman"/>
              </a:rPr>
              <a:t>needed</a:t>
            </a:r>
            <a:r>
              <a:rPr lang="en-US" sz="2900" spc="-50" dirty="0">
                <a:latin typeface="Times New Roman"/>
                <a:cs typeface="Times New Roman"/>
              </a:rPr>
              <a:t> </a:t>
            </a:r>
            <a:r>
              <a:rPr lang="en-US" sz="2900" dirty="0">
                <a:latin typeface="Times New Roman"/>
                <a:cs typeface="Times New Roman"/>
              </a:rPr>
              <a:t>for</a:t>
            </a:r>
            <a:r>
              <a:rPr lang="en-US" sz="2900" spc="-30" dirty="0">
                <a:latin typeface="Times New Roman"/>
                <a:cs typeface="Times New Roman"/>
              </a:rPr>
              <a:t> </a:t>
            </a:r>
            <a:r>
              <a:rPr lang="en-US" sz="2900" dirty="0">
                <a:latin typeface="Times New Roman"/>
                <a:cs typeface="Times New Roman"/>
              </a:rPr>
              <a:t>processing</a:t>
            </a:r>
            <a:r>
              <a:rPr lang="en-US" sz="2900" spc="-30" dirty="0">
                <a:latin typeface="Times New Roman"/>
                <a:cs typeface="Times New Roman"/>
              </a:rPr>
              <a:t> </a:t>
            </a:r>
            <a:r>
              <a:rPr lang="en-US" sz="2900" dirty="0">
                <a:latin typeface="Times New Roman"/>
                <a:cs typeface="Times New Roman"/>
              </a:rPr>
              <a:t>are</a:t>
            </a:r>
            <a:r>
              <a:rPr lang="en-US" sz="2900" spc="-60" dirty="0">
                <a:latin typeface="Times New Roman"/>
                <a:cs typeface="Times New Roman"/>
              </a:rPr>
              <a:t> </a:t>
            </a:r>
            <a:r>
              <a:rPr lang="en-US" sz="2900" dirty="0">
                <a:latin typeface="Times New Roman"/>
                <a:cs typeface="Times New Roman"/>
              </a:rPr>
              <a:t>available</a:t>
            </a:r>
            <a:r>
              <a:rPr lang="en-US" sz="2900" spc="-35" dirty="0">
                <a:latin typeface="Times New Roman"/>
                <a:cs typeface="Times New Roman"/>
              </a:rPr>
              <a:t> </a:t>
            </a:r>
            <a:r>
              <a:rPr lang="en-US" sz="2900" dirty="0">
                <a:latin typeface="Times New Roman"/>
                <a:cs typeface="Times New Roman"/>
              </a:rPr>
              <a:t>then</a:t>
            </a:r>
            <a:r>
              <a:rPr lang="en-US" sz="2900" spc="-25" dirty="0">
                <a:latin typeface="Times New Roman"/>
                <a:cs typeface="Times New Roman"/>
              </a:rPr>
              <a:t> </a:t>
            </a:r>
            <a:r>
              <a:rPr lang="en-US" sz="2900" dirty="0">
                <a:latin typeface="Times New Roman"/>
                <a:cs typeface="Times New Roman"/>
              </a:rPr>
              <a:t>granted</a:t>
            </a:r>
            <a:r>
              <a:rPr lang="en-US" sz="2900" spc="-30" dirty="0">
                <a:latin typeface="Times New Roman"/>
                <a:cs typeface="Times New Roman"/>
              </a:rPr>
              <a:t> </a:t>
            </a:r>
            <a:r>
              <a:rPr lang="en-US" sz="2900" dirty="0">
                <a:latin typeface="Times New Roman"/>
                <a:cs typeface="Times New Roman"/>
              </a:rPr>
              <a:t>and</a:t>
            </a:r>
            <a:r>
              <a:rPr lang="en-US" sz="2900" spc="-25" dirty="0">
                <a:latin typeface="Times New Roman"/>
                <a:cs typeface="Times New Roman"/>
              </a:rPr>
              <a:t> </a:t>
            </a:r>
            <a:r>
              <a:rPr lang="en-US" sz="2900" dirty="0">
                <a:latin typeface="Times New Roman"/>
                <a:cs typeface="Times New Roman"/>
              </a:rPr>
              <a:t>allowed</a:t>
            </a:r>
            <a:r>
              <a:rPr lang="en-US" sz="2900" spc="10" dirty="0">
                <a:latin typeface="Times New Roman"/>
                <a:cs typeface="Times New Roman"/>
              </a:rPr>
              <a:t> </a:t>
            </a:r>
            <a:r>
              <a:rPr lang="en-US" sz="2900" spc="-25" dirty="0">
                <a:latin typeface="Times New Roman"/>
                <a:cs typeface="Times New Roman"/>
              </a:rPr>
              <a:t>to </a:t>
            </a:r>
            <a:r>
              <a:rPr lang="en-US" sz="2900" spc="-10" dirty="0">
                <a:latin typeface="Times New Roman"/>
                <a:cs typeface="Times New Roman"/>
              </a:rPr>
              <a:t>process.</a:t>
            </a:r>
            <a:endParaRPr lang="en-US" sz="2900" dirty="0">
              <a:latin typeface="Times New Roman"/>
              <a:cs typeface="Times New Roman"/>
            </a:endParaRPr>
          </a:p>
          <a:p>
            <a:pPr marL="356870" algn="just">
              <a:lnSpc>
                <a:spcPct val="150000"/>
              </a:lnSpc>
            </a:pPr>
            <a:r>
              <a:rPr lang="en-US" sz="2900" dirty="0">
                <a:latin typeface="Times New Roman"/>
                <a:cs typeface="Times New Roman"/>
              </a:rPr>
              <a:t>If</a:t>
            </a:r>
            <a:r>
              <a:rPr lang="en-US" sz="2900" spc="-45" dirty="0">
                <a:latin typeface="Times New Roman"/>
                <a:cs typeface="Times New Roman"/>
              </a:rPr>
              <a:t> </a:t>
            </a:r>
            <a:r>
              <a:rPr lang="en-US" sz="2900" dirty="0">
                <a:latin typeface="Times New Roman"/>
                <a:cs typeface="Times New Roman"/>
              </a:rPr>
              <a:t>complete</a:t>
            </a:r>
            <a:r>
              <a:rPr lang="en-US" sz="2900" spc="-10" dirty="0">
                <a:latin typeface="Times New Roman"/>
                <a:cs typeface="Times New Roman"/>
              </a:rPr>
              <a:t> </a:t>
            </a:r>
            <a:r>
              <a:rPr lang="en-US" sz="2900" dirty="0">
                <a:latin typeface="Times New Roman"/>
                <a:cs typeface="Times New Roman"/>
              </a:rPr>
              <a:t>set</a:t>
            </a:r>
            <a:r>
              <a:rPr lang="en-US" sz="2900" spc="-30" dirty="0">
                <a:latin typeface="Times New Roman"/>
                <a:cs typeface="Times New Roman"/>
              </a:rPr>
              <a:t> </a:t>
            </a:r>
            <a:r>
              <a:rPr lang="en-US" sz="2900" dirty="0">
                <a:latin typeface="Times New Roman"/>
                <a:cs typeface="Times New Roman"/>
              </a:rPr>
              <a:t>of</a:t>
            </a:r>
            <a:r>
              <a:rPr lang="en-US" sz="2900" spc="-45" dirty="0">
                <a:latin typeface="Times New Roman"/>
                <a:cs typeface="Times New Roman"/>
              </a:rPr>
              <a:t> </a:t>
            </a:r>
            <a:r>
              <a:rPr lang="en-US" sz="2900" dirty="0">
                <a:latin typeface="Times New Roman"/>
                <a:cs typeface="Times New Roman"/>
              </a:rPr>
              <a:t>resources</a:t>
            </a:r>
            <a:r>
              <a:rPr lang="en-US" sz="2900" spc="-40" dirty="0">
                <a:latin typeface="Times New Roman"/>
                <a:cs typeface="Times New Roman"/>
              </a:rPr>
              <a:t> </a:t>
            </a:r>
            <a:r>
              <a:rPr lang="en-US" sz="2900" dirty="0">
                <a:latin typeface="Times New Roman"/>
                <a:cs typeface="Times New Roman"/>
              </a:rPr>
              <a:t>is</a:t>
            </a:r>
            <a:r>
              <a:rPr lang="en-US" sz="2900" spc="-40" dirty="0">
                <a:latin typeface="Times New Roman"/>
                <a:cs typeface="Times New Roman"/>
              </a:rPr>
              <a:t> </a:t>
            </a:r>
            <a:r>
              <a:rPr lang="en-US" sz="2900" dirty="0">
                <a:latin typeface="Times New Roman"/>
                <a:cs typeface="Times New Roman"/>
              </a:rPr>
              <a:t>not</a:t>
            </a:r>
            <a:r>
              <a:rPr lang="en-US" sz="2900" spc="-35" dirty="0">
                <a:latin typeface="Times New Roman"/>
                <a:cs typeface="Times New Roman"/>
              </a:rPr>
              <a:t> </a:t>
            </a:r>
            <a:r>
              <a:rPr lang="en-US" sz="2900" dirty="0">
                <a:latin typeface="Times New Roman"/>
                <a:cs typeface="Times New Roman"/>
              </a:rPr>
              <a:t>available,</a:t>
            </a:r>
            <a:r>
              <a:rPr lang="en-US" sz="2900" spc="-45" dirty="0">
                <a:latin typeface="Times New Roman"/>
                <a:cs typeface="Times New Roman"/>
              </a:rPr>
              <a:t> </a:t>
            </a:r>
            <a:r>
              <a:rPr lang="en-US" sz="2900" dirty="0">
                <a:latin typeface="Times New Roman"/>
                <a:cs typeface="Times New Roman"/>
              </a:rPr>
              <a:t>the</a:t>
            </a:r>
            <a:r>
              <a:rPr lang="en-US" sz="2900" spc="-10" dirty="0">
                <a:latin typeface="Times New Roman"/>
                <a:cs typeface="Times New Roman"/>
              </a:rPr>
              <a:t> </a:t>
            </a:r>
            <a:r>
              <a:rPr lang="en-US" sz="2900" dirty="0">
                <a:latin typeface="Times New Roman"/>
                <a:cs typeface="Times New Roman"/>
              </a:rPr>
              <a:t>process</a:t>
            </a:r>
            <a:r>
              <a:rPr lang="en-US" sz="2900" spc="-60" dirty="0">
                <a:latin typeface="Times New Roman"/>
                <a:cs typeface="Times New Roman"/>
              </a:rPr>
              <a:t> </a:t>
            </a:r>
            <a:r>
              <a:rPr lang="en-US" sz="2900" dirty="0">
                <a:latin typeface="Times New Roman"/>
                <a:cs typeface="Times New Roman"/>
              </a:rPr>
              <a:t>must</a:t>
            </a:r>
            <a:r>
              <a:rPr lang="en-US" sz="2900" spc="10" dirty="0">
                <a:latin typeface="Times New Roman"/>
                <a:cs typeface="Times New Roman"/>
              </a:rPr>
              <a:t> </a:t>
            </a:r>
            <a:r>
              <a:rPr lang="en-US" sz="2900" dirty="0">
                <a:latin typeface="Times New Roman"/>
                <a:cs typeface="Times New Roman"/>
              </a:rPr>
              <a:t>wait</a:t>
            </a:r>
            <a:r>
              <a:rPr lang="en-US" sz="2900" spc="15" dirty="0">
                <a:latin typeface="Times New Roman"/>
                <a:cs typeface="Times New Roman"/>
              </a:rPr>
              <a:t> </a:t>
            </a:r>
            <a:r>
              <a:rPr lang="en-US" sz="2900" dirty="0">
                <a:latin typeface="Times New Roman"/>
                <a:cs typeface="Times New Roman"/>
              </a:rPr>
              <a:t>set</a:t>
            </a:r>
            <a:r>
              <a:rPr lang="en-US" sz="2900" spc="-35" dirty="0">
                <a:latin typeface="Times New Roman"/>
                <a:cs typeface="Times New Roman"/>
              </a:rPr>
              <a:t> </a:t>
            </a:r>
            <a:r>
              <a:rPr lang="en-US" sz="2900" spc="-10" dirty="0">
                <a:latin typeface="Times New Roman"/>
                <a:cs typeface="Times New Roman"/>
              </a:rPr>
              <a:t>available.</a:t>
            </a:r>
            <a:endParaRPr lang="en-US" sz="2900" dirty="0">
              <a:latin typeface="Times New Roman"/>
              <a:cs typeface="Times New Roman"/>
            </a:endParaRPr>
          </a:p>
          <a:p>
            <a:pPr marL="356870" algn="just">
              <a:lnSpc>
                <a:spcPct val="150000"/>
              </a:lnSpc>
            </a:pPr>
            <a:r>
              <a:rPr lang="en-US" sz="2900" dirty="0">
                <a:latin typeface="Times New Roman"/>
                <a:cs typeface="Times New Roman"/>
              </a:rPr>
              <a:t>While</a:t>
            </a:r>
            <a:r>
              <a:rPr lang="en-US" sz="2900" spc="-45" dirty="0">
                <a:latin typeface="Times New Roman"/>
                <a:cs typeface="Times New Roman"/>
              </a:rPr>
              <a:t> </a:t>
            </a:r>
            <a:r>
              <a:rPr lang="en-US" sz="2900" dirty="0">
                <a:latin typeface="Times New Roman"/>
                <a:cs typeface="Times New Roman"/>
              </a:rPr>
              <a:t>waiting,</a:t>
            </a:r>
            <a:r>
              <a:rPr lang="en-US" sz="2900" spc="25" dirty="0">
                <a:latin typeface="Times New Roman"/>
                <a:cs typeface="Times New Roman"/>
              </a:rPr>
              <a:t> </a:t>
            </a:r>
            <a:r>
              <a:rPr lang="en-US" sz="2900" dirty="0">
                <a:latin typeface="Times New Roman"/>
                <a:cs typeface="Times New Roman"/>
              </a:rPr>
              <a:t>the</a:t>
            </a:r>
            <a:r>
              <a:rPr lang="en-US" sz="2900" spc="-25" dirty="0">
                <a:latin typeface="Times New Roman"/>
                <a:cs typeface="Times New Roman"/>
              </a:rPr>
              <a:t> </a:t>
            </a:r>
            <a:r>
              <a:rPr lang="en-US" sz="2900" dirty="0">
                <a:latin typeface="Times New Roman"/>
                <a:cs typeface="Times New Roman"/>
              </a:rPr>
              <a:t>process</a:t>
            </a:r>
            <a:r>
              <a:rPr lang="en-US" sz="2900" spc="-75" dirty="0">
                <a:latin typeface="Times New Roman"/>
                <a:cs typeface="Times New Roman"/>
              </a:rPr>
              <a:t> </a:t>
            </a:r>
            <a:r>
              <a:rPr lang="en-US" sz="2900" dirty="0">
                <a:latin typeface="Times New Roman"/>
                <a:cs typeface="Times New Roman"/>
              </a:rPr>
              <a:t>should</a:t>
            </a:r>
            <a:r>
              <a:rPr lang="en-US" sz="2900" spc="-15" dirty="0">
                <a:latin typeface="Times New Roman"/>
                <a:cs typeface="Times New Roman"/>
              </a:rPr>
              <a:t> </a:t>
            </a:r>
            <a:r>
              <a:rPr lang="en-US" sz="2900" dirty="0">
                <a:latin typeface="Times New Roman"/>
                <a:cs typeface="Times New Roman"/>
              </a:rPr>
              <a:t>not</a:t>
            </a:r>
            <a:r>
              <a:rPr lang="en-US" sz="2900" spc="-50" dirty="0">
                <a:latin typeface="Times New Roman"/>
                <a:cs typeface="Times New Roman"/>
              </a:rPr>
              <a:t> </a:t>
            </a:r>
            <a:r>
              <a:rPr lang="en-US" sz="2900" dirty="0">
                <a:latin typeface="Times New Roman"/>
                <a:cs typeface="Times New Roman"/>
              </a:rPr>
              <a:t>hold</a:t>
            </a:r>
            <a:r>
              <a:rPr lang="en-US" sz="2900" spc="-55" dirty="0">
                <a:latin typeface="Times New Roman"/>
                <a:cs typeface="Times New Roman"/>
              </a:rPr>
              <a:t> </a:t>
            </a:r>
            <a:r>
              <a:rPr lang="en-US" sz="2900" dirty="0">
                <a:latin typeface="Times New Roman"/>
                <a:cs typeface="Times New Roman"/>
              </a:rPr>
              <a:t>any</a:t>
            </a:r>
            <a:r>
              <a:rPr lang="en-US" sz="2900" spc="-15" dirty="0">
                <a:latin typeface="Times New Roman"/>
                <a:cs typeface="Times New Roman"/>
              </a:rPr>
              <a:t> </a:t>
            </a:r>
            <a:r>
              <a:rPr lang="en-US" sz="2900" spc="-10" dirty="0">
                <a:latin typeface="Times New Roman"/>
                <a:cs typeface="Times New Roman"/>
              </a:rPr>
              <a:t>resources</a:t>
            </a:r>
            <a:r>
              <a:rPr lang="en-US" sz="2900" spc="-10" dirty="0" smtClean="0">
                <a:latin typeface="Times New Roman"/>
                <a:cs typeface="Times New Roman"/>
              </a:rPr>
              <a:t>.</a:t>
            </a:r>
          </a:p>
          <a:p>
            <a:pPr marL="128270" indent="0" algn="just">
              <a:lnSpc>
                <a:spcPct val="150000"/>
              </a:lnSpc>
              <a:buNone/>
            </a:pPr>
            <a:r>
              <a:rPr lang="en-US" sz="2900" b="1" dirty="0">
                <a:latin typeface="Times New Roman"/>
                <a:cs typeface="Times New Roman"/>
              </a:rPr>
              <a:t>Problem</a:t>
            </a:r>
            <a:r>
              <a:rPr lang="en-US" sz="2900" b="1" dirty="0" smtClean="0">
                <a:latin typeface="Times New Roman"/>
                <a:cs typeface="Times New Roman"/>
              </a:rPr>
              <a:t>:</a:t>
            </a:r>
            <a:r>
              <a:rPr lang="en-US" sz="2900" dirty="0">
                <a:latin typeface="Times New Roman"/>
                <a:cs typeface="Times New Roman"/>
              </a:rPr>
              <a:t> Low</a:t>
            </a:r>
            <a:r>
              <a:rPr lang="en-US" sz="2900" spc="-30" dirty="0">
                <a:latin typeface="Times New Roman"/>
                <a:cs typeface="Times New Roman"/>
              </a:rPr>
              <a:t> </a:t>
            </a:r>
            <a:r>
              <a:rPr lang="en-US" sz="2900" dirty="0">
                <a:latin typeface="Times New Roman"/>
                <a:cs typeface="Times New Roman"/>
              </a:rPr>
              <a:t>resource</a:t>
            </a:r>
            <a:r>
              <a:rPr lang="en-US" sz="2900" spc="-40" dirty="0">
                <a:latin typeface="Times New Roman"/>
                <a:cs typeface="Times New Roman"/>
              </a:rPr>
              <a:t> </a:t>
            </a:r>
            <a:r>
              <a:rPr lang="en-US" sz="2900" spc="-10" dirty="0">
                <a:latin typeface="Times New Roman"/>
                <a:cs typeface="Times New Roman"/>
              </a:rPr>
              <a:t>utilization. </a:t>
            </a:r>
            <a:r>
              <a:rPr lang="en-US" sz="2900" dirty="0">
                <a:latin typeface="Times New Roman"/>
                <a:cs typeface="Times New Roman"/>
              </a:rPr>
              <a:t>Starvation</a:t>
            </a:r>
            <a:r>
              <a:rPr lang="en-US" sz="2900" spc="-15" dirty="0">
                <a:latin typeface="Times New Roman"/>
                <a:cs typeface="Times New Roman"/>
              </a:rPr>
              <a:t> </a:t>
            </a:r>
            <a:r>
              <a:rPr lang="en-US" sz="2900" dirty="0">
                <a:latin typeface="Times New Roman"/>
                <a:cs typeface="Times New Roman"/>
              </a:rPr>
              <a:t>is</a:t>
            </a:r>
            <a:r>
              <a:rPr lang="en-US" sz="2900" spc="-25" dirty="0">
                <a:latin typeface="Times New Roman"/>
                <a:cs typeface="Times New Roman"/>
              </a:rPr>
              <a:t> </a:t>
            </a:r>
            <a:r>
              <a:rPr lang="en-US" sz="2900" spc="-10" dirty="0">
                <a:latin typeface="Times New Roman"/>
                <a:cs typeface="Times New Roman"/>
              </a:rPr>
              <a:t>possible</a:t>
            </a:r>
            <a:endParaRPr lang="en-US" sz="2400" dirty="0">
              <a:latin typeface="Times New Roman"/>
              <a:cs typeface="Times New Roman"/>
            </a:endParaRPr>
          </a:p>
        </p:txBody>
      </p:sp>
    </p:spTree>
    <p:extLst>
      <p:ext uri="{BB962C8B-B14F-4D97-AF65-F5344CB8AC3E}">
        <p14:creationId xmlns:p14="http://schemas.microsoft.com/office/powerpoint/2010/main" val="8299794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193"/>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Deadlock</a:t>
            </a:r>
            <a:r>
              <a:rPr lang="en-US" b="1" spc="-165" dirty="0">
                <a:solidFill>
                  <a:srgbClr val="FF0000"/>
                </a:solidFill>
                <a:latin typeface="Times New Roman" panose="02020603050405020304" pitchFamily="18" charset="0"/>
                <a:cs typeface="Times New Roman" panose="02020603050405020304" pitchFamily="18" charset="0"/>
              </a:rPr>
              <a:t> </a:t>
            </a:r>
            <a:r>
              <a:rPr lang="en-US" b="1" spc="-10" dirty="0">
                <a:solidFill>
                  <a:srgbClr val="FF0000"/>
                </a:solidFill>
                <a:latin typeface="Times New Roman" panose="02020603050405020304" pitchFamily="18" charset="0"/>
                <a:cs typeface="Times New Roman" panose="02020603050405020304" pitchFamily="18" charset="0"/>
              </a:rPr>
              <a:t>prevention</a:t>
            </a:r>
            <a:endParaRPr lang="en-US" dirty="0"/>
          </a:p>
        </p:txBody>
      </p:sp>
      <p:sp>
        <p:nvSpPr>
          <p:cNvPr id="3" name="Content Placeholder 2"/>
          <p:cNvSpPr>
            <a:spLocks noGrp="1"/>
          </p:cNvSpPr>
          <p:nvPr>
            <p:ph idx="1"/>
          </p:nvPr>
        </p:nvSpPr>
        <p:spPr>
          <a:xfrm>
            <a:off x="838200" y="1210235"/>
            <a:ext cx="10515600" cy="4966728"/>
          </a:xfrm>
        </p:spPr>
        <p:txBody>
          <a:bodyPr>
            <a:normAutofit fontScale="62500" lnSpcReduction="20000"/>
          </a:bodyPr>
          <a:lstStyle/>
          <a:p>
            <a:pPr marL="0" indent="0" algn="just">
              <a:lnSpc>
                <a:spcPct val="170000"/>
              </a:lnSpc>
              <a:spcBef>
                <a:spcPts val="650"/>
              </a:spcBef>
              <a:buNone/>
            </a:pPr>
            <a:r>
              <a:rPr lang="en-US" b="1" dirty="0">
                <a:solidFill>
                  <a:srgbClr val="3333CC"/>
                </a:solidFill>
                <a:latin typeface="Times New Roman"/>
                <a:cs typeface="Times New Roman"/>
              </a:rPr>
              <a:t>Denying</a:t>
            </a:r>
            <a:r>
              <a:rPr lang="en-US" b="1" spc="-30" dirty="0">
                <a:solidFill>
                  <a:srgbClr val="3333CC"/>
                </a:solidFill>
                <a:latin typeface="Times New Roman"/>
                <a:cs typeface="Times New Roman"/>
              </a:rPr>
              <a:t> </a:t>
            </a:r>
            <a:r>
              <a:rPr lang="en-US" b="1" spc="-10" dirty="0">
                <a:solidFill>
                  <a:srgbClr val="3333CC"/>
                </a:solidFill>
                <a:latin typeface="Times New Roman"/>
                <a:cs typeface="Times New Roman"/>
              </a:rPr>
              <a:t>No-preemption:</a:t>
            </a:r>
            <a:endParaRPr lang="en-US" dirty="0">
              <a:latin typeface="Times New Roman"/>
              <a:cs typeface="Times New Roman"/>
            </a:endParaRPr>
          </a:p>
          <a:p>
            <a:pPr marL="356870" marR="523240" algn="just">
              <a:lnSpc>
                <a:spcPct val="170000"/>
              </a:lnSpc>
              <a:spcBef>
                <a:spcPts val="830"/>
              </a:spcBef>
            </a:pPr>
            <a:r>
              <a:rPr lang="en-US" dirty="0">
                <a:latin typeface="Times New Roman"/>
                <a:cs typeface="Times New Roman"/>
              </a:rPr>
              <a:t>When</a:t>
            </a:r>
            <a:r>
              <a:rPr lang="en-US" spc="-20" dirty="0">
                <a:latin typeface="Times New Roman"/>
                <a:cs typeface="Times New Roman"/>
              </a:rPr>
              <a:t> </a:t>
            </a:r>
            <a:r>
              <a:rPr lang="en-US" dirty="0">
                <a:latin typeface="Times New Roman"/>
                <a:cs typeface="Times New Roman"/>
              </a:rPr>
              <a:t>a</a:t>
            </a:r>
            <a:r>
              <a:rPr lang="en-US" spc="-10" dirty="0">
                <a:latin typeface="Times New Roman"/>
                <a:cs typeface="Times New Roman"/>
              </a:rPr>
              <a:t> </a:t>
            </a:r>
            <a:r>
              <a:rPr lang="en-US" dirty="0">
                <a:latin typeface="Times New Roman"/>
                <a:cs typeface="Times New Roman"/>
              </a:rPr>
              <a:t>process</a:t>
            </a:r>
            <a:r>
              <a:rPr lang="en-US" spc="-40" dirty="0">
                <a:latin typeface="Times New Roman"/>
                <a:cs typeface="Times New Roman"/>
              </a:rPr>
              <a:t> </a:t>
            </a:r>
            <a:r>
              <a:rPr lang="en-US" dirty="0">
                <a:latin typeface="Times New Roman"/>
                <a:cs typeface="Times New Roman"/>
              </a:rPr>
              <a:t>holding</a:t>
            </a:r>
            <a:r>
              <a:rPr lang="en-US" spc="-40" dirty="0">
                <a:latin typeface="Times New Roman"/>
                <a:cs typeface="Times New Roman"/>
              </a:rPr>
              <a:t> </a:t>
            </a:r>
            <a:r>
              <a:rPr lang="en-US" dirty="0">
                <a:latin typeface="Times New Roman"/>
                <a:cs typeface="Times New Roman"/>
              </a:rPr>
              <a:t>resources</a:t>
            </a:r>
            <a:r>
              <a:rPr lang="en-US" spc="-80" dirty="0">
                <a:latin typeface="Times New Roman"/>
                <a:cs typeface="Times New Roman"/>
              </a:rPr>
              <a:t> </a:t>
            </a:r>
            <a:r>
              <a:rPr lang="en-US" dirty="0">
                <a:latin typeface="Times New Roman"/>
                <a:cs typeface="Times New Roman"/>
              </a:rPr>
              <a:t>is</a:t>
            </a:r>
            <a:r>
              <a:rPr lang="en-US" spc="-15" dirty="0">
                <a:latin typeface="Times New Roman"/>
                <a:cs typeface="Times New Roman"/>
              </a:rPr>
              <a:t> </a:t>
            </a:r>
            <a:r>
              <a:rPr lang="en-US" dirty="0">
                <a:latin typeface="Times New Roman"/>
                <a:cs typeface="Times New Roman"/>
              </a:rPr>
              <a:t>denied</a:t>
            </a:r>
            <a:r>
              <a:rPr lang="en-US" spc="-15" dirty="0">
                <a:latin typeface="Times New Roman"/>
                <a:cs typeface="Times New Roman"/>
              </a:rPr>
              <a:t> </a:t>
            </a:r>
            <a:r>
              <a:rPr lang="en-US" dirty="0">
                <a:latin typeface="Times New Roman"/>
                <a:cs typeface="Times New Roman"/>
              </a:rPr>
              <a:t>a</a:t>
            </a:r>
            <a:r>
              <a:rPr lang="en-US" spc="-15" dirty="0">
                <a:latin typeface="Times New Roman"/>
                <a:cs typeface="Times New Roman"/>
              </a:rPr>
              <a:t> </a:t>
            </a:r>
            <a:r>
              <a:rPr lang="en-US" dirty="0">
                <a:latin typeface="Times New Roman"/>
                <a:cs typeface="Times New Roman"/>
              </a:rPr>
              <a:t>request</a:t>
            </a:r>
            <a:r>
              <a:rPr lang="en-US" spc="-30" dirty="0">
                <a:latin typeface="Times New Roman"/>
                <a:cs typeface="Times New Roman"/>
              </a:rPr>
              <a:t> </a:t>
            </a:r>
            <a:r>
              <a:rPr lang="en-US" dirty="0">
                <a:latin typeface="Times New Roman"/>
                <a:cs typeface="Times New Roman"/>
              </a:rPr>
              <a:t>for</a:t>
            </a:r>
            <a:r>
              <a:rPr lang="en-US" spc="10" dirty="0">
                <a:latin typeface="Times New Roman"/>
                <a:cs typeface="Times New Roman"/>
              </a:rPr>
              <a:t> </a:t>
            </a:r>
            <a:r>
              <a:rPr lang="en-US" spc="-10" dirty="0">
                <a:latin typeface="Times New Roman"/>
                <a:cs typeface="Times New Roman"/>
              </a:rPr>
              <a:t>additional </a:t>
            </a:r>
            <a:r>
              <a:rPr lang="en-US" dirty="0">
                <a:latin typeface="Times New Roman"/>
                <a:cs typeface="Times New Roman"/>
              </a:rPr>
              <a:t>resources,</a:t>
            </a:r>
            <a:r>
              <a:rPr lang="en-US" spc="-65" dirty="0">
                <a:latin typeface="Times New Roman"/>
                <a:cs typeface="Times New Roman"/>
              </a:rPr>
              <a:t> </a:t>
            </a:r>
            <a:r>
              <a:rPr lang="en-US" dirty="0">
                <a:latin typeface="Times New Roman"/>
                <a:cs typeface="Times New Roman"/>
              </a:rPr>
              <a:t>that</a:t>
            </a:r>
            <a:r>
              <a:rPr lang="en-US" spc="-35" dirty="0">
                <a:latin typeface="Times New Roman"/>
                <a:cs typeface="Times New Roman"/>
              </a:rPr>
              <a:t> </a:t>
            </a:r>
            <a:r>
              <a:rPr lang="en-US" dirty="0">
                <a:latin typeface="Times New Roman"/>
                <a:cs typeface="Times New Roman"/>
              </a:rPr>
              <a:t>process</a:t>
            </a:r>
            <a:r>
              <a:rPr lang="en-US" spc="-60" dirty="0">
                <a:latin typeface="Times New Roman"/>
                <a:cs typeface="Times New Roman"/>
              </a:rPr>
              <a:t> </a:t>
            </a:r>
            <a:r>
              <a:rPr lang="en-US" dirty="0">
                <a:latin typeface="Times New Roman"/>
                <a:cs typeface="Times New Roman"/>
              </a:rPr>
              <a:t>must</a:t>
            </a:r>
            <a:r>
              <a:rPr lang="en-US" spc="40" dirty="0">
                <a:latin typeface="Times New Roman"/>
                <a:cs typeface="Times New Roman"/>
              </a:rPr>
              <a:t> </a:t>
            </a:r>
            <a:r>
              <a:rPr lang="en-US" dirty="0">
                <a:latin typeface="Times New Roman"/>
                <a:cs typeface="Times New Roman"/>
              </a:rPr>
              <a:t>release</a:t>
            </a:r>
            <a:r>
              <a:rPr lang="en-US" spc="-65" dirty="0">
                <a:latin typeface="Times New Roman"/>
                <a:cs typeface="Times New Roman"/>
              </a:rPr>
              <a:t> </a:t>
            </a:r>
            <a:r>
              <a:rPr lang="en-US" dirty="0">
                <a:latin typeface="Times New Roman"/>
                <a:cs typeface="Times New Roman"/>
              </a:rPr>
              <a:t>its</a:t>
            </a:r>
            <a:r>
              <a:rPr lang="en-US" spc="-40" dirty="0">
                <a:latin typeface="Times New Roman"/>
                <a:cs typeface="Times New Roman"/>
              </a:rPr>
              <a:t> </a:t>
            </a:r>
            <a:r>
              <a:rPr lang="en-US" dirty="0">
                <a:latin typeface="Times New Roman"/>
                <a:cs typeface="Times New Roman"/>
              </a:rPr>
              <a:t>held</a:t>
            </a:r>
            <a:r>
              <a:rPr lang="en-US" spc="-20" dirty="0">
                <a:latin typeface="Times New Roman"/>
                <a:cs typeface="Times New Roman"/>
              </a:rPr>
              <a:t> </a:t>
            </a:r>
            <a:r>
              <a:rPr lang="en-US" dirty="0">
                <a:latin typeface="Times New Roman"/>
                <a:cs typeface="Times New Roman"/>
              </a:rPr>
              <a:t>resources</a:t>
            </a:r>
            <a:r>
              <a:rPr lang="en-US" spc="-80" dirty="0">
                <a:latin typeface="Times New Roman"/>
                <a:cs typeface="Times New Roman"/>
              </a:rPr>
              <a:t> </a:t>
            </a:r>
            <a:r>
              <a:rPr lang="en-US" dirty="0">
                <a:latin typeface="Times New Roman"/>
                <a:cs typeface="Times New Roman"/>
              </a:rPr>
              <a:t>and</a:t>
            </a:r>
            <a:r>
              <a:rPr lang="en-US" spc="5" dirty="0">
                <a:latin typeface="Times New Roman"/>
                <a:cs typeface="Times New Roman"/>
              </a:rPr>
              <a:t> </a:t>
            </a:r>
            <a:r>
              <a:rPr lang="en-US" dirty="0">
                <a:latin typeface="Times New Roman"/>
                <a:cs typeface="Times New Roman"/>
              </a:rPr>
              <a:t>if</a:t>
            </a:r>
            <a:r>
              <a:rPr lang="en-US" spc="-10" dirty="0">
                <a:latin typeface="Times New Roman"/>
                <a:cs typeface="Times New Roman"/>
              </a:rPr>
              <a:t> necessary, </a:t>
            </a:r>
            <a:r>
              <a:rPr lang="en-US" dirty="0">
                <a:latin typeface="Times New Roman"/>
                <a:cs typeface="Times New Roman"/>
              </a:rPr>
              <a:t>request</a:t>
            </a:r>
            <a:r>
              <a:rPr lang="en-US" spc="-45" dirty="0">
                <a:latin typeface="Times New Roman"/>
                <a:cs typeface="Times New Roman"/>
              </a:rPr>
              <a:t> </a:t>
            </a:r>
            <a:r>
              <a:rPr lang="en-US" dirty="0">
                <a:latin typeface="Times New Roman"/>
                <a:cs typeface="Times New Roman"/>
              </a:rPr>
              <a:t>them</a:t>
            </a:r>
            <a:r>
              <a:rPr lang="en-US" spc="-45" dirty="0">
                <a:latin typeface="Times New Roman"/>
                <a:cs typeface="Times New Roman"/>
              </a:rPr>
              <a:t> </a:t>
            </a:r>
            <a:r>
              <a:rPr lang="en-US" dirty="0">
                <a:latin typeface="Times New Roman"/>
                <a:cs typeface="Times New Roman"/>
              </a:rPr>
              <a:t>again</a:t>
            </a:r>
            <a:r>
              <a:rPr lang="en-US" spc="-25" dirty="0">
                <a:latin typeface="Times New Roman"/>
                <a:cs typeface="Times New Roman"/>
              </a:rPr>
              <a:t> </a:t>
            </a:r>
            <a:r>
              <a:rPr lang="en-US" dirty="0">
                <a:latin typeface="Times New Roman"/>
                <a:cs typeface="Times New Roman"/>
              </a:rPr>
              <a:t>together</a:t>
            </a:r>
            <a:r>
              <a:rPr lang="en-US" spc="-20" dirty="0">
                <a:latin typeface="Times New Roman"/>
                <a:cs typeface="Times New Roman"/>
              </a:rPr>
              <a:t> </a:t>
            </a:r>
            <a:r>
              <a:rPr lang="en-US" dirty="0">
                <a:latin typeface="Times New Roman"/>
                <a:cs typeface="Times New Roman"/>
              </a:rPr>
              <a:t>with</a:t>
            </a:r>
            <a:r>
              <a:rPr lang="en-US" spc="-45" dirty="0">
                <a:latin typeface="Times New Roman"/>
                <a:cs typeface="Times New Roman"/>
              </a:rPr>
              <a:t> </a:t>
            </a:r>
            <a:r>
              <a:rPr lang="en-US" dirty="0">
                <a:latin typeface="Times New Roman"/>
                <a:cs typeface="Times New Roman"/>
              </a:rPr>
              <a:t>additional</a:t>
            </a:r>
            <a:r>
              <a:rPr lang="en-US" spc="-65" dirty="0">
                <a:latin typeface="Times New Roman"/>
                <a:cs typeface="Times New Roman"/>
              </a:rPr>
              <a:t> </a:t>
            </a:r>
            <a:r>
              <a:rPr lang="en-US" spc="-10" dirty="0">
                <a:latin typeface="Times New Roman"/>
                <a:cs typeface="Times New Roman"/>
              </a:rPr>
              <a:t>resources.</a:t>
            </a:r>
            <a:endParaRPr lang="en-US" dirty="0">
              <a:latin typeface="Times New Roman"/>
              <a:cs typeface="Times New Roman"/>
            </a:endParaRPr>
          </a:p>
          <a:p>
            <a:pPr marL="12065" marR="77470" indent="0" algn="just">
              <a:lnSpc>
                <a:spcPct val="170000"/>
              </a:lnSpc>
              <a:spcBef>
                <a:spcPts val="815"/>
              </a:spcBef>
              <a:buNone/>
            </a:pPr>
            <a:r>
              <a:rPr lang="en-US" dirty="0">
                <a:solidFill>
                  <a:srgbClr val="3333CC"/>
                </a:solidFill>
                <a:latin typeface="Times New Roman"/>
                <a:cs typeface="Times New Roman"/>
              </a:rPr>
              <a:t>Problem:</a:t>
            </a:r>
            <a:r>
              <a:rPr lang="en-US" spc="-40" dirty="0">
                <a:solidFill>
                  <a:srgbClr val="3333CC"/>
                </a:solidFill>
                <a:latin typeface="Times New Roman"/>
                <a:cs typeface="Times New Roman"/>
              </a:rPr>
              <a:t> </a:t>
            </a:r>
            <a:r>
              <a:rPr lang="en-US" dirty="0">
                <a:latin typeface="Times New Roman"/>
                <a:cs typeface="Times New Roman"/>
              </a:rPr>
              <a:t>When</a:t>
            </a:r>
            <a:r>
              <a:rPr lang="en-US" spc="-40" dirty="0">
                <a:latin typeface="Times New Roman"/>
                <a:cs typeface="Times New Roman"/>
              </a:rPr>
              <a:t> </a:t>
            </a:r>
            <a:r>
              <a:rPr lang="en-US" dirty="0">
                <a:latin typeface="Times New Roman"/>
                <a:cs typeface="Times New Roman"/>
              </a:rPr>
              <a:t>process</a:t>
            </a:r>
            <a:r>
              <a:rPr lang="en-US" spc="-45" dirty="0">
                <a:latin typeface="Times New Roman"/>
                <a:cs typeface="Times New Roman"/>
              </a:rPr>
              <a:t> </a:t>
            </a:r>
            <a:r>
              <a:rPr lang="en-US" dirty="0">
                <a:latin typeface="Times New Roman"/>
                <a:cs typeface="Times New Roman"/>
              </a:rPr>
              <a:t>releases</a:t>
            </a:r>
            <a:r>
              <a:rPr lang="en-US" spc="-85" dirty="0">
                <a:latin typeface="Times New Roman"/>
                <a:cs typeface="Times New Roman"/>
              </a:rPr>
              <a:t> </a:t>
            </a:r>
            <a:r>
              <a:rPr lang="en-US" dirty="0">
                <a:latin typeface="Times New Roman"/>
                <a:cs typeface="Times New Roman"/>
              </a:rPr>
              <a:t>resources</a:t>
            </a:r>
            <a:r>
              <a:rPr lang="en-US" spc="-65" dirty="0">
                <a:latin typeface="Times New Roman"/>
                <a:cs typeface="Times New Roman"/>
              </a:rPr>
              <a:t> </a:t>
            </a:r>
            <a:r>
              <a:rPr lang="en-US" dirty="0">
                <a:latin typeface="Times New Roman"/>
                <a:cs typeface="Times New Roman"/>
              </a:rPr>
              <a:t>the</a:t>
            </a:r>
            <a:r>
              <a:rPr lang="en-US" spc="-15" dirty="0">
                <a:latin typeface="Times New Roman"/>
                <a:cs typeface="Times New Roman"/>
              </a:rPr>
              <a:t> </a:t>
            </a:r>
            <a:r>
              <a:rPr lang="en-US" dirty="0">
                <a:latin typeface="Times New Roman"/>
                <a:cs typeface="Times New Roman"/>
              </a:rPr>
              <a:t>process</a:t>
            </a:r>
            <a:r>
              <a:rPr lang="en-US" spc="-65" dirty="0">
                <a:latin typeface="Times New Roman"/>
                <a:cs typeface="Times New Roman"/>
              </a:rPr>
              <a:t> </a:t>
            </a:r>
            <a:r>
              <a:rPr lang="en-US" dirty="0">
                <a:latin typeface="Times New Roman"/>
                <a:cs typeface="Times New Roman"/>
              </a:rPr>
              <a:t>may</a:t>
            </a:r>
            <a:r>
              <a:rPr lang="en-US" spc="30" dirty="0">
                <a:latin typeface="Times New Roman"/>
                <a:cs typeface="Times New Roman"/>
              </a:rPr>
              <a:t> </a:t>
            </a:r>
            <a:r>
              <a:rPr lang="en-US" dirty="0">
                <a:latin typeface="Times New Roman"/>
                <a:cs typeface="Times New Roman"/>
              </a:rPr>
              <a:t>loose</a:t>
            </a:r>
            <a:r>
              <a:rPr lang="en-US" spc="-45" dirty="0">
                <a:latin typeface="Times New Roman"/>
                <a:cs typeface="Times New Roman"/>
              </a:rPr>
              <a:t> </a:t>
            </a:r>
            <a:r>
              <a:rPr lang="en-US" dirty="0">
                <a:latin typeface="Times New Roman"/>
                <a:cs typeface="Times New Roman"/>
              </a:rPr>
              <a:t>all</a:t>
            </a:r>
            <a:r>
              <a:rPr lang="en-US" spc="-10" dirty="0">
                <a:latin typeface="Times New Roman"/>
                <a:cs typeface="Times New Roman"/>
              </a:rPr>
              <a:t> </a:t>
            </a:r>
            <a:r>
              <a:rPr lang="en-US" dirty="0">
                <a:latin typeface="Times New Roman"/>
                <a:cs typeface="Times New Roman"/>
              </a:rPr>
              <a:t>its</a:t>
            </a:r>
            <a:r>
              <a:rPr lang="en-US" spc="-45" dirty="0">
                <a:latin typeface="Times New Roman"/>
                <a:cs typeface="Times New Roman"/>
              </a:rPr>
              <a:t> </a:t>
            </a:r>
            <a:r>
              <a:rPr lang="en-US" spc="-10" dirty="0">
                <a:latin typeface="Times New Roman"/>
                <a:cs typeface="Times New Roman"/>
              </a:rPr>
              <a:t>works </a:t>
            </a:r>
            <a:r>
              <a:rPr lang="en-US" dirty="0">
                <a:latin typeface="Times New Roman"/>
                <a:cs typeface="Times New Roman"/>
              </a:rPr>
              <a:t>to</a:t>
            </a:r>
            <a:r>
              <a:rPr lang="en-US" spc="-30" dirty="0">
                <a:latin typeface="Times New Roman"/>
                <a:cs typeface="Times New Roman"/>
              </a:rPr>
              <a:t> </a:t>
            </a:r>
            <a:r>
              <a:rPr lang="en-US" dirty="0">
                <a:latin typeface="Times New Roman"/>
                <a:cs typeface="Times New Roman"/>
              </a:rPr>
              <a:t>that</a:t>
            </a:r>
            <a:r>
              <a:rPr lang="en-US" spc="-10" dirty="0">
                <a:latin typeface="Times New Roman"/>
                <a:cs typeface="Times New Roman"/>
              </a:rPr>
              <a:t> </a:t>
            </a:r>
            <a:r>
              <a:rPr lang="en-US" dirty="0">
                <a:latin typeface="Times New Roman"/>
                <a:cs typeface="Times New Roman"/>
              </a:rPr>
              <a:t>point</a:t>
            </a:r>
            <a:r>
              <a:rPr lang="en-US" spc="-35" dirty="0">
                <a:latin typeface="Times New Roman"/>
                <a:cs typeface="Times New Roman"/>
              </a:rPr>
              <a:t> </a:t>
            </a:r>
            <a:r>
              <a:rPr lang="en-US" spc="-50" dirty="0">
                <a:latin typeface="Times New Roman"/>
                <a:cs typeface="Times New Roman"/>
              </a:rPr>
              <a:t>.</a:t>
            </a:r>
            <a:endParaRPr lang="en-US" dirty="0">
              <a:latin typeface="Times New Roman"/>
              <a:cs typeface="Times New Roman"/>
            </a:endParaRPr>
          </a:p>
          <a:p>
            <a:pPr marL="356870" algn="just">
              <a:lnSpc>
                <a:spcPct val="170000"/>
              </a:lnSpc>
              <a:spcBef>
                <a:spcPts val="515"/>
              </a:spcBef>
            </a:pPr>
            <a:r>
              <a:rPr lang="en-US" dirty="0">
                <a:latin typeface="Times New Roman"/>
                <a:cs typeface="Times New Roman"/>
              </a:rPr>
              <a:t>Indefinite</a:t>
            </a:r>
            <a:r>
              <a:rPr lang="en-US" spc="-45" dirty="0">
                <a:latin typeface="Times New Roman"/>
                <a:cs typeface="Times New Roman"/>
              </a:rPr>
              <a:t> </a:t>
            </a:r>
            <a:r>
              <a:rPr lang="en-US" dirty="0">
                <a:latin typeface="Times New Roman"/>
                <a:cs typeface="Times New Roman"/>
              </a:rPr>
              <a:t>postponement</a:t>
            </a:r>
            <a:r>
              <a:rPr lang="en-US" spc="-65" dirty="0">
                <a:latin typeface="Times New Roman"/>
                <a:cs typeface="Times New Roman"/>
              </a:rPr>
              <a:t> </a:t>
            </a:r>
            <a:r>
              <a:rPr lang="en-US" dirty="0">
                <a:latin typeface="Times New Roman"/>
                <a:cs typeface="Times New Roman"/>
              </a:rPr>
              <a:t>or</a:t>
            </a:r>
            <a:r>
              <a:rPr lang="en-US" spc="-40" dirty="0">
                <a:latin typeface="Times New Roman"/>
                <a:cs typeface="Times New Roman"/>
              </a:rPr>
              <a:t> </a:t>
            </a:r>
            <a:r>
              <a:rPr lang="en-US" spc="-10" dirty="0">
                <a:latin typeface="Times New Roman"/>
                <a:cs typeface="Times New Roman"/>
              </a:rPr>
              <a:t>starvation.</a:t>
            </a:r>
            <a:endParaRPr lang="en-US" dirty="0">
              <a:latin typeface="Times New Roman"/>
              <a:cs typeface="Times New Roman"/>
            </a:endParaRPr>
          </a:p>
          <a:p>
            <a:pPr marL="0" indent="0" algn="just">
              <a:lnSpc>
                <a:spcPct val="170000"/>
              </a:lnSpc>
              <a:spcBef>
                <a:spcPts val="550"/>
              </a:spcBef>
              <a:buNone/>
            </a:pPr>
            <a:r>
              <a:rPr lang="en-US" b="1" dirty="0">
                <a:solidFill>
                  <a:srgbClr val="3333CC"/>
                </a:solidFill>
                <a:latin typeface="Times New Roman"/>
                <a:cs typeface="Times New Roman"/>
              </a:rPr>
              <a:t>Denying</a:t>
            </a:r>
            <a:r>
              <a:rPr lang="en-US" b="1" spc="-20" dirty="0">
                <a:solidFill>
                  <a:srgbClr val="3333CC"/>
                </a:solidFill>
                <a:latin typeface="Times New Roman"/>
                <a:cs typeface="Times New Roman"/>
              </a:rPr>
              <a:t> </a:t>
            </a:r>
            <a:r>
              <a:rPr lang="en-US" b="1" spc="-10" dirty="0">
                <a:solidFill>
                  <a:srgbClr val="3333CC"/>
                </a:solidFill>
                <a:latin typeface="Times New Roman"/>
                <a:cs typeface="Times New Roman"/>
              </a:rPr>
              <a:t>Circular</a:t>
            </a:r>
            <a:r>
              <a:rPr lang="en-US" b="1" spc="-105" dirty="0">
                <a:solidFill>
                  <a:srgbClr val="3333CC"/>
                </a:solidFill>
                <a:latin typeface="Times New Roman"/>
                <a:cs typeface="Times New Roman"/>
              </a:rPr>
              <a:t> </a:t>
            </a:r>
            <a:r>
              <a:rPr lang="en-US" b="1" spc="-20" dirty="0">
                <a:solidFill>
                  <a:srgbClr val="3333CC"/>
                </a:solidFill>
                <a:latin typeface="Times New Roman"/>
                <a:cs typeface="Times New Roman"/>
              </a:rPr>
              <a:t>Wait:</a:t>
            </a:r>
            <a:endParaRPr lang="en-US" dirty="0">
              <a:latin typeface="Times New Roman"/>
              <a:cs typeface="Times New Roman"/>
            </a:endParaRPr>
          </a:p>
          <a:p>
            <a:pPr marL="356870" marR="5080" algn="just">
              <a:lnSpc>
                <a:spcPct val="170000"/>
              </a:lnSpc>
              <a:spcBef>
                <a:spcPts val="825"/>
              </a:spcBef>
            </a:pPr>
            <a:r>
              <a:rPr lang="en-US" dirty="0">
                <a:latin typeface="Times New Roman"/>
                <a:cs typeface="Times New Roman"/>
              </a:rPr>
              <a:t>All</a:t>
            </a:r>
            <a:r>
              <a:rPr lang="en-US" spc="-20" dirty="0">
                <a:latin typeface="Times New Roman"/>
                <a:cs typeface="Times New Roman"/>
              </a:rPr>
              <a:t> </a:t>
            </a:r>
            <a:r>
              <a:rPr lang="en-US" dirty="0">
                <a:latin typeface="Times New Roman"/>
                <a:cs typeface="Times New Roman"/>
              </a:rPr>
              <a:t>resources</a:t>
            </a:r>
            <a:r>
              <a:rPr lang="en-US" spc="-70" dirty="0">
                <a:latin typeface="Times New Roman"/>
                <a:cs typeface="Times New Roman"/>
              </a:rPr>
              <a:t> </a:t>
            </a:r>
            <a:r>
              <a:rPr lang="en-US" dirty="0">
                <a:latin typeface="Times New Roman"/>
                <a:cs typeface="Times New Roman"/>
              </a:rPr>
              <a:t>are</a:t>
            </a:r>
            <a:r>
              <a:rPr lang="en-US" spc="-20" dirty="0">
                <a:latin typeface="Times New Roman"/>
                <a:cs typeface="Times New Roman"/>
              </a:rPr>
              <a:t> </a:t>
            </a:r>
            <a:r>
              <a:rPr lang="en-US" dirty="0">
                <a:latin typeface="Times New Roman"/>
                <a:cs typeface="Times New Roman"/>
              </a:rPr>
              <a:t>uniquely</a:t>
            </a:r>
            <a:r>
              <a:rPr lang="en-US" spc="-50" dirty="0">
                <a:latin typeface="Times New Roman"/>
                <a:cs typeface="Times New Roman"/>
              </a:rPr>
              <a:t> </a:t>
            </a:r>
            <a:r>
              <a:rPr lang="en-US" dirty="0">
                <a:latin typeface="Times New Roman"/>
                <a:cs typeface="Times New Roman"/>
              </a:rPr>
              <a:t>numbered,</a:t>
            </a:r>
            <a:r>
              <a:rPr lang="en-US" spc="-30" dirty="0">
                <a:latin typeface="Times New Roman"/>
                <a:cs typeface="Times New Roman"/>
              </a:rPr>
              <a:t> </a:t>
            </a:r>
            <a:r>
              <a:rPr lang="en-US" dirty="0">
                <a:latin typeface="Times New Roman"/>
                <a:cs typeface="Times New Roman"/>
              </a:rPr>
              <a:t>and</a:t>
            </a:r>
            <a:r>
              <a:rPr lang="en-US" spc="-25" dirty="0">
                <a:latin typeface="Times New Roman"/>
                <a:cs typeface="Times New Roman"/>
              </a:rPr>
              <a:t> </a:t>
            </a:r>
            <a:r>
              <a:rPr lang="en-US" dirty="0">
                <a:latin typeface="Times New Roman"/>
                <a:cs typeface="Times New Roman"/>
              </a:rPr>
              <a:t>processes</a:t>
            </a:r>
            <a:r>
              <a:rPr lang="en-US" spc="-70" dirty="0">
                <a:latin typeface="Times New Roman"/>
                <a:cs typeface="Times New Roman"/>
              </a:rPr>
              <a:t> </a:t>
            </a:r>
            <a:r>
              <a:rPr lang="en-US" dirty="0">
                <a:latin typeface="Times New Roman"/>
                <a:cs typeface="Times New Roman"/>
              </a:rPr>
              <a:t>must</a:t>
            </a:r>
            <a:r>
              <a:rPr lang="en-US" spc="5" dirty="0">
                <a:latin typeface="Times New Roman"/>
                <a:cs typeface="Times New Roman"/>
              </a:rPr>
              <a:t> </a:t>
            </a:r>
            <a:r>
              <a:rPr lang="en-US" dirty="0">
                <a:latin typeface="Times New Roman"/>
                <a:cs typeface="Times New Roman"/>
              </a:rPr>
              <a:t>request</a:t>
            </a:r>
            <a:r>
              <a:rPr lang="en-US" spc="-60" dirty="0">
                <a:latin typeface="Times New Roman"/>
                <a:cs typeface="Times New Roman"/>
              </a:rPr>
              <a:t> </a:t>
            </a:r>
            <a:r>
              <a:rPr lang="en-US" spc="-10" dirty="0">
                <a:latin typeface="Times New Roman"/>
                <a:cs typeface="Times New Roman"/>
              </a:rPr>
              <a:t>resources </a:t>
            </a:r>
            <a:r>
              <a:rPr lang="en-US" dirty="0">
                <a:latin typeface="Times New Roman"/>
                <a:cs typeface="Times New Roman"/>
              </a:rPr>
              <a:t>in</a:t>
            </a:r>
            <a:r>
              <a:rPr lang="en-US" spc="-20" dirty="0">
                <a:latin typeface="Times New Roman"/>
                <a:cs typeface="Times New Roman"/>
              </a:rPr>
              <a:t> </a:t>
            </a:r>
            <a:r>
              <a:rPr lang="en-US" dirty="0">
                <a:latin typeface="Times New Roman"/>
                <a:cs typeface="Times New Roman"/>
              </a:rPr>
              <a:t>linear</a:t>
            </a:r>
            <a:r>
              <a:rPr lang="en-US" spc="-35" dirty="0">
                <a:latin typeface="Times New Roman"/>
                <a:cs typeface="Times New Roman"/>
              </a:rPr>
              <a:t> </a:t>
            </a:r>
            <a:r>
              <a:rPr lang="en-US" dirty="0">
                <a:latin typeface="Times New Roman"/>
                <a:cs typeface="Times New Roman"/>
              </a:rPr>
              <a:t>ascending</a:t>
            </a:r>
            <a:r>
              <a:rPr lang="en-US" spc="-60" dirty="0">
                <a:latin typeface="Times New Roman"/>
                <a:cs typeface="Times New Roman"/>
              </a:rPr>
              <a:t> </a:t>
            </a:r>
            <a:r>
              <a:rPr lang="en-US" spc="-10" dirty="0">
                <a:latin typeface="Times New Roman"/>
                <a:cs typeface="Times New Roman"/>
              </a:rPr>
              <a:t>order.</a:t>
            </a:r>
            <a:endParaRPr lang="en-US" dirty="0">
              <a:latin typeface="Times New Roman"/>
              <a:cs typeface="Times New Roman"/>
            </a:endParaRPr>
          </a:p>
          <a:p>
            <a:pPr marL="356870" algn="just">
              <a:lnSpc>
                <a:spcPct val="170000"/>
              </a:lnSpc>
              <a:spcBef>
                <a:spcPts val="489"/>
              </a:spcBef>
            </a:pPr>
            <a:r>
              <a:rPr lang="en-US" dirty="0">
                <a:latin typeface="Times New Roman"/>
                <a:cs typeface="Times New Roman"/>
              </a:rPr>
              <a:t>The</a:t>
            </a:r>
            <a:r>
              <a:rPr lang="en-US" spc="-5" dirty="0">
                <a:latin typeface="Times New Roman"/>
                <a:cs typeface="Times New Roman"/>
              </a:rPr>
              <a:t> </a:t>
            </a:r>
            <a:r>
              <a:rPr lang="en-US" dirty="0">
                <a:latin typeface="Times New Roman"/>
                <a:cs typeface="Times New Roman"/>
              </a:rPr>
              <a:t>only</a:t>
            </a:r>
            <a:r>
              <a:rPr lang="en-US" spc="-25" dirty="0">
                <a:latin typeface="Times New Roman"/>
                <a:cs typeface="Times New Roman"/>
              </a:rPr>
              <a:t> </a:t>
            </a:r>
            <a:r>
              <a:rPr lang="en-US" dirty="0">
                <a:latin typeface="Times New Roman"/>
                <a:cs typeface="Times New Roman"/>
              </a:rPr>
              <a:t>ascending</a:t>
            </a:r>
            <a:r>
              <a:rPr lang="en-US" spc="-70" dirty="0">
                <a:latin typeface="Times New Roman"/>
                <a:cs typeface="Times New Roman"/>
              </a:rPr>
              <a:t> </a:t>
            </a:r>
            <a:r>
              <a:rPr lang="en-US" dirty="0">
                <a:latin typeface="Times New Roman"/>
                <a:cs typeface="Times New Roman"/>
              </a:rPr>
              <a:t>order</a:t>
            </a:r>
            <a:r>
              <a:rPr lang="en-US" spc="-40" dirty="0">
                <a:latin typeface="Times New Roman"/>
                <a:cs typeface="Times New Roman"/>
              </a:rPr>
              <a:t> </a:t>
            </a:r>
            <a:r>
              <a:rPr lang="en-US" dirty="0">
                <a:latin typeface="Times New Roman"/>
                <a:cs typeface="Times New Roman"/>
              </a:rPr>
              <a:t>prevents</a:t>
            </a:r>
            <a:r>
              <a:rPr lang="en-US" spc="-20" dirty="0">
                <a:latin typeface="Times New Roman"/>
                <a:cs typeface="Times New Roman"/>
              </a:rPr>
              <a:t> </a:t>
            </a:r>
            <a:r>
              <a:rPr lang="en-US" dirty="0">
                <a:latin typeface="Times New Roman"/>
                <a:cs typeface="Times New Roman"/>
              </a:rPr>
              <a:t>the</a:t>
            </a:r>
            <a:r>
              <a:rPr lang="en-US" spc="-20" dirty="0">
                <a:latin typeface="Times New Roman"/>
                <a:cs typeface="Times New Roman"/>
              </a:rPr>
              <a:t> </a:t>
            </a:r>
            <a:r>
              <a:rPr lang="en-US" spc="-10" dirty="0">
                <a:latin typeface="Times New Roman"/>
                <a:cs typeface="Times New Roman"/>
              </a:rPr>
              <a:t>circular.</a:t>
            </a:r>
            <a:endParaRPr lang="en-US" dirty="0">
              <a:latin typeface="Times New Roman"/>
              <a:cs typeface="Times New Roman"/>
            </a:endParaRPr>
          </a:p>
          <a:p>
            <a:pPr marL="12065" marR="98425" indent="0" algn="just">
              <a:lnSpc>
                <a:spcPct val="170000"/>
              </a:lnSpc>
              <a:spcBef>
                <a:spcPts val="844"/>
              </a:spcBef>
              <a:buNone/>
            </a:pPr>
            <a:r>
              <a:rPr lang="en-US" dirty="0">
                <a:solidFill>
                  <a:srgbClr val="3333CC"/>
                </a:solidFill>
                <a:latin typeface="Times New Roman"/>
                <a:cs typeface="Times New Roman"/>
              </a:rPr>
              <a:t>Problem:</a:t>
            </a:r>
            <a:r>
              <a:rPr lang="en-US" spc="-25" dirty="0">
                <a:solidFill>
                  <a:srgbClr val="3333CC"/>
                </a:solidFill>
                <a:latin typeface="Times New Roman"/>
                <a:cs typeface="Times New Roman"/>
              </a:rPr>
              <a:t> </a:t>
            </a:r>
            <a:r>
              <a:rPr lang="en-US" dirty="0">
                <a:latin typeface="Times New Roman"/>
                <a:cs typeface="Times New Roman"/>
              </a:rPr>
              <a:t>Difficult</a:t>
            </a:r>
            <a:r>
              <a:rPr lang="en-US" spc="-55" dirty="0">
                <a:latin typeface="Times New Roman"/>
                <a:cs typeface="Times New Roman"/>
              </a:rPr>
              <a:t> </a:t>
            </a:r>
            <a:r>
              <a:rPr lang="en-US" dirty="0">
                <a:latin typeface="Times New Roman"/>
                <a:cs typeface="Times New Roman"/>
              </a:rPr>
              <a:t>to</a:t>
            </a:r>
            <a:r>
              <a:rPr lang="en-US" spc="-40" dirty="0">
                <a:latin typeface="Times New Roman"/>
                <a:cs typeface="Times New Roman"/>
              </a:rPr>
              <a:t> </a:t>
            </a:r>
            <a:r>
              <a:rPr lang="en-US" dirty="0">
                <a:latin typeface="Times New Roman"/>
                <a:cs typeface="Times New Roman"/>
              </a:rPr>
              <a:t>maintain</a:t>
            </a:r>
            <a:r>
              <a:rPr lang="en-US" spc="-40" dirty="0">
                <a:latin typeface="Times New Roman"/>
                <a:cs typeface="Times New Roman"/>
              </a:rPr>
              <a:t> </a:t>
            </a:r>
            <a:r>
              <a:rPr lang="en-US" dirty="0">
                <a:latin typeface="Times New Roman"/>
                <a:cs typeface="Times New Roman"/>
              </a:rPr>
              <a:t>the</a:t>
            </a:r>
            <a:r>
              <a:rPr lang="en-US" spc="-30" dirty="0">
                <a:latin typeface="Times New Roman"/>
                <a:cs typeface="Times New Roman"/>
              </a:rPr>
              <a:t> </a:t>
            </a:r>
            <a:r>
              <a:rPr lang="en-US" dirty="0">
                <a:latin typeface="Times New Roman"/>
                <a:cs typeface="Times New Roman"/>
              </a:rPr>
              <a:t>resource</a:t>
            </a:r>
            <a:r>
              <a:rPr lang="en-US" spc="-85" dirty="0">
                <a:latin typeface="Times New Roman"/>
                <a:cs typeface="Times New Roman"/>
              </a:rPr>
              <a:t> </a:t>
            </a:r>
            <a:r>
              <a:rPr lang="en-US" dirty="0">
                <a:latin typeface="Times New Roman"/>
                <a:cs typeface="Times New Roman"/>
              </a:rPr>
              <a:t>order;</a:t>
            </a:r>
            <a:r>
              <a:rPr lang="en-US" spc="-55" dirty="0">
                <a:latin typeface="Times New Roman"/>
                <a:cs typeface="Times New Roman"/>
              </a:rPr>
              <a:t> </a:t>
            </a:r>
            <a:r>
              <a:rPr lang="en-US" dirty="0">
                <a:latin typeface="Times New Roman"/>
                <a:cs typeface="Times New Roman"/>
              </a:rPr>
              <a:t>dynamic</a:t>
            </a:r>
            <a:r>
              <a:rPr lang="en-US" spc="10" dirty="0">
                <a:latin typeface="Times New Roman"/>
                <a:cs typeface="Times New Roman"/>
              </a:rPr>
              <a:t> </a:t>
            </a:r>
            <a:r>
              <a:rPr lang="en-US" dirty="0">
                <a:latin typeface="Times New Roman"/>
                <a:cs typeface="Times New Roman"/>
              </a:rPr>
              <a:t>update</a:t>
            </a:r>
            <a:r>
              <a:rPr lang="en-US" spc="-55" dirty="0">
                <a:latin typeface="Times New Roman"/>
                <a:cs typeface="Times New Roman"/>
              </a:rPr>
              <a:t> </a:t>
            </a:r>
            <a:r>
              <a:rPr lang="en-US" dirty="0">
                <a:latin typeface="Times New Roman"/>
                <a:cs typeface="Times New Roman"/>
              </a:rPr>
              <a:t>in</a:t>
            </a:r>
            <a:r>
              <a:rPr lang="en-US" spc="-40" dirty="0">
                <a:latin typeface="Times New Roman"/>
                <a:cs typeface="Times New Roman"/>
              </a:rPr>
              <a:t> </a:t>
            </a:r>
            <a:r>
              <a:rPr lang="en-US" spc="-10" dirty="0">
                <a:latin typeface="Times New Roman"/>
                <a:cs typeface="Times New Roman"/>
              </a:rPr>
              <a:t>addition </a:t>
            </a:r>
            <a:r>
              <a:rPr lang="en-US" dirty="0">
                <a:latin typeface="Times New Roman"/>
                <a:cs typeface="Times New Roman"/>
              </a:rPr>
              <a:t>of</a:t>
            </a:r>
            <a:r>
              <a:rPr lang="en-US" spc="-15" dirty="0">
                <a:latin typeface="Times New Roman"/>
                <a:cs typeface="Times New Roman"/>
              </a:rPr>
              <a:t> </a:t>
            </a:r>
            <a:r>
              <a:rPr lang="en-US" dirty="0">
                <a:latin typeface="Times New Roman"/>
                <a:cs typeface="Times New Roman"/>
              </a:rPr>
              <a:t>new</a:t>
            </a:r>
            <a:r>
              <a:rPr lang="en-US" spc="-10" dirty="0">
                <a:latin typeface="Times New Roman"/>
                <a:cs typeface="Times New Roman"/>
              </a:rPr>
              <a:t> resources.</a:t>
            </a:r>
            <a:endParaRPr lang="en-US" dirty="0">
              <a:latin typeface="Times New Roman"/>
              <a:cs typeface="Times New Roman"/>
            </a:endParaRPr>
          </a:p>
          <a:p>
            <a:pPr marL="469900" algn="just">
              <a:lnSpc>
                <a:spcPct val="170000"/>
              </a:lnSpc>
              <a:spcBef>
                <a:spcPts val="490"/>
              </a:spcBef>
            </a:pPr>
            <a:r>
              <a:rPr lang="en-US" dirty="0">
                <a:latin typeface="Times New Roman"/>
                <a:cs typeface="Times New Roman"/>
              </a:rPr>
              <a:t>Indefinite</a:t>
            </a:r>
            <a:r>
              <a:rPr lang="en-US" spc="-50" dirty="0">
                <a:latin typeface="Times New Roman"/>
                <a:cs typeface="Times New Roman"/>
              </a:rPr>
              <a:t> </a:t>
            </a:r>
            <a:r>
              <a:rPr lang="en-US" dirty="0">
                <a:latin typeface="Times New Roman"/>
                <a:cs typeface="Times New Roman"/>
              </a:rPr>
              <a:t>postponement</a:t>
            </a:r>
            <a:r>
              <a:rPr lang="en-US" spc="-65" dirty="0">
                <a:latin typeface="Times New Roman"/>
                <a:cs typeface="Times New Roman"/>
              </a:rPr>
              <a:t> </a:t>
            </a:r>
            <a:r>
              <a:rPr lang="en-US" dirty="0">
                <a:latin typeface="Times New Roman"/>
                <a:cs typeface="Times New Roman"/>
              </a:rPr>
              <a:t>or</a:t>
            </a:r>
            <a:r>
              <a:rPr lang="en-US" spc="-40" dirty="0">
                <a:latin typeface="Times New Roman"/>
                <a:cs typeface="Times New Roman"/>
              </a:rPr>
              <a:t> </a:t>
            </a:r>
            <a:r>
              <a:rPr lang="en-US" spc="-10" dirty="0">
                <a:latin typeface="Times New Roman"/>
                <a:cs typeface="Times New Roman"/>
              </a:rPr>
              <a:t>starvation.</a:t>
            </a:r>
            <a:endParaRPr lang="en-US" dirty="0">
              <a:latin typeface="Times New Roman"/>
              <a:cs typeface="Times New Roman"/>
            </a:endParaRPr>
          </a:p>
          <a:p>
            <a:pPr algn="just">
              <a:lnSpc>
                <a:spcPct val="170000"/>
              </a:lnSpc>
            </a:pPr>
            <a:endParaRPr lang="en-US" dirty="0"/>
          </a:p>
        </p:txBody>
      </p:sp>
    </p:spTree>
    <p:extLst>
      <p:ext uri="{BB962C8B-B14F-4D97-AF65-F5344CB8AC3E}">
        <p14:creationId xmlns:p14="http://schemas.microsoft.com/office/powerpoint/2010/main" val="105232907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0640"/>
          </a:xfrm>
        </p:spPr>
        <p:txBody>
          <a:bodyPr/>
          <a:lstStyle/>
          <a:p>
            <a:pPr algn="ctr"/>
            <a:r>
              <a:rPr lang="en-US" b="1" dirty="0" smtClean="0">
                <a:solidFill>
                  <a:srgbClr val="FF0000"/>
                </a:solidFill>
              </a:rPr>
              <a:t>Deadlock Ignorance: Ostrich Algorithm</a:t>
            </a:r>
            <a:endParaRPr lang="en-US" b="1" dirty="0">
              <a:solidFill>
                <a:srgbClr val="FF0000"/>
              </a:solidFill>
            </a:endParaRPr>
          </a:p>
        </p:txBody>
      </p:sp>
      <p:sp>
        <p:nvSpPr>
          <p:cNvPr id="3" name="Content Placeholder 2"/>
          <p:cNvSpPr>
            <a:spLocks noGrp="1"/>
          </p:cNvSpPr>
          <p:nvPr>
            <p:ph idx="1"/>
          </p:nvPr>
        </p:nvSpPr>
        <p:spPr>
          <a:xfrm>
            <a:off x="838200" y="1075766"/>
            <a:ext cx="10515600" cy="5101197"/>
          </a:xfrm>
        </p:spPr>
        <p:txBody>
          <a:bodyPr>
            <a:noAutofit/>
          </a:bodyPr>
          <a:lstStyle/>
          <a:p>
            <a:pPr marL="0" indent="0" algn="just">
              <a:lnSpc>
                <a:spcPct val="160000"/>
              </a:lnSpc>
              <a:spcBef>
                <a:spcPts val="105"/>
              </a:spcBef>
              <a:buNone/>
            </a:pPr>
            <a:r>
              <a:rPr lang="en-US" sz="2400" dirty="0">
                <a:solidFill>
                  <a:srgbClr val="3333CC"/>
                </a:solidFill>
                <a:latin typeface="Times New Roman"/>
                <a:cs typeface="Times New Roman"/>
              </a:rPr>
              <a:t>Fact:</a:t>
            </a:r>
            <a:r>
              <a:rPr lang="en-US" sz="2400" spc="-35" dirty="0">
                <a:solidFill>
                  <a:srgbClr val="3333CC"/>
                </a:solidFill>
                <a:latin typeface="Times New Roman"/>
                <a:cs typeface="Times New Roman"/>
              </a:rPr>
              <a:t> </a:t>
            </a:r>
            <a:r>
              <a:rPr lang="en-US" sz="2400" dirty="0">
                <a:latin typeface="Times New Roman"/>
                <a:cs typeface="Times New Roman"/>
              </a:rPr>
              <a:t>there</a:t>
            </a:r>
            <a:r>
              <a:rPr lang="en-US" sz="2400" spc="-45" dirty="0">
                <a:latin typeface="Times New Roman"/>
                <a:cs typeface="Times New Roman"/>
              </a:rPr>
              <a:t> </a:t>
            </a:r>
            <a:r>
              <a:rPr lang="en-US" sz="2400" dirty="0">
                <a:latin typeface="Times New Roman"/>
                <a:cs typeface="Times New Roman"/>
              </a:rPr>
              <a:t>is</a:t>
            </a:r>
            <a:r>
              <a:rPr lang="en-US" sz="2400" spc="-10" dirty="0">
                <a:latin typeface="Times New Roman"/>
                <a:cs typeface="Times New Roman"/>
              </a:rPr>
              <a:t> </a:t>
            </a:r>
            <a:r>
              <a:rPr lang="en-US" sz="2400" dirty="0">
                <a:latin typeface="Times New Roman"/>
                <a:cs typeface="Times New Roman"/>
              </a:rPr>
              <a:t>no</a:t>
            </a:r>
            <a:r>
              <a:rPr lang="en-US" sz="2400" spc="-5" dirty="0">
                <a:latin typeface="Times New Roman"/>
                <a:cs typeface="Times New Roman"/>
              </a:rPr>
              <a:t> </a:t>
            </a:r>
            <a:r>
              <a:rPr lang="en-US" sz="2400" dirty="0">
                <a:latin typeface="Times New Roman"/>
                <a:cs typeface="Times New Roman"/>
              </a:rPr>
              <a:t>good</a:t>
            </a:r>
            <a:r>
              <a:rPr lang="en-US" sz="2400" spc="-55" dirty="0">
                <a:latin typeface="Times New Roman"/>
                <a:cs typeface="Times New Roman"/>
              </a:rPr>
              <a:t> </a:t>
            </a:r>
            <a:r>
              <a:rPr lang="en-US" sz="2400" dirty="0">
                <a:latin typeface="Times New Roman"/>
                <a:cs typeface="Times New Roman"/>
              </a:rPr>
              <a:t>way</a:t>
            </a:r>
            <a:r>
              <a:rPr lang="en-US" sz="2400" spc="15" dirty="0">
                <a:latin typeface="Times New Roman"/>
                <a:cs typeface="Times New Roman"/>
              </a:rPr>
              <a:t> </a:t>
            </a:r>
            <a:r>
              <a:rPr lang="en-US" sz="2400" dirty="0">
                <a:latin typeface="Times New Roman"/>
                <a:cs typeface="Times New Roman"/>
              </a:rPr>
              <a:t>of</a:t>
            </a:r>
            <a:r>
              <a:rPr lang="en-US" sz="2400" spc="-20" dirty="0">
                <a:latin typeface="Times New Roman"/>
                <a:cs typeface="Times New Roman"/>
              </a:rPr>
              <a:t> </a:t>
            </a:r>
            <a:r>
              <a:rPr lang="en-US" sz="2400" dirty="0">
                <a:latin typeface="Times New Roman"/>
                <a:cs typeface="Times New Roman"/>
              </a:rPr>
              <a:t>dealing</a:t>
            </a:r>
            <a:r>
              <a:rPr lang="en-US" sz="2400" spc="-55" dirty="0">
                <a:latin typeface="Times New Roman"/>
                <a:cs typeface="Times New Roman"/>
              </a:rPr>
              <a:t> </a:t>
            </a:r>
            <a:r>
              <a:rPr lang="en-US" sz="2400" dirty="0">
                <a:latin typeface="Times New Roman"/>
                <a:cs typeface="Times New Roman"/>
              </a:rPr>
              <a:t>with</a:t>
            </a:r>
            <a:r>
              <a:rPr lang="en-US" sz="2400" spc="-35" dirty="0">
                <a:latin typeface="Times New Roman"/>
                <a:cs typeface="Times New Roman"/>
              </a:rPr>
              <a:t> </a:t>
            </a:r>
            <a:r>
              <a:rPr lang="en-US" sz="2400" spc="-10" dirty="0" smtClean="0">
                <a:latin typeface="Times New Roman"/>
                <a:cs typeface="Times New Roman"/>
              </a:rPr>
              <a:t>deadlock.</a:t>
            </a:r>
            <a:endParaRPr lang="en-US" sz="2400" dirty="0" smtClean="0">
              <a:latin typeface="Times New Roman"/>
              <a:cs typeface="Times New Roman"/>
            </a:endParaRPr>
          </a:p>
          <a:p>
            <a:pPr marL="12700" algn="just">
              <a:lnSpc>
                <a:spcPct val="160000"/>
              </a:lnSpc>
              <a:spcBef>
                <a:spcPts val="105"/>
              </a:spcBef>
            </a:pPr>
            <a:r>
              <a:rPr lang="en-US" sz="2400" dirty="0" smtClean="0">
                <a:latin typeface="Times New Roman"/>
                <a:cs typeface="Times New Roman"/>
              </a:rPr>
              <a:t>Ignore</a:t>
            </a:r>
            <a:r>
              <a:rPr lang="en-US" sz="2400" spc="-35" dirty="0" smtClean="0">
                <a:latin typeface="Times New Roman"/>
                <a:cs typeface="Times New Roman"/>
              </a:rPr>
              <a:t> </a:t>
            </a:r>
            <a:r>
              <a:rPr lang="en-US" sz="2400" dirty="0">
                <a:latin typeface="Times New Roman"/>
                <a:cs typeface="Times New Roman"/>
              </a:rPr>
              <a:t>the</a:t>
            </a:r>
            <a:r>
              <a:rPr lang="en-US" sz="2400" spc="-25" dirty="0">
                <a:latin typeface="Times New Roman"/>
                <a:cs typeface="Times New Roman"/>
              </a:rPr>
              <a:t> </a:t>
            </a:r>
            <a:r>
              <a:rPr lang="en-US" sz="2400" dirty="0">
                <a:latin typeface="Times New Roman"/>
                <a:cs typeface="Times New Roman"/>
              </a:rPr>
              <a:t>problem</a:t>
            </a:r>
            <a:r>
              <a:rPr lang="en-US" sz="2400" spc="-45" dirty="0">
                <a:latin typeface="Times New Roman"/>
                <a:cs typeface="Times New Roman"/>
              </a:rPr>
              <a:t> </a:t>
            </a:r>
            <a:r>
              <a:rPr lang="en-US" sz="2400" spc="-10" dirty="0" smtClean="0">
                <a:latin typeface="Times New Roman"/>
                <a:cs typeface="Times New Roman"/>
              </a:rPr>
              <a:t>altogether.</a:t>
            </a:r>
            <a:endParaRPr lang="en-US" sz="2400" dirty="0">
              <a:latin typeface="Times New Roman"/>
              <a:cs typeface="Times New Roman"/>
            </a:endParaRPr>
          </a:p>
          <a:p>
            <a:pPr marL="146685" algn="just">
              <a:lnSpc>
                <a:spcPct val="160000"/>
              </a:lnSpc>
            </a:pPr>
            <a:r>
              <a:rPr lang="en-US" sz="2400" dirty="0">
                <a:latin typeface="Times New Roman"/>
                <a:cs typeface="Times New Roman"/>
              </a:rPr>
              <a:t>For</a:t>
            </a:r>
            <a:r>
              <a:rPr lang="en-US" sz="2400" spc="-10" dirty="0">
                <a:latin typeface="Times New Roman"/>
                <a:cs typeface="Times New Roman"/>
              </a:rPr>
              <a:t> </a:t>
            </a:r>
            <a:r>
              <a:rPr lang="en-US" sz="2400" dirty="0">
                <a:latin typeface="Times New Roman"/>
                <a:cs typeface="Times New Roman"/>
              </a:rPr>
              <a:t>most</a:t>
            </a:r>
            <a:r>
              <a:rPr lang="en-US" sz="2400" spc="-20" dirty="0">
                <a:latin typeface="Times New Roman"/>
                <a:cs typeface="Times New Roman"/>
              </a:rPr>
              <a:t> </a:t>
            </a:r>
            <a:r>
              <a:rPr lang="en-US" sz="2400" dirty="0">
                <a:latin typeface="Times New Roman"/>
                <a:cs typeface="Times New Roman"/>
              </a:rPr>
              <a:t>operating</a:t>
            </a:r>
            <a:r>
              <a:rPr lang="en-US" sz="2400" spc="-65" dirty="0">
                <a:latin typeface="Times New Roman"/>
                <a:cs typeface="Times New Roman"/>
              </a:rPr>
              <a:t> </a:t>
            </a:r>
            <a:r>
              <a:rPr lang="en-US" sz="2400" dirty="0">
                <a:latin typeface="Times New Roman"/>
                <a:cs typeface="Times New Roman"/>
              </a:rPr>
              <a:t>systems,</a:t>
            </a:r>
            <a:r>
              <a:rPr lang="en-US" sz="2400" spc="-15" dirty="0">
                <a:latin typeface="Times New Roman"/>
                <a:cs typeface="Times New Roman"/>
              </a:rPr>
              <a:t> </a:t>
            </a:r>
            <a:r>
              <a:rPr lang="en-US" sz="2400" dirty="0">
                <a:latin typeface="Times New Roman"/>
                <a:cs typeface="Times New Roman"/>
              </a:rPr>
              <a:t>deadlock</a:t>
            </a:r>
            <a:r>
              <a:rPr lang="en-US" sz="2400" spc="-90" dirty="0">
                <a:latin typeface="Times New Roman"/>
                <a:cs typeface="Times New Roman"/>
              </a:rPr>
              <a:t> </a:t>
            </a:r>
            <a:r>
              <a:rPr lang="en-US" sz="2400" dirty="0">
                <a:latin typeface="Times New Roman"/>
                <a:cs typeface="Times New Roman"/>
              </a:rPr>
              <a:t>is</a:t>
            </a:r>
            <a:r>
              <a:rPr lang="en-US" sz="2400" spc="-20" dirty="0">
                <a:latin typeface="Times New Roman"/>
                <a:cs typeface="Times New Roman"/>
              </a:rPr>
              <a:t> </a:t>
            </a:r>
            <a:r>
              <a:rPr lang="en-US" sz="2400" dirty="0">
                <a:latin typeface="Times New Roman"/>
                <a:cs typeface="Times New Roman"/>
              </a:rPr>
              <a:t>a</a:t>
            </a:r>
            <a:r>
              <a:rPr lang="en-US" sz="2400" spc="-10" dirty="0">
                <a:latin typeface="Times New Roman"/>
                <a:cs typeface="Times New Roman"/>
              </a:rPr>
              <a:t> </a:t>
            </a:r>
            <a:r>
              <a:rPr lang="en-US" sz="2400" dirty="0">
                <a:latin typeface="Times New Roman"/>
                <a:cs typeface="Times New Roman"/>
              </a:rPr>
              <a:t>rare</a:t>
            </a:r>
            <a:r>
              <a:rPr lang="en-US" sz="2400" spc="-30" dirty="0">
                <a:latin typeface="Times New Roman"/>
                <a:cs typeface="Times New Roman"/>
              </a:rPr>
              <a:t> </a:t>
            </a:r>
            <a:r>
              <a:rPr lang="en-US" sz="2400" spc="-10" dirty="0" smtClean="0">
                <a:latin typeface="Times New Roman"/>
                <a:cs typeface="Times New Roman"/>
              </a:rPr>
              <a:t>occurrence. </a:t>
            </a:r>
            <a:r>
              <a:rPr lang="en-US" sz="2400" dirty="0" smtClean="0">
                <a:latin typeface="Times New Roman"/>
                <a:cs typeface="Times New Roman"/>
              </a:rPr>
              <a:t>So</a:t>
            </a:r>
            <a:r>
              <a:rPr lang="en-US" sz="2400" spc="20" dirty="0" smtClean="0">
                <a:latin typeface="Times New Roman"/>
                <a:cs typeface="Times New Roman"/>
              </a:rPr>
              <a:t> </a:t>
            </a:r>
            <a:r>
              <a:rPr lang="en-US" sz="2400" dirty="0">
                <a:latin typeface="Times New Roman"/>
                <a:cs typeface="Times New Roman"/>
              </a:rPr>
              <a:t>the</a:t>
            </a:r>
            <a:r>
              <a:rPr lang="en-US" sz="2400" spc="-35" dirty="0">
                <a:latin typeface="Times New Roman"/>
                <a:cs typeface="Times New Roman"/>
              </a:rPr>
              <a:t> </a:t>
            </a:r>
            <a:r>
              <a:rPr lang="en-US" sz="2400" dirty="0">
                <a:latin typeface="Times New Roman"/>
                <a:cs typeface="Times New Roman"/>
              </a:rPr>
              <a:t>problem</a:t>
            </a:r>
            <a:r>
              <a:rPr lang="en-US" sz="2400" spc="-55" dirty="0">
                <a:latin typeface="Times New Roman"/>
                <a:cs typeface="Times New Roman"/>
              </a:rPr>
              <a:t> </a:t>
            </a:r>
            <a:r>
              <a:rPr lang="en-US" sz="2400" dirty="0">
                <a:latin typeface="Times New Roman"/>
                <a:cs typeface="Times New Roman"/>
              </a:rPr>
              <a:t>of</a:t>
            </a:r>
            <a:r>
              <a:rPr lang="en-US" sz="2400" spc="-15" dirty="0">
                <a:latin typeface="Times New Roman"/>
                <a:cs typeface="Times New Roman"/>
              </a:rPr>
              <a:t> </a:t>
            </a:r>
            <a:r>
              <a:rPr lang="en-US" sz="2400" dirty="0">
                <a:latin typeface="Times New Roman"/>
                <a:cs typeface="Times New Roman"/>
              </a:rPr>
              <a:t>deadlock</a:t>
            </a:r>
            <a:r>
              <a:rPr lang="en-US" sz="2400" spc="-45" dirty="0">
                <a:latin typeface="Times New Roman"/>
                <a:cs typeface="Times New Roman"/>
              </a:rPr>
              <a:t> </a:t>
            </a:r>
            <a:r>
              <a:rPr lang="en-US" sz="2400" dirty="0">
                <a:latin typeface="Times New Roman"/>
                <a:cs typeface="Times New Roman"/>
              </a:rPr>
              <a:t>is</a:t>
            </a:r>
            <a:r>
              <a:rPr lang="en-US" sz="2400" spc="-25" dirty="0">
                <a:latin typeface="Times New Roman"/>
                <a:cs typeface="Times New Roman"/>
              </a:rPr>
              <a:t> </a:t>
            </a:r>
            <a:r>
              <a:rPr lang="en-US" sz="2400" dirty="0">
                <a:latin typeface="Times New Roman"/>
                <a:cs typeface="Times New Roman"/>
              </a:rPr>
              <a:t>ignored,</a:t>
            </a:r>
            <a:r>
              <a:rPr lang="en-US" sz="2400" spc="-65" dirty="0">
                <a:latin typeface="Times New Roman"/>
                <a:cs typeface="Times New Roman"/>
              </a:rPr>
              <a:t> </a:t>
            </a:r>
            <a:r>
              <a:rPr lang="en-US" sz="2400" dirty="0">
                <a:latin typeface="Times New Roman"/>
                <a:cs typeface="Times New Roman"/>
              </a:rPr>
              <a:t>like</a:t>
            </a:r>
            <a:r>
              <a:rPr lang="en-US" sz="2400" spc="-35" dirty="0">
                <a:latin typeface="Times New Roman"/>
                <a:cs typeface="Times New Roman"/>
              </a:rPr>
              <a:t> </a:t>
            </a:r>
            <a:r>
              <a:rPr lang="en-US" sz="2400" dirty="0">
                <a:latin typeface="Times New Roman"/>
                <a:cs typeface="Times New Roman"/>
              </a:rPr>
              <a:t>an</a:t>
            </a:r>
            <a:r>
              <a:rPr lang="en-US" sz="2400" spc="5" dirty="0">
                <a:latin typeface="Times New Roman"/>
                <a:cs typeface="Times New Roman"/>
              </a:rPr>
              <a:t> </a:t>
            </a:r>
            <a:r>
              <a:rPr lang="en-US" sz="2400" spc="-10" dirty="0">
                <a:latin typeface="Times New Roman"/>
                <a:cs typeface="Times New Roman"/>
              </a:rPr>
              <a:t>ostrich </a:t>
            </a:r>
            <a:r>
              <a:rPr lang="en-US" sz="2400" b="1" i="1" dirty="0">
                <a:latin typeface="Times New Roman"/>
                <a:cs typeface="Times New Roman"/>
              </a:rPr>
              <a:t>sticking</a:t>
            </a:r>
            <a:r>
              <a:rPr lang="en-US" sz="2400" b="1" i="1" spc="-55" dirty="0">
                <a:latin typeface="Times New Roman"/>
                <a:cs typeface="Times New Roman"/>
              </a:rPr>
              <a:t> </a:t>
            </a:r>
            <a:r>
              <a:rPr lang="en-US" sz="2400" b="1" i="1" dirty="0">
                <a:latin typeface="Times New Roman"/>
                <a:cs typeface="Times New Roman"/>
              </a:rPr>
              <a:t>its</a:t>
            </a:r>
            <a:r>
              <a:rPr lang="en-US" sz="2400" b="1" i="1" spc="-30" dirty="0">
                <a:latin typeface="Times New Roman"/>
                <a:cs typeface="Times New Roman"/>
              </a:rPr>
              <a:t> </a:t>
            </a:r>
            <a:r>
              <a:rPr lang="en-US" sz="2400" b="1" i="1" dirty="0">
                <a:latin typeface="Times New Roman"/>
                <a:cs typeface="Times New Roman"/>
              </a:rPr>
              <a:t>head</a:t>
            </a:r>
            <a:r>
              <a:rPr lang="en-US" sz="2400" b="1" i="1" spc="-30" dirty="0">
                <a:latin typeface="Times New Roman"/>
                <a:cs typeface="Times New Roman"/>
              </a:rPr>
              <a:t> </a:t>
            </a:r>
            <a:r>
              <a:rPr lang="en-US" sz="2400" b="1" i="1" dirty="0">
                <a:latin typeface="Times New Roman"/>
                <a:cs typeface="Times New Roman"/>
              </a:rPr>
              <a:t>in the</a:t>
            </a:r>
            <a:r>
              <a:rPr lang="en-US" sz="2400" b="1" i="1" spc="-40" dirty="0">
                <a:latin typeface="Times New Roman"/>
                <a:cs typeface="Times New Roman"/>
              </a:rPr>
              <a:t> </a:t>
            </a:r>
            <a:r>
              <a:rPr lang="en-US" sz="2400" b="1" i="1" dirty="0">
                <a:latin typeface="Times New Roman"/>
                <a:cs typeface="Times New Roman"/>
              </a:rPr>
              <a:t>sand</a:t>
            </a:r>
            <a:r>
              <a:rPr lang="en-US" sz="2400" b="1" i="1" spc="-30" dirty="0">
                <a:latin typeface="Times New Roman"/>
                <a:cs typeface="Times New Roman"/>
              </a:rPr>
              <a:t> </a:t>
            </a:r>
            <a:r>
              <a:rPr lang="en-US" sz="2400" b="1" i="1" dirty="0">
                <a:latin typeface="Times New Roman"/>
                <a:cs typeface="Times New Roman"/>
              </a:rPr>
              <a:t>and</a:t>
            </a:r>
            <a:r>
              <a:rPr lang="en-US" sz="2400" b="1" i="1" spc="-30" dirty="0">
                <a:latin typeface="Times New Roman"/>
                <a:cs typeface="Times New Roman"/>
              </a:rPr>
              <a:t> </a:t>
            </a:r>
            <a:r>
              <a:rPr lang="en-US" sz="2400" b="1" i="1" spc="-10" dirty="0" smtClean="0">
                <a:latin typeface="Times New Roman"/>
                <a:cs typeface="Times New Roman"/>
              </a:rPr>
              <a:t>hoping </a:t>
            </a:r>
            <a:r>
              <a:rPr lang="en-US" sz="2400" b="1" i="1" dirty="0" smtClean="0">
                <a:latin typeface="Times New Roman"/>
                <a:cs typeface="Times New Roman"/>
              </a:rPr>
              <a:t>the</a:t>
            </a:r>
            <a:r>
              <a:rPr lang="en-US" sz="2400" b="1" i="1" spc="-30" dirty="0" smtClean="0">
                <a:latin typeface="Times New Roman"/>
                <a:cs typeface="Times New Roman"/>
              </a:rPr>
              <a:t> </a:t>
            </a:r>
            <a:r>
              <a:rPr lang="en-US" sz="2400" b="1" i="1" dirty="0">
                <a:latin typeface="Times New Roman"/>
                <a:cs typeface="Times New Roman"/>
              </a:rPr>
              <a:t>problem</a:t>
            </a:r>
            <a:r>
              <a:rPr lang="en-US" sz="2400" b="1" i="1" spc="-65" dirty="0">
                <a:latin typeface="Times New Roman"/>
                <a:cs typeface="Times New Roman"/>
              </a:rPr>
              <a:t> </a:t>
            </a:r>
            <a:r>
              <a:rPr lang="en-US" sz="2400" b="1" i="1" dirty="0">
                <a:latin typeface="Times New Roman"/>
                <a:cs typeface="Times New Roman"/>
              </a:rPr>
              <a:t>will go</a:t>
            </a:r>
            <a:r>
              <a:rPr lang="en-US" sz="2400" b="1" i="1" spc="-30" dirty="0">
                <a:latin typeface="Times New Roman"/>
                <a:cs typeface="Times New Roman"/>
              </a:rPr>
              <a:t> </a:t>
            </a:r>
            <a:r>
              <a:rPr lang="en-US" sz="2400" b="1" i="1" spc="-10" dirty="0">
                <a:latin typeface="Times New Roman"/>
                <a:cs typeface="Times New Roman"/>
              </a:rPr>
              <a:t>away</a:t>
            </a:r>
            <a:r>
              <a:rPr lang="en-US" sz="2400" b="1" i="1" spc="-10" dirty="0" smtClean="0">
                <a:latin typeface="Times New Roman"/>
                <a:cs typeface="Times New Roman"/>
              </a:rPr>
              <a:t>.</a:t>
            </a:r>
          </a:p>
          <a:p>
            <a:pPr marL="146685" algn="just">
              <a:lnSpc>
                <a:spcPct val="160000"/>
              </a:lnSpc>
            </a:pPr>
            <a:r>
              <a:rPr lang="en-US" sz="2400" dirty="0">
                <a:latin typeface="Times New Roman"/>
                <a:cs typeface="Times New Roman"/>
              </a:rPr>
              <a:t>Deadlock is rare, the cost of prevention or detection is high </a:t>
            </a:r>
            <a:r>
              <a:rPr lang="en-US" sz="2400" dirty="0" smtClean="0">
                <a:latin typeface="Times New Roman"/>
                <a:cs typeface="Times New Roman"/>
              </a:rPr>
              <a:t>So, pretend </a:t>
            </a:r>
            <a:r>
              <a:rPr lang="en-US" sz="2400" dirty="0">
                <a:latin typeface="Times New Roman"/>
                <a:cs typeface="Times New Roman"/>
              </a:rPr>
              <a:t>as if there is no problem</a:t>
            </a:r>
          </a:p>
          <a:p>
            <a:pPr marL="146685" algn="just">
              <a:lnSpc>
                <a:spcPct val="160000"/>
              </a:lnSpc>
            </a:pPr>
            <a:r>
              <a:rPr lang="en-US" sz="2400" dirty="0">
                <a:latin typeface="Times New Roman"/>
                <a:cs typeface="Times New Roman"/>
              </a:rPr>
              <a:t>The UNIX and Windows operating system take this approach</a:t>
            </a:r>
          </a:p>
        </p:txBody>
      </p:sp>
    </p:spTree>
    <p:extLst>
      <p:ext uri="{BB962C8B-B14F-4D97-AF65-F5344CB8AC3E}">
        <p14:creationId xmlns:p14="http://schemas.microsoft.com/office/powerpoint/2010/main" val="253157414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722"/>
          </a:xfrm>
        </p:spPr>
        <p:txBody>
          <a:bodyPr>
            <a:normAutofit fontScale="90000"/>
          </a:bodyPr>
          <a:lstStyle/>
          <a:p>
            <a:pPr algn="ctr"/>
            <a:r>
              <a:rPr lang="en-US" b="1" spc="-25" dirty="0">
                <a:latin typeface="Times New Roman" panose="02020603050405020304" pitchFamily="18" charset="0"/>
                <a:cs typeface="Times New Roman" panose="02020603050405020304" pitchFamily="18" charset="0"/>
              </a:rPr>
              <a:t>Deadlock</a:t>
            </a:r>
            <a:r>
              <a:rPr lang="en-US" b="1" spc="-204" dirty="0">
                <a:latin typeface="Times New Roman" panose="02020603050405020304" pitchFamily="18" charset="0"/>
                <a:cs typeface="Times New Roman" panose="02020603050405020304" pitchFamily="18" charset="0"/>
              </a:rPr>
              <a:t> </a:t>
            </a:r>
            <a:r>
              <a:rPr lang="en-US" b="1" spc="-20" dirty="0">
                <a:latin typeface="Times New Roman" panose="02020603050405020304" pitchFamily="18" charset="0"/>
                <a:cs typeface="Times New Roman" panose="02020603050405020304" pitchFamily="18" charset="0"/>
              </a:rPr>
              <a:t>Avoidance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96788"/>
            <a:ext cx="10515600" cy="4980175"/>
          </a:xfrm>
        </p:spPr>
        <p:txBody>
          <a:bodyPr>
            <a:normAutofit/>
          </a:bodyPr>
          <a:lstStyle/>
          <a:p>
            <a:pPr marL="360045" indent="0" algn="just">
              <a:lnSpc>
                <a:spcPct val="150000"/>
              </a:lnSpc>
              <a:spcBef>
                <a:spcPts val="105"/>
              </a:spcBef>
              <a:buNone/>
            </a:pPr>
            <a:r>
              <a:rPr lang="en-US" sz="2400" b="1" i="1" dirty="0">
                <a:latin typeface="Times New Roman"/>
                <a:cs typeface="Times New Roman"/>
              </a:rPr>
              <a:t>Avoiding</a:t>
            </a:r>
            <a:r>
              <a:rPr lang="en-US" sz="2400" b="1" i="1" spc="-80" dirty="0">
                <a:latin typeface="Times New Roman"/>
                <a:cs typeface="Times New Roman"/>
              </a:rPr>
              <a:t> </a:t>
            </a:r>
            <a:r>
              <a:rPr lang="en-US" sz="2400" b="1" i="1" dirty="0">
                <a:latin typeface="Times New Roman"/>
                <a:cs typeface="Times New Roman"/>
              </a:rPr>
              <a:t>deadlock</a:t>
            </a:r>
            <a:r>
              <a:rPr lang="en-US" sz="2400" b="1" i="1" spc="-125" dirty="0">
                <a:latin typeface="Times New Roman"/>
                <a:cs typeface="Times New Roman"/>
              </a:rPr>
              <a:t> </a:t>
            </a:r>
            <a:r>
              <a:rPr lang="en-US" sz="2400" b="1" i="1" dirty="0">
                <a:latin typeface="Times New Roman"/>
                <a:cs typeface="Times New Roman"/>
              </a:rPr>
              <a:t>by</a:t>
            </a:r>
            <a:r>
              <a:rPr lang="en-US" sz="2400" b="1" i="1" spc="-80" dirty="0">
                <a:latin typeface="Times New Roman"/>
                <a:cs typeface="Times New Roman"/>
              </a:rPr>
              <a:t> </a:t>
            </a:r>
            <a:r>
              <a:rPr lang="en-US" sz="2400" b="1" i="1" dirty="0">
                <a:latin typeface="Times New Roman"/>
                <a:cs typeface="Times New Roman"/>
              </a:rPr>
              <a:t>careful</a:t>
            </a:r>
            <a:r>
              <a:rPr lang="en-US" sz="2400" b="1" i="1" spc="-65" dirty="0">
                <a:latin typeface="Times New Roman"/>
                <a:cs typeface="Times New Roman"/>
              </a:rPr>
              <a:t> </a:t>
            </a:r>
            <a:r>
              <a:rPr lang="en-US" sz="2400" b="1" i="1" spc="-30" dirty="0">
                <a:latin typeface="Times New Roman"/>
                <a:cs typeface="Times New Roman"/>
              </a:rPr>
              <a:t>resource</a:t>
            </a:r>
            <a:r>
              <a:rPr lang="en-US" sz="2400" b="1" i="1" spc="-145" dirty="0">
                <a:latin typeface="Times New Roman"/>
                <a:cs typeface="Times New Roman"/>
              </a:rPr>
              <a:t> </a:t>
            </a:r>
            <a:r>
              <a:rPr lang="en-US" sz="2400" b="1" i="1" spc="-10" dirty="0">
                <a:latin typeface="Times New Roman"/>
                <a:cs typeface="Times New Roman"/>
              </a:rPr>
              <a:t>allocation</a:t>
            </a:r>
            <a:r>
              <a:rPr lang="en-US" sz="2400" b="1" spc="-10" dirty="0" smtClean="0">
                <a:latin typeface="Times New Roman"/>
                <a:cs typeface="Times New Roman"/>
              </a:rPr>
              <a:t>.</a:t>
            </a:r>
            <a:endParaRPr lang="en-US" sz="2400" dirty="0">
              <a:latin typeface="Times New Roman"/>
              <a:cs typeface="Times New Roman"/>
            </a:endParaRPr>
          </a:p>
          <a:p>
            <a:pPr marL="12700" marR="5080" algn="just">
              <a:lnSpc>
                <a:spcPct val="150000"/>
              </a:lnSpc>
              <a:spcBef>
                <a:spcPts val="5"/>
              </a:spcBef>
            </a:pPr>
            <a:r>
              <a:rPr lang="en-US" sz="2400" dirty="0">
                <a:latin typeface="Times New Roman"/>
                <a:cs typeface="Times New Roman"/>
              </a:rPr>
              <a:t>Decide</a:t>
            </a:r>
            <a:r>
              <a:rPr lang="en-US" sz="2400" spc="-40" dirty="0">
                <a:latin typeface="Times New Roman"/>
                <a:cs typeface="Times New Roman"/>
              </a:rPr>
              <a:t> </a:t>
            </a:r>
            <a:r>
              <a:rPr lang="en-US" sz="2400" dirty="0">
                <a:latin typeface="Times New Roman"/>
                <a:cs typeface="Times New Roman"/>
              </a:rPr>
              <a:t>whether</a:t>
            </a:r>
            <a:r>
              <a:rPr lang="en-US" sz="2400" spc="-45" dirty="0">
                <a:latin typeface="Times New Roman"/>
                <a:cs typeface="Times New Roman"/>
              </a:rPr>
              <a:t> </a:t>
            </a:r>
            <a:r>
              <a:rPr lang="en-US" sz="2400" dirty="0">
                <a:latin typeface="Times New Roman"/>
                <a:cs typeface="Times New Roman"/>
              </a:rPr>
              <a:t>granting</a:t>
            </a:r>
            <a:r>
              <a:rPr lang="en-US" sz="2400" spc="-70" dirty="0">
                <a:latin typeface="Times New Roman"/>
                <a:cs typeface="Times New Roman"/>
              </a:rPr>
              <a:t> </a:t>
            </a:r>
            <a:r>
              <a:rPr lang="en-US" sz="2400" dirty="0">
                <a:latin typeface="Times New Roman"/>
                <a:cs typeface="Times New Roman"/>
              </a:rPr>
              <a:t>a</a:t>
            </a:r>
            <a:r>
              <a:rPr lang="en-US" sz="2400" spc="5" dirty="0">
                <a:latin typeface="Times New Roman"/>
                <a:cs typeface="Times New Roman"/>
              </a:rPr>
              <a:t> </a:t>
            </a:r>
            <a:r>
              <a:rPr lang="en-US" sz="2400" dirty="0">
                <a:latin typeface="Times New Roman"/>
                <a:cs typeface="Times New Roman"/>
              </a:rPr>
              <a:t>resource</a:t>
            </a:r>
            <a:r>
              <a:rPr lang="en-US" sz="2400" spc="-60" dirty="0">
                <a:latin typeface="Times New Roman"/>
                <a:cs typeface="Times New Roman"/>
              </a:rPr>
              <a:t> </a:t>
            </a:r>
            <a:r>
              <a:rPr lang="en-US" sz="2400" dirty="0">
                <a:latin typeface="Times New Roman"/>
                <a:cs typeface="Times New Roman"/>
              </a:rPr>
              <a:t>is</a:t>
            </a:r>
            <a:r>
              <a:rPr lang="en-US" sz="2400" spc="-10" dirty="0">
                <a:latin typeface="Times New Roman"/>
                <a:cs typeface="Times New Roman"/>
              </a:rPr>
              <a:t> </a:t>
            </a:r>
            <a:r>
              <a:rPr lang="en-US" sz="2400" dirty="0">
                <a:latin typeface="Times New Roman"/>
                <a:cs typeface="Times New Roman"/>
              </a:rPr>
              <a:t>safe</a:t>
            </a:r>
            <a:r>
              <a:rPr lang="en-US" sz="2400" spc="-40" dirty="0">
                <a:latin typeface="Times New Roman"/>
                <a:cs typeface="Times New Roman"/>
              </a:rPr>
              <a:t> </a:t>
            </a:r>
            <a:r>
              <a:rPr lang="en-US" sz="2400" dirty="0">
                <a:latin typeface="Times New Roman"/>
                <a:cs typeface="Times New Roman"/>
              </a:rPr>
              <a:t>or</a:t>
            </a:r>
            <a:r>
              <a:rPr lang="en-US" sz="2400" spc="10" dirty="0">
                <a:latin typeface="Times New Roman"/>
                <a:cs typeface="Times New Roman"/>
              </a:rPr>
              <a:t> </a:t>
            </a:r>
            <a:r>
              <a:rPr lang="en-US" sz="2400" dirty="0">
                <a:latin typeface="Times New Roman"/>
                <a:cs typeface="Times New Roman"/>
              </a:rPr>
              <a:t>not,</a:t>
            </a:r>
            <a:r>
              <a:rPr lang="en-US" sz="2400" spc="-50" dirty="0">
                <a:latin typeface="Times New Roman"/>
                <a:cs typeface="Times New Roman"/>
              </a:rPr>
              <a:t> </a:t>
            </a:r>
            <a:r>
              <a:rPr lang="en-US" sz="2400" dirty="0">
                <a:latin typeface="Times New Roman"/>
                <a:cs typeface="Times New Roman"/>
              </a:rPr>
              <a:t>and </a:t>
            </a:r>
            <a:r>
              <a:rPr lang="en-US" sz="2400" spc="-20" dirty="0">
                <a:latin typeface="Times New Roman"/>
                <a:cs typeface="Times New Roman"/>
              </a:rPr>
              <a:t>only </a:t>
            </a:r>
            <a:r>
              <a:rPr lang="en-US" sz="2400" dirty="0">
                <a:latin typeface="Times New Roman"/>
                <a:cs typeface="Times New Roman"/>
              </a:rPr>
              <a:t>make</a:t>
            </a:r>
            <a:r>
              <a:rPr lang="en-US" sz="2400" spc="-10" dirty="0">
                <a:latin typeface="Times New Roman"/>
                <a:cs typeface="Times New Roman"/>
              </a:rPr>
              <a:t> </a:t>
            </a:r>
            <a:r>
              <a:rPr lang="en-US" sz="2400" dirty="0">
                <a:latin typeface="Times New Roman"/>
                <a:cs typeface="Times New Roman"/>
              </a:rPr>
              <a:t>the</a:t>
            </a:r>
            <a:r>
              <a:rPr lang="en-US" sz="2400" spc="-35" dirty="0">
                <a:latin typeface="Times New Roman"/>
                <a:cs typeface="Times New Roman"/>
              </a:rPr>
              <a:t> </a:t>
            </a:r>
            <a:r>
              <a:rPr lang="en-US" sz="2400" dirty="0">
                <a:latin typeface="Times New Roman"/>
                <a:cs typeface="Times New Roman"/>
              </a:rPr>
              <a:t>allocation</a:t>
            </a:r>
            <a:r>
              <a:rPr lang="en-US" sz="2400" spc="-20" dirty="0">
                <a:latin typeface="Times New Roman"/>
                <a:cs typeface="Times New Roman"/>
              </a:rPr>
              <a:t> </a:t>
            </a:r>
            <a:r>
              <a:rPr lang="en-US" sz="2400" dirty="0">
                <a:latin typeface="Times New Roman"/>
                <a:cs typeface="Times New Roman"/>
              </a:rPr>
              <a:t>when</a:t>
            </a:r>
            <a:r>
              <a:rPr lang="en-US" sz="2400" spc="-85" dirty="0">
                <a:latin typeface="Times New Roman"/>
                <a:cs typeface="Times New Roman"/>
              </a:rPr>
              <a:t> </a:t>
            </a:r>
            <a:r>
              <a:rPr lang="en-US" sz="2400" dirty="0">
                <a:latin typeface="Times New Roman"/>
                <a:cs typeface="Times New Roman"/>
              </a:rPr>
              <a:t>it</a:t>
            </a:r>
            <a:r>
              <a:rPr lang="en-US" sz="2400" spc="-20" dirty="0">
                <a:latin typeface="Times New Roman"/>
                <a:cs typeface="Times New Roman"/>
              </a:rPr>
              <a:t> </a:t>
            </a:r>
            <a:r>
              <a:rPr lang="en-US" sz="2400" dirty="0">
                <a:latin typeface="Times New Roman"/>
                <a:cs typeface="Times New Roman"/>
              </a:rPr>
              <a:t>is</a:t>
            </a:r>
            <a:r>
              <a:rPr lang="en-US" sz="2400" spc="-20" dirty="0">
                <a:latin typeface="Times New Roman"/>
                <a:cs typeface="Times New Roman"/>
              </a:rPr>
              <a:t> </a:t>
            </a:r>
            <a:r>
              <a:rPr lang="en-US" sz="2400" spc="-10" dirty="0">
                <a:latin typeface="Times New Roman"/>
                <a:cs typeface="Times New Roman"/>
              </a:rPr>
              <a:t>safe.</a:t>
            </a:r>
            <a:endParaRPr lang="en-US" sz="2400" dirty="0">
              <a:latin typeface="Times New Roman"/>
              <a:cs typeface="Times New Roman"/>
            </a:endParaRPr>
          </a:p>
          <a:p>
            <a:pPr marL="12700" marR="100965" algn="just">
              <a:lnSpc>
                <a:spcPct val="150000"/>
              </a:lnSpc>
              <a:spcBef>
                <a:spcPts val="819"/>
              </a:spcBef>
            </a:pPr>
            <a:r>
              <a:rPr lang="en-US" sz="2400" dirty="0">
                <a:latin typeface="Times New Roman"/>
                <a:cs typeface="Times New Roman"/>
              </a:rPr>
              <a:t>Need</a:t>
            </a:r>
            <a:r>
              <a:rPr lang="en-US" sz="2400" spc="-25" dirty="0">
                <a:latin typeface="Times New Roman"/>
                <a:cs typeface="Times New Roman"/>
              </a:rPr>
              <a:t> </a:t>
            </a:r>
            <a:r>
              <a:rPr lang="en-US" sz="2400" dirty="0">
                <a:latin typeface="Times New Roman"/>
                <a:cs typeface="Times New Roman"/>
              </a:rPr>
              <a:t>extra</a:t>
            </a:r>
            <a:r>
              <a:rPr lang="en-US" sz="2400" spc="-60" dirty="0">
                <a:latin typeface="Times New Roman"/>
                <a:cs typeface="Times New Roman"/>
              </a:rPr>
              <a:t> </a:t>
            </a:r>
            <a:r>
              <a:rPr lang="en-US" sz="2400" dirty="0">
                <a:latin typeface="Times New Roman"/>
                <a:cs typeface="Times New Roman"/>
              </a:rPr>
              <a:t>information</a:t>
            </a:r>
            <a:r>
              <a:rPr lang="en-US" sz="2400" spc="-75" dirty="0">
                <a:latin typeface="Times New Roman"/>
                <a:cs typeface="Times New Roman"/>
              </a:rPr>
              <a:t> </a:t>
            </a:r>
            <a:r>
              <a:rPr lang="en-US" sz="2400" dirty="0">
                <a:latin typeface="Times New Roman"/>
                <a:cs typeface="Times New Roman"/>
              </a:rPr>
              <a:t>in</a:t>
            </a:r>
            <a:r>
              <a:rPr lang="en-US" sz="2400" spc="-50" dirty="0">
                <a:latin typeface="Times New Roman"/>
                <a:cs typeface="Times New Roman"/>
              </a:rPr>
              <a:t> </a:t>
            </a:r>
            <a:r>
              <a:rPr lang="en-US" sz="2400" dirty="0">
                <a:latin typeface="Times New Roman"/>
                <a:cs typeface="Times New Roman"/>
              </a:rPr>
              <a:t>advanced,</a:t>
            </a:r>
            <a:r>
              <a:rPr lang="en-US" sz="2400" spc="-85" dirty="0">
                <a:latin typeface="Times New Roman"/>
                <a:cs typeface="Times New Roman"/>
              </a:rPr>
              <a:t> </a:t>
            </a:r>
            <a:r>
              <a:rPr lang="en-US" sz="2400" dirty="0">
                <a:latin typeface="Times New Roman"/>
                <a:cs typeface="Times New Roman"/>
              </a:rPr>
              <a:t>maximum</a:t>
            </a:r>
            <a:r>
              <a:rPr lang="en-US" sz="2400" spc="5" dirty="0">
                <a:latin typeface="Times New Roman"/>
                <a:cs typeface="Times New Roman"/>
              </a:rPr>
              <a:t> </a:t>
            </a:r>
            <a:r>
              <a:rPr lang="en-US" sz="2400" dirty="0">
                <a:latin typeface="Times New Roman"/>
                <a:cs typeface="Times New Roman"/>
              </a:rPr>
              <a:t>number</a:t>
            </a:r>
            <a:r>
              <a:rPr lang="en-US" sz="2400" spc="-35" dirty="0">
                <a:latin typeface="Times New Roman"/>
                <a:cs typeface="Times New Roman"/>
              </a:rPr>
              <a:t> </a:t>
            </a:r>
            <a:r>
              <a:rPr lang="en-US" sz="2400" spc="-25" dirty="0">
                <a:latin typeface="Times New Roman"/>
                <a:cs typeface="Times New Roman"/>
              </a:rPr>
              <a:t>of </a:t>
            </a:r>
            <a:r>
              <a:rPr lang="en-US" sz="2400" dirty="0">
                <a:latin typeface="Times New Roman"/>
                <a:cs typeface="Times New Roman"/>
              </a:rPr>
              <a:t>resources</a:t>
            </a:r>
            <a:r>
              <a:rPr lang="en-US" sz="2400" spc="-95" dirty="0">
                <a:latin typeface="Times New Roman"/>
                <a:cs typeface="Times New Roman"/>
              </a:rPr>
              <a:t> </a:t>
            </a:r>
            <a:r>
              <a:rPr lang="en-US" sz="2400" dirty="0">
                <a:latin typeface="Times New Roman"/>
                <a:cs typeface="Times New Roman"/>
              </a:rPr>
              <a:t>of</a:t>
            </a:r>
            <a:r>
              <a:rPr lang="en-US" sz="2400" spc="-5" dirty="0">
                <a:latin typeface="Times New Roman"/>
                <a:cs typeface="Times New Roman"/>
              </a:rPr>
              <a:t> </a:t>
            </a:r>
            <a:r>
              <a:rPr lang="en-US" sz="2400" dirty="0">
                <a:latin typeface="Times New Roman"/>
                <a:cs typeface="Times New Roman"/>
              </a:rPr>
              <a:t>each</a:t>
            </a:r>
            <a:r>
              <a:rPr lang="en-US" sz="2400" spc="-50" dirty="0">
                <a:latin typeface="Times New Roman"/>
                <a:cs typeface="Times New Roman"/>
              </a:rPr>
              <a:t> </a:t>
            </a:r>
            <a:r>
              <a:rPr lang="en-US" sz="2400" dirty="0">
                <a:latin typeface="Times New Roman"/>
                <a:cs typeface="Times New Roman"/>
              </a:rPr>
              <a:t>type</a:t>
            </a:r>
            <a:r>
              <a:rPr lang="en-US" sz="2400" spc="-5" dirty="0">
                <a:latin typeface="Times New Roman"/>
                <a:cs typeface="Times New Roman"/>
              </a:rPr>
              <a:t> </a:t>
            </a:r>
            <a:r>
              <a:rPr lang="en-US" sz="2400" dirty="0">
                <a:latin typeface="Times New Roman"/>
                <a:cs typeface="Times New Roman"/>
              </a:rPr>
              <a:t>that</a:t>
            </a:r>
            <a:r>
              <a:rPr lang="en-US" sz="2400" spc="-70" dirty="0">
                <a:latin typeface="Times New Roman"/>
                <a:cs typeface="Times New Roman"/>
              </a:rPr>
              <a:t> </a:t>
            </a:r>
            <a:r>
              <a:rPr lang="en-US" sz="2400" dirty="0">
                <a:latin typeface="Times New Roman"/>
                <a:cs typeface="Times New Roman"/>
              </a:rPr>
              <a:t>a</a:t>
            </a:r>
            <a:r>
              <a:rPr lang="en-US" sz="2400" spc="-5" dirty="0">
                <a:latin typeface="Times New Roman"/>
                <a:cs typeface="Times New Roman"/>
              </a:rPr>
              <a:t> </a:t>
            </a:r>
            <a:r>
              <a:rPr lang="en-US" sz="2400" dirty="0">
                <a:latin typeface="Times New Roman"/>
                <a:cs typeface="Times New Roman"/>
              </a:rPr>
              <a:t>process</a:t>
            </a:r>
            <a:r>
              <a:rPr lang="en-US" sz="2400" spc="-70" dirty="0">
                <a:latin typeface="Times New Roman"/>
                <a:cs typeface="Times New Roman"/>
              </a:rPr>
              <a:t> </a:t>
            </a:r>
            <a:r>
              <a:rPr lang="en-US" sz="2400" dirty="0">
                <a:latin typeface="Times New Roman"/>
                <a:cs typeface="Times New Roman"/>
              </a:rPr>
              <a:t>may</a:t>
            </a:r>
            <a:r>
              <a:rPr lang="en-US" sz="2400" spc="5" dirty="0">
                <a:latin typeface="Times New Roman"/>
                <a:cs typeface="Times New Roman"/>
              </a:rPr>
              <a:t> </a:t>
            </a:r>
            <a:r>
              <a:rPr lang="en-US" sz="2400" spc="-10" dirty="0">
                <a:latin typeface="Times New Roman"/>
                <a:cs typeface="Times New Roman"/>
              </a:rPr>
              <a:t>need.</a:t>
            </a:r>
            <a:endParaRPr lang="en-US" sz="2400" dirty="0">
              <a:latin typeface="Times New Roman"/>
              <a:cs typeface="Times New Roman"/>
            </a:endParaRPr>
          </a:p>
          <a:p>
            <a:pPr marL="12700" marR="139700" algn="just">
              <a:lnSpc>
                <a:spcPct val="150000"/>
              </a:lnSpc>
              <a:spcBef>
                <a:spcPts val="800"/>
              </a:spcBef>
            </a:pPr>
            <a:r>
              <a:rPr lang="en-US" sz="2400" dirty="0">
                <a:latin typeface="Times New Roman"/>
                <a:cs typeface="Times New Roman"/>
              </a:rPr>
              <a:t>The</a:t>
            </a:r>
            <a:r>
              <a:rPr lang="en-US" sz="2400" spc="-55" dirty="0">
                <a:latin typeface="Times New Roman"/>
                <a:cs typeface="Times New Roman"/>
              </a:rPr>
              <a:t> </a:t>
            </a:r>
            <a:r>
              <a:rPr lang="en-US" sz="2400" dirty="0">
                <a:latin typeface="Times New Roman"/>
                <a:cs typeface="Times New Roman"/>
              </a:rPr>
              <a:t>deadlock-avoidance</a:t>
            </a:r>
            <a:r>
              <a:rPr lang="en-US" sz="2400" spc="-95" dirty="0">
                <a:latin typeface="Times New Roman"/>
                <a:cs typeface="Times New Roman"/>
              </a:rPr>
              <a:t> </a:t>
            </a:r>
            <a:r>
              <a:rPr lang="en-US" sz="2400" dirty="0">
                <a:latin typeface="Times New Roman"/>
                <a:cs typeface="Times New Roman"/>
              </a:rPr>
              <a:t>algorithm</a:t>
            </a:r>
            <a:r>
              <a:rPr lang="en-US" sz="2400" spc="-95" dirty="0">
                <a:latin typeface="Times New Roman"/>
                <a:cs typeface="Times New Roman"/>
              </a:rPr>
              <a:t> </a:t>
            </a:r>
            <a:r>
              <a:rPr lang="en-US" sz="2400" dirty="0">
                <a:latin typeface="Times New Roman"/>
                <a:cs typeface="Times New Roman"/>
              </a:rPr>
              <a:t>dynamically</a:t>
            </a:r>
            <a:r>
              <a:rPr lang="en-US" sz="2400" spc="-60" dirty="0">
                <a:latin typeface="Times New Roman"/>
                <a:cs typeface="Times New Roman"/>
              </a:rPr>
              <a:t> </a:t>
            </a:r>
            <a:r>
              <a:rPr lang="en-US" sz="2400" spc="-10" dirty="0">
                <a:latin typeface="Times New Roman"/>
                <a:cs typeface="Times New Roman"/>
              </a:rPr>
              <a:t>examines </a:t>
            </a:r>
            <a:r>
              <a:rPr lang="en-US" sz="2400" dirty="0">
                <a:latin typeface="Times New Roman"/>
                <a:cs typeface="Times New Roman"/>
              </a:rPr>
              <a:t>the</a:t>
            </a:r>
            <a:r>
              <a:rPr lang="en-US" sz="2400" spc="-45" dirty="0">
                <a:latin typeface="Times New Roman"/>
                <a:cs typeface="Times New Roman"/>
              </a:rPr>
              <a:t> </a:t>
            </a:r>
            <a:r>
              <a:rPr lang="en-US" sz="2400" dirty="0">
                <a:latin typeface="Times New Roman"/>
                <a:cs typeface="Times New Roman"/>
              </a:rPr>
              <a:t>resource-allocation</a:t>
            </a:r>
            <a:r>
              <a:rPr lang="en-US" sz="2400" spc="-75" dirty="0">
                <a:latin typeface="Times New Roman"/>
                <a:cs typeface="Times New Roman"/>
              </a:rPr>
              <a:t> </a:t>
            </a:r>
            <a:r>
              <a:rPr lang="en-US" sz="2400" dirty="0">
                <a:latin typeface="Times New Roman"/>
                <a:cs typeface="Times New Roman"/>
              </a:rPr>
              <a:t>state</a:t>
            </a:r>
            <a:r>
              <a:rPr lang="en-US" sz="2400" spc="-65" dirty="0">
                <a:latin typeface="Times New Roman"/>
                <a:cs typeface="Times New Roman"/>
              </a:rPr>
              <a:t> </a:t>
            </a:r>
            <a:r>
              <a:rPr lang="en-US" sz="2400" dirty="0">
                <a:latin typeface="Times New Roman"/>
                <a:cs typeface="Times New Roman"/>
              </a:rPr>
              <a:t>to</a:t>
            </a:r>
            <a:r>
              <a:rPr lang="en-US" sz="2400" spc="-5" dirty="0">
                <a:latin typeface="Times New Roman"/>
                <a:cs typeface="Times New Roman"/>
              </a:rPr>
              <a:t> </a:t>
            </a:r>
            <a:r>
              <a:rPr lang="en-US" sz="2400" dirty="0">
                <a:latin typeface="Times New Roman"/>
                <a:cs typeface="Times New Roman"/>
              </a:rPr>
              <a:t>ensure</a:t>
            </a:r>
            <a:r>
              <a:rPr lang="en-US" sz="2400" spc="-45" dirty="0">
                <a:latin typeface="Times New Roman"/>
                <a:cs typeface="Times New Roman"/>
              </a:rPr>
              <a:t> </a:t>
            </a:r>
            <a:r>
              <a:rPr lang="en-US" sz="2400" dirty="0">
                <a:latin typeface="Times New Roman"/>
                <a:cs typeface="Times New Roman"/>
              </a:rPr>
              <a:t>that</a:t>
            </a:r>
            <a:r>
              <a:rPr lang="en-US" sz="2400" spc="-55" dirty="0">
                <a:latin typeface="Times New Roman"/>
                <a:cs typeface="Times New Roman"/>
              </a:rPr>
              <a:t> </a:t>
            </a:r>
            <a:r>
              <a:rPr lang="en-US" sz="2400" dirty="0">
                <a:latin typeface="Times New Roman"/>
                <a:cs typeface="Times New Roman"/>
              </a:rPr>
              <a:t>there</a:t>
            </a:r>
            <a:r>
              <a:rPr lang="en-US" sz="2400" spc="-45" dirty="0">
                <a:latin typeface="Times New Roman"/>
                <a:cs typeface="Times New Roman"/>
              </a:rPr>
              <a:t> </a:t>
            </a:r>
            <a:r>
              <a:rPr lang="en-US" sz="2400" dirty="0">
                <a:latin typeface="Times New Roman"/>
                <a:cs typeface="Times New Roman"/>
              </a:rPr>
              <a:t>can </a:t>
            </a:r>
            <a:r>
              <a:rPr lang="en-US" sz="2400" spc="-10" dirty="0">
                <a:latin typeface="Times New Roman"/>
                <a:cs typeface="Times New Roman"/>
              </a:rPr>
              <a:t>never </a:t>
            </a:r>
            <a:r>
              <a:rPr lang="en-US" sz="2400" dirty="0">
                <a:latin typeface="Times New Roman"/>
                <a:cs typeface="Times New Roman"/>
              </a:rPr>
              <a:t>be</a:t>
            </a:r>
            <a:r>
              <a:rPr lang="en-US" sz="2400" spc="-30" dirty="0">
                <a:latin typeface="Times New Roman"/>
                <a:cs typeface="Times New Roman"/>
              </a:rPr>
              <a:t> </a:t>
            </a:r>
            <a:r>
              <a:rPr lang="en-US" sz="2400" dirty="0">
                <a:latin typeface="Times New Roman"/>
                <a:cs typeface="Times New Roman"/>
              </a:rPr>
              <a:t>a </a:t>
            </a:r>
            <a:r>
              <a:rPr lang="en-US" sz="2400" spc="-10" dirty="0">
                <a:latin typeface="Times New Roman"/>
                <a:cs typeface="Times New Roman"/>
              </a:rPr>
              <a:t>circular-</a:t>
            </a:r>
            <a:r>
              <a:rPr lang="en-US" sz="2400" dirty="0">
                <a:latin typeface="Times New Roman"/>
                <a:cs typeface="Times New Roman"/>
              </a:rPr>
              <a:t>wait</a:t>
            </a:r>
            <a:r>
              <a:rPr lang="en-US" sz="2400" spc="-60" dirty="0">
                <a:latin typeface="Times New Roman"/>
                <a:cs typeface="Times New Roman"/>
              </a:rPr>
              <a:t> </a:t>
            </a:r>
            <a:r>
              <a:rPr lang="en-US" sz="2400" spc="-10" dirty="0">
                <a:latin typeface="Times New Roman"/>
                <a:cs typeface="Times New Roman"/>
              </a:rPr>
              <a:t>condition.</a:t>
            </a:r>
            <a:endParaRPr lang="en-US" sz="2400" dirty="0">
              <a:latin typeface="Times New Roman"/>
              <a:cs typeface="Times New Roman"/>
            </a:endParaRPr>
          </a:p>
          <a:p>
            <a:pPr algn="just">
              <a:lnSpc>
                <a:spcPct val="150000"/>
              </a:lnSpc>
            </a:pPr>
            <a:endParaRPr lang="en-US" sz="2400" dirty="0"/>
          </a:p>
        </p:txBody>
      </p:sp>
    </p:spTree>
    <p:extLst>
      <p:ext uri="{BB962C8B-B14F-4D97-AF65-F5344CB8AC3E}">
        <p14:creationId xmlns:p14="http://schemas.microsoft.com/office/powerpoint/2010/main" val="39521544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0946"/>
          </a:xfrm>
        </p:spPr>
        <p:txBody>
          <a:bodyPr>
            <a:normAutofit fontScale="90000"/>
          </a:bodyPr>
          <a:lstStyle/>
          <a:p>
            <a:pPr marL="12700" algn="ctr">
              <a:lnSpc>
                <a:spcPct val="100000"/>
              </a:lnSpc>
              <a:spcBef>
                <a:spcPts val="100"/>
              </a:spcBef>
            </a:pPr>
            <a:r>
              <a:rPr lang="en-US" b="1" spc="-25" dirty="0">
                <a:latin typeface="Times New Roman" panose="02020603050405020304" pitchFamily="18" charset="0"/>
                <a:cs typeface="Times New Roman" panose="02020603050405020304" pitchFamily="18" charset="0"/>
              </a:rPr>
              <a:t>Deadlock</a:t>
            </a:r>
            <a:r>
              <a:rPr lang="en-US" b="1" spc="-204" dirty="0">
                <a:latin typeface="Times New Roman" panose="02020603050405020304" pitchFamily="18" charset="0"/>
                <a:cs typeface="Times New Roman" panose="02020603050405020304" pitchFamily="18" charset="0"/>
              </a:rPr>
              <a:t> </a:t>
            </a:r>
            <a:r>
              <a:rPr lang="en-US" b="1" spc="-20" dirty="0">
                <a:latin typeface="Times New Roman" panose="02020603050405020304" pitchFamily="18" charset="0"/>
                <a:cs typeface="Times New Roman" panose="02020603050405020304" pitchFamily="18" charset="0"/>
              </a:rPr>
              <a:t>Avoidance</a:t>
            </a:r>
            <a:r>
              <a:rPr lang="en-US" dirty="0" smtClean="0">
                <a:solidFill>
                  <a:srgbClr val="2C2CB8"/>
                </a:solidFill>
                <a:latin typeface="Times New Roman"/>
                <a:cs typeface="Times New Roman"/>
              </a:rPr>
              <a:t/>
            </a:r>
            <a:br>
              <a:rPr lang="en-US" dirty="0" smtClean="0">
                <a:solidFill>
                  <a:srgbClr val="2C2CB8"/>
                </a:solidFill>
                <a:latin typeface="Times New Roman"/>
                <a:cs typeface="Times New Roman"/>
              </a:rPr>
            </a:br>
            <a:r>
              <a:rPr lang="en-US" dirty="0" smtClean="0">
                <a:solidFill>
                  <a:srgbClr val="2C2CB8"/>
                </a:solidFill>
                <a:latin typeface="Times New Roman"/>
                <a:cs typeface="Times New Roman"/>
              </a:rPr>
              <a:t>Safe</a:t>
            </a:r>
            <a:r>
              <a:rPr lang="en-US" spc="-45" dirty="0" smtClean="0">
                <a:solidFill>
                  <a:srgbClr val="2C2CB8"/>
                </a:solidFill>
                <a:latin typeface="Times New Roman"/>
                <a:cs typeface="Times New Roman"/>
              </a:rPr>
              <a:t> </a:t>
            </a:r>
            <a:r>
              <a:rPr lang="en-US" dirty="0">
                <a:solidFill>
                  <a:srgbClr val="2C2CB8"/>
                </a:solidFill>
                <a:latin typeface="Times New Roman"/>
                <a:cs typeface="Times New Roman"/>
              </a:rPr>
              <a:t>and</a:t>
            </a:r>
            <a:r>
              <a:rPr lang="en-US" spc="-55" dirty="0">
                <a:solidFill>
                  <a:srgbClr val="2C2CB8"/>
                </a:solidFill>
                <a:latin typeface="Times New Roman"/>
                <a:cs typeface="Times New Roman"/>
              </a:rPr>
              <a:t> </a:t>
            </a:r>
            <a:r>
              <a:rPr lang="en-US" dirty="0">
                <a:solidFill>
                  <a:srgbClr val="2C2CB8"/>
                </a:solidFill>
                <a:latin typeface="Times New Roman"/>
                <a:cs typeface="Times New Roman"/>
              </a:rPr>
              <a:t>Unsafe</a:t>
            </a:r>
            <a:r>
              <a:rPr lang="en-US" spc="-25" dirty="0">
                <a:solidFill>
                  <a:srgbClr val="2C2CB8"/>
                </a:solidFill>
                <a:latin typeface="Times New Roman"/>
                <a:cs typeface="Times New Roman"/>
              </a:rPr>
              <a:t> </a:t>
            </a:r>
            <a:r>
              <a:rPr lang="en-US" spc="-10" dirty="0">
                <a:solidFill>
                  <a:srgbClr val="2C2CB8"/>
                </a:solidFill>
                <a:latin typeface="Times New Roman"/>
                <a:cs typeface="Times New Roman"/>
              </a:rPr>
              <a:t>States</a:t>
            </a:r>
            <a:endParaRPr lang="en-US" dirty="0">
              <a:latin typeface="Times New Roman"/>
              <a:cs typeface="Times New Roman"/>
            </a:endParaRPr>
          </a:p>
        </p:txBody>
      </p:sp>
      <p:sp>
        <p:nvSpPr>
          <p:cNvPr id="3" name="Content Placeholder 2"/>
          <p:cNvSpPr>
            <a:spLocks noGrp="1"/>
          </p:cNvSpPr>
          <p:nvPr>
            <p:ph idx="1"/>
          </p:nvPr>
        </p:nvSpPr>
        <p:spPr/>
        <p:txBody>
          <a:bodyPr>
            <a:normAutofit/>
          </a:bodyPr>
          <a:lstStyle/>
          <a:p>
            <a:pPr algn="just">
              <a:lnSpc>
                <a:spcPct val="150000"/>
              </a:lnSpc>
            </a:pPr>
            <a:r>
              <a:rPr lang="en-US" sz="2400" dirty="0">
                <a:latin typeface="Times New Roman"/>
                <a:cs typeface="Times New Roman"/>
              </a:rPr>
              <a:t>A</a:t>
            </a:r>
            <a:r>
              <a:rPr lang="en-US" sz="2400" spc="-140" dirty="0">
                <a:latin typeface="Times New Roman"/>
                <a:cs typeface="Times New Roman"/>
              </a:rPr>
              <a:t> </a:t>
            </a:r>
            <a:r>
              <a:rPr lang="en-US" sz="2400" dirty="0">
                <a:latin typeface="Times New Roman"/>
                <a:cs typeface="Times New Roman"/>
              </a:rPr>
              <a:t>state</a:t>
            </a:r>
            <a:r>
              <a:rPr lang="en-US" sz="2400" spc="-20" dirty="0">
                <a:latin typeface="Times New Roman"/>
                <a:cs typeface="Times New Roman"/>
              </a:rPr>
              <a:t> </a:t>
            </a:r>
            <a:r>
              <a:rPr lang="en-US" sz="2400" dirty="0">
                <a:latin typeface="Times New Roman"/>
                <a:cs typeface="Times New Roman"/>
              </a:rPr>
              <a:t>is</a:t>
            </a:r>
            <a:r>
              <a:rPr lang="en-US" sz="2400" spc="-35" dirty="0">
                <a:latin typeface="Times New Roman"/>
                <a:cs typeface="Times New Roman"/>
              </a:rPr>
              <a:t> </a:t>
            </a:r>
            <a:r>
              <a:rPr lang="en-US" sz="2400" dirty="0">
                <a:latin typeface="Times New Roman"/>
                <a:cs typeface="Times New Roman"/>
              </a:rPr>
              <a:t>said</a:t>
            </a:r>
            <a:r>
              <a:rPr lang="en-US" sz="2400" spc="-10" dirty="0">
                <a:latin typeface="Times New Roman"/>
                <a:cs typeface="Times New Roman"/>
              </a:rPr>
              <a:t> </a:t>
            </a:r>
            <a:r>
              <a:rPr lang="en-US" sz="2400" dirty="0">
                <a:latin typeface="Times New Roman"/>
                <a:cs typeface="Times New Roman"/>
              </a:rPr>
              <a:t>to</a:t>
            </a:r>
            <a:r>
              <a:rPr lang="en-US" sz="2400" spc="-15" dirty="0">
                <a:latin typeface="Times New Roman"/>
                <a:cs typeface="Times New Roman"/>
              </a:rPr>
              <a:t> </a:t>
            </a:r>
            <a:r>
              <a:rPr lang="en-US" sz="2400" dirty="0">
                <a:latin typeface="Times New Roman"/>
                <a:cs typeface="Times New Roman"/>
              </a:rPr>
              <a:t>be</a:t>
            </a:r>
            <a:r>
              <a:rPr lang="en-US" sz="2400" spc="-20" dirty="0">
                <a:latin typeface="Times New Roman"/>
                <a:cs typeface="Times New Roman"/>
              </a:rPr>
              <a:t> </a:t>
            </a:r>
            <a:r>
              <a:rPr lang="en-US" sz="2400" dirty="0">
                <a:latin typeface="Times New Roman"/>
                <a:cs typeface="Times New Roman"/>
              </a:rPr>
              <a:t>safe</a:t>
            </a:r>
            <a:r>
              <a:rPr lang="en-US" sz="2400" spc="5" dirty="0">
                <a:latin typeface="Times New Roman"/>
                <a:cs typeface="Times New Roman"/>
              </a:rPr>
              <a:t> </a:t>
            </a:r>
            <a:r>
              <a:rPr lang="en-US" sz="2400" dirty="0">
                <a:latin typeface="Times New Roman"/>
                <a:cs typeface="Times New Roman"/>
              </a:rPr>
              <a:t>if</a:t>
            </a:r>
            <a:r>
              <a:rPr lang="en-US" sz="2400" spc="-15" dirty="0">
                <a:latin typeface="Times New Roman"/>
                <a:cs typeface="Times New Roman"/>
              </a:rPr>
              <a:t> </a:t>
            </a:r>
            <a:r>
              <a:rPr lang="en-US" sz="2400" dirty="0">
                <a:latin typeface="Times New Roman"/>
                <a:cs typeface="Times New Roman"/>
              </a:rPr>
              <a:t>it</a:t>
            </a:r>
            <a:r>
              <a:rPr lang="en-US" sz="2400" spc="-30" dirty="0">
                <a:latin typeface="Times New Roman"/>
                <a:cs typeface="Times New Roman"/>
              </a:rPr>
              <a:t> </a:t>
            </a:r>
            <a:r>
              <a:rPr lang="en-US" sz="2400" dirty="0">
                <a:latin typeface="Times New Roman"/>
                <a:cs typeface="Times New Roman"/>
              </a:rPr>
              <a:t>is</a:t>
            </a:r>
            <a:r>
              <a:rPr lang="en-US" sz="2400" spc="-15" dirty="0">
                <a:latin typeface="Times New Roman"/>
                <a:cs typeface="Times New Roman"/>
              </a:rPr>
              <a:t> </a:t>
            </a:r>
            <a:r>
              <a:rPr lang="en-US" sz="2400" dirty="0">
                <a:latin typeface="Times New Roman"/>
                <a:cs typeface="Times New Roman"/>
              </a:rPr>
              <a:t>not</a:t>
            </a:r>
            <a:r>
              <a:rPr lang="en-US" sz="2400" spc="-5" dirty="0">
                <a:latin typeface="Times New Roman"/>
                <a:cs typeface="Times New Roman"/>
              </a:rPr>
              <a:t> </a:t>
            </a:r>
            <a:r>
              <a:rPr lang="en-US" sz="2400" dirty="0">
                <a:latin typeface="Times New Roman"/>
                <a:cs typeface="Times New Roman"/>
              </a:rPr>
              <a:t>deadlocked</a:t>
            </a:r>
            <a:r>
              <a:rPr lang="en-US" sz="2400" spc="-15" dirty="0">
                <a:latin typeface="Times New Roman"/>
                <a:cs typeface="Times New Roman"/>
              </a:rPr>
              <a:t> </a:t>
            </a:r>
            <a:r>
              <a:rPr lang="en-US" sz="2400" dirty="0">
                <a:latin typeface="Times New Roman"/>
                <a:cs typeface="Times New Roman"/>
              </a:rPr>
              <a:t>and</a:t>
            </a:r>
            <a:r>
              <a:rPr lang="en-US" sz="2400" spc="-10" dirty="0">
                <a:latin typeface="Times New Roman"/>
                <a:cs typeface="Times New Roman"/>
              </a:rPr>
              <a:t> </a:t>
            </a:r>
            <a:r>
              <a:rPr lang="en-US" sz="2400" dirty="0">
                <a:latin typeface="Times New Roman"/>
                <a:cs typeface="Times New Roman"/>
              </a:rPr>
              <a:t>there is</a:t>
            </a:r>
            <a:r>
              <a:rPr lang="en-US" sz="2400" spc="-10" dirty="0">
                <a:latin typeface="Times New Roman"/>
                <a:cs typeface="Times New Roman"/>
              </a:rPr>
              <a:t> </a:t>
            </a:r>
            <a:r>
              <a:rPr lang="en-US" sz="2400" dirty="0">
                <a:latin typeface="Times New Roman"/>
                <a:cs typeface="Times New Roman"/>
              </a:rPr>
              <a:t>a</a:t>
            </a:r>
            <a:r>
              <a:rPr lang="en-US" sz="2400" spc="-20" dirty="0">
                <a:latin typeface="Times New Roman"/>
                <a:cs typeface="Times New Roman"/>
              </a:rPr>
              <a:t> some </a:t>
            </a:r>
            <a:r>
              <a:rPr lang="en-US" sz="2400" dirty="0">
                <a:latin typeface="Times New Roman"/>
                <a:cs typeface="Times New Roman"/>
              </a:rPr>
              <a:t>scheduling</a:t>
            </a:r>
            <a:r>
              <a:rPr lang="en-US" sz="2400" spc="-30" dirty="0">
                <a:latin typeface="Times New Roman"/>
                <a:cs typeface="Times New Roman"/>
              </a:rPr>
              <a:t> </a:t>
            </a:r>
            <a:r>
              <a:rPr lang="en-US" sz="2400" dirty="0">
                <a:latin typeface="Times New Roman"/>
                <a:cs typeface="Times New Roman"/>
              </a:rPr>
              <a:t>order</a:t>
            </a:r>
            <a:r>
              <a:rPr lang="en-US" sz="2400" spc="-15" dirty="0">
                <a:latin typeface="Times New Roman"/>
                <a:cs typeface="Times New Roman"/>
              </a:rPr>
              <a:t> </a:t>
            </a:r>
            <a:r>
              <a:rPr lang="en-US" sz="2400" dirty="0">
                <a:latin typeface="Times New Roman"/>
                <a:cs typeface="Times New Roman"/>
              </a:rPr>
              <a:t>in</a:t>
            </a:r>
            <a:r>
              <a:rPr lang="en-US" sz="2400" spc="-50" dirty="0">
                <a:latin typeface="Times New Roman"/>
                <a:cs typeface="Times New Roman"/>
              </a:rPr>
              <a:t> </a:t>
            </a:r>
            <a:r>
              <a:rPr lang="en-US" sz="2400" dirty="0">
                <a:latin typeface="Times New Roman"/>
                <a:cs typeface="Times New Roman"/>
              </a:rPr>
              <a:t>which</a:t>
            </a:r>
            <a:r>
              <a:rPr lang="en-US" sz="2400" spc="-10" dirty="0">
                <a:latin typeface="Times New Roman"/>
                <a:cs typeface="Times New Roman"/>
              </a:rPr>
              <a:t> </a:t>
            </a:r>
            <a:r>
              <a:rPr lang="en-US" sz="2400" dirty="0">
                <a:latin typeface="Times New Roman"/>
                <a:cs typeface="Times New Roman"/>
              </a:rPr>
              <a:t>every</a:t>
            </a:r>
            <a:r>
              <a:rPr lang="en-US" sz="2400" spc="-5" dirty="0">
                <a:latin typeface="Times New Roman"/>
                <a:cs typeface="Times New Roman"/>
              </a:rPr>
              <a:t> </a:t>
            </a:r>
            <a:r>
              <a:rPr lang="en-US" sz="2400" dirty="0">
                <a:latin typeface="Times New Roman"/>
                <a:cs typeface="Times New Roman"/>
              </a:rPr>
              <a:t>process</a:t>
            </a:r>
            <a:r>
              <a:rPr lang="en-US" sz="2400" spc="-5" dirty="0">
                <a:latin typeface="Times New Roman"/>
                <a:cs typeface="Times New Roman"/>
              </a:rPr>
              <a:t> </a:t>
            </a:r>
            <a:r>
              <a:rPr lang="en-US" sz="2400" dirty="0">
                <a:latin typeface="Times New Roman"/>
                <a:cs typeface="Times New Roman"/>
              </a:rPr>
              <a:t>can</a:t>
            </a:r>
            <a:r>
              <a:rPr lang="en-US" sz="2400" spc="-30" dirty="0">
                <a:latin typeface="Times New Roman"/>
                <a:cs typeface="Times New Roman"/>
              </a:rPr>
              <a:t> </a:t>
            </a:r>
            <a:r>
              <a:rPr lang="en-US" sz="2400" dirty="0">
                <a:latin typeface="Times New Roman"/>
                <a:cs typeface="Times New Roman"/>
              </a:rPr>
              <a:t>run</a:t>
            </a:r>
            <a:r>
              <a:rPr lang="en-US" sz="2400" spc="-25" dirty="0">
                <a:latin typeface="Times New Roman"/>
                <a:cs typeface="Times New Roman"/>
              </a:rPr>
              <a:t> </a:t>
            </a:r>
            <a:r>
              <a:rPr lang="en-US" sz="2400" dirty="0">
                <a:latin typeface="Times New Roman"/>
                <a:cs typeface="Times New Roman"/>
              </a:rPr>
              <a:t>to</a:t>
            </a:r>
            <a:r>
              <a:rPr lang="en-US" sz="2400" spc="-30" dirty="0">
                <a:latin typeface="Times New Roman"/>
                <a:cs typeface="Times New Roman"/>
              </a:rPr>
              <a:t> </a:t>
            </a:r>
            <a:r>
              <a:rPr lang="en-US" sz="2400" spc="-10" dirty="0">
                <a:latin typeface="Times New Roman"/>
                <a:cs typeface="Times New Roman"/>
              </a:rPr>
              <a:t>completion.</a:t>
            </a:r>
            <a:endParaRPr lang="en-US" sz="2400" dirty="0">
              <a:latin typeface="Times New Roman"/>
              <a:cs typeface="Times New Roman"/>
            </a:endParaRPr>
          </a:p>
          <a:p>
            <a:pPr marL="0" indent="0" algn="just">
              <a:lnSpc>
                <a:spcPct val="150000"/>
              </a:lnSpc>
              <a:buNone/>
            </a:pPr>
            <a:endParaRPr lang="en-US" sz="2400" dirty="0"/>
          </a:p>
        </p:txBody>
      </p:sp>
      <p:pic>
        <p:nvPicPr>
          <p:cNvPr id="4" name="Picture 3"/>
          <p:cNvPicPr>
            <a:picLocks noChangeAspect="1"/>
          </p:cNvPicPr>
          <p:nvPr/>
        </p:nvPicPr>
        <p:blipFill>
          <a:blip r:embed="rId2"/>
          <a:stretch>
            <a:fillRect/>
          </a:stretch>
        </p:blipFill>
        <p:spPr>
          <a:xfrm>
            <a:off x="1344706" y="3085536"/>
            <a:ext cx="8942294" cy="2750487"/>
          </a:xfrm>
          <a:prstGeom prst="rect">
            <a:avLst/>
          </a:prstGeom>
        </p:spPr>
      </p:pic>
    </p:spTree>
    <p:extLst>
      <p:ext uri="{BB962C8B-B14F-4D97-AF65-F5344CB8AC3E}">
        <p14:creationId xmlns:p14="http://schemas.microsoft.com/office/powerpoint/2010/main" val="22798412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0946"/>
          </a:xfrm>
        </p:spPr>
        <p:txBody>
          <a:bodyPr>
            <a:normAutofit fontScale="90000"/>
          </a:bodyPr>
          <a:lstStyle/>
          <a:p>
            <a:pPr marL="12700" algn="ctr">
              <a:lnSpc>
                <a:spcPct val="100000"/>
              </a:lnSpc>
              <a:spcBef>
                <a:spcPts val="100"/>
              </a:spcBef>
            </a:pPr>
            <a:r>
              <a:rPr lang="en-US" b="1" spc="-25" dirty="0">
                <a:latin typeface="Times New Roman" panose="02020603050405020304" pitchFamily="18" charset="0"/>
                <a:cs typeface="Times New Roman" panose="02020603050405020304" pitchFamily="18" charset="0"/>
              </a:rPr>
              <a:t>Deadlock</a:t>
            </a:r>
            <a:r>
              <a:rPr lang="en-US" b="1" spc="-204" dirty="0">
                <a:latin typeface="Times New Roman" panose="02020603050405020304" pitchFamily="18" charset="0"/>
                <a:cs typeface="Times New Roman" panose="02020603050405020304" pitchFamily="18" charset="0"/>
              </a:rPr>
              <a:t> </a:t>
            </a:r>
            <a:r>
              <a:rPr lang="en-US" b="1" spc="-20" dirty="0">
                <a:latin typeface="Times New Roman" panose="02020603050405020304" pitchFamily="18" charset="0"/>
                <a:cs typeface="Times New Roman" panose="02020603050405020304" pitchFamily="18" charset="0"/>
              </a:rPr>
              <a:t>Avoidance</a:t>
            </a:r>
            <a:r>
              <a:rPr lang="en-US" dirty="0" smtClean="0">
                <a:solidFill>
                  <a:srgbClr val="2C2CB8"/>
                </a:solidFill>
                <a:latin typeface="Times New Roman"/>
                <a:cs typeface="Times New Roman"/>
              </a:rPr>
              <a:t/>
            </a:r>
            <a:br>
              <a:rPr lang="en-US" dirty="0" smtClean="0">
                <a:solidFill>
                  <a:srgbClr val="2C2CB8"/>
                </a:solidFill>
                <a:latin typeface="Times New Roman"/>
                <a:cs typeface="Times New Roman"/>
              </a:rPr>
            </a:br>
            <a:r>
              <a:rPr lang="en-US" dirty="0" smtClean="0">
                <a:solidFill>
                  <a:srgbClr val="2C2CB8"/>
                </a:solidFill>
                <a:latin typeface="Times New Roman"/>
                <a:cs typeface="Times New Roman"/>
              </a:rPr>
              <a:t>Safe</a:t>
            </a:r>
            <a:r>
              <a:rPr lang="en-US" spc="-45" dirty="0" smtClean="0">
                <a:solidFill>
                  <a:srgbClr val="2C2CB8"/>
                </a:solidFill>
                <a:latin typeface="Times New Roman"/>
                <a:cs typeface="Times New Roman"/>
              </a:rPr>
              <a:t> </a:t>
            </a:r>
            <a:r>
              <a:rPr lang="en-US" dirty="0">
                <a:solidFill>
                  <a:srgbClr val="2C2CB8"/>
                </a:solidFill>
                <a:latin typeface="Times New Roman"/>
                <a:cs typeface="Times New Roman"/>
              </a:rPr>
              <a:t>and</a:t>
            </a:r>
            <a:r>
              <a:rPr lang="en-US" spc="-55" dirty="0">
                <a:solidFill>
                  <a:srgbClr val="2C2CB8"/>
                </a:solidFill>
                <a:latin typeface="Times New Roman"/>
                <a:cs typeface="Times New Roman"/>
              </a:rPr>
              <a:t> </a:t>
            </a:r>
            <a:r>
              <a:rPr lang="en-US" dirty="0">
                <a:solidFill>
                  <a:srgbClr val="2C2CB8"/>
                </a:solidFill>
                <a:latin typeface="Times New Roman"/>
                <a:cs typeface="Times New Roman"/>
              </a:rPr>
              <a:t>Unsafe</a:t>
            </a:r>
            <a:r>
              <a:rPr lang="en-US" spc="-25" dirty="0">
                <a:solidFill>
                  <a:srgbClr val="2C2CB8"/>
                </a:solidFill>
                <a:latin typeface="Times New Roman"/>
                <a:cs typeface="Times New Roman"/>
              </a:rPr>
              <a:t> </a:t>
            </a:r>
            <a:r>
              <a:rPr lang="en-US" spc="-10" dirty="0">
                <a:solidFill>
                  <a:srgbClr val="2C2CB8"/>
                </a:solidFill>
                <a:latin typeface="Times New Roman"/>
                <a:cs typeface="Times New Roman"/>
              </a:rPr>
              <a:t>States</a:t>
            </a:r>
            <a:endParaRPr lang="en-US" dirty="0">
              <a:latin typeface="Times New Roman"/>
              <a:cs typeface="Times New Roman"/>
            </a:endParaRPr>
          </a:p>
        </p:txBody>
      </p:sp>
      <p:pic>
        <p:nvPicPr>
          <p:cNvPr id="5" name="Content Placeholder 4"/>
          <p:cNvPicPr>
            <a:picLocks noGrp="1" noChangeAspect="1"/>
          </p:cNvPicPr>
          <p:nvPr>
            <p:ph idx="1"/>
          </p:nvPr>
        </p:nvPicPr>
        <p:blipFill>
          <a:blip r:embed="rId2"/>
          <a:stretch>
            <a:fillRect/>
          </a:stretch>
        </p:blipFill>
        <p:spPr>
          <a:xfrm>
            <a:off x="1129552" y="1721224"/>
            <a:ext cx="9466729" cy="4531658"/>
          </a:xfrm>
          <a:prstGeom prst="rect">
            <a:avLst/>
          </a:prstGeom>
        </p:spPr>
      </p:pic>
    </p:spTree>
    <p:extLst>
      <p:ext uri="{BB962C8B-B14F-4D97-AF65-F5344CB8AC3E}">
        <p14:creationId xmlns:p14="http://schemas.microsoft.com/office/powerpoint/2010/main" val="42213529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5793"/>
          </a:xfrm>
        </p:spPr>
        <p:txBody>
          <a:bodyPr>
            <a:normAutofit fontScale="90000"/>
          </a:bodyPr>
          <a:lstStyle/>
          <a:p>
            <a:pPr algn="ctr"/>
            <a:r>
              <a:rPr lang="en-US" b="1" spc="-25" dirty="0" smtClean="0">
                <a:latin typeface="Times New Roman" panose="02020603050405020304" pitchFamily="18" charset="0"/>
                <a:cs typeface="Times New Roman" panose="02020603050405020304" pitchFamily="18" charset="0"/>
              </a:rPr>
              <a:t/>
            </a:r>
            <a:br>
              <a:rPr lang="en-US" b="1" spc="-25" dirty="0" smtClean="0">
                <a:latin typeface="Times New Roman" panose="02020603050405020304" pitchFamily="18" charset="0"/>
                <a:cs typeface="Times New Roman" panose="02020603050405020304" pitchFamily="18" charset="0"/>
              </a:rPr>
            </a:br>
            <a:r>
              <a:rPr lang="en-US" b="1" spc="-25" dirty="0" smtClean="0">
                <a:latin typeface="Times New Roman" panose="02020603050405020304" pitchFamily="18" charset="0"/>
                <a:cs typeface="Times New Roman" panose="02020603050405020304" pitchFamily="18" charset="0"/>
              </a:rPr>
              <a:t>Deadlock</a:t>
            </a:r>
            <a:r>
              <a:rPr lang="en-US" b="1" spc="-204" dirty="0" smtClean="0">
                <a:latin typeface="Times New Roman" panose="02020603050405020304" pitchFamily="18" charset="0"/>
                <a:cs typeface="Times New Roman" panose="02020603050405020304" pitchFamily="18" charset="0"/>
              </a:rPr>
              <a:t> </a:t>
            </a:r>
            <a:r>
              <a:rPr lang="en-US" b="1" spc="-20" dirty="0">
                <a:latin typeface="Times New Roman" panose="02020603050405020304" pitchFamily="18" charset="0"/>
                <a:cs typeface="Times New Roman" panose="02020603050405020304" pitchFamily="18" charset="0"/>
              </a:rPr>
              <a:t>Avoidance</a:t>
            </a:r>
            <a:r>
              <a:rPr lang="en-US" b="1" spc="-30" dirty="0" smtClean="0">
                <a:solidFill>
                  <a:srgbClr val="3333CC"/>
                </a:solidFill>
                <a:latin typeface="Times New Roman"/>
                <a:cs typeface="Times New Roman"/>
              </a:rPr>
              <a:t/>
            </a:r>
            <a:br>
              <a:rPr lang="en-US" b="1" spc="-30" dirty="0" smtClean="0">
                <a:solidFill>
                  <a:srgbClr val="3333CC"/>
                </a:solidFill>
                <a:latin typeface="Times New Roman"/>
                <a:cs typeface="Times New Roman"/>
              </a:rPr>
            </a:br>
            <a:r>
              <a:rPr lang="en-US" sz="4000" b="1" spc="-30" dirty="0" smtClean="0">
                <a:solidFill>
                  <a:srgbClr val="3333CC"/>
                </a:solidFill>
                <a:latin typeface="Times New Roman"/>
                <a:cs typeface="Times New Roman"/>
              </a:rPr>
              <a:t>Banker’s</a:t>
            </a:r>
            <a:r>
              <a:rPr lang="en-US" sz="4000" b="1" spc="-160" dirty="0" smtClean="0">
                <a:solidFill>
                  <a:srgbClr val="3333CC"/>
                </a:solidFill>
                <a:latin typeface="Times New Roman"/>
                <a:cs typeface="Times New Roman"/>
              </a:rPr>
              <a:t> </a:t>
            </a:r>
            <a:r>
              <a:rPr lang="en-US" sz="4000" b="1" spc="-10" dirty="0">
                <a:solidFill>
                  <a:srgbClr val="3333CC"/>
                </a:solidFill>
                <a:latin typeface="Times New Roman"/>
                <a:cs typeface="Times New Roman"/>
              </a:rPr>
              <a:t>Algorithm</a:t>
            </a:r>
            <a:r>
              <a:rPr lang="en-US" b="1" dirty="0">
                <a:latin typeface="Times New Roman"/>
                <a:cs typeface="Times New Roman"/>
              </a:rPr>
              <a:t/>
            </a:r>
            <a:br>
              <a:rPr lang="en-US" b="1" dirty="0">
                <a:latin typeface="Times New Roman"/>
                <a:cs typeface="Times New Roman"/>
              </a:rPr>
            </a:br>
            <a:endParaRPr lang="en-US" b="1" dirty="0"/>
          </a:p>
        </p:txBody>
      </p:sp>
      <p:sp>
        <p:nvSpPr>
          <p:cNvPr id="3" name="Content Placeholder 2"/>
          <p:cNvSpPr>
            <a:spLocks noGrp="1"/>
          </p:cNvSpPr>
          <p:nvPr>
            <p:ph idx="1"/>
          </p:nvPr>
        </p:nvSpPr>
        <p:spPr>
          <a:xfrm>
            <a:off x="838200" y="1438835"/>
            <a:ext cx="10515600" cy="4738128"/>
          </a:xfrm>
        </p:spPr>
        <p:txBody>
          <a:bodyPr>
            <a:normAutofit fontScale="85000" lnSpcReduction="20000"/>
          </a:bodyPr>
          <a:lstStyle/>
          <a:p>
            <a:pPr marL="12700" marR="5080" algn="just">
              <a:lnSpc>
                <a:spcPct val="150000"/>
              </a:lnSpc>
              <a:spcBef>
                <a:spcPts val="1950"/>
              </a:spcBef>
              <a:tabLst>
                <a:tab pos="5597525" algn="l"/>
              </a:tabLst>
            </a:pPr>
            <a:r>
              <a:rPr lang="en-US" dirty="0">
                <a:latin typeface="Times New Roman"/>
                <a:cs typeface="Times New Roman"/>
              </a:rPr>
              <a:t>Models</a:t>
            </a:r>
            <a:r>
              <a:rPr lang="en-US" spc="-10" dirty="0">
                <a:latin typeface="Times New Roman"/>
                <a:cs typeface="Times New Roman"/>
              </a:rPr>
              <a:t> </a:t>
            </a:r>
            <a:r>
              <a:rPr lang="en-US" dirty="0">
                <a:latin typeface="Times New Roman"/>
                <a:cs typeface="Times New Roman"/>
              </a:rPr>
              <a:t>on</a:t>
            </a:r>
            <a:r>
              <a:rPr lang="en-US" spc="-80" dirty="0">
                <a:latin typeface="Times New Roman"/>
                <a:cs typeface="Times New Roman"/>
              </a:rPr>
              <a:t> </a:t>
            </a:r>
            <a:r>
              <a:rPr lang="en-US" dirty="0">
                <a:latin typeface="Times New Roman"/>
                <a:cs typeface="Times New Roman"/>
              </a:rPr>
              <a:t>the</a:t>
            </a:r>
            <a:r>
              <a:rPr lang="en-US" spc="-20" dirty="0">
                <a:latin typeface="Times New Roman"/>
                <a:cs typeface="Times New Roman"/>
              </a:rPr>
              <a:t> </a:t>
            </a:r>
            <a:r>
              <a:rPr lang="en-US" dirty="0">
                <a:latin typeface="Times New Roman"/>
                <a:cs typeface="Times New Roman"/>
              </a:rPr>
              <a:t>way of</a:t>
            </a:r>
            <a:r>
              <a:rPr lang="en-US" spc="5" dirty="0">
                <a:latin typeface="Times New Roman"/>
                <a:cs typeface="Times New Roman"/>
              </a:rPr>
              <a:t> </a:t>
            </a:r>
            <a:r>
              <a:rPr lang="en-US" dirty="0">
                <a:latin typeface="Times New Roman"/>
                <a:cs typeface="Times New Roman"/>
              </a:rPr>
              <a:t>banking</a:t>
            </a:r>
            <a:r>
              <a:rPr lang="en-US" spc="-5" dirty="0">
                <a:latin typeface="Times New Roman"/>
                <a:cs typeface="Times New Roman"/>
              </a:rPr>
              <a:t> </a:t>
            </a:r>
            <a:r>
              <a:rPr lang="en-US" dirty="0">
                <a:latin typeface="Times New Roman"/>
                <a:cs typeface="Times New Roman"/>
              </a:rPr>
              <a:t>system</a:t>
            </a:r>
            <a:r>
              <a:rPr lang="en-US" spc="-65" dirty="0">
                <a:latin typeface="Times New Roman"/>
                <a:cs typeface="Times New Roman"/>
              </a:rPr>
              <a:t> </a:t>
            </a:r>
            <a:r>
              <a:rPr lang="en-US" dirty="0">
                <a:latin typeface="Times New Roman"/>
                <a:cs typeface="Times New Roman"/>
              </a:rPr>
              <a:t>to</a:t>
            </a:r>
            <a:r>
              <a:rPr lang="en-US" spc="-5" dirty="0">
                <a:latin typeface="Times New Roman"/>
                <a:cs typeface="Times New Roman"/>
              </a:rPr>
              <a:t> </a:t>
            </a:r>
            <a:r>
              <a:rPr lang="en-US" dirty="0">
                <a:latin typeface="Times New Roman"/>
                <a:cs typeface="Times New Roman"/>
              </a:rPr>
              <a:t>ensure</a:t>
            </a:r>
            <a:r>
              <a:rPr lang="en-US" spc="-65" dirty="0">
                <a:latin typeface="Times New Roman"/>
                <a:cs typeface="Times New Roman"/>
              </a:rPr>
              <a:t> </a:t>
            </a:r>
            <a:r>
              <a:rPr lang="en-US" dirty="0">
                <a:latin typeface="Times New Roman"/>
                <a:cs typeface="Times New Roman"/>
              </a:rPr>
              <a:t>that</a:t>
            </a:r>
            <a:r>
              <a:rPr lang="en-US" spc="-30" dirty="0">
                <a:latin typeface="Times New Roman"/>
                <a:cs typeface="Times New Roman"/>
              </a:rPr>
              <a:t> </a:t>
            </a:r>
            <a:r>
              <a:rPr lang="en-US" spc="-25" dirty="0">
                <a:latin typeface="Times New Roman"/>
                <a:cs typeface="Times New Roman"/>
              </a:rPr>
              <a:t>the </a:t>
            </a:r>
            <a:r>
              <a:rPr lang="en-US" dirty="0">
                <a:latin typeface="Times New Roman"/>
                <a:cs typeface="Times New Roman"/>
              </a:rPr>
              <a:t>bank</a:t>
            </a:r>
            <a:r>
              <a:rPr lang="en-US" spc="-35" dirty="0">
                <a:latin typeface="Times New Roman"/>
                <a:cs typeface="Times New Roman"/>
              </a:rPr>
              <a:t> </a:t>
            </a:r>
            <a:r>
              <a:rPr lang="en-US" dirty="0">
                <a:latin typeface="Times New Roman"/>
                <a:cs typeface="Times New Roman"/>
              </a:rPr>
              <a:t>never</a:t>
            </a:r>
            <a:r>
              <a:rPr lang="en-US" spc="-45" dirty="0">
                <a:latin typeface="Times New Roman"/>
                <a:cs typeface="Times New Roman"/>
              </a:rPr>
              <a:t> </a:t>
            </a:r>
            <a:r>
              <a:rPr lang="en-US" dirty="0">
                <a:latin typeface="Times New Roman"/>
                <a:cs typeface="Times New Roman"/>
              </a:rPr>
              <a:t>allocates</a:t>
            </a:r>
            <a:r>
              <a:rPr lang="en-US" spc="-55" dirty="0">
                <a:latin typeface="Times New Roman"/>
                <a:cs typeface="Times New Roman"/>
              </a:rPr>
              <a:t> </a:t>
            </a:r>
            <a:r>
              <a:rPr lang="en-US" dirty="0">
                <a:latin typeface="Times New Roman"/>
                <a:cs typeface="Times New Roman"/>
              </a:rPr>
              <a:t>its</a:t>
            </a:r>
            <a:r>
              <a:rPr lang="en-US" spc="-35" dirty="0">
                <a:latin typeface="Times New Roman"/>
                <a:cs typeface="Times New Roman"/>
              </a:rPr>
              <a:t> </a:t>
            </a:r>
            <a:r>
              <a:rPr lang="en-US" dirty="0">
                <a:latin typeface="Times New Roman"/>
                <a:cs typeface="Times New Roman"/>
              </a:rPr>
              <a:t>available</a:t>
            </a:r>
            <a:r>
              <a:rPr lang="en-US" spc="-65" dirty="0">
                <a:latin typeface="Times New Roman"/>
                <a:cs typeface="Times New Roman"/>
              </a:rPr>
              <a:t> </a:t>
            </a:r>
            <a:r>
              <a:rPr lang="en-US" spc="-20" dirty="0" smtClean="0">
                <a:latin typeface="Times New Roman"/>
                <a:cs typeface="Times New Roman"/>
              </a:rPr>
              <a:t>cash</a:t>
            </a:r>
            <a:r>
              <a:rPr lang="en-US" dirty="0" smtClean="0">
                <a:latin typeface="Times New Roman"/>
                <a:cs typeface="Times New Roman"/>
              </a:rPr>
              <a:t> such</a:t>
            </a:r>
            <a:r>
              <a:rPr lang="en-US" spc="-35" dirty="0" smtClean="0">
                <a:latin typeface="Times New Roman"/>
                <a:cs typeface="Times New Roman"/>
              </a:rPr>
              <a:t> </a:t>
            </a:r>
            <a:r>
              <a:rPr lang="en-US" dirty="0">
                <a:latin typeface="Times New Roman"/>
                <a:cs typeface="Times New Roman"/>
              </a:rPr>
              <a:t>that</a:t>
            </a:r>
            <a:r>
              <a:rPr lang="en-US" spc="-55" dirty="0">
                <a:latin typeface="Times New Roman"/>
                <a:cs typeface="Times New Roman"/>
              </a:rPr>
              <a:t> </a:t>
            </a:r>
            <a:r>
              <a:rPr lang="en-US" dirty="0">
                <a:latin typeface="Times New Roman"/>
                <a:cs typeface="Times New Roman"/>
              </a:rPr>
              <a:t>it can </a:t>
            </a:r>
            <a:r>
              <a:rPr lang="en-US" spc="-25" dirty="0">
                <a:latin typeface="Times New Roman"/>
                <a:cs typeface="Times New Roman"/>
              </a:rPr>
              <a:t>no </a:t>
            </a:r>
            <a:r>
              <a:rPr lang="en-US" dirty="0">
                <a:latin typeface="Times New Roman"/>
                <a:cs typeface="Times New Roman"/>
              </a:rPr>
              <a:t>longer</a:t>
            </a:r>
            <a:r>
              <a:rPr lang="en-US" spc="-55" dirty="0">
                <a:latin typeface="Times New Roman"/>
                <a:cs typeface="Times New Roman"/>
              </a:rPr>
              <a:t> </a:t>
            </a:r>
            <a:r>
              <a:rPr lang="en-US" dirty="0">
                <a:latin typeface="Times New Roman"/>
                <a:cs typeface="Times New Roman"/>
              </a:rPr>
              <a:t>satisfy</a:t>
            </a:r>
            <a:r>
              <a:rPr lang="en-US" spc="-65" dirty="0">
                <a:latin typeface="Times New Roman"/>
                <a:cs typeface="Times New Roman"/>
              </a:rPr>
              <a:t> </a:t>
            </a:r>
            <a:r>
              <a:rPr lang="en-US" dirty="0">
                <a:latin typeface="Times New Roman"/>
                <a:cs typeface="Times New Roman"/>
              </a:rPr>
              <a:t>the</a:t>
            </a:r>
            <a:r>
              <a:rPr lang="en-US" spc="-10" dirty="0">
                <a:latin typeface="Times New Roman"/>
                <a:cs typeface="Times New Roman"/>
              </a:rPr>
              <a:t> </a:t>
            </a:r>
            <a:r>
              <a:rPr lang="en-US" dirty="0">
                <a:latin typeface="Times New Roman"/>
                <a:cs typeface="Times New Roman"/>
              </a:rPr>
              <a:t>needs</a:t>
            </a:r>
            <a:r>
              <a:rPr lang="en-US" spc="-45" dirty="0">
                <a:latin typeface="Times New Roman"/>
                <a:cs typeface="Times New Roman"/>
              </a:rPr>
              <a:t> </a:t>
            </a:r>
            <a:r>
              <a:rPr lang="en-US" dirty="0">
                <a:latin typeface="Times New Roman"/>
                <a:cs typeface="Times New Roman"/>
              </a:rPr>
              <a:t>of</a:t>
            </a:r>
            <a:r>
              <a:rPr lang="en-US" spc="20" dirty="0">
                <a:latin typeface="Times New Roman"/>
                <a:cs typeface="Times New Roman"/>
              </a:rPr>
              <a:t> </a:t>
            </a:r>
            <a:r>
              <a:rPr lang="en-US" dirty="0">
                <a:latin typeface="Times New Roman"/>
                <a:cs typeface="Times New Roman"/>
              </a:rPr>
              <a:t>all</a:t>
            </a:r>
            <a:r>
              <a:rPr lang="en-US" spc="-20" dirty="0">
                <a:latin typeface="Times New Roman"/>
                <a:cs typeface="Times New Roman"/>
              </a:rPr>
              <a:t> </a:t>
            </a:r>
            <a:r>
              <a:rPr lang="en-US" dirty="0">
                <a:latin typeface="Times New Roman"/>
                <a:cs typeface="Times New Roman"/>
              </a:rPr>
              <a:t>its</a:t>
            </a:r>
            <a:r>
              <a:rPr lang="en-US" spc="-20" dirty="0">
                <a:latin typeface="Times New Roman"/>
                <a:cs typeface="Times New Roman"/>
              </a:rPr>
              <a:t> </a:t>
            </a:r>
            <a:r>
              <a:rPr lang="en-US" spc="-10" dirty="0" smtClean="0">
                <a:latin typeface="Times New Roman"/>
                <a:cs typeface="Times New Roman"/>
              </a:rPr>
              <a:t>customers.</a:t>
            </a:r>
            <a:endParaRPr lang="en-US" dirty="0" smtClean="0">
              <a:latin typeface="Times New Roman"/>
              <a:cs typeface="Times New Roman"/>
            </a:endParaRPr>
          </a:p>
          <a:p>
            <a:pPr marL="12700" marR="5080" algn="just">
              <a:lnSpc>
                <a:spcPct val="150000"/>
              </a:lnSpc>
              <a:spcBef>
                <a:spcPts val="1950"/>
              </a:spcBef>
              <a:tabLst>
                <a:tab pos="5597525" algn="l"/>
              </a:tabLst>
            </a:pPr>
            <a:r>
              <a:rPr lang="en-US" dirty="0" smtClean="0">
                <a:latin typeface="Times New Roman"/>
                <a:cs typeface="Times New Roman"/>
              </a:rPr>
              <a:t>When</a:t>
            </a:r>
            <a:r>
              <a:rPr lang="en-US" spc="-10" dirty="0" smtClean="0">
                <a:latin typeface="Times New Roman"/>
                <a:cs typeface="Times New Roman"/>
              </a:rPr>
              <a:t> </a:t>
            </a:r>
            <a:r>
              <a:rPr lang="en-US" dirty="0">
                <a:latin typeface="Times New Roman"/>
                <a:cs typeface="Times New Roman"/>
              </a:rPr>
              <a:t>a</a:t>
            </a:r>
            <a:r>
              <a:rPr lang="en-US" spc="5" dirty="0">
                <a:latin typeface="Times New Roman"/>
                <a:cs typeface="Times New Roman"/>
              </a:rPr>
              <a:t> </a:t>
            </a:r>
            <a:r>
              <a:rPr lang="en-US" dirty="0">
                <a:latin typeface="Times New Roman"/>
                <a:cs typeface="Times New Roman"/>
              </a:rPr>
              <a:t>process</a:t>
            </a:r>
            <a:r>
              <a:rPr lang="en-US" spc="-55" dirty="0">
                <a:latin typeface="Times New Roman"/>
                <a:cs typeface="Times New Roman"/>
              </a:rPr>
              <a:t> </a:t>
            </a:r>
            <a:r>
              <a:rPr lang="en-US" dirty="0">
                <a:latin typeface="Times New Roman"/>
                <a:cs typeface="Times New Roman"/>
              </a:rPr>
              <a:t>request</a:t>
            </a:r>
            <a:r>
              <a:rPr lang="en-US" spc="-80" dirty="0">
                <a:latin typeface="Times New Roman"/>
                <a:cs typeface="Times New Roman"/>
              </a:rPr>
              <a:t> </a:t>
            </a:r>
            <a:r>
              <a:rPr lang="en-US" dirty="0">
                <a:latin typeface="Times New Roman"/>
                <a:cs typeface="Times New Roman"/>
              </a:rPr>
              <a:t>the</a:t>
            </a:r>
            <a:r>
              <a:rPr lang="en-US" spc="-20" dirty="0">
                <a:latin typeface="Times New Roman"/>
                <a:cs typeface="Times New Roman"/>
              </a:rPr>
              <a:t> </a:t>
            </a:r>
            <a:r>
              <a:rPr lang="en-US" dirty="0">
                <a:latin typeface="Times New Roman"/>
                <a:cs typeface="Times New Roman"/>
              </a:rPr>
              <a:t>set</a:t>
            </a:r>
            <a:r>
              <a:rPr lang="en-US" spc="-30" dirty="0">
                <a:latin typeface="Times New Roman"/>
                <a:cs typeface="Times New Roman"/>
              </a:rPr>
              <a:t> </a:t>
            </a:r>
            <a:r>
              <a:rPr lang="en-US" dirty="0">
                <a:latin typeface="Times New Roman"/>
                <a:cs typeface="Times New Roman"/>
              </a:rPr>
              <a:t>of resources,</a:t>
            </a:r>
            <a:r>
              <a:rPr lang="en-US" spc="-70" dirty="0">
                <a:latin typeface="Times New Roman"/>
                <a:cs typeface="Times New Roman"/>
              </a:rPr>
              <a:t> </a:t>
            </a:r>
            <a:r>
              <a:rPr lang="en-US" dirty="0">
                <a:latin typeface="Times New Roman"/>
                <a:cs typeface="Times New Roman"/>
              </a:rPr>
              <a:t>the</a:t>
            </a:r>
            <a:r>
              <a:rPr lang="en-US" spc="-45" dirty="0">
                <a:latin typeface="Times New Roman"/>
                <a:cs typeface="Times New Roman"/>
              </a:rPr>
              <a:t> </a:t>
            </a:r>
            <a:r>
              <a:rPr lang="en-US" spc="-10" dirty="0">
                <a:latin typeface="Times New Roman"/>
                <a:cs typeface="Times New Roman"/>
              </a:rPr>
              <a:t>system </a:t>
            </a:r>
            <a:r>
              <a:rPr lang="en-US" dirty="0">
                <a:latin typeface="Times New Roman"/>
                <a:cs typeface="Times New Roman"/>
              </a:rPr>
              <a:t>determine</a:t>
            </a:r>
            <a:r>
              <a:rPr lang="en-US" spc="-55" dirty="0">
                <a:latin typeface="Times New Roman"/>
                <a:cs typeface="Times New Roman"/>
              </a:rPr>
              <a:t> </a:t>
            </a:r>
            <a:r>
              <a:rPr lang="en-US" dirty="0">
                <a:latin typeface="Times New Roman"/>
                <a:cs typeface="Times New Roman"/>
              </a:rPr>
              <a:t>whether</a:t>
            </a:r>
            <a:r>
              <a:rPr lang="en-US" spc="-70" dirty="0">
                <a:latin typeface="Times New Roman"/>
                <a:cs typeface="Times New Roman"/>
              </a:rPr>
              <a:t> </a:t>
            </a:r>
            <a:r>
              <a:rPr lang="en-US" dirty="0">
                <a:latin typeface="Times New Roman"/>
                <a:cs typeface="Times New Roman"/>
              </a:rPr>
              <a:t>the</a:t>
            </a:r>
            <a:r>
              <a:rPr lang="en-US" spc="-25" dirty="0">
                <a:latin typeface="Times New Roman"/>
                <a:cs typeface="Times New Roman"/>
              </a:rPr>
              <a:t> </a:t>
            </a:r>
            <a:r>
              <a:rPr lang="en-US" dirty="0">
                <a:latin typeface="Times New Roman"/>
                <a:cs typeface="Times New Roman"/>
              </a:rPr>
              <a:t>allocation</a:t>
            </a:r>
            <a:r>
              <a:rPr lang="en-US" spc="-60" dirty="0">
                <a:latin typeface="Times New Roman"/>
                <a:cs typeface="Times New Roman"/>
              </a:rPr>
              <a:t> </a:t>
            </a:r>
            <a:r>
              <a:rPr lang="en-US" dirty="0">
                <a:latin typeface="Times New Roman"/>
                <a:cs typeface="Times New Roman"/>
              </a:rPr>
              <a:t>of</a:t>
            </a:r>
            <a:r>
              <a:rPr lang="en-US" spc="-25" dirty="0">
                <a:latin typeface="Times New Roman"/>
                <a:cs typeface="Times New Roman"/>
              </a:rPr>
              <a:t> </a:t>
            </a:r>
            <a:r>
              <a:rPr lang="en-US" dirty="0">
                <a:latin typeface="Times New Roman"/>
                <a:cs typeface="Times New Roman"/>
              </a:rPr>
              <a:t>these</a:t>
            </a:r>
            <a:r>
              <a:rPr lang="en-US" spc="-50" dirty="0">
                <a:latin typeface="Times New Roman"/>
                <a:cs typeface="Times New Roman"/>
              </a:rPr>
              <a:t> </a:t>
            </a:r>
            <a:r>
              <a:rPr lang="en-US" dirty="0">
                <a:latin typeface="Times New Roman"/>
                <a:cs typeface="Times New Roman"/>
              </a:rPr>
              <a:t>resources</a:t>
            </a:r>
            <a:r>
              <a:rPr lang="en-US" spc="-60" dirty="0">
                <a:latin typeface="Times New Roman"/>
                <a:cs typeface="Times New Roman"/>
              </a:rPr>
              <a:t> </a:t>
            </a:r>
            <a:r>
              <a:rPr lang="en-US" spc="-20" dirty="0">
                <a:latin typeface="Times New Roman"/>
                <a:cs typeface="Times New Roman"/>
              </a:rPr>
              <a:t>will </a:t>
            </a:r>
            <a:r>
              <a:rPr lang="en-US" dirty="0">
                <a:latin typeface="Times New Roman"/>
                <a:cs typeface="Times New Roman"/>
              </a:rPr>
              <a:t>left</a:t>
            </a:r>
            <a:r>
              <a:rPr lang="en-US" spc="-30" dirty="0">
                <a:latin typeface="Times New Roman"/>
                <a:cs typeface="Times New Roman"/>
              </a:rPr>
              <a:t> </a:t>
            </a:r>
            <a:r>
              <a:rPr lang="en-US" dirty="0">
                <a:latin typeface="Times New Roman"/>
                <a:cs typeface="Times New Roman"/>
              </a:rPr>
              <a:t>the</a:t>
            </a:r>
            <a:r>
              <a:rPr lang="en-US" spc="-20" dirty="0">
                <a:latin typeface="Times New Roman"/>
                <a:cs typeface="Times New Roman"/>
              </a:rPr>
              <a:t> </a:t>
            </a:r>
            <a:r>
              <a:rPr lang="en-US" dirty="0">
                <a:latin typeface="Times New Roman"/>
                <a:cs typeface="Times New Roman"/>
              </a:rPr>
              <a:t>system</a:t>
            </a:r>
            <a:r>
              <a:rPr lang="en-US" spc="-45" dirty="0">
                <a:latin typeface="Times New Roman"/>
                <a:cs typeface="Times New Roman"/>
              </a:rPr>
              <a:t> </a:t>
            </a:r>
            <a:r>
              <a:rPr lang="en-US" dirty="0">
                <a:latin typeface="Times New Roman"/>
                <a:cs typeface="Times New Roman"/>
              </a:rPr>
              <a:t>in</a:t>
            </a:r>
            <a:r>
              <a:rPr lang="en-US" spc="-5" dirty="0">
                <a:latin typeface="Times New Roman"/>
                <a:cs typeface="Times New Roman"/>
              </a:rPr>
              <a:t> </a:t>
            </a:r>
            <a:r>
              <a:rPr lang="en-US" dirty="0">
                <a:latin typeface="Times New Roman"/>
                <a:cs typeface="Times New Roman"/>
              </a:rPr>
              <a:t>safe</a:t>
            </a:r>
            <a:r>
              <a:rPr lang="en-US" spc="-20" dirty="0">
                <a:latin typeface="Times New Roman"/>
                <a:cs typeface="Times New Roman"/>
              </a:rPr>
              <a:t> </a:t>
            </a:r>
            <a:r>
              <a:rPr lang="en-US" dirty="0">
                <a:latin typeface="Times New Roman"/>
                <a:cs typeface="Times New Roman"/>
              </a:rPr>
              <a:t>state,</a:t>
            </a:r>
            <a:r>
              <a:rPr lang="en-US" spc="-70" dirty="0">
                <a:latin typeface="Times New Roman"/>
                <a:cs typeface="Times New Roman"/>
              </a:rPr>
              <a:t> </a:t>
            </a:r>
            <a:r>
              <a:rPr lang="en-US" dirty="0">
                <a:latin typeface="Times New Roman"/>
                <a:cs typeface="Times New Roman"/>
              </a:rPr>
              <a:t>if</a:t>
            </a:r>
            <a:r>
              <a:rPr lang="en-US" spc="5" dirty="0">
                <a:latin typeface="Times New Roman"/>
                <a:cs typeface="Times New Roman"/>
              </a:rPr>
              <a:t> </a:t>
            </a:r>
            <a:r>
              <a:rPr lang="en-US" dirty="0">
                <a:latin typeface="Times New Roman"/>
                <a:cs typeface="Times New Roman"/>
              </a:rPr>
              <a:t>it</a:t>
            </a:r>
            <a:r>
              <a:rPr lang="en-US" spc="-30" dirty="0">
                <a:latin typeface="Times New Roman"/>
                <a:cs typeface="Times New Roman"/>
              </a:rPr>
              <a:t> </a:t>
            </a:r>
            <a:r>
              <a:rPr lang="en-US" dirty="0">
                <a:latin typeface="Times New Roman"/>
                <a:cs typeface="Times New Roman"/>
              </a:rPr>
              <a:t>will the</a:t>
            </a:r>
            <a:r>
              <a:rPr lang="en-US" spc="-45" dirty="0">
                <a:latin typeface="Times New Roman"/>
                <a:cs typeface="Times New Roman"/>
              </a:rPr>
              <a:t> </a:t>
            </a:r>
            <a:r>
              <a:rPr lang="en-US" dirty="0">
                <a:latin typeface="Times New Roman"/>
                <a:cs typeface="Times New Roman"/>
              </a:rPr>
              <a:t>resources</a:t>
            </a:r>
            <a:r>
              <a:rPr lang="en-US" spc="-80" dirty="0">
                <a:latin typeface="Times New Roman"/>
                <a:cs typeface="Times New Roman"/>
              </a:rPr>
              <a:t> </a:t>
            </a:r>
            <a:r>
              <a:rPr lang="en-US" spc="-25" dirty="0">
                <a:latin typeface="Times New Roman"/>
                <a:cs typeface="Times New Roman"/>
              </a:rPr>
              <a:t>are </a:t>
            </a:r>
            <a:r>
              <a:rPr lang="en-US" dirty="0">
                <a:latin typeface="Times New Roman"/>
                <a:cs typeface="Times New Roman"/>
              </a:rPr>
              <a:t>allocated,</a:t>
            </a:r>
            <a:r>
              <a:rPr lang="en-US" spc="-80" dirty="0">
                <a:latin typeface="Times New Roman"/>
                <a:cs typeface="Times New Roman"/>
              </a:rPr>
              <a:t> </a:t>
            </a:r>
            <a:r>
              <a:rPr lang="en-US" dirty="0">
                <a:latin typeface="Times New Roman"/>
                <a:cs typeface="Times New Roman"/>
              </a:rPr>
              <a:t>otherwise</a:t>
            </a:r>
            <a:r>
              <a:rPr lang="en-US" spc="-95" dirty="0">
                <a:latin typeface="Times New Roman"/>
                <a:cs typeface="Times New Roman"/>
              </a:rPr>
              <a:t> </a:t>
            </a:r>
            <a:r>
              <a:rPr lang="en-US" dirty="0">
                <a:latin typeface="Times New Roman"/>
                <a:cs typeface="Times New Roman"/>
              </a:rPr>
              <a:t>process</a:t>
            </a:r>
            <a:r>
              <a:rPr lang="en-US" spc="-65" dirty="0">
                <a:latin typeface="Times New Roman"/>
                <a:cs typeface="Times New Roman"/>
              </a:rPr>
              <a:t> </a:t>
            </a:r>
            <a:r>
              <a:rPr lang="en-US" dirty="0">
                <a:latin typeface="Times New Roman"/>
                <a:cs typeface="Times New Roman"/>
              </a:rPr>
              <a:t>must</a:t>
            </a:r>
            <a:r>
              <a:rPr lang="en-US" spc="10" dirty="0">
                <a:latin typeface="Times New Roman"/>
                <a:cs typeface="Times New Roman"/>
              </a:rPr>
              <a:t> </a:t>
            </a:r>
            <a:r>
              <a:rPr lang="en-US" dirty="0">
                <a:latin typeface="Times New Roman"/>
                <a:cs typeface="Times New Roman"/>
              </a:rPr>
              <a:t>wait</a:t>
            </a:r>
            <a:r>
              <a:rPr lang="en-US" spc="-40" dirty="0">
                <a:latin typeface="Times New Roman"/>
                <a:cs typeface="Times New Roman"/>
              </a:rPr>
              <a:t> </a:t>
            </a:r>
            <a:r>
              <a:rPr lang="en-US" dirty="0">
                <a:latin typeface="Times New Roman"/>
                <a:cs typeface="Times New Roman"/>
              </a:rPr>
              <a:t>until</a:t>
            </a:r>
            <a:r>
              <a:rPr lang="en-US" spc="-60" dirty="0">
                <a:latin typeface="Times New Roman"/>
                <a:cs typeface="Times New Roman"/>
              </a:rPr>
              <a:t> </a:t>
            </a:r>
            <a:r>
              <a:rPr lang="en-US" dirty="0">
                <a:latin typeface="Times New Roman"/>
                <a:cs typeface="Times New Roman"/>
              </a:rPr>
              <a:t>some </a:t>
            </a:r>
            <a:r>
              <a:rPr lang="en-US" spc="-10" dirty="0">
                <a:latin typeface="Times New Roman"/>
                <a:cs typeface="Times New Roman"/>
              </a:rPr>
              <a:t>other </a:t>
            </a:r>
            <a:r>
              <a:rPr lang="en-US" dirty="0">
                <a:latin typeface="Times New Roman"/>
                <a:cs typeface="Times New Roman"/>
              </a:rPr>
              <a:t>process</a:t>
            </a:r>
            <a:r>
              <a:rPr lang="en-US" spc="-25" dirty="0">
                <a:latin typeface="Times New Roman"/>
                <a:cs typeface="Times New Roman"/>
              </a:rPr>
              <a:t> </a:t>
            </a:r>
            <a:r>
              <a:rPr lang="en-US" dirty="0">
                <a:latin typeface="Times New Roman"/>
                <a:cs typeface="Times New Roman"/>
              </a:rPr>
              <a:t>release</a:t>
            </a:r>
            <a:r>
              <a:rPr lang="en-US" spc="-65" dirty="0">
                <a:latin typeface="Times New Roman"/>
                <a:cs typeface="Times New Roman"/>
              </a:rPr>
              <a:t> </a:t>
            </a:r>
            <a:r>
              <a:rPr lang="en-US" dirty="0">
                <a:latin typeface="Times New Roman"/>
                <a:cs typeface="Times New Roman"/>
              </a:rPr>
              <a:t>enough</a:t>
            </a:r>
            <a:r>
              <a:rPr lang="en-US" spc="-75" dirty="0">
                <a:latin typeface="Times New Roman"/>
                <a:cs typeface="Times New Roman"/>
              </a:rPr>
              <a:t> </a:t>
            </a:r>
            <a:r>
              <a:rPr lang="en-US" spc="-10" dirty="0">
                <a:latin typeface="Times New Roman"/>
                <a:cs typeface="Times New Roman"/>
              </a:rPr>
              <a:t>resources.</a:t>
            </a:r>
            <a:endParaRPr lang="en-US" dirty="0">
              <a:latin typeface="Times New Roman"/>
              <a:cs typeface="Times New Roman"/>
            </a:endParaRPr>
          </a:p>
          <a:p>
            <a:pPr marL="12700" marR="734695" algn="just">
              <a:lnSpc>
                <a:spcPct val="150000"/>
              </a:lnSpc>
              <a:spcBef>
                <a:spcPts val="1870"/>
              </a:spcBef>
            </a:pPr>
            <a:r>
              <a:rPr lang="en-US" dirty="0">
                <a:latin typeface="Times New Roman"/>
                <a:cs typeface="Times New Roman"/>
              </a:rPr>
              <a:t>Data</a:t>
            </a:r>
            <a:r>
              <a:rPr lang="en-US" spc="-35" dirty="0">
                <a:latin typeface="Times New Roman"/>
                <a:cs typeface="Times New Roman"/>
              </a:rPr>
              <a:t> </a:t>
            </a:r>
            <a:r>
              <a:rPr lang="en-US" dirty="0">
                <a:latin typeface="Times New Roman"/>
                <a:cs typeface="Times New Roman"/>
              </a:rPr>
              <a:t>structures:</a:t>
            </a:r>
            <a:r>
              <a:rPr lang="en-US" spc="-235" dirty="0">
                <a:latin typeface="Times New Roman"/>
                <a:cs typeface="Times New Roman"/>
              </a:rPr>
              <a:t> </a:t>
            </a:r>
            <a:r>
              <a:rPr lang="en-US" spc="-20" dirty="0">
                <a:latin typeface="Times New Roman"/>
                <a:cs typeface="Times New Roman"/>
              </a:rPr>
              <a:t>Available,</a:t>
            </a:r>
            <a:r>
              <a:rPr lang="en-US" spc="-80" dirty="0">
                <a:latin typeface="Times New Roman"/>
                <a:cs typeface="Times New Roman"/>
              </a:rPr>
              <a:t> </a:t>
            </a:r>
            <a:r>
              <a:rPr lang="en-US" dirty="0">
                <a:latin typeface="Times New Roman"/>
                <a:cs typeface="Times New Roman"/>
              </a:rPr>
              <a:t>Max,</a:t>
            </a:r>
            <a:r>
              <a:rPr lang="en-US" spc="-175" dirty="0">
                <a:latin typeface="Times New Roman"/>
                <a:cs typeface="Times New Roman"/>
              </a:rPr>
              <a:t> </a:t>
            </a:r>
            <a:r>
              <a:rPr lang="en-US" dirty="0">
                <a:latin typeface="Times New Roman"/>
                <a:cs typeface="Times New Roman"/>
              </a:rPr>
              <a:t>Allocation</a:t>
            </a:r>
            <a:r>
              <a:rPr lang="en-US" spc="-15" dirty="0">
                <a:latin typeface="Times New Roman"/>
                <a:cs typeface="Times New Roman"/>
              </a:rPr>
              <a:t> </a:t>
            </a:r>
            <a:r>
              <a:rPr lang="en-US" dirty="0">
                <a:latin typeface="Times New Roman"/>
                <a:cs typeface="Times New Roman"/>
              </a:rPr>
              <a:t>&amp;</a:t>
            </a:r>
            <a:r>
              <a:rPr lang="en-US" spc="-75" dirty="0">
                <a:latin typeface="Times New Roman"/>
                <a:cs typeface="Times New Roman"/>
              </a:rPr>
              <a:t> </a:t>
            </a:r>
            <a:r>
              <a:rPr lang="en-US" spc="-10" dirty="0">
                <a:latin typeface="Times New Roman"/>
                <a:cs typeface="Times New Roman"/>
              </a:rPr>
              <a:t>Need. </a:t>
            </a:r>
            <a:endParaRPr lang="en-US" spc="-10" dirty="0" smtClean="0">
              <a:latin typeface="Times New Roman"/>
              <a:cs typeface="Times New Roman"/>
            </a:endParaRPr>
          </a:p>
          <a:p>
            <a:pPr marL="0" marR="734695" indent="0" algn="just">
              <a:lnSpc>
                <a:spcPct val="150000"/>
              </a:lnSpc>
              <a:spcBef>
                <a:spcPts val="1870"/>
              </a:spcBef>
              <a:buNone/>
            </a:pPr>
            <a:r>
              <a:rPr lang="en-US" spc="-10" dirty="0">
                <a:latin typeface="Times New Roman"/>
                <a:cs typeface="Times New Roman"/>
              </a:rPr>
              <a:t>	</a:t>
            </a:r>
            <a:r>
              <a:rPr lang="en-US" b="1" i="1" dirty="0" smtClean="0">
                <a:latin typeface="Times New Roman"/>
                <a:cs typeface="Times New Roman"/>
              </a:rPr>
              <a:t>need</a:t>
            </a:r>
            <a:r>
              <a:rPr lang="en-US" b="1" i="1" spc="-55" dirty="0" smtClean="0">
                <a:latin typeface="Times New Roman"/>
                <a:cs typeface="Times New Roman"/>
              </a:rPr>
              <a:t> </a:t>
            </a:r>
            <a:r>
              <a:rPr lang="en-US" b="1" i="1" dirty="0">
                <a:latin typeface="Times New Roman"/>
                <a:cs typeface="Times New Roman"/>
              </a:rPr>
              <a:t>=</a:t>
            </a:r>
            <a:r>
              <a:rPr lang="en-US" b="1" i="1" spc="-15" dirty="0">
                <a:latin typeface="Times New Roman"/>
                <a:cs typeface="Times New Roman"/>
              </a:rPr>
              <a:t> </a:t>
            </a:r>
            <a:r>
              <a:rPr lang="en-US" b="1" i="1" dirty="0">
                <a:latin typeface="Times New Roman"/>
                <a:cs typeface="Times New Roman"/>
              </a:rPr>
              <a:t>max –</a:t>
            </a:r>
            <a:r>
              <a:rPr lang="en-US" b="1" i="1" spc="-5" dirty="0">
                <a:latin typeface="Times New Roman"/>
                <a:cs typeface="Times New Roman"/>
              </a:rPr>
              <a:t> </a:t>
            </a:r>
            <a:r>
              <a:rPr lang="en-US" b="1" i="1" spc="-10" dirty="0">
                <a:latin typeface="Times New Roman"/>
                <a:cs typeface="Times New Roman"/>
              </a:rPr>
              <a:t>allocation.</a:t>
            </a:r>
            <a:endParaRPr lang="en-US" b="1" i="1" dirty="0">
              <a:latin typeface="Times New Roman"/>
              <a:cs typeface="Times New Roman"/>
            </a:endParaRPr>
          </a:p>
        </p:txBody>
      </p:sp>
    </p:spTree>
    <p:extLst>
      <p:ext uri="{BB962C8B-B14F-4D97-AF65-F5344CB8AC3E}">
        <p14:creationId xmlns:p14="http://schemas.microsoft.com/office/powerpoint/2010/main" val="35266428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5793"/>
          </a:xfrm>
        </p:spPr>
        <p:txBody>
          <a:bodyPr>
            <a:normAutofit fontScale="90000"/>
          </a:bodyPr>
          <a:lstStyle/>
          <a:p>
            <a:pPr algn="ctr"/>
            <a:r>
              <a:rPr lang="en-US" b="1" spc="-25" dirty="0" smtClean="0">
                <a:latin typeface="Times New Roman" panose="02020603050405020304" pitchFamily="18" charset="0"/>
                <a:cs typeface="Times New Roman" panose="02020603050405020304" pitchFamily="18" charset="0"/>
              </a:rPr>
              <a:t/>
            </a:r>
            <a:br>
              <a:rPr lang="en-US" b="1" spc="-25" dirty="0" smtClean="0">
                <a:latin typeface="Times New Roman" panose="02020603050405020304" pitchFamily="18" charset="0"/>
                <a:cs typeface="Times New Roman" panose="02020603050405020304" pitchFamily="18" charset="0"/>
              </a:rPr>
            </a:br>
            <a:r>
              <a:rPr lang="en-US" b="1" spc="-25" dirty="0" smtClean="0">
                <a:latin typeface="Times New Roman" panose="02020603050405020304" pitchFamily="18" charset="0"/>
                <a:cs typeface="Times New Roman" panose="02020603050405020304" pitchFamily="18" charset="0"/>
              </a:rPr>
              <a:t>Deadlock</a:t>
            </a:r>
            <a:r>
              <a:rPr lang="en-US" b="1" spc="-204" dirty="0" smtClean="0">
                <a:latin typeface="Times New Roman" panose="02020603050405020304" pitchFamily="18" charset="0"/>
                <a:cs typeface="Times New Roman" panose="02020603050405020304" pitchFamily="18" charset="0"/>
              </a:rPr>
              <a:t> </a:t>
            </a:r>
            <a:r>
              <a:rPr lang="en-US" b="1" spc="-20" dirty="0">
                <a:latin typeface="Times New Roman" panose="02020603050405020304" pitchFamily="18" charset="0"/>
                <a:cs typeface="Times New Roman" panose="02020603050405020304" pitchFamily="18" charset="0"/>
              </a:rPr>
              <a:t>Avoidance</a:t>
            </a:r>
            <a:r>
              <a:rPr lang="en-US" b="1" spc="-30" dirty="0" smtClean="0">
                <a:solidFill>
                  <a:srgbClr val="3333CC"/>
                </a:solidFill>
                <a:latin typeface="Times New Roman"/>
                <a:cs typeface="Times New Roman"/>
              </a:rPr>
              <a:t/>
            </a:r>
            <a:br>
              <a:rPr lang="en-US" b="1" spc="-30" dirty="0" smtClean="0">
                <a:solidFill>
                  <a:srgbClr val="3333CC"/>
                </a:solidFill>
                <a:latin typeface="Times New Roman"/>
                <a:cs typeface="Times New Roman"/>
              </a:rPr>
            </a:br>
            <a:r>
              <a:rPr lang="en-US" sz="4000" b="1" spc="-30" dirty="0" smtClean="0">
                <a:solidFill>
                  <a:srgbClr val="3333CC"/>
                </a:solidFill>
                <a:latin typeface="Times New Roman"/>
                <a:cs typeface="Times New Roman"/>
              </a:rPr>
              <a:t>Banker’s</a:t>
            </a:r>
            <a:r>
              <a:rPr lang="en-US" sz="4000" b="1" spc="-160" dirty="0" smtClean="0">
                <a:solidFill>
                  <a:srgbClr val="3333CC"/>
                </a:solidFill>
                <a:latin typeface="Times New Roman"/>
                <a:cs typeface="Times New Roman"/>
              </a:rPr>
              <a:t> </a:t>
            </a:r>
            <a:r>
              <a:rPr lang="en-US" sz="4000" b="1" spc="-10" dirty="0">
                <a:solidFill>
                  <a:srgbClr val="3333CC"/>
                </a:solidFill>
                <a:latin typeface="Times New Roman"/>
                <a:cs typeface="Times New Roman"/>
              </a:rPr>
              <a:t>Algorithm</a:t>
            </a:r>
            <a:r>
              <a:rPr lang="en-US" b="1" dirty="0">
                <a:latin typeface="Times New Roman"/>
                <a:cs typeface="Times New Roman"/>
              </a:rPr>
              <a:t/>
            </a:r>
            <a:br>
              <a:rPr lang="en-US" b="1" dirty="0">
                <a:latin typeface="Times New Roman"/>
                <a:cs typeface="Times New Roman"/>
              </a:rPr>
            </a:br>
            <a:endParaRPr lang="en-US" b="1" dirty="0"/>
          </a:p>
        </p:txBody>
      </p:sp>
      <p:sp>
        <p:nvSpPr>
          <p:cNvPr id="3" name="Content Placeholder 2"/>
          <p:cNvSpPr>
            <a:spLocks noGrp="1"/>
          </p:cNvSpPr>
          <p:nvPr>
            <p:ph idx="1"/>
          </p:nvPr>
        </p:nvSpPr>
        <p:spPr>
          <a:xfrm>
            <a:off x="838200" y="1425388"/>
            <a:ext cx="10515600" cy="4738128"/>
          </a:xfrm>
          <a:ln w="38100">
            <a:solidFill>
              <a:schemeClr val="tx1"/>
            </a:solidFill>
          </a:ln>
        </p:spPr>
        <p:txBody>
          <a:bodyPr numCol="2">
            <a:normAutofit fontScale="62500" lnSpcReduction="20000"/>
          </a:bodyPr>
          <a:lstStyle/>
          <a:p>
            <a:pPr marL="0" marR="5080" indent="0" algn="just">
              <a:lnSpc>
                <a:spcPct val="150000"/>
              </a:lnSpc>
              <a:spcBef>
                <a:spcPts val="1950"/>
              </a:spcBef>
              <a:buNone/>
              <a:tabLst>
                <a:tab pos="5597525" algn="l"/>
              </a:tabLst>
            </a:pPr>
            <a:r>
              <a:rPr lang="en-US" sz="4000" dirty="0" err="1">
                <a:latin typeface="Times New Roman"/>
                <a:cs typeface="Times New Roman"/>
              </a:rPr>
              <a:t>finish</a:t>
            </a:r>
            <a:r>
              <a:rPr lang="en-US" sz="4000" i="1" baseline="-21072" dirty="0" err="1">
                <a:latin typeface="Times New Roman"/>
                <a:cs typeface="Times New Roman"/>
              </a:rPr>
              <a:t>i</a:t>
            </a:r>
            <a:r>
              <a:rPr lang="en-US" sz="4000" i="1" spc="-67" baseline="-21072" dirty="0">
                <a:latin typeface="Times New Roman"/>
                <a:cs typeface="Times New Roman"/>
              </a:rPr>
              <a:t> </a:t>
            </a:r>
            <a:r>
              <a:rPr lang="en-US" sz="4000" dirty="0">
                <a:latin typeface="Times New Roman"/>
                <a:cs typeface="Times New Roman"/>
              </a:rPr>
              <a:t>=</a:t>
            </a:r>
            <a:r>
              <a:rPr lang="en-US" sz="4000" spc="20" dirty="0">
                <a:latin typeface="Times New Roman"/>
                <a:cs typeface="Times New Roman"/>
              </a:rPr>
              <a:t> </a:t>
            </a:r>
            <a:r>
              <a:rPr lang="en-US" sz="4000" spc="-10" dirty="0">
                <a:latin typeface="Times New Roman"/>
                <a:cs typeface="Times New Roman"/>
              </a:rPr>
              <a:t>False; </a:t>
            </a:r>
            <a:endParaRPr lang="en-US" sz="4000" spc="-10" dirty="0" smtClean="0">
              <a:latin typeface="Times New Roman"/>
              <a:cs typeface="Times New Roman"/>
            </a:endParaRPr>
          </a:p>
          <a:p>
            <a:pPr marL="0" marR="5080" indent="0" algn="just">
              <a:lnSpc>
                <a:spcPct val="150000"/>
              </a:lnSpc>
              <a:spcBef>
                <a:spcPts val="1950"/>
              </a:spcBef>
              <a:buNone/>
              <a:tabLst>
                <a:tab pos="5597525" algn="l"/>
              </a:tabLst>
            </a:pPr>
            <a:r>
              <a:rPr lang="en-US" sz="4000" spc="-10" dirty="0" smtClean="0">
                <a:latin typeface="Times New Roman"/>
                <a:cs typeface="Times New Roman"/>
              </a:rPr>
              <a:t>f</a:t>
            </a:r>
            <a:r>
              <a:rPr lang="en-US" sz="4000" dirty="0" smtClean="0">
                <a:latin typeface="Times New Roman"/>
                <a:cs typeface="Times New Roman"/>
              </a:rPr>
              <a:t>or</a:t>
            </a:r>
            <a:r>
              <a:rPr lang="en-US" sz="4000" spc="-20" dirty="0" smtClean="0">
                <a:latin typeface="Times New Roman"/>
                <a:cs typeface="Times New Roman"/>
              </a:rPr>
              <a:t> </a:t>
            </a:r>
            <a:r>
              <a:rPr lang="en-US" sz="4000" dirty="0">
                <a:latin typeface="Times New Roman"/>
                <a:cs typeface="Times New Roman"/>
              </a:rPr>
              <a:t>each</a:t>
            </a:r>
            <a:r>
              <a:rPr lang="en-US" sz="4000" spc="-25" dirty="0">
                <a:latin typeface="Times New Roman"/>
                <a:cs typeface="Times New Roman"/>
              </a:rPr>
              <a:t> </a:t>
            </a:r>
            <a:r>
              <a:rPr lang="en-US" sz="4000" spc="-10" dirty="0" smtClean="0">
                <a:latin typeface="Times New Roman"/>
                <a:cs typeface="Times New Roman"/>
              </a:rPr>
              <a:t>process</a:t>
            </a:r>
          </a:p>
          <a:p>
            <a:pPr marL="0" marR="5080" indent="0" algn="just">
              <a:lnSpc>
                <a:spcPct val="150000"/>
              </a:lnSpc>
              <a:spcBef>
                <a:spcPts val="1950"/>
              </a:spcBef>
              <a:buNone/>
              <a:tabLst>
                <a:tab pos="5597525" algn="l"/>
              </a:tabLst>
            </a:pPr>
            <a:r>
              <a:rPr lang="en-US" sz="4000" dirty="0">
                <a:latin typeface="Times New Roman"/>
                <a:cs typeface="Times New Roman"/>
              </a:rPr>
              <a:t>if</a:t>
            </a:r>
            <a:r>
              <a:rPr lang="en-US" sz="4000" spc="-20" dirty="0">
                <a:latin typeface="Times New Roman"/>
                <a:cs typeface="Times New Roman"/>
              </a:rPr>
              <a:t> </a:t>
            </a:r>
            <a:r>
              <a:rPr lang="en-US" sz="4000" dirty="0">
                <a:latin typeface="Times New Roman"/>
                <a:cs typeface="Times New Roman"/>
              </a:rPr>
              <a:t>(</a:t>
            </a:r>
            <a:r>
              <a:rPr lang="en-US" sz="4000" dirty="0" err="1">
                <a:latin typeface="Times New Roman"/>
                <a:cs typeface="Times New Roman"/>
              </a:rPr>
              <a:t>need</a:t>
            </a:r>
            <a:r>
              <a:rPr lang="en-US" sz="4000" baseline="-21072" dirty="0" err="1">
                <a:latin typeface="Times New Roman"/>
                <a:cs typeface="Times New Roman"/>
              </a:rPr>
              <a:t>i</a:t>
            </a:r>
            <a:r>
              <a:rPr lang="en-US" sz="4000" spc="240" baseline="-21072" dirty="0">
                <a:latin typeface="Times New Roman"/>
                <a:cs typeface="Times New Roman"/>
              </a:rPr>
              <a:t> </a:t>
            </a:r>
            <a:r>
              <a:rPr lang="en-US" sz="4000" dirty="0">
                <a:latin typeface="Times New Roman"/>
                <a:cs typeface="Times New Roman"/>
              </a:rPr>
              <a:t>&lt;=</a:t>
            </a:r>
            <a:r>
              <a:rPr lang="en-US" sz="4000" spc="-25" dirty="0">
                <a:latin typeface="Times New Roman"/>
                <a:cs typeface="Times New Roman"/>
              </a:rPr>
              <a:t> </a:t>
            </a:r>
            <a:r>
              <a:rPr lang="en-US" sz="4000" dirty="0">
                <a:latin typeface="Times New Roman"/>
                <a:cs typeface="Times New Roman"/>
              </a:rPr>
              <a:t>available</a:t>
            </a:r>
            <a:r>
              <a:rPr lang="en-US" sz="4000" spc="-75" dirty="0">
                <a:latin typeface="Times New Roman"/>
                <a:cs typeface="Times New Roman"/>
              </a:rPr>
              <a:t> </a:t>
            </a:r>
            <a:r>
              <a:rPr lang="en-US" sz="4000" dirty="0">
                <a:latin typeface="Times New Roman"/>
                <a:cs typeface="Times New Roman"/>
              </a:rPr>
              <a:t>&amp;&amp;</a:t>
            </a:r>
            <a:r>
              <a:rPr lang="en-US" sz="4000" spc="5" dirty="0">
                <a:latin typeface="Times New Roman"/>
                <a:cs typeface="Times New Roman"/>
              </a:rPr>
              <a:t> </a:t>
            </a:r>
            <a:r>
              <a:rPr lang="en-US" sz="4000" spc="-10" dirty="0" err="1" smtClean="0">
                <a:latin typeface="Times New Roman"/>
                <a:cs typeface="Times New Roman"/>
              </a:rPr>
              <a:t>finish</a:t>
            </a:r>
            <a:r>
              <a:rPr lang="en-US" sz="4000" spc="-15" baseline="-21072" dirty="0" err="1" smtClean="0">
                <a:latin typeface="Times New Roman"/>
                <a:cs typeface="Times New Roman"/>
              </a:rPr>
              <a:t>i</a:t>
            </a:r>
            <a:r>
              <a:rPr lang="en-US" sz="4000" dirty="0" smtClean="0">
                <a:latin typeface="Times New Roman"/>
                <a:cs typeface="Times New Roman"/>
              </a:rPr>
              <a:t>=</a:t>
            </a:r>
            <a:r>
              <a:rPr lang="en-US" sz="4000" spc="-30" dirty="0" smtClean="0">
                <a:latin typeface="Times New Roman"/>
                <a:cs typeface="Times New Roman"/>
              </a:rPr>
              <a:t> </a:t>
            </a:r>
            <a:r>
              <a:rPr lang="en-US" sz="4000" spc="-10" dirty="0">
                <a:latin typeface="Times New Roman"/>
                <a:cs typeface="Times New Roman"/>
              </a:rPr>
              <a:t>false)</a:t>
            </a:r>
            <a:endParaRPr lang="en-US" sz="4000" dirty="0">
              <a:latin typeface="Times New Roman"/>
              <a:cs typeface="Times New Roman"/>
            </a:endParaRPr>
          </a:p>
          <a:p>
            <a:pPr marL="857885" indent="0" algn="just">
              <a:lnSpc>
                <a:spcPct val="100000"/>
              </a:lnSpc>
              <a:spcBef>
                <a:spcPts val="550"/>
              </a:spcBef>
              <a:buNone/>
            </a:pPr>
            <a:r>
              <a:rPr lang="en-US" sz="3800" spc="-10" dirty="0" err="1" smtClean="0">
                <a:latin typeface="Times New Roman"/>
                <a:cs typeface="Times New Roman"/>
              </a:rPr>
              <a:t>continue</a:t>
            </a:r>
            <a:r>
              <a:rPr lang="en-US" sz="3800" i="1" spc="-15" baseline="-24904" dirty="0" err="1" smtClean="0">
                <a:latin typeface="Times New Roman"/>
                <a:cs typeface="Times New Roman"/>
              </a:rPr>
              <a:t>i</a:t>
            </a:r>
            <a:r>
              <a:rPr lang="en-US" sz="3800" spc="-10" dirty="0" smtClean="0">
                <a:latin typeface="Times New Roman"/>
                <a:cs typeface="Times New Roman"/>
              </a:rPr>
              <a:t>;</a:t>
            </a:r>
            <a:endParaRPr lang="en-US" sz="3800" dirty="0">
              <a:latin typeface="Times New Roman"/>
              <a:cs typeface="Times New Roman"/>
            </a:endParaRPr>
          </a:p>
          <a:p>
            <a:pPr marL="857885" indent="0" algn="just">
              <a:lnSpc>
                <a:spcPct val="100000"/>
              </a:lnSpc>
              <a:spcBef>
                <a:spcPts val="550"/>
              </a:spcBef>
              <a:buNone/>
            </a:pPr>
            <a:r>
              <a:rPr lang="en-US" sz="3800" dirty="0" smtClean="0">
                <a:latin typeface="Times New Roman"/>
                <a:cs typeface="Times New Roman"/>
              </a:rPr>
              <a:t>available</a:t>
            </a:r>
            <a:r>
              <a:rPr lang="en-US" sz="3800" spc="-80" dirty="0" smtClean="0">
                <a:latin typeface="Times New Roman"/>
                <a:cs typeface="Times New Roman"/>
              </a:rPr>
              <a:t> </a:t>
            </a:r>
            <a:r>
              <a:rPr lang="en-US" sz="3800" dirty="0">
                <a:latin typeface="Times New Roman"/>
                <a:cs typeface="Times New Roman"/>
              </a:rPr>
              <a:t>=</a:t>
            </a:r>
            <a:r>
              <a:rPr lang="en-US" sz="3800" spc="-5" dirty="0">
                <a:latin typeface="Times New Roman"/>
                <a:cs typeface="Times New Roman"/>
              </a:rPr>
              <a:t> </a:t>
            </a:r>
            <a:r>
              <a:rPr lang="en-US" sz="3800" dirty="0">
                <a:latin typeface="Times New Roman"/>
                <a:cs typeface="Times New Roman"/>
              </a:rPr>
              <a:t>available</a:t>
            </a:r>
            <a:r>
              <a:rPr lang="en-US" sz="3800" spc="-75" dirty="0">
                <a:latin typeface="Times New Roman"/>
                <a:cs typeface="Times New Roman"/>
              </a:rPr>
              <a:t> </a:t>
            </a:r>
            <a:r>
              <a:rPr lang="en-US" sz="3800" spc="-50" dirty="0">
                <a:latin typeface="Times New Roman"/>
                <a:cs typeface="Times New Roman"/>
              </a:rPr>
              <a:t>+ </a:t>
            </a:r>
            <a:r>
              <a:rPr lang="en-US" sz="3800" spc="-10" dirty="0">
                <a:latin typeface="Times New Roman"/>
                <a:cs typeface="Times New Roman"/>
              </a:rPr>
              <a:t>allocation;</a:t>
            </a:r>
            <a:endParaRPr lang="en-US" sz="3800" dirty="0">
              <a:latin typeface="Times New Roman"/>
              <a:cs typeface="Times New Roman"/>
            </a:endParaRPr>
          </a:p>
          <a:p>
            <a:pPr marL="38100" marR="1161415" indent="0" algn="just">
              <a:lnSpc>
                <a:spcPts val="3190"/>
              </a:lnSpc>
              <a:spcBef>
                <a:spcPts val="160"/>
              </a:spcBef>
              <a:buNone/>
            </a:pPr>
            <a:r>
              <a:rPr lang="en-US" sz="3800" dirty="0" smtClean="0">
                <a:latin typeface="Times New Roman"/>
                <a:cs typeface="Times New Roman"/>
              </a:rPr>
              <a:t>                   </a:t>
            </a:r>
            <a:r>
              <a:rPr lang="en-US" sz="3800" dirty="0" err="1" smtClean="0">
                <a:latin typeface="Times New Roman"/>
                <a:cs typeface="Times New Roman"/>
              </a:rPr>
              <a:t>finish</a:t>
            </a:r>
            <a:r>
              <a:rPr lang="en-US" sz="3800" baseline="-21072" dirty="0" err="1" smtClean="0">
                <a:latin typeface="Times New Roman"/>
                <a:cs typeface="Times New Roman"/>
              </a:rPr>
              <a:t>i</a:t>
            </a:r>
            <a:r>
              <a:rPr lang="en-US" sz="3800" spc="-67" baseline="-21072" dirty="0" smtClean="0">
                <a:latin typeface="Times New Roman"/>
                <a:cs typeface="Times New Roman"/>
              </a:rPr>
              <a:t> </a:t>
            </a:r>
            <a:r>
              <a:rPr lang="en-US" sz="3800" dirty="0">
                <a:latin typeface="Times New Roman"/>
                <a:cs typeface="Times New Roman"/>
              </a:rPr>
              <a:t>=</a:t>
            </a:r>
            <a:r>
              <a:rPr lang="en-US" sz="3800" spc="-25" dirty="0">
                <a:latin typeface="Times New Roman"/>
                <a:cs typeface="Times New Roman"/>
              </a:rPr>
              <a:t> </a:t>
            </a:r>
            <a:r>
              <a:rPr lang="en-US" sz="3800" spc="-20" dirty="0">
                <a:latin typeface="Times New Roman"/>
                <a:cs typeface="Times New Roman"/>
              </a:rPr>
              <a:t>True; </a:t>
            </a:r>
            <a:endParaRPr lang="en-US" sz="3800" spc="-20" dirty="0" smtClean="0">
              <a:latin typeface="Times New Roman"/>
              <a:cs typeface="Times New Roman"/>
            </a:endParaRPr>
          </a:p>
          <a:p>
            <a:pPr marL="38100" marR="1161415" indent="0">
              <a:lnSpc>
                <a:spcPts val="3190"/>
              </a:lnSpc>
              <a:spcBef>
                <a:spcPts val="160"/>
              </a:spcBef>
              <a:buNone/>
            </a:pPr>
            <a:r>
              <a:rPr lang="en-US" sz="4000" dirty="0" smtClean="0">
                <a:latin typeface="Times New Roman"/>
                <a:cs typeface="Times New Roman"/>
              </a:rPr>
              <a:t>for</a:t>
            </a:r>
            <a:r>
              <a:rPr lang="en-US" sz="4000" spc="-20" dirty="0" smtClean="0">
                <a:latin typeface="Times New Roman"/>
                <a:cs typeface="Times New Roman"/>
              </a:rPr>
              <a:t> </a:t>
            </a:r>
            <a:r>
              <a:rPr lang="en-US" sz="4000" dirty="0">
                <a:latin typeface="Times New Roman"/>
                <a:cs typeface="Times New Roman"/>
              </a:rPr>
              <a:t>each</a:t>
            </a:r>
            <a:r>
              <a:rPr lang="en-US" sz="4000" spc="-25" dirty="0">
                <a:latin typeface="Times New Roman"/>
                <a:cs typeface="Times New Roman"/>
              </a:rPr>
              <a:t> </a:t>
            </a:r>
            <a:r>
              <a:rPr lang="en-US" sz="4000" spc="-10" dirty="0">
                <a:latin typeface="Times New Roman"/>
                <a:cs typeface="Times New Roman"/>
              </a:rPr>
              <a:t>process</a:t>
            </a:r>
            <a:endParaRPr lang="en-US" sz="4000" dirty="0">
              <a:latin typeface="Times New Roman"/>
              <a:cs typeface="Times New Roman"/>
            </a:endParaRPr>
          </a:p>
          <a:p>
            <a:pPr marL="0" indent="0">
              <a:lnSpc>
                <a:spcPct val="100000"/>
              </a:lnSpc>
              <a:spcBef>
                <a:spcPts val="380"/>
              </a:spcBef>
              <a:buNone/>
            </a:pPr>
            <a:r>
              <a:rPr lang="en-US" sz="4000" dirty="0">
                <a:latin typeface="Times New Roman"/>
                <a:cs typeface="Times New Roman"/>
              </a:rPr>
              <a:t>if</a:t>
            </a:r>
            <a:r>
              <a:rPr lang="en-US" sz="4000" spc="-10" dirty="0">
                <a:latin typeface="Times New Roman"/>
                <a:cs typeface="Times New Roman"/>
              </a:rPr>
              <a:t> </a:t>
            </a:r>
            <a:r>
              <a:rPr lang="en-US" sz="4000" dirty="0">
                <a:latin typeface="Times New Roman"/>
                <a:cs typeface="Times New Roman"/>
              </a:rPr>
              <a:t>(</a:t>
            </a:r>
            <a:r>
              <a:rPr lang="en-US" sz="4000" dirty="0" err="1">
                <a:latin typeface="Times New Roman"/>
                <a:cs typeface="Times New Roman"/>
              </a:rPr>
              <a:t>finish</a:t>
            </a:r>
            <a:r>
              <a:rPr lang="en-US" sz="4000" baseline="-21072" dirty="0" err="1">
                <a:latin typeface="Times New Roman"/>
                <a:cs typeface="Times New Roman"/>
              </a:rPr>
              <a:t>i</a:t>
            </a:r>
            <a:r>
              <a:rPr lang="en-US" sz="4000" spc="217" baseline="-21072" dirty="0">
                <a:latin typeface="Times New Roman"/>
                <a:cs typeface="Times New Roman"/>
              </a:rPr>
              <a:t> </a:t>
            </a:r>
            <a:r>
              <a:rPr lang="en-US" sz="4000" dirty="0">
                <a:latin typeface="Times New Roman"/>
                <a:cs typeface="Times New Roman"/>
              </a:rPr>
              <a:t>=</a:t>
            </a:r>
            <a:r>
              <a:rPr lang="en-US" sz="4000" spc="-35" dirty="0">
                <a:latin typeface="Times New Roman"/>
                <a:cs typeface="Times New Roman"/>
              </a:rPr>
              <a:t> </a:t>
            </a:r>
            <a:r>
              <a:rPr lang="en-US" sz="4000" spc="-10" dirty="0">
                <a:latin typeface="Times New Roman"/>
                <a:cs typeface="Times New Roman"/>
              </a:rPr>
              <a:t>True)</a:t>
            </a:r>
            <a:endParaRPr lang="en-US" sz="4000" dirty="0">
              <a:latin typeface="Times New Roman"/>
              <a:cs typeface="Times New Roman"/>
            </a:endParaRPr>
          </a:p>
          <a:p>
            <a:pPr marL="266700" indent="0">
              <a:lnSpc>
                <a:spcPct val="100000"/>
              </a:lnSpc>
              <a:spcBef>
                <a:spcPts val="555"/>
              </a:spcBef>
              <a:buNone/>
            </a:pPr>
            <a:r>
              <a:rPr lang="en-US" sz="4000" dirty="0">
                <a:latin typeface="Times New Roman"/>
                <a:cs typeface="Times New Roman"/>
              </a:rPr>
              <a:t>system</a:t>
            </a:r>
            <a:r>
              <a:rPr lang="en-US" sz="4000" spc="-35" dirty="0">
                <a:latin typeface="Times New Roman"/>
                <a:cs typeface="Times New Roman"/>
              </a:rPr>
              <a:t> </a:t>
            </a:r>
            <a:r>
              <a:rPr lang="en-US" sz="4000" dirty="0">
                <a:latin typeface="Times New Roman"/>
                <a:cs typeface="Times New Roman"/>
              </a:rPr>
              <a:t>is</a:t>
            </a:r>
            <a:r>
              <a:rPr lang="en-US" sz="4000" spc="-15" dirty="0">
                <a:latin typeface="Times New Roman"/>
                <a:cs typeface="Times New Roman"/>
              </a:rPr>
              <a:t> </a:t>
            </a:r>
            <a:r>
              <a:rPr lang="en-US" sz="4000" dirty="0">
                <a:latin typeface="Times New Roman"/>
                <a:cs typeface="Times New Roman"/>
              </a:rPr>
              <a:t>in</a:t>
            </a:r>
            <a:r>
              <a:rPr lang="en-US" sz="4000" spc="-20" dirty="0">
                <a:latin typeface="Times New Roman"/>
                <a:cs typeface="Times New Roman"/>
              </a:rPr>
              <a:t> </a:t>
            </a:r>
            <a:r>
              <a:rPr lang="en-US" sz="4000" dirty="0">
                <a:latin typeface="Times New Roman"/>
                <a:cs typeface="Times New Roman"/>
              </a:rPr>
              <a:t>safe</a:t>
            </a:r>
            <a:r>
              <a:rPr lang="en-US" sz="4000" spc="-15" dirty="0">
                <a:latin typeface="Times New Roman"/>
                <a:cs typeface="Times New Roman"/>
              </a:rPr>
              <a:t> </a:t>
            </a:r>
            <a:r>
              <a:rPr lang="en-US" sz="4000" spc="-10" dirty="0" smtClean="0">
                <a:latin typeface="Times New Roman"/>
                <a:cs typeface="Times New Roman"/>
              </a:rPr>
              <a:t>state.</a:t>
            </a:r>
          </a:p>
          <a:p>
            <a:pPr marL="0" indent="0">
              <a:lnSpc>
                <a:spcPct val="100000"/>
              </a:lnSpc>
              <a:spcBef>
                <a:spcPts val="650"/>
              </a:spcBef>
              <a:buNone/>
            </a:pPr>
            <a:r>
              <a:rPr lang="en-US" sz="4000" dirty="0">
                <a:latin typeface="Times New Roman"/>
                <a:cs typeface="Times New Roman"/>
              </a:rPr>
              <a:t>if</a:t>
            </a:r>
            <a:r>
              <a:rPr lang="en-US" sz="4000" spc="-10" dirty="0">
                <a:latin typeface="Times New Roman"/>
                <a:cs typeface="Times New Roman"/>
              </a:rPr>
              <a:t> </a:t>
            </a:r>
            <a:r>
              <a:rPr lang="en-US" sz="4000" dirty="0">
                <a:latin typeface="Times New Roman"/>
                <a:cs typeface="Times New Roman"/>
              </a:rPr>
              <a:t>(</a:t>
            </a:r>
            <a:r>
              <a:rPr lang="en-US" sz="4000" dirty="0" err="1">
                <a:latin typeface="Times New Roman"/>
                <a:cs typeface="Times New Roman"/>
              </a:rPr>
              <a:t>request</a:t>
            </a:r>
            <a:r>
              <a:rPr lang="en-US" sz="4000" baseline="-21072" dirty="0" err="1">
                <a:latin typeface="Times New Roman"/>
                <a:cs typeface="Times New Roman"/>
              </a:rPr>
              <a:t>i</a:t>
            </a:r>
            <a:r>
              <a:rPr lang="en-US" sz="4000" spc="-67" baseline="-21072" dirty="0">
                <a:latin typeface="Times New Roman"/>
                <a:cs typeface="Times New Roman"/>
              </a:rPr>
              <a:t> </a:t>
            </a:r>
            <a:r>
              <a:rPr lang="en-US" sz="4000" dirty="0">
                <a:latin typeface="Times New Roman"/>
                <a:cs typeface="Times New Roman"/>
              </a:rPr>
              <a:t>&lt;=</a:t>
            </a:r>
            <a:r>
              <a:rPr lang="en-US" sz="4000" spc="-10" dirty="0">
                <a:latin typeface="Times New Roman"/>
                <a:cs typeface="Times New Roman"/>
              </a:rPr>
              <a:t> </a:t>
            </a:r>
            <a:r>
              <a:rPr lang="en-US" sz="4000" spc="-10" dirty="0" err="1">
                <a:latin typeface="Times New Roman"/>
                <a:cs typeface="Times New Roman"/>
              </a:rPr>
              <a:t>need</a:t>
            </a:r>
            <a:r>
              <a:rPr lang="en-US" sz="4000" spc="-15" baseline="-21072" dirty="0" err="1">
                <a:latin typeface="Times New Roman"/>
                <a:cs typeface="Times New Roman"/>
              </a:rPr>
              <a:t>i</a:t>
            </a:r>
            <a:r>
              <a:rPr lang="en-US" sz="4000" spc="-10" dirty="0">
                <a:latin typeface="Times New Roman"/>
                <a:cs typeface="Times New Roman"/>
              </a:rPr>
              <a:t>)</a:t>
            </a:r>
          </a:p>
          <a:p>
            <a:pPr marL="0" indent="0">
              <a:lnSpc>
                <a:spcPct val="100000"/>
              </a:lnSpc>
              <a:spcBef>
                <a:spcPts val="650"/>
              </a:spcBef>
              <a:buNone/>
            </a:pPr>
            <a:r>
              <a:rPr lang="en-US" sz="4000" spc="-10" dirty="0">
                <a:latin typeface="Times New Roman"/>
                <a:cs typeface="Times New Roman"/>
              </a:rPr>
              <a:t>{</a:t>
            </a:r>
            <a:endParaRPr lang="en-US" sz="4000" dirty="0">
              <a:latin typeface="Times New Roman"/>
              <a:cs typeface="Times New Roman"/>
            </a:endParaRPr>
          </a:p>
          <a:p>
            <a:pPr marL="153670" indent="0">
              <a:lnSpc>
                <a:spcPct val="100000"/>
              </a:lnSpc>
              <a:spcBef>
                <a:spcPts val="550"/>
              </a:spcBef>
              <a:buNone/>
            </a:pPr>
            <a:r>
              <a:rPr lang="en-US" sz="4000" dirty="0" smtClean="0">
                <a:latin typeface="Times New Roman"/>
                <a:cs typeface="Times New Roman"/>
              </a:rPr>
              <a:t>if</a:t>
            </a:r>
            <a:r>
              <a:rPr lang="en-US" sz="4000" spc="-10" dirty="0" smtClean="0">
                <a:latin typeface="Times New Roman"/>
                <a:cs typeface="Times New Roman"/>
              </a:rPr>
              <a:t> </a:t>
            </a:r>
            <a:r>
              <a:rPr lang="en-US" sz="4000" dirty="0">
                <a:latin typeface="Times New Roman"/>
                <a:cs typeface="Times New Roman"/>
              </a:rPr>
              <a:t>(</a:t>
            </a:r>
            <a:r>
              <a:rPr lang="en-US" sz="4000" dirty="0" err="1">
                <a:latin typeface="Times New Roman"/>
                <a:cs typeface="Times New Roman"/>
              </a:rPr>
              <a:t>request</a:t>
            </a:r>
            <a:r>
              <a:rPr lang="en-US" sz="4000" baseline="-21072" dirty="0" err="1">
                <a:latin typeface="Times New Roman"/>
                <a:cs typeface="Times New Roman"/>
              </a:rPr>
              <a:t>i</a:t>
            </a:r>
            <a:r>
              <a:rPr lang="en-US" sz="4000" spc="217" baseline="-21072" dirty="0">
                <a:latin typeface="Times New Roman"/>
                <a:cs typeface="Times New Roman"/>
              </a:rPr>
              <a:t> </a:t>
            </a:r>
            <a:r>
              <a:rPr lang="en-US" sz="4000" dirty="0">
                <a:latin typeface="Times New Roman"/>
                <a:cs typeface="Times New Roman"/>
              </a:rPr>
              <a:t>&lt;=</a:t>
            </a:r>
            <a:r>
              <a:rPr lang="en-US" sz="4000" spc="-10" dirty="0">
                <a:latin typeface="Times New Roman"/>
                <a:cs typeface="Times New Roman"/>
              </a:rPr>
              <a:t> available</a:t>
            </a:r>
            <a:r>
              <a:rPr lang="en-US" sz="4000" spc="-10" dirty="0" smtClean="0">
                <a:latin typeface="Times New Roman"/>
                <a:cs typeface="Times New Roman"/>
              </a:rPr>
              <a:t>)</a:t>
            </a:r>
            <a:endParaRPr lang="en-US" sz="4000" dirty="0" smtClean="0">
              <a:latin typeface="Times New Roman"/>
              <a:cs typeface="Times New Roman"/>
            </a:endParaRPr>
          </a:p>
          <a:p>
            <a:pPr marL="153670" indent="0">
              <a:lnSpc>
                <a:spcPct val="100000"/>
              </a:lnSpc>
              <a:spcBef>
                <a:spcPts val="550"/>
              </a:spcBef>
              <a:buNone/>
            </a:pPr>
            <a:r>
              <a:rPr lang="en-US" sz="4000" spc="-50" dirty="0" smtClean="0">
                <a:latin typeface="Times New Roman"/>
                <a:cs typeface="Times New Roman"/>
              </a:rPr>
              <a:t>{</a:t>
            </a:r>
            <a:r>
              <a:rPr lang="en-US" sz="4000" dirty="0" smtClean="0">
                <a:latin typeface="Times New Roman"/>
                <a:cs typeface="Times New Roman"/>
              </a:rPr>
              <a:t>	</a:t>
            </a:r>
          </a:p>
          <a:p>
            <a:pPr marL="266700" indent="0">
              <a:lnSpc>
                <a:spcPct val="100000"/>
              </a:lnSpc>
              <a:spcBef>
                <a:spcPts val="555"/>
              </a:spcBef>
              <a:buNone/>
              <a:tabLst>
                <a:tab pos="769620" algn="l"/>
              </a:tabLst>
            </a:pPr>
            <a:r>
              <a:rPr lang="en-US" sz="4000" dirty="0" smtClean="0">
                <a:latin typeface="Times New Roman"/>
                <a:cs typeface="Times New Roman"/>
              </a:rPr>
              <a:t>available</a:t>
            </a:r>
            <a:r>
              <a:rPr lang="en-US" sz="4000" spc="-75" dirty="0" smtClean="0">
                <a:latin typeface="Times New Roman"/>
                <a:cs typeface="Times New Roman"/>
              </a:rPr>
              <a:t> </a:t>
            </a:r>
            <a:r>
              <a:rPr lang="en-US" sz="4000" dirty="0">
                <a:latin typeface="Times New Roman"/>
                <a:cs typeface="Times New Roman"/>
              </a:rPr>
              <a:t>=</a:t>
            </a:r>
            <a:r>
              <a:rPr lang="en-US" sz="4000" spc="-5" dirty="0">
                <a:latin typeface="Times New Roman"/>
                <a:cs typeface="Times New Roman"/>
              </a:rPr>
              <a:t> </a:t>
            </a:r>
            <a:r>
              <a:rPr lang="en-US" sz="4000" dirty="0">
                <a:latin typeface="Times New Roman"/>
                <a:cs typeface="Times New Roman"/>
              </a:rPr>
              <a:t>available-</a:t>
            </a:r>
            <a:r>
              <a:rPr lang="en-US" sz="4000" spc="-70" dirty="0">
                <a:latin typeface="Times New Roman"/>
                <a:cs typeface="Times New Roman"/>
              </a:rPr>
              <a:t> </a:t>
            </a:r>
            <a:r>
              <a:rPr lang="en-US" sz="4000" spc="-10" dirty="0" err="1">
                <a:latin typeface="Times New Roman"/>
                <a:cs typeface="Times New Roman"/>
              </a:rPr>
              <a:t>request</a:t>
            </a:r>
            <a:r>
              <a:rPr lang="en-US" sz="4000" spc="-15" baseline="-21072" dirty="0" err="1">
                <a:latin typeface="Times New Roman"/>
                <a:cs typeface="Times New Roman"/>
              </a:rPr>
              <a:t>i</a:t>
            </a:r>
            <a:r>
              <a:rPr lang="en-US" sz="4000" spc="-10" dirty="0">
                <a:latin typeface="Times New Roman"/>
                <a:cs typeface="Times New Roman"/>
              </a:rPr>
              <a:t>;</a:t>
            </a:r>
            <a:endParaRPr lang="en-US" sz="4000" dirty="0">
              <a:latin typeface="Times New Roman"/>
              <a:cs typeface="Times New Roman"/>
            </a:endParaRPr>
          </a:p>
          <a:p>
            <a:pPr marL="266700" marR="30480" indent="0">
              <a:lnSpc>
                <a:spcPct val="120900"/>
              </a:lnSpc>
              <a:spcBef>
                <a:spcPts val="20"/>
              </a:spcBef>
              <a:buNone/>
            </a:pPr>
            <a:r>
              <a:rPr lang="en-US" sz="4000" dirty="0" err="1">
                <a:latin typeface="Times New Roman"/>
                <a:cs typeface="Times New Roman"/>
              </a:rPr>
              <a:t>allocation</a:t>
            </a:r>
            <a:r>
              <a:rPr lang="en-US" sz="4000" baseline="-21072" dirty="0" err="1">
                <a:latin typeface="Times New Roman"/>
                <a:cs typeface="Times New Roman"/>
              </a:rPr>
              <a:t>i</a:t>
            </a:r>
            <a:r>
              <a:rPr lang="en-US" sz="4000" spc="217" baseline="-21072" dirty="0">
                <a:latin typeface="Times New Roman"/>
                <a:cs typeface="Times New Roman"/>
              </a:rPr>
              <a:t> </a:t>
            </a:r>
            <a:r>
              <a:rPr lang="en-US" sz="4000" dirty="0">
                <a:latin typeface="Times New Roman"/>
                <a:cs typeface="Times New Roman"/>
              </a:rPr>
              <a:t>=</a:t>
            </a:r>
            <a:r>
              <a:rPr lang="en-US" sz="4000" spc="-10" dirty="0">
                <a:latin typeface="Times New Roman"/>
                <a:cs typeface="Times New Roman"/>
              </a:rPr>
              <a:t> </a:t>
            </a:r>
            <a:r>
              <a:rPr lang="en-US" sz="4000" dirty="0" err="1">
                <a:latin typeface="Times New Roman"/>
                <a:cs typeface="Times New Roman"/>
              </a:rPr>
              <a:t>allocation</a:t>
            </a:r>
            <a:r>
              <a:rPr lang="en-US" sz="4000" baseline="-21072" dirty="0" err="1">
                <a:latin typeface="Times New Roman"/>
                <a:cs typeface="Times New Roman"/>
              </a:rPr>
              <a:t>i</a:t>
            </a:r>
            <a:r>
              <a:rPr lang="en-US" sz="4000" spc="187" baseline="-21072" dirty="0">
                <a:latin typeface="Times New Roman"/>
                <a:cs typeface="Times New Roman"/>
              </a:rPr>
              <a:t> </a:t>
            </a:r>
            <a:r>
              <a:rPr lang="en-US" sz="4000" dirty="0">
                <a:latin typeface="Times New Roman"/>
                <a:cs typeface="Times New Roman"/>
              </a:rPr>
              <a:t>+</a:t>
            </a:r>
            <a:r>
              <a:rPr lang="en-US" sz="4000" spc="-10" dirty="0">
                <a:latin typeface="Times New Roman"/>
                <a:cs typeface="Times New Roman"/>
              </a:rPr>
              <a:t> </a:t>
            </a:r>
            <a:r>
              <a:rPr lang="en-US" sz="4000" spc="-10" dirty="0" err="1">
                <a:latin typeface="Times New Roman"/>
                <a:cs typeface="Times New Roman"/>
              </a:rPr>
              <a:t>request</a:t>
            </a:r>
            <a:r>
              <a:rPr lang="en-US" sz="4000" spc="-15" baseline="-21072" dirty="0" err="1">
                <a:latin typeface="Times New Roman"/>
                <a:cs typeface="Times New Roman"/>
              </a:rPr>
              <a:t>i</a:t>
            </a:r>
            <a:r>
              <a:rPr lang="en-US" sz="4000" spc="-10" dirty="0">
                <a:latin typeface="Times New Roman"/>
                <a:cs typeface="Times New Roman"/>
              </a:rPr>
              <a:t>; </a:t>
            </a:r>
            <a:endParaRPr lang="en-US" sz="4000" spc="-10" dirty="0" smtClean="0">
              <a:latin typeface="Times New Roman"/>
              <a:cs typeface="Times New Roman"/>
            </a:endParaRPr>
          </a:p>
          <a:p>
            <a:pPr marL="266700" marR="30480" indent="0">
              <a:lnSpc>
                <a:spcPct val="120900"/>
              </a:lnSpc>
              <a:spcBef>
                <a:spcPts val="20"/>
              </a:spcBef>
              <a:buNone/>
            </a:pPr>
            <a:r>
              <a:rPr lang="en-US" sz="4000" dirty="0" err="1" smtClean="0">
                <a:latin typeface="Times New Roman"/>
                <a:cs typeface="Times New Roman"/>
              </a:rPr>
              <a:t>need</a:t>
            </a:r>
            <a:r>
              <a:rPr lang="en-US" sz="4000" baseline="-21072" dirty="0" err="1" smtClean="0">
                <a:latin typeface="Times New Roman"/>
                <a:cs typeface="Times New Roman"/>
              </a:rPr>
              <a:t>i</a:t>
            </a:r>
            <a:r>
              <a:rPr lang="en-US" sz="4000" spc="247" baseline="-21072" dirty="0" smtClean="0">
                <a:latin typeface="Times New Roman"/>
                <a:cs typeface="Times New Roman"/>
              </a:rPr>
              <a:t> </a:t>
            </a:r>
            <a:r>
              <a:rPr lang="en-US" sz="4000" dirty="0">
                <a:latin typeface="Times New Roman"/>
                <a:cs typeface="Times New Roman"/>
              </a:rPr>
              <a:t>= </a:t>
            </a:r>
            <a:r>
              <a:rPr lang="en-US" sz="4000" spc="-10" dirty="0" err="1">
                <a:latin typeface="Times New Roman"/>
                <a:cs typeface="Times New Roman"/>
              </a:rPr>
              <a:t>need</a:t>
            </a:r>
            <a:r>
              <a:rPr lang="en-US" sz="4000" spc="-15" baseline="-21072" dirty="0" err="1">
                <a:latin typeface="Times New Roman"/>
                <a:cs typeface="Times New Roman"/>
              </a:rPr>
              <a:t>i</a:t>
            </a:r>
            <a:r>
              <a:rPr lang="en-US" sz="4000" spc="-10" dirty="0">
                <a:latin typeface="Times New Roman"/>
                <a:cs typeface="Times New Roman"/>
              </a:rPr>
              <a:t>–</a:t>
            </a:r>
            <a:r>
              <a:rPr lang="en-US" sz="4000" spc="-10" dirty="0" err="1">
                <a:latin typeface="Times New Roman"/>
                <a:cs typeface="Times New Roman"/>
              </a:rPr>
              <a:t>request</a:t>
            </a:r>
            <a:r>
              <a:rPr lang="en-US" sz="4000" spc="-15" baseline="-21072" dirty="0" err="1">
                <a:latin typeface="Times New Roman"/>
                <a:cs typeface="Times New Roman"/>
              </a:rPr>
              <a:t>i</a:t>
            </a:r>
            <a:r>
              <a:rPr lang="en-US" sz="4000" spc="-10" dirty="0">
                <a:latin typeface="Times New Roman"/>
                <a:cs typeface="Times New Roman"/>
              </a:rPr>
              <a:t>;</a:t>
            </a:r>
            <a:endParaRPr lang="en-US" sz="4000" dirty="0">
              <a:latin typeface="Times New Roman"/>
              <a:cs typeface="Times New Roman"/>
            </a:endParaRPr>
          </a:p>
          <a:p>
            <a:pPr marL="266700" indent="0">
              <a:lnSpc>
                <a:spcPct val="100000"/>
              </a:lnSpc>
              <a:spcBef>
                <a:spcPts val="580"/>
              </a:spcBef>
              <a:buNone/>
            </a:pPr>
            <a:r>
              <a:rPr lang="en-US" sz="4000" spc="-50" dirty="0">
                <a:latin typeface="Times New Roman"/>
                <a:cs typeface="Times New Roman"/>
              </a:rPr>
              <a:t>}</a:t>
            </a:r>
            <a:endParaRPr lang="en-US" sz="4000" dirty="0">
              <a:latin typeface="Times New Roman"/>
              <a:cs typeface="Times New Roman"/>
            </a:endParaRPr>
          </a:p>
          <a:p>
            <a:pPr marL="382270" marR="3313429" indent="0">
              <a:lnSpc>
                <a:spcPts val="3220"/>
              </a:lnSpc>
              <a:spcBef>
                <a:spcPts val="175"/>
              </a:spcBef>
              <a:buNone/>
            </a:pPr>
            <a:r>
              <a:rPr lang="en-US" sz="4000" spc="-20" dirty="0">
                <a:latin typeface="Times New Roman"/>
                <a:cs typeface="Times New Roman"/>
              </a:rPr>
              <a:t>else </a:t>
            </a:r>
            <a:r>
              <a:rPr lang="en-US" sz="4000" spc="-10" dirty="0">
                <a:latin typeface="Times New Roman"/>
                <a:cs typeface="Times New Roman"/>
              </a:rPr>
              <a:t>wait</a:t>
            </a:r>
            <a:r>
              <a:rPr lang="en-US" sz="4000" spc="-10" dirty="0" smtClean="0">
                <a:latin typeface="Times New Roman"/>
                <a:cs typeface="Times New Roman"/>
              </a:rPr>
              <a:t>;</a:t>
            </a:r>
          </a:p>
          <a:p>
            <a:pPr marL="382270" marR="3313429" indent="0">
              <a:lnSpc>
                <a:spcPts val="3220"/>
              </a:lnSpc>
              <a:spcBef>
                <a:spcPts val="175"/>
              </a:spcBef>
              <a:buNone/>
            </a:pPr>
            <a:r>
              <a:rPr lang="en-US" sz="4000" spc="-10" dirty="0">
                <a:latin typeface="Times New Roman"/>
                <a:cs typeface="Times New Roman"/>
              </a:rPr>
              <a:t>}</a:t>
            </a:r>
            <a:endParaRPr lang="en-US" sz="4000" dirty="0">
              <a:latin typeface="Times New Roman"/>
              <a:cs typeface="Times New Roman"/>
            </a:endParaRPr>
          </a:p>
          <a:p>
            <a:pPr marL="0" indent="0">
              <a:lnSpc>
                <a:spcPct val="100000"/>
              </a:lnSpc>
              <a:spcBef>
                <a:spcPts val="345"/>
              </a:spcBef>
              <a:buNone/>
            </a:pPr>
            <a:r>
              <a:rPr lang="en-US" sz="4000" spc="-20" dirty="0">
                <a:latin typeface="Times New Roman"/>
                <a:cs typeface="Times New Roman"/>
              </a:rPr>
              <a:t>else</a:t>
            </a:r>
            <a:endParaRPr lang="en-US" sz="4000" dirty="0">
              <a:latin typeface="Times New Roman"/>
              <a:cs typeface="Times New Roman"/>
            </a:endParaRPr>
          </a:p>
          <a:p>
            <a:pPr marL="153670" indent="0">
              <a:lnSpc>
                <a:spcPct val="100000"/>
              </a:lnSpc>
              <a:spcBef>
                <a:spcPts val="575"/>
              </a:spcBef>
              <a:buNone/>
            </a:pPr>
            <a:r>
              <a:rPr lang="en-US" sz="4000" spc="-10" dirty="0">
                <a:latin typeface="Times New Roman"/>
                <a:cs typeface="Times New Roman"/>
              </a:rPr>
              <a:t>error</a:t>
            </a:r>
            <a:r>
              <a:rPr lang="en-US" sz="4000" spc="-10" dirty="0" smtClean="0">
                <a:latin typeface="Times New Roman"/>
                <a:cs typeface="Times New Roman"/>
              </a:rPr>
              <a:t>;</a:t>
            </a:r>
            <a:endParaRPr lang="en-US" b="1" i="1" dirty="0">
              <a:latin typeface="Times New Roman"/>
              <a:cs typeface="Times New Roman"/>
            </a:endParaRPr>
          </a:p>
        </p:txBody>
      </p:sp>
      <p:sp>
        <p:nvSpPr>
          <p:cNvPr id="4" name="Rectangle 3"/>
          <p:cNvSpPr/>
          <p:nvPr/>
        </p:nvSpPr>
        <p:spPr>
          <a:xfrm>
            <a:off x="6010833" y="1385047"/>
            <a:ext cx="45719" cy="480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05723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722"/>
          </a:xfrm>
        </p:spPr>
        <p:txBody>
          <a:bodyPr>
            <a:normAutofit fontScale="90000"/>
          </a:bodyPr>
          <a:lstStyle/>
          <a:p>
            <a:r>
              <a:rPr lang="en-US" b="1" dirty="0"/>
              <a:t>Numerical Problem 1</a:t>
            </a:r>
          </a:p>
        </p:txBody>
      </p:sp>
      <p:sp>
        <p:nvSpPr>
          <p:cNvPr id="3" name="Content Placeholder 2"/>
          <p:cNvSpPr>
            <a:spLocks noGrp="1"/>
          </p:cNvSpPr>
          <p:nvPr>
            <p:ph idx="1"/>
          </p:nvPr>
        </p:nvSpPr>
        <p:spPr>
          <a:xfrm>
            <a:off x="838200" y="1089212"/>
            <a:ext cx="10515600" cy="5087751"/>
          </a:xfrm>
        </p:spPr>
        <p:txBody>
          <a:bodyPr/>
          <a:lstStyle/>
          <a:p>
            <a:pPr algn="just">
              <a:lnSpc>
                <a:spcPct val="150000"/>
              </a:lnSpc>
            </a:pPr>
            <a:r>
              <a:rPr lang="en-US" sz="2000" dirty="0"/>
              <a:t>Consider a system that contains five processes P1, P2, P3, P4, P5 and the three resource types A, B and C. Following are the resources types: A has 10, B has 5 and the resource type C has 7 instances</a:t>
            </a:r>
            <a:r>
              <a:rPr lang="en-US" dirty="0"/>
              <a:t>.</a:t>
            </a:r>
          </a:p>
        </p:txBody>
      </p:sp>
      <p:graphicFrame>
        <p:nvGraphicFramePr>
          <p:cNvPr id="4" name="Table 3"/>
          <p:cNvGraphicFramePr>
            <a:graphicFrameLocks noGrp="1"/>
          </p:cNvGraphicFramePr>
          <p:nvPr>
            <p:extLst>
              <p:ext uri="{D42A27DB-BD31-4B8C-83A1-F6EECF244321}">
                <p14:modId xmlns:p14="http://schemas.microsoft.com/office/powerpoint/2010/main" val="2072295070"/>
              </p:ext>
            </p:extLst>
          </p:nvPr>
        </p:nvGraphicFramePr>
        <p:xfrm>
          <a:off x="2760311" y="2177667"/>
          <a:ext cx="7047908" cy="2515355"/>
        </p:xfrm>
        <a:graphic>
          <a:graphicData uri="http://schemas.openxmlformats.org/drawingml/2006/table">
            <a:tbl>
              <a:tblPr/>
              <a:tblGrid>
                <a:gridCol w="1761977"/>
                <a:gridCol w="1761977"/>
                <a:gridCol w="1761977"/>
                <a:gridCol w="1761977"/>
              </a:tblGrid>
              <a:tr h="671640">
                <a:tc>
                  <a:txBody>
                    <a:bodyPr/>
                    <a:lstStyle/>
                    <a:p>
                      <a:pPr algn="l" fontAlgn="t"/>
                      <a:r>
                        <a:rPr lang="en-US" sz="1400" dirty="0">
                          <a:solidFill>
                            <a:srgbClr val="000000"/>
                          </a:solidFill>
                          <a:effectLst/>
                          <a:latin typeface="times new roman" panose="02020603050405020304" pitchFamily="18" charset="0"/>
                        </a:rPr>
                        <a:t>Process</a:t>
                      </a:r>
                    </a:p>
                  </a:txBody>
                  <a:tcPr marL="114300" marR="114300" marT="114300" marB="114300">
                    <a:lnL w="9525" cap="flat" cmpd="sng" algn="ctr">
                      <a:solidFill>
                        <a:srgbClr val="003F62"/>
                      </a:solidFill>
                      <a:prstDash val="solid"/>
                      <a:round/>
                      <a:headEnd type="none" w="med" len="med"/>
                      <a:tailEnd type="none" w="med" len="med"/>
                    </a:lnL>
                    <a:lnR w="9525" cap="flat" cmpd="sng" algn="ctr">
                      <a:solidFill>
                        <a:srgbClr val="003F62"/>
                      </a:solidFill>
                      <a:prstDash val="solid"/>
                      <a:round/>
                      <a:headEnd type="none" w="med" len="med"/>
                      <a:tailEnd type="none" w="med" len="med"/>
                    </a:lnR>
                    <a:lnT w="9525" cap="flat" cmpd="sng" algn="ctr">
                      <a:solidFill>
                        <a:srgbClr val="003F6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dirty="0">
                          <a:solidFill>
                            <a:srgbClr val="000000"/>
                          </a:solidFill>
                          <a:effectLst/>
                          <a:latin typeface="times new roman" panose="02020603050405020304" pitchFamily="18" charset="0"/>
                        </a:rPr>
                        <a:t>Allocation</a:t>
                      </a:r>
                      <a:br>
                        <a:rPr lang="en-US" sz="1400" dirty="0">
                          <a:solidFill>
                            <a:srgbClr val="000000"/>
                          </a:solidFill>
                          <a:effectLst/>
                          <a:latin typeface="times new roman" panose="02020603050405020304" pitchFamily="18" charset="0"/>
                        </a:rPr>
                      </a:br>
                      <a:r>
                        <a:rPr lang="en-US" sz="1400" dirty="0">
                          <a:solidFill>
                            <a:srgbClr val="000000"/>
                          </a:solidFill>
                          <a:effectLst/>
                          <a:latin typeface="times new roman" panose="02020603050405020304" pitchFamily="18" charset="0"/>
                        </a:rPr>
                        <a:t>A         B         C</a:t>
                      </a:r>
                    </a:p>
                  </a:txBody>
                  <a:tcPr marL="114300" marR="114300" marT="114300" marB="114300">
                    <a:lnL w="9525" cap="flat" cmpd="sng" algn="ctr">
                      <a:solidFill>
                        <a:srgbClr val="003F62"/>
                      </a:solidFill>
                      <a:prstDash val="solid"/>
                      <a:round/>
                      <a:headEnd type="none" w="med" len="med"/>
                      <a:tailEnd type="none" w="med" len="med"/>
                    </a:lnL>
                    <a:lnR w="9525" cap="flat" cmpd="sng" algn="ctr">
                      <a:solidFill>
                        <a:srgbClr val="003F62"/>
                      </a:solidFill>
                      <a:prstDash val="solid"/>
                      <a:round/>
                      <a:headEnd type="none" w="med" len="med"/>
                      <a:tailEnd type="none" w="med" len="med"/>
                    </a:lnR>
                    <a:lnT w="9525" cap="flat" cmpd="sng" algn="ctr">
                      <a:solidFill>
                        <a:srgbClr val="003F6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dirty="0">
                          <a:solidFill>
                            <a:srgbClr val="000000"/>
                          </a:solidFill>
                          <a:effectLst/>
                          <a:latin typeface="times new roman" panose="02020603050405020304" pitchFamily="18" charset="0"/>
                        </a:rPr>
                        <a:t>Max</a:t>
                      </a:r>
                      <a:br>
                        <a:rPr lang="en-US" sz="1400" dirty="0">
                          <a:solidFill>
                            <a:srgbClr val="000000"/>
                          </a:solidFill>
                          <a:effectLst/>
                          <a:latin typeface="times new roman" panose="02020603050405020304" pitchFamily="18" charset="0"/>
                        </a:rPr>
                      </a:br>
                      <a:r>
                        <a:rPr lang="en-US" sz="1400" dirty="0">
                          <a:solidFill>
                            <a:srgbClr val="000000"/>
                          </a:solidFill>
                          <a:effectLst/>
                          <a:latin typeface="times new roman" panose="02020603050405020304" pitchFamily="18" charset="0"/>
                        </a:rPr>
                        <a:t>A         B         C</a:t>
                      </a:r>
                    </a:p>
                  </a:txBody>
                  <a:tcPr marL="114300" marR="114300" marT="114300" marB="114300">
                    <a:lnL w="9525" cap="flat" cmpd="sng" algn="ctr">
                      <a:solidFill>
                        <a:srgbClr val="003F62"/>
                      </a:solidFill>
                      <a:prstDash val="solid"/>
                      <a:round/>
                      <a:headEnd type="none" w="med" len="med"/>
                      <a:tailEnd type="none" w="med" len="med"/>
                    </a:lnL>
                    <a:lnR w="9525" cap="flat" cmpd="sng" algn="ctr">
                      <a:solidFill>
                        <a:srgbClr val="003F62"/>
                      </a:solidFill>
                      <a:prstDash val="solid"/>
                      <a:round/>
                      <a:headEnd type="none" w="med" len="med"/>
                      <a:tailEnd type="none" w="med" len="med"/>
                    </a:lnR>
                    <a:lnT w="9525" cap="flat" cmpd="sng" algn="ctr">
                      <a:solidFill>
                        <a:srgbClr val="003F6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400" dirty="0">
                          <a:solidFill>
                            <a:srgbClr val="000000"/>
                          </a:solidFill>
                          <a:effectLst/>
                          <a:latin typeface="times new roman" panose="02020603050405020304" pitchFamily="18" charset="0"/>
                        </a:rPr>
                        <a:t>Available</a:t>
                      </a:r>
                      <a:br>
                        <a:rPr lang="en-US" sz="1400" dirty="0">
                          <a:solidFill>
                            <a:srgbClr val="000000"/>
                          </a:solidFill>
                          <a:effectLst/>
                          <a:latin typeface="times new roman" panose="02020603050405020304" pitchFamily="18" charset="0"/>
                        </a:rPr>
                      </a:br>
                      <a:r>
                        <a:rPr lang="en-US" sz="1400" dirty="0">
                          <a:solidFill>
                            <a:srgbClr val="000000"/>
                          </a:solidFill>
                          <a:effectLst/>
                          <a:latin typeface="times new roman" panose="02020603050405020304" pitchFamily="18" charset="0"/>
                        </a:rPr>
                        <a:t>A         B         C</a:t>
                      </a:r>
                    </a:p>
                  </a:txBody>
                  <a:tcPr marL="114300" marR="114300" marT="114300" marB="114300">
                    <a:lnL w="9525" cap="flat" cmpd="sng" algn="ctr">
                      <a:solidFill>
                        <a:srgbClr val="003F62"/>
                      </a:solidFill>
                      <a:prstDash val="solid"/>
                      <a:round/>
                      <a:headEnd type="none" w="med" len="med"/>
                      <a:tailEnd type="none" w="med" len="med"/>
                    </a:lnL>
                    <a:lnR w="9525" cap="flat" cmpd="sng" algn="ctr">
                      <a:solidFill>
                        <a:srgbClr val="003F62"/>
                      </a:solidFill>
                      <a:prstDash val="solid"/>
                      <a:round/>
                      <a:headEnd type="none" w="med" len="med"/>
                      <a:tailEnd type="none" w="med" len="med"/>
                    </a:lnR>
                    <a:lnT w="9525" cap="flat" cmpd="sng" algn="ctr">
                      <a:solidFill>
                        <a:srgbClr val="003F6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r>
              <a:tr h="368743">
                <a:tc>
                  <a:txBody>
                    <a:bodyPr/>
                    <a:lstStyle/>
                    <a:p>
                      <a:pPr algn="just" fontAlgn="t"/>
                      <a:r>
                        <a:rPr lang="en-US" sz="1400">
                          <a:solidFill>
                            <a:srgbClr val="333333"/>
                          </a:solidFill>
                          <a:effectLst/>
                          <a:latin typeface="inter-regular"/>
                        </a:rPr>
                        <a:t>P1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0         1          0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7         5         3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dirty="0">
                          <a:solidFill>
                            <a:srgbClr val="333333"/>
                          </a:solidFill>
                          <a:effectLst/>
                          <a:latin typeface="inter-regular"/>
                        </a:rPr>
                        <a:t>3         3         2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368743">
                <a:tc>
                  <a:txBody>
                    <a:bodyPr/>
                    <a:lstStyle/>
                    <a:p>
                      <a:pPr algn="just" fontAlgn="t"/>
                      <a:r>
                        <a:rPr lang="en-US" sz="1400">
                          <a:solidFill>
                            <a:srgbClr val="333333"/>
                          </a:solidFill>
                          <a:effectLst/>
                          <a:latin typeface="inter-regular"/>
                        </a:rPr>
                        <a:t>P2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dirty="0">
                          <a:solidFill>
                            <a:srgbClr val="333333"/>
                          </a:solidFill>
                          <a:effectLst/>
                          <a:latin typeface="inter-regular"/>
                        </a:rPr>
                        <a:t>2         0         0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3         2         2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endParaRPr lang="en-US" sz="14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368743">
                <a:tc>
                  <a:txBody>
                    <a:bodyPr/>
                    <a:lstStyle/>
                    <a:p>
                      <a:pPr algn="just" fontAlgn="t"/>
                      <a:r>
                        <a:rPr lang="en-US" sz="1400">
                          <a:solidFill>
                            <a:srgbClr val="333333"/>
                          </a:solidFill>
                          <a:effectLst/>
                          <a:latin typeface="inter-regular"/>
                        </a:rPr>
                        <a:t>P3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3         0         2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9         0         2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endParaRPr lang="en-US" sz="14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368743">
                <a:tc>
                  <a:txBody>
                    <a:bodyPr/>
                    <a:lstStyle/>
                    <a:p>
                      <a:pPr algn="just" fontAlgn="t"/>
                      <a:r>
                        <a:rPr lang="en-US" sz="1400">
                          <a:solidFill>
                            <a:srgbClr val="333333"/>
                          </a:solidFill>
                          <a:effectLst/>
                          <a:latin typeface="inter-regular"/>
                        </a:rPr>
                        <a:t>P4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2         1         1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400">
                          <a:solidFill>
                            <a:srgbClr val="333333"/>
                          </a:solidFill>
                          <a:effectLst/>
                          <a:latin typeface="inter-regular"/>
                        </a:rPr>
                        <a:t>2         2         2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endParaRPr lang="en-US" sz="14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368743">
                <a:tc>
                  <a:txBody>
                    <a:bodyPr/>
                    <a:lstStyle/>
                    <a:p>
                      <a:pPr algn="just" fontAlgn="t"/>
                      <a:r>
                        <a:rPr lang="en-US" sz="1400">
                          <a:solidFill>
                            <a:srgbClr val="333333"/>
                          </a:solidFill>
                          <a:effectLst/>
                          <a:latin typeface="inter-regular"/>
                        </a:rPr>
                        <a:t>P5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0         0         2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400">
                          <a:solidFill>
                            <a:srgbClr val="333333"/>
                          </a:solidFill>
                          <a:effectLst/>
                          <a:latin typeface="inter-regular"/>
                        </a:rPr>
                        <a:t>4         3         3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endParaRPr lang="en-US" sz="1400" dirty="0"/>
                    </a:p>
                  </a:txBody>
                  <a:tcPr>
                    <a:lnL w="9525" cap="flat" cmpd="sng" algn="ctr">
                      <a:solidFill>
                        <a:srgbClr val="C7CCBE"/>
                      </a:solidFill>
                      <a:prstDash val="solid"/>
                      <a:round/>
                      <a:headEnd type="none" w="med" len="med"/>
                      <a:tailEnd type="none" w="med" len="med"/>
                    </a:lnL>
                    <a:lnT w="9525" cap="flat" cmpd="sng" algn="ctr">
                      <a:solidFill>
                        <a:srgbClr val="C7CCBE"/>
                      </a:solidFill>
                      <a:prstDash val="solid"/>
                      <a:round/>
                      <a:headEnd type="none" w="med" len="med"/>
                      <a:tailEnd type="none" w="med" len="med"/>
                    </a:lnT>
                  </a:tcPr>
                </a:tc>
              </a:tr>
            </a:tbl>
          </a:graphicData>
        </a:graphic>
      </p:graphicFrame>
      <p:sp>
        <p:nvSpPr>
          <p:cNvPr id="5" name="TextBox 4"/>
          <p:cNvSpPr txBox="1"/>
          <p:nvPr/>
        </p:nvSpPr>
        <p:spPr>
          <a:xfrm>
            <a:off x="1169893" y="4746814"/>
            <a:ext cx="10165977" cy="1477328"/>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Answer the following questions using the banker's algorithm:</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1. What </a:t>
            </a:r>
            <a:r>
              <a:rPr lang="en-US" dirty="0">
                <a:latin typeface="Times New Roman" panose="02020603050405020304" pitchFamily="18" charset="0"/>
                <a:cs typeface="Times New Roman" panose="02020603050405020304" pitchFamily="18" charset="0"/>
              </a:rPr>
              <a:t>is the reference of the need matrix?</a:t>
            </a:r>
          </a:p>
          <a:p>
            <a:pPr algn="just"/>
            <a:r>
              <a:rPr lang="en-US" dirty="0" smtClean="0">
                <a:latin typeface="Times New Roman" panose="02020603050405020304" pitchFamily="18" charset="0"/>
                <a:cs typeface="Times New Roman" panose="02020603050405020304" pitchFamily="18" charset="0"/>
              </a:rPr>
              <a:t>2. Determine </a:t>
            </a:r>
            <a:r>
              <a:rPr lang="en-US" dirty="0">
                <a:latin typeface="Times New Roman" panose="02020603050405020304" pitchFamily="18" charset="0"/>
                <a:cs typeface="Times New Roman" panose="02020603050405020304" pitchFamily="18" charset="0"/>
              </a:rPr>
              <a:t>if the system is safe or not.</a:t>
            </a:r>
          </a:p>
          <a:p>
            <a:pPr algn="just"/>
            <a:r>
              <a:rPr lang="en-US" dirty="0" smtClean="0">
                <a:latin typeface="Times New Roman" panose="02020603050405020304" pitchFamily="18" charset="0"/>
                <a:cs typeface="Times New Roman" panose="02020603050405020304" pitchFamily="18" charset="0"/>
              </a:rPr>
              <a:t>3. What </a:t>
            </a:r>
            <a:r>
              <a:rPr lang="en-US" dirty="0">
                <a:latin typeface="Times New Roman" panose="02020603050405020304" pitchFamily="18" charset="0"/>
                <a:cs typeface="Times New Roman" panose="02020603050405020304" pitchFamily="18" charset="0"/>
              </a:rPr>
              <a:t>will happen if the resource request (1, 0, 0) for process P1 can the system accept this request immediately</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1233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6858"/>
            <a:ext cx="10515600" cy="6037729"/>
          </a:xfrm>
        </p:spPr>
        <p:txBody>
          <a:bodyPr>
            <a:normAutofit lnSpcReduction="10000"/>
          </a:bodyPr>
          <a:lstStyle/>
          <a:p>
            <a:pPr marL="0" indent="0">
              <a:buNone/>
            </a:pPr>
            <a:r>
              <a:rPr lang="en-US" dirty="0" smtClean="0"/>
              <a:t>1</a:t>
            </a: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Solution</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Context of the need matrix is as follows:</a:t>
            </a:r>
          </a:p>
          <a:p>
            <a:pPr marL="0" indent="0">
              <a:lnSpc>
                <a:spcPct val="150000"/>
              </a:lnSpc>
              <a:buNone/>
            </a:pPr>
            <a:r>
              <a:rPr lang="en-US" sz="2000" dirty="0">
                <a:latin typeface="Times New Roman" panose="02020603050405020304" pitchFamily="18" charset="0"/>
                <a:cs typeface="Times New Roman" panose="02020603050405020304" pitchFamily="18" charset="0"/>
              </a:rPr>
              <a:t>Need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Max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 Allocation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Need for P1: (7, 5, 3) - (0, 1, 0) = 7, 4, 3</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Need for P2: (3, 2, 2) - (2, 0, 0) = 1, 2, 2</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Need for P3: (9, 0, 2) - (3, 0, 2) = 6, 0, 0</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Need for P4: (2, 2, 2) - (2, 1, 1) = 0, 1, 1</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Need for P5: (4, 3, 3) - (0, 0, 2) = 4, 3, </a:t>
            </a:r>
            <a:r>
              <a:rPr lang="en-US" sz="2000" dirty="0" smtClean="0">
                <a:latin typeface="Times New Roman" panose="02020603050405020304" pitchFamily="18" charset="0"/>
                <a:cs typeface="Times New Roman" panose="02020603050405020304" pitchFamily="18" charset="0"/>
              </a:rPr>
              <a:t>1</a:t>
            </a:r>
          </a:p>
          <a:p>
            <a:pPr marL="0" indent="0">
              <a:lnSpc>
                <a:spcPct val="150000"/>
              </a:lnSpc>
              <a:buNone/>
            </a:pPr>
            <a:r>
              <a:rPr lang="en-US" sz="2000" b="1" dirty="0" smtClean="0">
                <a:latin typeface="Times New Roman" panose="02020603050405020304" pitchFamily="18" charset="0"/>
                <a:cs typeface="Times New Roman" panose="02020603050405020304" pitchFamily="18" charset="0"/>
              </a:rPr>
              <a:t>2. Solution</a:t>
            </a:r>
            <a:r>
              <a:rPr lang="en-US" sz="2000" b="1" dirty="0" smtClean="0"/>
              <a:t>: </a:t>
            </a:r>
            <a:r>
              <a:rPr lang="en-US" sz="2000" b="1" dirty="0"/>
              <a:t>Apply the Banker's Algorithm</a:t>
            </a:r>
            <a:r>
              <a:rPr lang="en-US" sz="2000" b="1" dirty="0" smtClean="0"/>
              <a:t>:</a:t>
            </a:r>
          </a:p>
          <a:p>
            <a:r>
              <a:rPr lang="en-US" sz="2000" dirty="0"/>
              <a:t>Available Resources of A, B and C are 3, 3, and 2.</a:t>
            </a:r>
          </a:p>
          <a:p>
            <a:r>
              <a:rPr lang="en-US" sz="2000" dirty="0"/>
              <a:t>Now we check if each type of resource request is available for each process.</a:t>
            </a:r>
          </a:p>
          <a:p>
            <a:pPr marL="0" indent="0">
              <a:buNone/>
            </a:pPr>
            <a:r>
              <a:rPr lang="en-US" sz="2000" b="1" dirty="0"/>
              <a:t>Step 1:</a:t>
            </a:r>
            <a:r>
              <a:rPr lang="en-US" sz="2000" dirty="0"/>
              <a:t> For Process P1</a:t>
            </a:r>
            <a:r>
              <a:rPr lang="en-US" sz="2000" dirty="0" smtClean="0"/>
              <a:t>:</a:t>
            </a:r>
            <a:endParaRPr lang="en-US" sz="2000" b="1"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Need &lt;= Available</a:t>
            </a:r>
          </a:p>
          <a:p>
            <a:pPr lvl="1"/>
            <a:r>
              <a:rPr lang="en-US" sz="2000" dirty="0">
                <a:latin typeface="Times New Roman" panose="02020603050405020304" pitchFamily="18" charset="0"/>
                <a:cs typeface="Times New Roman" panose="02020603050405020304" pitchFamily="18" charset="0"/>
              </a:rPr>
              <a:t>7, 4, 3 &lt;= 3, 3, 2 condition is </a:t>
            </a:r>
            <a:r>
              <a:rPr lang="en-US" sz="2000" b="1" dirty="0">
                <a:latin typeface="Times New Roman" panose="02020603050405020304" pitchFamily="18" charset="0"/>
                <a:cs typeface="Times New Roman" panose="02020603050405020304" pitchFamily="18" charset="0"/>
              </a:rPr>
              <a:t>false</a:t>
            </a:r>
            <a:r>
              <a:rPr lang="en-US" sz="2000" dirty="0">
                <a:latin typeface="Times New Roman" panose="02020603050405020304" pitchFamily="18" charset="0"/>
                <a:cs typeface="Times New Roman" panose="02020603050405020304" pitchFamily="18" charset="0"/>
              </a:rPr>
              <a:t>.</a:t>
            </a:r>
          </a:p>
          <a:p>
            <a:pPr lvl="1"/>
            <a:r>
              <a:rPr lang="en-US" sz="2000" b="1" dirty="0">
                <a:latin typeface="Times New Roman" panose="02020603050405020304" pitchFamily="18" charset="0"/>
                <a:cs typeface="Times New Roman" panose="02020603050405020304" pitchFamily="18" charset="0"/>
              </a:rPr>
              <a:t>So, we examine another process, P2.</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p>
        </p:txBody>
      </p:sp>
      <p:graphicFrame>
        <p:nvGraphicFramePr>
          <p:cNvPr id="4" name="Table 3"/>
          <p:cNvGraphicFramePr>
            <a:graphicFrameLocks noGrp="1"/>
          </p:cNvGraphicFramePr>
          <p:nvPr>
            <p:extLst>
              <p:ext uri="{D42A27DB-BD31-4B8C-83A1-F6EECF244321}">
                <p14:modId xmlns:p14="http://schemas.microsoft.com/office/powerpoint/2010/main" val="1311008569"/>
              </p:ext>
            </p:extLst>
          </p:nvPr>
        </p:nvGraphicFramePr>
        <p:xfrm>
          <a:off x="6589058" y="972565"/>
          <a:ext cx="4262720" cy="2697480"/>
        </p:xfrm>
        <a:graphic>
          <a:graphicData uri="http://schemas.openxmlformats.org/drawingml/2006/table">
            <a:tbl>
              <a:tblPr/>
              <a:tblGrid>
                <a:gridCol w="2131360"/>
                <a:gridCol w="2131360"/>
              </a:tblGrid>
              <a:tr h="530237">
                <a:tc>
                  <a:txBody>
                    <a:bodyPr/>
                    <a:lstStyle/>
                    <a:p>
                      <a:pPr algn="l" fontAlgn="t"/>
                      <a:r>
                        <a:rPr lang="en-US" sz="1600" dirty="0">
                          <a:solidFill>
                            <a:srgbClr val="000000"/>
                          </a:solidFill>
                          <a:effectLst/>
                          <a:latin typeface="times new roman" panose="02020603050405020304" pitchFamily="18" charset="0"/>
                        </a:rPr>
                        <a:t>Process</a:t>
                      </a:r>
                    </a:p>
                  </a:txBody>
                  <a:tcPr marL="114300" marR="114300" marT="114300" marB="114300">
                    <a:lnL w="9525" cap="flat" cmpd="sng" algn="ctr">
                      <a:solidFill>
                        <a:srgbClr val="B0E3A2"/>
                      </a:solidFill>
                      <a:prstDash val="solid"/>
                      <a:round/>
                      <a:headEnd type="none" w="med" len="med"/>
                      <a:tailEnd type="none" w="med" len="med"/>
                    </a:lnL>
                    <a:lnR w="9525" cap="flat" cmpd="sng" algn="ctr">
                      <a:solidFill>
                        <a:srgbClr val="B0E3A2"/>
                      </a:solidFill>
                      <a:prstDash val="solid"/>
                      <a:round/>
                      <a:headEnd type="none" w="med" len="med"/>
                      <a:tailEnd type="none" w="med" len="med"/>
                    </a:lnR>
                    <a:lnT w="9525" cap="flat" cmpd="sng" algn="ctr">
                      <a:solidFill>
                        <a:srgbClr val="B0E3A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dirty="0">
                          <a:solidFill>
                            <a:srgbClr val="000000"/>
                          </a:solidFill>
                          <a:effectLst/>
                          <a:latin typeface="times new roman" panose="02020603050405020304" pitchFamily="18" charset="0"/>
                        </a:rPr>
                        <a:t>Need</a:t>
                      </a:r>
                      <a:br>
                        <a:rPr lang="en-US" sz="1600" dirty="0">
                          <a:solidFill>
                            <a:srgbClr val="000000"/>
                          </a:solidFill>
                          <a:effectLst/>
                          <a:latin typeface="times new roman" panose="02020603050405020304" pitchFamily="18" charset="0"/>
                        </a:rPr>
                      </a:br>
                      <a:r>
                        <a:rPr lang="en-US" sz="1600" dirty="0">
                          <a:solidFill>
                            <a:srgbClr val="000000"/>
                          </a:solidFill>
                          <a:effectLst/>
                          <a:latin typeface="times new roman" panose="02020603050405020304" pitchFamily="18" charset="0"/>
                        </a:rPr>
                        <a:t>A         B         C</a:t>
                      </a:r>
                    </a:p>
                  </a:txBody>
                  <a:tcPr marL="114300" marR="114300" marT="114300" marB="114300">
                    <a:lnL w="9525" cap="flat" cmpd="sng" algn="ctr">
                      <a:solidFill>
                        <a:srgbClr val="B0E3A2"/>
                      </a:solidFill>
                      <a:prstDash val="solid"/>
                      <a:round/>
                      <a:headEnd type="none" w="med" len="med"/>
                      <a:tailEnd type="none" w="med" len="med"/>
                    </a:lnL>
                    <a:lnR w="9525" cap="flat" cmpd="sng" algn="ctr">
                      <a:solidFill>
                        <a:srgbClr val="B0E3A2"/>
                      </a:solidFill>
                      <a:prstDash val="solid"/>
                      <a:round/>
                      <a:headEnd type="none" w="med" len="med"/>
                      <a:tailEnd type="none" w="med" len="med"/>
                    </a:lnR>
                    <a:lnT w="9525" cap="flat" cmpd="sng" algn="ctr">
                      <a:solidFill>
                        <a:srgbClr val="B0E3A2"/>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r>
              <a:tr h="291110">
                <a:tc>
                  <a:txBody>
                    <a:bodyPr/>
                    <a:lstStyle/>
                    <a:p>
                      <a:pPr algn="just" fontAlgn="t"/>
                      <a:r>
                        <a:rPr lang="en-US" sz="1600" dirty="0">
                          <a:solidFill>
                            <a:srgbClr val="333333"/>
                          </a:solidFill>
                          <a:effectLst/>
                          <a:latin typeface="inter-regular"/>
                        </a:rPr>
                        <a:t>P1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inter-regular"/>
                        </a:rPr>
                        <a:t>7         4         3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291110">
                <a:tc>
                  <a:txBody>
                    <a:bodyPr/>
                    <a:lstStyle/>
                    <a:p>
                      <a:pPr algn="just" fontAlgn="t"/>
                      <a:r>
                        <a:rPr lang="en-US" sz="1600">
                          <a:solidFill>
                            <a:srgbClr val="333333"/>
                          </a:solidFill>
                          <a:effectLst/>
                          <a:latin typeface="inter-regular"/>
                        </a:rPr>
                        <a:t>P2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inter-regular"/>
                        </a:rPr>
                        <a:t>1         2         2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291110">
                <a:tc>
                  <a:txBody>
                    <a:bodyPr/>
                    <a:lstStyle/>
                    <a:p>
                      <a:pPr algn="just" fontAlgn="t"/>
                      <a:r>
                        <a:rPr lang="en-US" sz="1600">
                          <a:solidFill>
                            <a:srgbClr val="333333"/>
                          </a:solidFill>
                          <a:effectLst/>
                          <a:latin typeface="inter-regular"/>
                        </a:rPr>
                        <a:t>P3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inter-regular"/>
                        </a:rPr>
                        <a:t>6         0         0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291110">
                <a:tc>
                  <a:txBody>
                    <a:bodyPr/>
                    <a:lstStyle/>
                    <a:p>
                      <a:pPr algn="just" fontAlgn="t"/>
                      <a:r>
                        <a:rPr lang="en-US" sz="1600" dirty="0">
                          <a:solidFill>
                            <a:srgbClr val="333333"/>
                          </a:solidFill>
                          <a:effectLst/>
                          <a:latin typeface="inter-regular"/>
                        </a:rPr>
                        <a:t>P4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rgbClr val="333333"/>
                          </a:solidFill>
                          <a:effectLst/>
                          <a:latin typeface="inter-regular"/>
                        </a:rPr>
                        <a:t>0         1         1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291110">
                <a:tc>
                  <a:txBody>
                    <a:bodyPr/>
                    <a:lstStyle/>
                    <a:p>
                      <a:pPr algn="just" fontAlgn="t"/>
                      <a:r>
                        <a:rPr lang="en-US" sz="1600">
                          <a:solidFill>
                            <a:srgbClr val="333333"/>
                          </a:solidFill>
                          <a:effectLst/>
                          <a:latin typeface="inter-regular"/>
                        </a:rPr>
                        <a:t>P5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rgbClr val="333333"/>
                          </a:solidFill>
                          <a:effectLst/>
                          <a:latin typeface="inter-regular"/>
                        </a:rPr>
                        <a:t>4         3         1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2464138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0306"/>
            <a:ext cx="10515600" cy="5746657"/>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For Process P2:</a:t>
            </a:r>
          </a:p>
          <a:p>
            <a:pPr lvl="1"/>
            <a:r>
              <a:rPr lang="en-US" sz="2000" dirty="0">
                <a:latin typeface="Times New Roman" panose="02020603050405020304" pitchFamily="18" charset="0"/>
                <a:cs typeface="Times New Roman" panose="02020603050405020304" pitchFamily="18" charset="0"/>
              </a:rPr>
              <a:t>Need &lt;= Available</a:t>
            </a:r>
          </a:p>
          <a:p>
            <a:pPr lvl="1"/>
            <a:r>
              <a:rPr lang="en-US" sz="2000" dirty="0">
                <a:latin typeface="Times New Roman" panose="02020603050405020304" pitchFamily="18" charset="0"/>
                <a:cs typeface="Times New Roman" panose="02020603050405020304" pitchFamily="18" charset="0"/>
              </a:rPr>
              <a:t>1, 2, 2 &lt;= 3, 3, 2 condition </a:t>
            </a:r>
            <a:r>
              <a:rPr lang="en-US" sz="2000" b="1" dirty="0" smtClean="0">
                <a:latin typeface="Times New Roman" panose="02020603050405020304" pitchFamily="18" charset="0"/>
                <a:cs typeface="Times New Roman" panose="02020603050405020304" pitchFamily="18" charset="0"/>
              </a:rPr>
              <a:t>true</a:t>
            </a:r>
          </a:p>
          <a:p>
            <a:pPr lvl="1"/>
            <a:r>
              <a:rPr lang="en-US" sz="2000" dirty="0">
                <a:latin typeface="Times New Roman" panose="02020603050405020304" pitchFamily="18" charset="0"/>
                <a:cs typeface="Times New Roman" panose="02020603050405020304" pitchFamily="18" charset="0"/>
              </a:rPr>
              <a:t>New available = available + Allocation</a:t>
            </a:r>
          </a:p>
          <a:p>
            <a:pPr lvl="1"/>
            <a:r>
              <a:rPr lang="en-US" sz="2000" dirty="0">
                <a:latin typeface="Times New Roman" panose="02020603050405020304" pitchFamily="18" charset="0"/>
                <a:cs typeface="Times New Roman" panose="02020603050405020304" pitchFamily="18" charset="0"/>
              </a:rPr>
              <a:t>(3, 3, 2) + (2, 0, 0) =&gt; 5, 3, 2</a:t>
            </a:r>
          </a:p>
          <a:p>
            <a:pPr lvl="1"/>
            <a:r>
              <a:rPr lang="en-US" sz="2000" b="1" dirty="0">
                <a:latin typeface="Times New Roman" panose="02020603050405020304" pitchFamily="18" charset="0"/>
                <a:cs typeface="Times New Roman" panose="02020603050405020304" pitchFamily="18" charset="0"/>
              </a:rPr>
              <a:t>Similarly, we examine another process P3.</a:t>
            </a:r>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Step 3:</a:t>
            </a:r>
            <a:r>
              <a:rPr lang="en-US" sz="2400" dirty="0">
                <a:latin typeface="Times New Roman" panose="02020603050405020304" pitchFamily="18" charset="0"/>
                <a:cs typeface="Times New Roman" panose="02020603050405020304" pitchFamily="18" charset="0"/>
              </a:rPr>
              <a:t> For Process P3:</a:t>
            </a:r>
          </a:p>
          <a:p>
            <a:pPr lvl="1"/>
            <a:r>
              <a:rPr lang="en-US" sz="2000" dirty="0">
                <a:latin typeface="Times New Roman" panose="02020603050405020304" pitchFamily="18" charset="0"/>
                <a:cs typeface="Times New Roman" panose="02020603050405020304" pitchFamily="18" charset="0"/>
              </a:rPr>
              <a:t>P3 Need &lt;= Available</a:t>
            </a:r>
          </a:p>
          <a:p>
            <a:pPr lvl="1"/>
            <a:r>
              <a:rPr lang="en-US" sz="2000" dirty="0">
                <a:latin typeface="Times New Roman" panose="02020603050405020304" pitchFamily="18" charset="0"/>
                <a:cs typeface="Times New Roman" panose="02020603050405020304" pitchFamily="18" charset="0"/>
              </a:rPr>
              <a:t>6, 0, 0 &lt; = 5, 3, 2 condition is </a:t>
            </a:r>
            <a:r>
              <a:rPr lang="en-US" sz="2000" b="1" dirty="0">
                <a:latin typeface="Times New Roman" panose="02020603050405020304" pitchFamily="18" charset="0"/>
                <a:cs typeface="Times New Roman" panose="02020603050405020304" pitchFamily="18" charset="0"/>
              </a:rPr>
              <a:t>false</a:t>
            </a:r>
            <a:r>
              <a:rPr lang="en-US" sz="2000" dirty="0">
                <a:latin typeface="Times New Roman" panose="02020603050405020304" pitchFamily="18" charset="0"/>
                <a:cs typeface="Times New Roman" panose="02020603050405020304" pitchFamily="18" charset="0"/>
              </a:rPr>
              <a:t>.</a:t>
            </a:r>
          </a:p>
          <a:p>
            <a:pPr lvl="1"/>
            <a:r>
              <a:rPr lang="en-US" sz="2000" b="1" dirty="0">
                <a:latin typeface="Times New Roman" panose="02020603050405020304" pitchFamily="18" charset="0"/>
                <a:cs typeface="Times New Roman" panose="02020603050405020304" pitchFamily="18" charset="0"/>
              </a:rPr>
              <a:t>Similarly, we examine another process, P4.</a:t>
            </a:r>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Step 4:</a:t>
            </a:r>
            <a:r>
              <a:rPr lang="en-US" sz="2400" dirty="0">
                <a:latin typeface="Times New Roman" panose="02020603050405020304" pitchFamily="18" charset="0"/>
                <a:cs typeface="Times New Roman" panose="02020603050405020304" pitchFamily="18" charset="0"/>
              </a:rPr>
              <a:t> For Process P4:</a:t>
            </a:r>
          </a:p>
          <a:p>
            <a:pPr lvl="1"/>
            <a:r>
              <a:rPr lang="en-US" sz="2000" dirty="0">
                <a:latin typeface="Times New Roman" panose="02020603050405020304" pitchFamily="18" charset="0"/>
                <a:cs typeface="Times New Roman" panose="02020603050405020304" pitchFamily="18" charset="0"/>
              </a:rPr>
              <a:t>P4 Need &lt;= Available</a:t>
            </a:r>
          </a:p>
          <a:p>
            <a:pPr lvl="1"/>
            <a:r>
              <a:rPr lang="en-US" sz="2000" dirty="0">
                <a:latin typeface="Times New Roman" panose="02020603050405020304" pitchFamily="18" charset="0"/>
                <a:cs typeface="Times New Roman" panose="02020603050405020304" pitchFamily="18" charset="0"/>
              </a:rPr>
              <a:t>0, 1, 1 &lt;= 5, 3, 2 condition is </a:t>
            </a:r>
            <a:r>
              <a:rPr lang="en-US" sz="2000" b="1" dirty="0">
                <a:latin typeface="Times New Roman" panose="02020603050405020304" pitchFamily="18" charset="0"/>
                <a:cs typeface="Times New Roman" panose="02020603050405020304" pitchFamily="18" charset="0"/>
              </a:rPr>
              <a:t>true</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New Available resource = Available + Allocation</a:t>
            </a:r>
          </a:p>
          <a:p>
            <a:pPr lvl="1"/>
            <a:r>
              <a:rPr lang="en-US" sz="2000" dirty="0">
                <a:latin typeface="Times New Roman" panose="02020603050405020304" pitchFamily="18" charset="0"/>
                <a:cs typeface="Times New Roman" panose="02020603050405020304" pitchFamily="18" charset="0"/>
              </a:rPr>
              <a:t>5, 3, 2 + 2, 1, 1 =&gt; 7, 4, 3</a:t>
            </a:r>
          </a:p>
          <a:p>
            <a:pPr lvl="1"/>
            <a:r>
              <a:rPr lang="en-US" sz="2000" b="1" dirty="0">
                <a:latin typeface="Times New Roman" panose="02020603050405020304" pitchFamily="18" charset="0"/>
                <a:cs typeface="Times New Roman" panose="02020603050405020304" pitchFamily="18" charset="0"/>
              </a:rPr>
              <a:t>Similarly, we examine another process P5.</a:t>
            </a:r>
            <a:endParaRPr lang="en-US" sz="20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7040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3753"/>
            <a:ext cx="10515600" cy="5733210"/>
          </a:xfrm>
        </p:spPr>
        <p:txBody>
          <a:bodyPr>
            <a:normAutofit fontScale="77500" lnSpcReduction="20000"/>
          </a:bodyPr>
          <a:lstStyle/>
          <a:p>
            <a:pPr marL="0" indent="0">
              <a:lnSpc>
                <a:spcPct val="150000"/>
              </a:lnSpc>
              <a:buNone/>
            </a:pPr>
            <a:r>
              <a:rPr lang="en-US" b="1" dirty="0">
                <a:latin typeface="Times New Roman" panose="02020603050405020304" pitchFamily="18" charset="0"/>
                <a:cs typeface="Times New Roman" panose="02020603050405020304" pitchFamily="18" charset="0"/>
              </a:rPr>
              <a:t>Step 5:</a:t>
            </a:r>
            <a:r>
              <a:rPr lang="en-US" dirty="0">
                <a:latin typeface="Times New Roman" panose="02020603050405020304" pitchFamily="18" charset="0"/>
                <a:cs typeface="Times New Roman" panose="02020603050405020304" pitchFamily="18" charset="0"/>
              </a:rPr>
              <a:t> For Process P5</a:t>
            </a:r>
            <a:r>
              <a:rPr lang="en-US" dirty="0" smtClean="0">
                <a:latin typeface="Times New Roman" panose="02020603050405020304" pitchFamily="18" charset="0"/>
                <a:cs typeface="Times New Roman" panose="02020603050405020304" pitchFamily="18" charset="0"/>
              </a:rPr>
              <a:t>:</a:t>
            </a:r>
          </a:p>
          <a:p>
            <a:pPr lvl="1">
              <a:lnSpc>
                <a:spcPct val="150000"/>
              </a:lnSpc>
            </a:pPr>
            <a:r>
              <a:rPr lang="en-US" dirty="0">
                <a:latin typeface="Times New Roman" panose="02020603050405020304" pitchFamily="18" charset="0"/>
                <a:cs typeface="Times New Roman" panose="02020603050405020304" pitchFamily="18" charset="0"/>
              </a:rPr>
              <a:t>P5 Need &lt;= Available</a:t>
            </a:r>
          </a:p>
          <a:p>
            <a:pPr lvl="1">
              <a:lnSpc>
                <a:spcPct val="150000"/>
              </a:lnSpc>
            </a:pPr>
            <a:r>
              <a:rPr lang="en-US" dirty="0">
                <a:latin typeface="Times New Roman" panose="02020603050405020304" pitchFamily="18" charset="0"/>
                <a:cs typeface="Times New Roman" panose="02020603050405020304" pitchFamily="18" charset="0"/>
              </a:rPr>
              <a:t>4, 3, 1 &lt;= 7, 4, 3 condition is </a:t>
            </a:r>
            <a:r>
              <a:rPr lang="en-US" b="1" dirty="0">
                <a:latin typeface="Times New Roman" panose="02020603050405020304" pitchFamily="18" charset="0"/>
                <a:cs typeface="Times New Roman" panose="02020603050405020304" pitchFamily="18" charset="0"/>
              </a:rPr>
              <a:t>true</a:t>
            </a:r>
            <a:endParaRPr lang="en-US"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New available resource = Available + Allocation</a:t>
            </a:r>
          </a:p>
          <a:p>
            <a:pPr lvl="1">
              <a:lnSpc>
                <a:spcPct val="150000"/>
              </a:lnSpc>
            </a:pPr>
            <a:r>
              <a:rPr lang="en-US" dirty="0">
                <a:latin typeface="Times New Roman" panose="02020603050405020304" pitchFamily="18" charset="0"/>
                <a:cs typeface="Times New Roman" panose="02020603050405020304" pitchFamily="18" charset="0"/>
              </a:rPr>
              <a:t>7, 4, 3 + 0, 0, 2 =&gt; 7, 4, 5</a:t>
            </a:r>
          </a:p>
          <a:p>
            <a:pPr lvl="1">
              <a:lnSpc>
                <a:spcPct val="150000"/>
              </a:lnSpc>
            </a:pPr>
            <a:r>
              <a:rPr lang="en-US" dirty="0">
                <a:latin typeface="Times New Roman" panose="02020603050405020304" pitchFamily="18" charset="0"/>
                <a:cs typeface="Times New Roman" panose="02020603050405020304" pitchFamily="18" charset="0"/>
              </a:rPr>
              <a:t>Now, we again examine each type of resource request for processes P1 and P3.</a:t>
            </a:r>
          </a:p>
          <a:p>
            <a:pPr>
              <a:lnSpc>
                <a:spcPct val="150000"/>
              </a:lnSpc>
            </a:pPr>
            <a:r>
              <a:rPr lang="en-US" b="1" dirty="0">
                <a:latin typeface="Times New Roman" panose="02020603050405020304" pitchFamily="18" charset="0"/>
                <a:cs typeface="Times New Roman" panose="02020603050405020304" pitchFamily="18" charset="0"/>
              </a:rPr>
              <a:t>Step 6:</a:t>
            </a:r>
            <a:r>
              <a:rPr lang="en-US" dirty="0">
                <a:latin typeface="Times New Roman" panose="02020603050405020304" pitchFamily="18" charset="0"/>
                <a:cs typeface="Times New Roman" panose="02020603050405020304" pitchFamily="18" charset="0"/>
              </a:rPr>
              <a:t> For Process P1:</a:t>
            </a:r>
          </a:p>
          <a:p>
            <a:pPr lvl="1">
              <a:lnSpc>
                <a:spcPct val="150000"/>
              </a:lnSpc>
            </a:pPr>
            <a:r>
              <a:rPr lang="en-US" dirty="0">
                <a:latin typeface="Times New Roman" panose="02020603050405020304" pitchFamily="18" charset="0"/>
                <a:cs typeface="Times New Roman" panose="02020603050405020304" pitchFamily="18" charset="0"/>
              </a:rPr>
              <a:t>P1 Need &lt;= Available</a:t>
            </a:r>
          </a:p>
          <a:p>
            <a:pPr lvl="1">
              <a:lnSpc>
                <a:spcPct val="150000"/>
              </a:lnSpc>
            </a:pPr>
            <a:r>
              <a:rPr lang="en-US" dirty="0">
                <a:latin typeface="Times New Roman" panose="02020603050405020304" pitchFamily="18" charset="0"/>
                <a:cs typeface="Times New Roman" panose="02020603050405020304" pitchFamily="18" charset="0"/>
              </a:rPr>
              <a:t>7, 4, 3 &lt;= 7, 4, 5 condition is </a:t>
            </a:r>
            <a:r>
              <a:rPr lang="en-US" b="1" dirty="0">
                <a:latin typeface="Times New Roman" panose="02020603050405020304" pitchFamily="18" charset="0"/>
                <a:cs typeface="Times New Roman" panose="02020603050405020304" pitchFamily="18" charset="0"/>
              </a:rPr>
              <a:t>true</a:t>
            </a:r>
            <a:endParaRPr lang="en-US"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New Available Resource = Available + Allocation</a:t>
            </a:r>
          </a:p>
          <a:p>
            <a:pPr lvl="1">
              <a:lnSpc>
                <a:spcPct val="150000"/>
              </a:lnSpc>
            </a:pPr>
            <a:r>
              <a:rPr lang="en-US" dirty="0">
                <a:latin typeface="Times New Roman" panose="02020603050405020304" pitchFamily="18" charset="0"/>
                <a:cs typeface="Times New Roman" panose="02020603050405020304" pitchFamily="18" charset="0"/>
              </a:rPr>
              <a:t>7, 4, 5 + 0, 1, 0 =&gt; 7, 5, 5</a:t>
            </a:r>
          </a:p>
          <a:p>
            <a:pPr lvl="1">
              <a:lnSpc>
                <a:spcPct val="150000"/>
              </a:lnSpc>
            </a:pPr>
            <a:r>
              <a:rPr lang="en-US" b="1" dirty="0">
                <a:latin typeface="Times New Roman" panose="02020603050405020304" pitchFamily="18" charset="0"/>
                <a:cs typeface="Times New Roman" panose="02020603050405020304" pitchFamily="18" charset="0"/>
              </a:rPr>
              <a:t>So, we examine another process P2.</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0071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3753"/>
            <a:ext cx="10515600" cy="5733210"/>
          </a:xfrm>
        </p:spPr>
        <p:txBody>
          <a:bodyPr>
            <a:normAutofit fontScale="85000" lnSpcReduction="20000"/>
          </a:bodyPr>
          <a:lstStyle/>
          <a:p>
            <a:pPr marL="0" indent="0" algn="just">
              <a:lnSpc>
                <a:spcPct val="150000"/>
              </a:lnSpc>
              <a:buNone/>
            </a:pPr>
            <a:r>
              <a:rPr lang="en-US" b="1" dirty="0" smtClean="0">
                <a:latin typeface="Times New Roman" panose="02020603050405020304" pitchFamily="18" charset="0"/>
                <a:cs typeface="Times New Roman" panose="02020603050405020304" pitchFamily="18" charset="0"/>
              </a:rPr>
              <a:t>Step </a:t>
            </a:r>
            <a:r>
              <a:rPr lang="en-US" b="1" dirty="0">
                <a:latin typeface="Times New Roman" panose="02020603050405020304" pitchFamily="18" charset="0"/>
                <a:cs typeface="Times New Roman" panose="02020603050405020304" pitchFamily="18" charset="0"/>
              </a:rPr>
              <a:t>7:</a:t>
            </a:r>
            <a:r>
              <a:rPr lang="en-US" dirty="0">
                <a:latin typeface="Times New Roman" panose="02020603050405020304" pitchFamily="18" charset="0"/>
                <a:cs typeface="Times New Roman" panose="02020603050405020304" pitchFamily="18" charset="0"/>
              </a:rPr>
              <a:t> For Process P3:</a:t>
            </a:r>
          </a:p>
          <a:p>
            <a:pPr lvl="1" algn="just">
              <a:lnSpc>
                <a:spcPct val="150000"/>
              </a:lnSpc>
            </a:pPr>
            <a:r>
              <a:rPr lang="en-US" dirty="0">
                <a:latin typeface="Times New Roman" panose="02020603050405020304" pitchFamily="18" charset="0"/>
                <a:cs typeface="Times New Roman" panose="02020603050405020304" pitchFamily="18" charset="0"/>
              </a:rPr>
              <a:t>P3 Need &lt;= Available</a:t>
            </a:r>
          </a:p>
          <a:p>
            <a:pPr lvl="1" algn="just">
              <a:lnSpc>
                <a:spcPct val="150000"/>
              </a:lnSpc>
            </a:pPr>
            <a:r>
              <a:rPr lang="en-US" dirty="0">
                <a:latin typeface="Times New Roman" panose="02020603050405020304" pitchFamily="18" charset="0"/>
                <a:cs typeface="Times New Roman" panose="02020603050405020304" pitchFamily="18" charset="0"/>
              </a:rPr>
              <a:t>6, 0, 0 &lt;= 7, 5, 5 condition is true</a:t>
            </a:r>
          </a:p>
          <a:p>
            <a:pPr lvl="1" algn="just">
              <a:lnSpc>
                <a:spcPct val="150000"/>
              </a:lnSpc>
            </a:pPr>
            <a:r>
              <a:rPr lang="en-US" dirty="0">
                <a:latin typeface="Times New Roman" panose="02020603050405020304" pitchFamily="18" charset="0"/>
                <a:cs typeface="Times New Roman" panose="02020603050405020304" pitchFamily="18" charset="0"/>
              </a:rPr>
              <a:t>New Available Resource = Available + Allocation</a:t>
            </a:r>
          </a:p>
          <a:p>
            <a:pPr lvl="1" algn="just">
              <a:lnSpc>
                <a:spcPct val="150000"/>
              </a:lnSpc>
            </a:pPr>
            <a:r>
              <a:rPr lang="en-US" dirty="0">
                <a:latin typeface="Times New Roman" panose="02020603050405020304" pitchFamily="18" charset="0"/>
                <a:cs typeface="Times New Roman" panose="02020603050405020304" pitchFamily="18" charset="0"/>
              </a:rPr>
              <a:t>7, 5, 5 + 3, 0, 2 =&gt; 10, 5, 7</a:t>
            </a:r>
          </a:p>
          <a:p>
            <a:pPr algn="just">
              <a:lnSpc>
                <a:spcPct val="150000"/>
              </a:lnSpc>
            </a:pPr>
            <a:r>
              <a:rPr lang="en-US" b="1" dirty="0">
                <a:latin typeface="Times New Roman" panose="02020603050405020304" pitchFamily="18" charset="0"/>
                <a:cs typeface="Times New Roman" panose="02020603050405020304" pitchFamily="18" charset="0"/>
              </a:rPr>
              <a:t>Hence, we execute the banker's algorithm to find the safe state and the safe sequence like P2, P4, P5, P1 and P3</a:t>
            </a:r>
            <a:r>
              <a:rPr lang="en-US" b="1"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US" b="1" dirty="0" smtClean="0">
                <a:latin typeface="Times New Roman" panose="02020603050405020304" pitchFamily="18" charset="0"/>
                <a:cs typeface="Times New Roman" panose="02020603050405020304" pitchFamily="18" charset="0"/>
              </a:rPr>
              <a:t>3. Solution:</a:t>
            </a:r>
          </a:p>
          <a:p>
            <a:pPr algn="just">
              <a:lnSpc>
                <a:spcPct val="150000"/>
              </a:lnSpc>
            </a:pPr>
            <a:r>
              <a:rPr lang="en-US" dirty="0">
                <a:latin typeface="Times New Roman" panose="02020603050405020304" pitchFamily="18" charset="0"/>
                <a:cs typeface="Times New Roman" panose="02020603050405020304" pitchFamily="18" charset="0"/>
              </a:rPr>
              <a:t>For granting the Request (1, 0, 2), first we have to check that </a:t>
            </a:r>
            <a:r>
              <a:rPr lang="en-US" b="1" dirty="0">
                <a:latin typeface="Times New Roman" panose="02020603050405020304" pitchFamily="18" charset="0"/>
                <a:cs typeface="Times New Roman" panose="02020603050405020304" pitchFamily="18" charset="0"/>
              </a:rPr>
              <a:t>Request &lt;= Available</a:t>
            </a:r>
            <a:r>
              <a:rPr lang="en-US" dirty="0">
                <a:latin typeface="Times New Roman" panose="02020603050405020304" pitchFamily="18" charset="0"/>
                <a:cs typeface="Times New Roman" panose="02020603050405020304" pitchFamily="18" charset="0"/>
              </a:rPr>
              <a:t>, that is (1, 0, 2) &lt;= (3, 3, 2), since the condition is true. So the process P1 gets the request immediately.</a:t>
            </a:r>
          </a:p>
          <a:p>
            <a:pPr marL="0" indent="0" algn="just">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38672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3404"/>
          </a:xfrm>
        </p:spPr>
        <p:txBody>
          <a:bodyPr>
            <a:normAutofit fontScale="90000"/>
          </a:bodyPr>
          <a:lstStyle/>
          <a:p>
            <a:pPr algn="ctr"/>
            <a:r>
              <a:rPr lang="en-US" b="1" dirty="0" smtClean="0"/>
              <a:t>Numerical Example-2</a:t>
            </a:r>
            <a:endParaRPr lang="en-US" b="1" dirty="0"/>
          </a:p>
        </p:txBody>
      </p:sp>
      <p:pic>
        <p:nvPicPr>
          <p:cNvPr id="4" name="Content Placeholder 3"/>
          <p:cNvPicPr>
            <a:picLocks noGrp="1" noChangeAspect="1"/>
          </p:cNvPicPr>
          <p:nvPr>
            <p:ph idx="1"/>
          </p:nvPr>
        </p:nvPicPr>
        <p:blipFill>
          <a:blip r:embed="rId2"/>
          <a:stretch>
            <a:fillRect/>
          </a:stretch>
        </p:blipFill>
        <p:spPr>
          <a:xfrm>
            <a:off x="838200" y="1008531"/>
            <a:ext cx="10515600" cy="4807276"/>
          </a:xfrm>
          <a:prstGeom prst="rect">
            <a:avLst/>
          </a:prstGeom>
        </p:spPr>
      </p:pic>
    </p:spTree>
    <p:extLst>
      <p:ext uri="{BB962C8B-B14F-4D97-AF65-F5344CB8AC3E}">
        <p14:creationId xmlns:p14="http://schemas.microsoft.com/office/powerpoint/2010/main" val="27420611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3404"/>
          </a:xfrm>
        </p:spPr>
        <p:txBody>
          <a:bodyPr>
            <a:normAutofit fontScale="90000"/>
          </a:bodyPr>
          <a:lstStyle/>
          <a:p>
            <a:pPr algn="ctr"/>
            <a:r>
              <a:rPr lang="en-US" b="1" dirty="0" smtClean="0"/>
              <a:t>Numerical </a:t>
            </a:r>
            <a:r>
              <a:rPr lang="en-US" b="1" dirty="0" smtClean="0"/>
              <a:t>Example-3</a:t>
            </a:r>
            <a:endParaRPr lang="en-US" b="1" dirty="0"/>
          </a:p>
        </p:txBody>
      </p:sp>
      <p:sp>
        <p:nvSpPr>
          <p:cNvPr id="3" name="Content Placeholder 2"/>
          <p:cNvSpPr>
            <a:spLocks noGrp="1"/>
          </p:cNvSpPr>
          <p:nvPr>
            <p:ph idx="1"/>
          </p:nvPr>
        </p:nvSpPr>
        <p:spPr>
          <a:xfrm>
            <a:off x="838200" y="1116106"/>
            <a:ext cx="10515600" cy="5060857"/>
          </a:xfrm>
        </p:spPr>
        <p:txBody>
          <a:bodyPr>
            <a:normAutofit fontScale="850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Consider a System with 5 concurrent processes (P0,P1,P2,P3,P4) and 4 resource types (R0,R1,R2,R3).The number of instance of each resource type in the system are 6,4,4,2 respectively. Allocation table and maximum claim table are as follows:</a:t>
            </a:r>
            <a:r>
              <a:rPr lang="en-US" dirty="0"/>
              <a:t>	</a:t>
            </a:r>
            <a:endParaRPr lang="en-US" dirty="0" smtClean="0"/>
          </a:p>
          <a:p>
            <a:pPr algn="just">
              <a:lnSpc>
                <a:spcPct val="150000"/>
              </a:lnSpc>
            </a:pPr>
            <a:endParaRPr lang="en-US" dirty="0"/>
          </a:p>
          <a:p>
            <a:pPr algn="just">
              <a:lnSpc>
                <a:spcPct val="150000"/>
              </a:lnSpc>
            </a:pPr>
            <a:endParaRPr lang="en-US" dirty="0" smtClean="0"/>
          </a:p>
          <a:p>
            <a:pPr algn="just">
              <a:lnSpc>
                <a:spcPct val="150000"/>
              </a:lnSpc>
            </a:pPr>
            <a:endParaRPr lang="en-US" dirty="0"/>
          </a:p>
          <a:p>
            <a:pPr algn="just">
              <a:lnSpc>
                <a:spcPct val="150000"/>
              </a:lnSpc>
            </a:pPr>
            <a:endParaRPr lang="en-US" dirty="0" smtClean="0"/>
          </a:p>
          <a:p>
            <a:pPr algn="just">
              <a:lnSpc>
                <a:spcPct val="150000"/>
              </a:lnSpc>
            </a:pPr>
            <a:endParaRPr lang="en-US" dirty="0" smtClean="0"/>
          </a:p>
          <a:p>
            <a:pPr algn="just">
              <a:lnSpc>
                <a:spcPct val="150000"/>
              </a:lnSpc>
            </a:pPr>
            <a:r>
              <a:rPr lang="en-US" dirty="0"/>
              <a:t>Is the state safe? If so, Show the safe execution of </a:t>
            </a:r>
            <a:r>
              <a:rPr lang="en-US" dirty="0" smtClean="0"/>
              <a:t>processes			</a:t>
            </a:r>
            <a:endParaRPr lang="en-US" dirty="0"/>
          </a:p>
        </p:txBody>
      </p:sp>
      <p:pic>
        <p:nvPicPr>
          <p:cNvPr id="5" name="Picture 4"/>
          <p:cNvPicPr>
            <a:picLocks noChangeAspect="1"/>
          </p:cNvPicPr>
          <p:nvPr/>
        </p:nvPicPr>
        <p:blipFill>
          <a:blip r:embed="rId2"/>
          <a:stretch>
            <a:fillRect/>
          </a:stretch>
        </p:blipFill>
        <p:spPr>
          <a:xfrm>
            <a:off x="1080248" y="2460811"/>
            <a:ext cx="6248400" cy="3004955"/>
          </a:xfrm>
          <a:prstGeom prst="rect">
            <a:avLst/>
          </a:prstGeom>
        </p:spPr>
      </p:pic>
    </p:spTree>
    <p:extLst>
      <p:ext uri="{BB962C8B-B14F-4D97-AF65-F5344CB8AC3E}">
        <p14:creationId xmlns:p14="http://schemas.microsoft.com/office/powerpoint/2010/main" val="2994089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6169"/>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Problem with Banker’s Algorithm</a:t>
            </a:r>
          </a:p>
        </p:txBody>
      </p:sp>
      <p:sp>
        <p:nvSpPr>
          <p:cNvPr id="3" name="Content Placeholder 2"/>
          <p:cNvSpPr>
            <a:spLocks noGrp="1"/>
          </p:cNvSpPr>
          <p:nvPr>
            <p:ph idx="1"/>
          </p:nvPr>
        </p:nvSpPr>
        <p:spPr>
          <a:xfrm>
            <a:off x="838200" y="1102659"/>
            <a:ext cx="10515600" cy="5074304"/>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It requires fixed number of resources, some processes </a:t>
            </a:r>
            <a:r>
              <a:rPr lang="en-US" dirty="0" smtClean="0">
                <a:latin typeface="Times New Roman" panose="02020603050405020304" pitchFamily="18" charset="0"/>
                <a:cs typeface="Times New Roman" panose="02020603050405020304" pitchFamily="18" charset="0"/>
              </a:rPr>
              <a:t>dynamically change </a:t>
            </a:r>
            <a:r>
              <a:rPr lang="en-US" dirty="0">
                <a:latin typeface="Times New Roman" panose="02020603050405020304" pitchFamily="18" charset="0"/>
                <a:cs typeface="Times New Roman" panose="02020603050405020304" pitchFamily="18" charset="0"/>
              </a:rPr>
              <a:t>the number of resources</a:t>
            </a:r>
          </a:p>
          <a:p>
            <a:pPr algn="just">
              <a:lnSpc>
                <a:spcPct val="150000"/>
              </a:lnSpc>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requires the number of resources in advance It is very difficult </a:t>
            </a:r>
            <a:r>
              <a:rPr lang="en-US" dirty="0" smtClean="0">
                <a:latin typeface="Times New Roman" panose="02020603050405020304" pitchFamily="18" charset="0"/>
                <a:cs typeface="Times New Roman" panose="02020603050405020304" pitchFamily="18" charset="0"/>
              </a:rPr>
              <a:t>to predict </a:t>
            </a:r>
            <a:r>
              <a:rPr lang="en-US" dirty="0">
                <a:latin typeface="Times New Roman" panose="02020603050405020304" pitchFamily="18" charset="0"/>
                <a:cs typeface="Times New Roman" panose="02020603050405020304" pitchFamily="18" charset="0"/>
              </a:rPr>
              <a:t>the resources in advance</a:t>
            </a:r>
          </a:p>
          <a:p>
            <a:pPr algn="just">
              <a:lnSpc>
                <a:spcPct val="150000"/>
              </a:lnSpc>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algorithm predicts all process returns within finite time, but </a:t>
            </a:r>
            <a:r>
              <a:rPr lang="en-US" dirty="0" smtClean="0">
                <a:latin typeface="Times New Roman" panose="02020603050405020304" pitchFamily="18" charset="0"/>
                <a:cs typeface="Times New Roman" panose="02020603050405020304" pitchFamily="18" charset="0"/>
              </a:rPr>
              <a:t>the system </a:t>
            </a:r>
            <a:r>
              <a:rPr lang="en-US" dirty="0">
                <a:latin typeface="Times New Roman" panose="02020603050405020304" pitchFamily="18" charset="0"/>
                <a:cs typeface="Times New Roman" panose="02020603050405020304" pitchFamily="18" charset="0"/>
              </a:rPr>
              <a:t>does not guarantee it</a:t>
            </a:r>
          </a:p>
        </p:txBody>
      </p:sp>
    </p:spTree>
    <p:extLst>
      <p:ext uri="{BB962C8B-B14F-4D97-AF65-F5344CB8AC3E}">
        <p14:creationId xmlns:p14="http://schemas.microsoft.com/office/powerpoint/2010/main" val="18703168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8593"/>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Deadlock</a:t>
            </a:r>
            <a:r>
              <a:rPr lang="en-US" b="1" spc="-130"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Detection</a:t>
            </a:r>
            <a:r>
              <a:rPr lang="en-US" b="1" spc="-130"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and</a:t>
            </a:r>
            <a:r>
              <a:rPr lang="en-US" b="1" spc="-130" dirty="0">
                <a:solidFill>
                  <a:srgbClr val="FF0000"/>
                </a:solidFill>
                <a:latin typeface="Times New Roman" panose="02020603050405020304" pitchFamily="18" charset="0"/>
                <a:cs typeface="Times New Roman" panose="02020603050405020304" pitchFamily="18" charset="0"/>
              </a:rPr>
              <a:t> </a:t>
            </a:r>
            <a:r>
              <a:rPr lang="en-US" b="1" spc="-10" dirty="0">
                <a:solidFill>
                  <a:srgbClr val="FF0000"/>
                </a:solidFill>
                <a:latin typeface="Times New Roman" panose="02020603050405020304" pitchFamily="18" charset="0"/>
                <a:cs typeface="Times New Roman" panose="02020603050405020304" pitchFamily="18" charset="0"/>
              </a:rPr>
              <a:t>Recovery</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29553"/>
            <a:ext cx="10515600" cy="5047410"/>
          </a:xfrm>
        </p:spPr>
        <p:txBody>
          <a:bodyPr/>
          <a:lstStyle/>
          <a:p>
            <a:pPr marL="304800" marR="295275" indent="0" algn="ctr">
              <a:lnSpc>
                <a:spcPts val="3500"/>
              </a:lnSpc>
              <a:spcBef>
                <a:spcPts val="490"/>
              </a:spcBef>
              <a:buNone/>
            </a:pPr>
            <a:r>
              <a:rPr lang="en-US" dirty="0">
                <a:latin typeface="Times New Roman"/>
                <a:cs typeface="Times New Roman"/>
              </a:rPr>
              <a:t>Instead</a:t>
            </a:r>
            <a:r>
              <a:rPr lang="en-US" spc="-35" dirty="0">
                <a:latin typeface="Times New Roman"/>
                <a:cs typeface="Times New Roman"/>
              </a:rPr>
              <a:t> </a:t>
            </a:r>
            <a:r>
              <a:rPr lang="en-US" dirty="0">
                <a:latin typeface="Times New Roman"/>
                <a:cs typeface="Times New Roman"/>
              </a:rPr>
              <a:t>of</a:t>
            </a:r>
            <a:r>
              <a:rPr lang="en-US" spc="-65" dirty="0">
                <a:latin typeface="Times New Roman"/>
                <a:cs typeface="Times New Roman"/>
              </a:rPr>
              <a:t> </a:t>
            </a:r>
            <a:r>
              <a:rPr lang="en-US" dirty="0">
                <a:latin typeface="Times New Roman"/>
                <a:cs typeface="Times New Roman"/>
              </a:rPr>
              <a:t>trying</a:t>
            </a:r>
            <a:r>
              <a:rPr lang="en-US" spc="-35" dirty="0">
                <a:latin typeface="Times New Roman"/>
                <a:cs typeface="Times New Roman"/>
              </a:rPr>
              <a:t> </a:t>
            </a:r>
            <a:r>
              <a:rPr lang="en-US" dirty="0">
                <a:latin typeface="Times New Roman"/>
                <a:cs typeface="Times New Roman"/>
              </a:rPr>
              <a:t>to</a:t>
            </a:r>
            <a:r>
              <a:rPr lang="en-US" spc="-55" dirty="0">
                <a:latin typeface="Times New Roman"/>
                <a:cs typeface="Times New Roman"/>
              </a:rPr>
              <a:t> </a:t>
            </a:r>
            <a:r>
              <a:rPr lang="en-US" dirty="0">
                <a:latin typeface="Times New Roman"/>
                <a:cs typeface="Times New Roman"/>
              </a:rPr>
              <a:t>prevent</a:t>
            </a:r>
            <a:r>
              <a:rPr lang="en-US" spc="-55" dirty="0">
                <a:latin typeface="Times New Roman"/>
                <a:cs typeface="Times New Roman"/>
              </a:rPr>
              <a:t> </a:t>
            </a:r>
            <a:r>
              <a:rPr lang="en-US" dirty="0">
                <a:latin typeface="Times New Roman"/>
                <a:cs typeface="Times New Roman"/>
              </a:rPr>
              <a:t>or</a:t>
            </a:r>
            <a:r>
              <a:rPr lang="en-US" spc="-65" dirty="0">
                <a:latin typeface="Times New Roman"/>
                <a:cs typeface="Times New Roman"/>
              </a:rPr>
              <a:t> </a:t>
            </a:r>
            <a:r>
              <a:rPr lang="en-US" dirty="0">
                <a:latin typeface="Times New Roman"/>
                <a:cs typeface="Times New Roman"/>
              </a:rPr>
              <a:t>avoid</a:t>
            </a:r>
            <a:r>
              <a:rPr lang="en-US" spc="-55" dirty="0">
                <a:latin typeface="Times New Roman"/>
                <a:cs typeface="Times New Roman"/>
              </a:rPr>
              <a:t> </a:t>
            </a:r>
            <a:r>
              <a:rPr lang="en-US" spc="-10" dirty="0">
                <a:latin typeface="Times New Roman"/>
                <a:cs typeface="Times New Roman"/>
              </a:rPr>
              <a:t>deadlock, </a:t>
            </a:r>
          </a:p>
          <a:p>
            <a:pPr marL="304800" marR="295275" indent="0" algn="ctr">
              <a:lnSpc>
                <a:spcPts val="3500"/>
              </a:lnSpc>
              <a:spcBef>
                <a:spcPts val="490"/>
              </a:spcBef>
              <a:buNone/>
            </a:pPr>
            <a:r>
              <a:rPr lang="en-US" dirty="0" smtClean="0">
                <a:latin typeface="Times New Roman"/>
                <a:cs typeface="Times New Roman"/>
              </a:rPr>
              <a:t>system</a:t>
            </a:r>
            <a:r>
              <a:rPr lang="en-US" spc="-35" dirty="0" smtClean="0">
                <a:latin typeface="Times New Roman"/>
                <a:cs typeface="Times New Roman"/>
              </a:rPr>
              <a:t> </a:t>
            </a:r>
            <a:r>
              <a:rPr lang="en-US" dirty="0">
                <a:latin typeface="Times New Roman"/>
                <a:cs typeface="Times New Roman"/>
              </a:rPr>
              <a:t>allow</a:t>
            </a:r>
            <a:r>
              <a:rPr lang="en-US" spc="-55" dirty="0">
                <a:latin typeface="Times New Roman"/>
                <a:cs typeface="Times New Roman"/>
              </a:rPr>
              <a:t> </a:t>
            </a:r>
            <a:r>
              <a:rPr lang="en-US" dirty="0">
                <a:latin typeface="Times New Roman"/>
                <a:cs typeface="Times New Roman"/>
              </a:rPr>
              <a:t>to</a:t>
            </a:r>
            <a:r>
              <a:rPr lang="en-US" spc="-65" dirty="0">
                <a:latin typeface="Times New Roman"/>
                <a:cs typeface="Times New Roman"/>
              </a:rPr>
              <a:t> </a:t>
            </a:r>
            <a:r>
              <a:rPr lang="en-US" dirty="0">
                <a:latin typeface="Times New Roman"/>
                <a:cs typeface="Times New Roman"/>
              </a:rPr>
              <a:t>deadlock</a:t>
            </a:r>
            <a:r>
              <a:rPr lang="en-US" spc="-60" dirty="0">
                <a:latin typeface="Times New Roman"/>
                <a:cs typeface="Times New Roman"/>
              </a:rPr>
              <a:t> </a:t>
            </a:r>
            <a:r>
              <a:rPr lang="en-US" dirty="0">
                <a:latin typeface="Times New Roman"/>
                <a:cs typeface="Times New Roman"/>
              </a:rPr>
              <a:t>to</a:t>
            </a:r>
            <a:r>
              <a:rPr lang="en-US" spc="-65" dirty="0">
                <a:latin typeface="Times New Roman"/>
                <a:cs typeface="Times New Roman"/>
              </a:rPr>
              <a:t> </a:t>
            </a:r>
            <a:r>
              <a:rPr lang="en-US" spc="-10" dirty="0" smtClean="0">
                <a:latin typeface="Times New Roman"/>
                <a:cs typeface="Times New Roman"/>
              </a:rPr>
              <a:t>happen, </a:t>
            </a:r>
          </a:p>
          <a:p>
            <a:pPr marL="304800" marR="295275" indent="0" algn="ctr">
              <a:lnSpc>
                <a:spcPts val="3500"/>
              </a:lnSpc>
              <a:spcBef>
                <a:spcPts val="490"/>
              </a:spcBef>
              <a:buNone/>
            </a:pPr>
            <a:r>
              <a:rPr lang="en-US" spc="-10" dirty="0" smtClean="0">
                <a:latin typeface="Times New Roman"/>
                <a:cs typeface="Times New Roman"/>
              </a:rPr>
              <a:t>and</a:t>
            </a:r>
            <a:r>
              <a:rPr lang="en-US" spc="-55" dirty="0" smtClean="0">
                <a:latin typeface="Times New Roman"/>
                <a:cs typeface="Times New Roman"/>
              </a:rPr>
              <a:t> </a:t>
            </a:r>
            <a:r>
              <a:rPr lang="en-US" dirty="0">
                <a:latin typeface="Times New Roman"/>
                <a:cs typeface="Times New Roman"/>
              </a:rPr>
              <a:t>recover</a:t>
            </a:r>
            <a:r>
              <a:rPr lang="en-US" spc="-25" dirty="0">
                <a:latin typeface="Times New Roman"/>
                <a:cs typeface="Times New Roman"/>
              </a:rPr>
              <a:t> </a:t>
            </a:r>
            <a:r>
              <a:rPr lang="en-US" dirty="0">
                <a:latin typeface="Times New Roman"/>
                <a:cs typeface="Times New Roman"/>
              </a:rPr>
              <a:t>from</a:t>
            </a:r>
            <a:r>
              <a:rPr lang="en-US" spc="-70" dirty="0">
                <a:latin typeface="Times New Roman"/>
                <a:cs typeface="Times New Roman"/>
              </a:rPr>
              <a:t> </a:t>
            </a:r>
            <a:r>
              <a:rPr lang="en-US" spc="-10" dirty="0">
                <a:latin typeface="Times New Roman"/>
                <a:cs typeface="Times New Roman"/>
              </a:rPr>
              <a:t>deadlock </a:t>
            </a:r>
            <a:endParaRPr lang="en-US" spc="-10" dirty="0" smtClean="0">
              <a:latin typeface="Times New Roman"/>
              <a:cs typeface="Times New Roman"/>
            </a:endParaRPr>
          </a:p>
          <a:p>
            <a:pPr marL="304800" marR="295275" indent="0" algn="ctr">
              <a:lnSpc>
                <a:spcPts val="3500"/>
              </a:lnSpc>
              <a:spcBef>
                <a:spcPts val="490"/>
              </a:spcBef>
              <a:buNone/>
            </a:pPr>
            <a:r>
              <a:rPr lang="en-US" dirty="0" smtClean="0">
                <a:latin typeface="Times New Roman"/>
                <a:cs typeface="Times New Roman"/>
              </a:rPr>
              <a:t>when</a:t>
            </a:r>
            <a:r>
              <a:rPr lang="en-US" spc="-30" dirty="0" smtClean="0">
                <a:latin typeface="Times New Roman"/>
                <a:cs typeface="Times New Roman"/>
              </a:rPr>
              <a:t> </a:t>
            </a:r>
            <a:r>
              <a:rPr lang="en-US" dirty="0">
                <a:latin typeface="Times New Roman"/>
                <a:cs typeface="Times New Roman"/>
              </a:rPr>
              <a:t>it</a:t>
            </a:r>
            <a:r>
              <a:rPr lang="en-US" spc="-50" dirty="0">
                <a:latin typeface="Times New Roman"/>
                <a:cs typeface="Times New Roman"/>
              </a:rPr>
              <a:t> </a:t>
            </a:r>
            <a:r>
              <a:rPr lang="en-US" dirty="0">
                <a:latin typeface="Times New Roman"/>
                <a:cs typeface="Times New Roman"/>
              </a:rPr>
              <a:t>does</a:t>
            </a:r>
            <a:r>
              <a:rPr lang="en-US" spc="-50" dirty="0">
                <a:latin typeface="Times New Roman"/>
                <a:cs typeface="Times New Roman"/>
              </a:rPr>
              <a:t> </a:t>
            </a:r>
            <a:r>
              <a:rPr lang="en-US" spc="-10" dirty="0">
                <a:latin typeface="Times New Roman"/>
                <a:cs typeface="Times New Roman"/>
              </a:rPr>
              <a:t>occur.</a:t>
            </a:r>
            <a:endParaRPr lang="en-US" dirty="0">
              <a:latin typeface="Times New Roman"/>
              <a:cs typeface="Times New Roman"/>
            </a:endParaRPr>
          </a:p>
          <a:p>
            <a:pPr>
              <a:lnSpc>
                <a:spcPct val="100000"/>
              </a:lnSpc>
              <a:spcBef>
                <a:spcPts val="1265"/>
              </a:spcBef>
            </a:pPr>
            <a:endParaRPr lang="en-US" dirty="0">
              <a:latin typeface="Times New Roman"/>
              <a:cs typeface="Times New Roman"/>
            </a:endParaRPr>
          </a:p>
          <a:p>
            <a:pPr marL="12065" marR="5080" indent="0">
              <a:lnSpc>
                <a:spcPts val="3479"/>
              </a:lnSpc>
              <a:buNone/>
            </a:pPr>
            <a:endParaRPr lang="en-US" i="1" dirty="0" smtClean="0">
              <a:latin typeface="Times New Roman"/>
              <a:cs typeface="Times New Roman"/>
            </a:endParaRPr>
          </a:p>
          <a:p>
            <a:pPr marL="12065" marR="5080" indent="0" algn="ctr">
              <a:lnSpc>
                <a:spcPts val="3479"/>
              </a:lnSpc>
              <a:buNone/>
            </a:pPr>
            <a:r>
              <a:rPr lang="en-US" i="1" dirty="0" smtClean="0">
                <a:latin typeface="Times New Roman"/>
                <a:cs typeface="Times New Roman"/>
              </a:rPr>
              <a:t>Hence</a:t>
            </a:r>
            <a:r>
              <a:rPr lang="en-US" i="1" dirty="0">
                <a:latin typeface="Times New Roman"/>
                <a:cs typeface="Times New Roman"/>
              </a:rPr>
              <a:t>,</a:t>
            </a:r>
            <a:r>
              <a:rPr lang="en-US" i="1" spc="-50" dirty="0">
                <a:latin typeface="Times New Roman"/>
                <a:cs typeface="Times New Roman"/>
              </a:rPr>
              <a:t> </a:t>
            </a:r>
            <a:r>
              <a:rPr lang="en-US" i="1" dirty="0">
                <a:latin typeface="Times New Roman"/>
                <a:cs typeface="Times New Roman"/>
              </a:rPr>
              <a:t>the</a:t>
            </a:r>
            <a:r>
              <a:rPr lang="en-US" i="1" spc="-85" dirty="0">
                <a:latin typeface="Times New Roman"/>
                <a:cs typeface="Times New Roman"/>
              </a:rPr>
              <a:t> </a:t>
            </a:r>
            <a:r>
              <a:rPr lang="en-US" i="1" dirty="0">
                <a:latin typeface="Times New Roman"/>
                <a:cs typeface="Times New Roman"/>
              </a:rPr>
              <a:t>mechanism</a:t>
            </a:r>
            <a:r>
              <a:rPr lang="en-US" i="1" spc="-75" dirty="0">
                <a:latin typeface="Times New Roman"/>
                <a:cs typeface="Times New Roman"/>
              </a:rPr>
              <a:t> </a:t>
            </a:r>
            <a:r>
              <a:rPr lang="en-US" i="1" dirty="0">
                <a:latin typeface="Times New Roman"/>
                <a:cs typeface="Times New Roman"/>
              </a:rPr>
              <a:t>for</a:t>
            </a:r>
            <a:r>
              <a:rPr lang="en-US" i="1" spc="-85" dirty="0">
                <a:latin typeface="Times New Roman"/>
                <a:cs typeface="Times New Roman"/>
              </a:rPr>
              <a:t> </a:t>
            </a:r>
            <a:r>
              <a:rPr lang="en-US" i="1" dirty="0">
                <a:latin typeface="Times New Roman"/>
                <a:cs typeface="Times New Roman"/>
              </a:rPr>
              <a:t>deadlock</a:t>
            </a:r>
            <a:r>
              <a:rPr lang="en-US" i="1" spc="-85" dirty="0">
                <a:latin typeface="Times New Roman"/>
                <a:cs typeface="Times New Roman"/>
              </a:rPr>
              <a:t> </a:t>
            </a:r>
            <a:r>
              <a:rPr lang="en-US" i="1" dirty="0">
                <a:latin typeface="Times New Roman"/>
                <a:cs typeface="Times New Roman"/>
              </a:rPr>
              <a:t>detection</a:t>
            </a:r>
            <a:r>
              <a:rPr lang="en-US" i="1" spc="-60" dirty="0">
                <a:latin typeface="Times New Roman"/>
                <a:cs typeface="Times New Roman"/>
              </a:rPr>
              <a:t> </a:t>
            </a:r>
            <a:endParaRPr lang="en-US" i="1" spc="-60" dirty="0" smtClean="0">
              <a:latin typeface="Times New Roman"/>
              <a:cs typeface="Times New Roman"/>
            </a:endParaRPr>
          </a:p>
          <a:p>
            <a:pPr marL="12065" marR="5080" indent="0" algn="ctr">
              <a:lnSpc>
                <a:spcPts val="3479"/>
              </a:lnSpc>
              <a:buNone/>
            </a:pPr>
            <a:r>
              <a:rPr lang="en-US" i="1" spc="-25" dirty="0" smtClean="0">
                <a:latin typeface="Times New Roman"/>
                <a:cs typeface="Times New Roman"/>
              </a:rPr>
              <a:t>and </a:t>
            </a:r>
            <a:r>
              <a:rPr lang="en-US" i="1" dirty="0">
                <a:latin typeface="Times New Roman"/>
                <a:cs typeface="Times New Roman"/>
              </a:rPr>
              <a:t>recovery</a:t>
            </a:r>
            <a:r>
              <a:rPr lang="en-US" i="1" spc="-135" dirty="0">
                <a:latin typeface="Times New Roman"/>
                <a:cs typeface="Times New Roman"/>
              </a:rPr>
              <a:t> </a:t>
            </a:r>
            <a:r>
              <a:rPr lang="en-US" i="1" dirty="0">
                <a:latin typeface="Times New Roman"/>
                <a:cs typeface="Times New Roman"/>
              </a:rPr>
              <a:t>from</a:t>
            </a:r>
            <a:r>
              <a:rPr lang="en-US" i="1" spc="-155" dirty="0">
                <a:latin typeface="Times New Roman"/>
                <a:cs typeface="Times New Roman"/>
              </a:rPr>
              <a:t> </a:t>
            </a:r>
            <a:r>
              <a:rPr lang="en-US" i="1" dirty="0">
                <a:latin typeface="Times New Roman"/>
                <a:cs typeface="Times New Roman"/>
              </a:rPr>
              <a:t>deadlock</a:t>
            </a:r>
            <a:r>
              <a:rPr lang="en-US" i="1" spc="-170" dirty="0">
                <a:latin typeface="Times New Roman"/>
                <a:cs typeface="Times New Roman"/>
              </a:rPr>
              <a:t> </a:t>
            </a:r>
            <a:r>
              <a:rPr lang="en-US" i="1" spc="-10" dirty="0">
                <a:latin typeface="Times New Roman"/>
                <a:cs typeface="Times New Roman"/>
              </a:rPr>
              <a:t>required.</a:t>
            </a:r>
            <a:endParaRPr lang="en-US" dirty="0">
              <a:latin typeface="Times New Roman"/>
              <a:cs typeface="Times New Roman"/>
            </a:endParaRPr>
          </a:p>
        </p:txBody>
      </p:sp>
    </p:spTree>
    <p:extLst>
      <p:ext uri="{BB962C8B-B14F-4D97-AF65-F5344CB8AC3E}">
        <p14:creationId xmlns:p14="http://schemas.microsoft.com/office/powerpoint/2010/main" val="15469720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9957"/>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Deadlock Detection</a:t>
            </a:r>
          </a:p>
        </p:txBody>
      </p:sp>
      <p:sp>
        <p:nvSpPr>
          <p:cNvPr id="3" name="Content Placeholder 2"/>
          <p:cNvSpPr>
            <a:spLocks noGrp="1"/>
          </p:cNvSpPr>
          <p:nvPr>
            <p:ph idx="1"/>
          </p:nvPr>
        </p:nvSpPr>
        <p:spPr>
          <a:xfrm>
            <a:off x="838200" y="1237129"/>
            <a:ext cx="10515600" cy="4939834"/>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It is the process of actually determining that a deadlock exists </a:t>
            </a:r>
            <a:r>
              <a:rPr lang="en-US" dirty="0" smtClean="0">
                <a:latin typeface="Times New Roman" panose="02020603050405020304" pitchFamily="18" charset="0"/>
                <a:cs typeface="Times New Roman" panose="02020603050405020304" pitchFamily="18" charset="0"/>
              </a:rPr>
              <a:t>and identifying </a:t>
            </a:r>
            <a:r>
              <a:rPr lang="en-US" dirty="0">
                <a:latin typeface="Times New Roman" panose="02020603050405020304" pitchFamily="18" charset="0"/>
                <a:cs typeface="Times New Roman" panose="02020603050405020304" pitchFamily="18" charset="0"/>
              </a:rPr>
              <a:t>the processes and resources involved in the deadlock</a:t>
            </a:r>
          </a:p>
          <a:p>
            <a:pPr algn="just">
              <a:lnSpc>
                <a:spcPct val="150000"/>
              </a:lnSpc>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basic idea is to check allocation against resource availability for </a:t>
            </a:r>
            <a:r>
              <a:rPr lang="en-US" dirty="0" smtClean="0">
                <a:latin typeface="Times New Roman" panose="02020603050405020304" pitchFamily="18" charset="0"/>
                <a:cs typeface="Times New Roman" panose="02020603050405020304" pitchFamily="18" charset="0"/>
              </a:rPr>
              <a:t>all possible </a:t>
            </a:r>
            <a:r>
              <a:rPr lang="en-US" dirty="0">
                <a:latin typeface="Times New Roman" panose="02020603050405020304" pitchFamily="18" charset="0"/>
                <a:cs typeface="Times New Roman" panose="02020603050405020304" pitchFamily="18" charset="0"/>
              </a:rPr>
              <a:t>allocation sequences to determine if the system is </a:t>
            </a:r>
            <a:r>
              <a:rPr lang="en-US" dirty="0" smtClean="0">
                <a:latin typeface="Times New Roman" panose="02020603050405020304" pitchFamily="18" charset="0"/>
                <a:cs typeface="Times New Roman" panose="02020603050405020304" pitchFamily="18" charset="0"/>
              </a:rPr>
              <a:t>in deadlocked </a:t>
            </a:r>
            <a:r>
              <a:rPr lang="en-US" dirty="0">
                <a:latin typeface="Times New Roman" panose="02020603050405020304" pitchFamily="18" charset="0"/>
                <a:cs typeface="Times New Roman" panose="02020603050405020304" pitchFamily="18" charset="0"/>
              </a:rPr>
              <a:t>state</a:t>
            </a:r>
          </a:p>
          <a:p>
            <a:pPr algn="just">
              <a:lnSpc>
                <a:spcPct val="150000"/>
              </a:lnSpc>
            </a:pPr>
            <a:r>
              <a:rPr lang="en-US" dirty="0" smtClean="0">
                <a:latin typeface="Times New Roman" panose="02020603050405020304" pitchFamily="18" charset="0"/>
                <a:cs typeface="Times New Roman" panose="02020603050405020304" pitchFamily="18" charset="0"/>
              </a:rPr>
              <a:t>Once </a:t>
            </a:r>
            <a:r>
              <a:rPr lang="en-US" dirty="0">
                <a:latin typeface="Times New Roman" panose="02020603050405020304" pitchFamily="18" charset="0"/>
                <a:cs typeface="Times New Roman" panose="02020603050405020304" pitchFamily="18" charset="0"/>
              </a:rPr>
              <a:t>the deadlock is detected, then it should be recovered</a:t>
            </a:r>
          </a:p>
        </p:txBody>
      </p:sp>
    </p:spTree>
    <p:extLst>
      <p:ext uri="{BB962C8B-B14F-4D97-AF65-F5344CB8AC3E}">
        <p14:creationId xmlns:p14="http://schemas.microsoft.com/office/powerpoint/2010/main" val="340210519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722"/>
          </a:xfrm>
        </p:spPr>
        <p:txBody>
          <a:bodyPr>
            <a:normAutofit fontScale="90000"/>
          </a:bodyPr>
          <a:lstStyle/>
          <a:p>
            <a:pPr algn="ctr"/>
            <a:r>
              <a:rPr lang="en-US" b="1" dirty="0" smtClean="0">
                <a:solidFill>
                  <a:srgbClr val="FF0000"/>
                </a:solidFill>
                <a:latin typeface="Times New Roman" panose="02020603050405020304" pitchFamily="18" charset="0"/>
                <a:cs typeface="Times New Roman" panose="02020603050405020304" pitchFamily="18" charset="0"/>
              </a:rPr>
              <a:t>RAG(Resource Allocation Graph)</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89212"/>
            <a:ext cx="10515600" cy="5087751"/>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The resource allocation graph is the pictorial representation of </a:t>
            </a:r>
            <a:r>
              <a:rPr lang="en-US" dirty="0" smtClean="0">
                <a:latin typeface="Times New Roman" panose="02020603050405020304" pitchFamily="18" charset="0"/>
                <a:cs typeface="Times New Roman" panose="02020603050405020304" pitchFamily="18" charset="0"/>
              </a:rPr>
              <a:t>the state </a:t>
            </a:r>
            <a:r>
              <a:rPr lang="en-US" dirty="0">
                <a:latin typeface="Times New Roman" panose="02020603050405020304" pitchFamily="18" charset="0"/>
                <a:cs typeface="Times New Roman" panose="02020603050405020304" pitchFamily="18" charset="0"/>
              </a:rPr>
              <a:t>of a system As its name suggests, the resource allocation </a:t>
            </a:r>
            <a:r>
              <a:rPr lang="en-US" dirty="0" smtClean="0">
                <a:latin typeface="Times New Roman" panose="02020603050405020304" pitchFamily="18" charset="0"/>
                <a:cs typeface="Times New Roman" panose="02020603050405020304" pitchFamily="18" charset="0"/>
              </a:rPr>
              <a:t>graph is </a:t>
            </a:r>
            <a:r>
              <a:rPr lang="en-US" dirty="0">
                <a:latin typeface="Times New Roman" panose="02020603050405020304" pitchFamily="18" charset="0"/>
                <a:cs typeface="Times New Roman" panose="02020603050405020304" pitchFamily="18" charset="0"/>
              </a:rPr>
              <a:t>the complete information about all the processes which are </a:t>
            </a:r>
            <a:r>
              <a:rPr lang="en-US" dirty="0" smtClean="0">
                <a:latin typeface="Times New Roman" panose="02020603050405020304" pitchFamily="18" charset="0"/>
                <a:cs typeface="Times New Roman" panose="02020603050405020304" pitchFamily="18" charset="0"/>
              </a:rPr>
              <a:t>holding some </a:t>
            </a:r>
            <a:r>
              <a:rPr lang="en-US" dirty="0">
                <a:latin typeface="Times New Roman" panose="02020603050405020304" pitchFamily="18" charset="0"/>
                <a:cs typeface="Times New Roman" panose="02020603050405020304" pitchFamily="18" charset="0"/>
              </a:rPr>
              <a:t>resources or waiting for some resources</a:t>
            </a:r>
          </a:p>
          <a:p>
            <a:pPr algn="just">
              <a:lnSpc>
                <a:spcPct val="150000"/>
              </a:lnSpc>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also contains the information about all the instances of all </a:t>
            </a:r>
            <a:r>
              <a:rPr lang="en-US" dirty="0" smtClean="0">
                <a:latin typeface="Times New Roman" panose="02020603050405020304" pitchFamily="18" charset="0"/>
                <a:cs typeface="Times New Roman" panose="02020603050405020304" pitchFamily="18" charset="0"/>
              </a:rPr>
              <a:t>the resources </a:t>
            </a:r>
            <a:r>
              <a:rPr lang="en-US" dirty="0">
                <a:latin typeface="Times New Roman" panose="02020603050405020304" pitchFamily="18" charset="0"/>
                <a:cs typeface="Times New Roman" panose="02020603050405020304" pitchFamily="18" charset="0"/>
              </a:rPr>
              <a:t>whether they are available or being used by the processes</a:t>
            </a:r>
          </a:p>
          <a:p>
            <a:pPr algn="just">
              <a:lnSpc>
                <a:spcPct val="150000"/>
              </a:lnSpc>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Resource allocation graph, the process is represented by a </a:t>
            </a:r>
            <a:r>
              <a:rPr lang="en-US" dirty="0" smtClean="0">
                <a:latin typeface="Times New Roman" panose="02020603050405020304" pitchFamily="18" charset="0"/>
                <a:cs typeface="Times New Roman" panose="02020603050405020304" pitchFamily="18" charset="0"/>
              </a:rPr>
              <a:t>Circle while </a:t>
            </a:r>
            <a:r>
              <a:rPr lang="en-US" dirty="0">
                <a:latin typeface="Times New Roman" panose="02020603050405020304" pitchFamily="18" charset="0"/>
                <a:cs typeface="Times New Roman" panose="02020603050405020304" pitchFamily="18" charset="0"/>
              </a:rPr>
              <a:t>the Resource is represented by a rectangle.</a:t>
            </a:r>
          </a:p>
        </p:txBody>
      </p:sp>
    </p:spTree>
    <p:extLst>
      <p:ext uri="{BB962C8B-B14F-4D97-AF65-F5344CB8AC3E}">
        <p14:creationId xmlns:p14="http://schemas.microsoft.com/office/powerpoint/2010/main" val="31025763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7882"/>
            <a:ext cx="10515600" cy="5639081"/>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Let's consider 3 processes </a:t>
            </a:r>
            <a:r>
              <a:rPr lang="en-US" dirty="0" smtClean="0">
                <a:latin typeface="Times New Roman" panose="02020603050405020304" pitchFamily="18" charset="0"/>
                <a:cs typeface="Times New Roman" panose="02020603050405020304" pitchFamily="18" charset="0"/>
              </a:rPr>
              <a:t>P</a:t>
            </a:r>
            <a:r>
              <a:rPr lang="en-US" baseline="-25000" dirty="0" smtClean="0">
                <a:latin typeface="Times New Roman" panose="02020603050405020304" pitchFamily="18" charset="0"/>
                <a:cs typeface="Times New Roman" panose="02020603050405020304" pitchFamily="18" charset="0"/>
              </a:rPr>
              <a:t>1</a:t>
            </a:r>
            <a:r>
              <a:rPr lang="en-US" dirty="0" smtClean="0">
                <a:latin typeface="Times New Roman" panose="02020603050405020304" pitchFamily="18" charset="0"/>
                <a:cs typeface="Times New Roman" panose="02020603050405020304" pitchFamily="18" charset="0"/>
              </a:rPr>
              <a:t> , P</a:t>
            </a:r>
            <a:r>
              <a:rPr lang="en-US" baseline="-2500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dirty="0" smtClean="0">
                <a:latin typeface="Times New Roman" panose="02020603050405020304" pitchFamily="18" charset="0"/>
                <a:cs typeface="Times New Roman" panose="02020603050405020304" pitchFamily="18" charset="0"/>
              </a:rPr>
              <a:t>P</a:t>
            </a:r>
            <a:r>
              <a:rPr lang="en-US" baseline="-25000" dirty="0" smtClean="0">
                <a:latin typeface="Times New Roman" panose="02020603050405020304" pitchFamily="18" charset="0"/>
                <a:cs typeface="Times New Roman" panose="02020603050405020304" pitchFamily="18" charset="0"/>
              </a:rPr>
              <a:t>3</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two types of resources </a:t>
            </a:r>
            <a:r>
              <a:rPr lang="en-US" dirty="0" smtClean="0">
                <a:latin typeface="Times New Roman" panose="02020603050405020304" pitchFamily="18" charset="0"/>
                <a:cs typeface="Times New Roman" panose="02020603050405020304" pitchFamily="18" charset="0"/>
              </a:rPr>
              <a:t>R</a:t>
            </a:r>
            <a:r>
              <a:rPr lang="en-US" baseline="-25000" dirty="0" smtClean="0">
                <a:latin typeface="Times New Roman" panose="02020603050405020304" pitchFamily="18" charset="0"/>
                <a:cs typeface="Times New Roman" panose="02020603050405020304" pitchFamily="18" charset="0"/>
              </a:rPr>
              <a:t>1</a:t>
            </a:r>
            <a:r>
              <a:rPr lang="en-US" dirty="0" smtClean="0">
                <a:latin typeface="Times New Roman" panose="02020603050405020304" pitchFamily="18" charset="0"/>
                <a:cs typeface="Times New Roman" panose="02020603050405020304" pitchFamily="18" charset="0"/>
              </a:rPr>
              <a:t> and R</a:t>
            </a:r>
            <a:r>
              <a:rPr lang="en-US" baseline="-2500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resources are having 1 instance each According to </a:t>
            </a:r>
            <a:r>
              <a:rPr lang="en-US" dirty="0" smtClean="0">
                <a:latin typeface="Times New Roman" panose="02020603050405020304" pitchFamily="18" charset="0"/>
                <a:cs typeface="Times New Roman" panose="02020603050405020304" pitchFamily="18" charset="0"/>
              </a:rPr>
              <a:t>the graph</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a:t>
            </a:r>
            <a:r>
              <a:rPr lang="en-US" baseline="-25000" dirty="0" smtClean="0">
                <a:latin typeface="Times New Roman" panose="02020603050405020304" pitchFamily="18" charset="0"/>
                <a:cs typeface="Times New Roman" panose="02020603050405020304" pitchFamily="18" charset="0"/>
              </a:rPr>
              <a:t>1</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being used by </a:t>
            </a:r>
            <a:r>
              <a:rPr lang="en-US" dirty="0" smtClean="0">
                <a:latin typeface="Times New Roman" panose="02020603050405020304" pitchFamily="18" charset="0"/>
                <a:cs typeface="Times New Roman" panose="02020603050405020304" pitchFamily="18" charset="0"/>
              </a:rPr>
              <a:t>P</a:t>
            </a:r>
            <a:r>
              <a:rPr lang="en-US" baseline="-25000" dirty="0" smtClean="0">
                <a:latin typeface="Times New Roman" panose="02020603050405020304" pitchFamily="18" charset="0"/>
                <a:cs typeface="Times New Roman" panose="02020603050405020304" pitchFamily="18" charset="0"/>
              </a:rPr>
              <a:t>1</a:t>
            </a:r>
            <a:r>
              <a:rPr lang="en-US" dirty="0" smtClean="0">
                <a:latin typeface="Times New Roman" panose="02020603050405020304" pitchFamily="18" charset="0"/>
                <a:cs typeface="Times New Roman" panose="02020603050405020304" pitchFamily="18" charset="0"/>
              </a:rPr>
              <a:t> , P</a:t>
            </a:r>
            <a:r>
              <a:rPr lang="en-US" baseline="-2500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holding </a:t>
            </a:r>
            <a:r>
              <a:rPr lang="en-US" dirty="0" smtClean="0">
                <a:latin typeface="Times New Roman" panose="02020603050405020304" pitchFamily="18" charset="0"/>
                <a:cs typeface="Times New Roman" panose="02020603050405020304" pitchFamily="18" charset="0"/>
              </a:rPr>
              <a:t>R</a:t>
            </a:r>
            <a:r>
              <a:rPr lang="en-US" baseline="-25000" dirty="0" smtClean="0">
                <a:latin typeface="Times New Roman" panose="02020603050405020304" pitchFamily="18" charset="0"/>
                <a:cs typeface="Times New Roman" panose="02020603050405020304" pitchFamily="18" charset="0"/>
              </a:rPr>
              <a:t>2</a:t>
            </a:r>
            <a:r>
              <a:rPr lang="en-US" dirty="0" smtClean="0">
                <a:latin typeface="Times New Roman" panose="02020603050405020304" pitchFamily="18" charset="0"/>
                <a:cs typeface="Times New Roman" panose="02020603050405020304" pitchFamily="18" charset="0"/>
              </a:rPr>
              <a:t> and </a:t>
            </a:r>
            <a:r>
              <a:rPr lang="en-US" dirty="0">
                <a:latin typeface="Times New Roman" panose="02020603050405020304" pitchFamily="18" charset="0"/>
                <a:cs typeface="Times New Roman" panose="02020603050405020304" pitchFamily="18" charset="0"/>
              </a:rPr>
              <a:t>waiting for </a:t>
            </a:r>
            <a:r>
              <a:rPr lang="en-US" dirty="0" smtClean="0">
                <a:latin typeface="Times New Roman" panose="02020603050405020304" pitchFamily="18" charset="0"/>
                <a:cs typeface="Times New Roman" panose="02020603050405020304" pitchFamily="18" charset="0"/>
              </a:rPr>
              <a:t>R</a:t>
            </a:r>
            <a:r>
              <a:rPr lang="en-US" baseline="-25000" dirty="0" smtClean="0">
                <a:latin typeface="Times New Roman" panose="02020603050405020304" pitchFamily="18" charset="0"/>
                <a:cs typeface="Times New Roman" panose="02020603050405020304" pitchFamily="18" charset="0"/>
              </a:rPr>
              <a:t>1 </a:t>
            </a:r>
            <a:r>
              <a:rPr lang="en-US" dirty="0" smtClean="0">
                <a:latin typeface="Times New Roman" panose="02020603050405020304" pitchFamily="18" charset="0"/>
                <a:cs typeface="Times New Roman" panose="02020603050405020304" pitchFamily="18" charset="0"/>
              </a:rPr>
              <a:t> and P</a:t>
            </a:r>
            <a:r>
              <a:rPr lang="en-US" baseline="-25000" dirty="0" smtClean="0">
                <a:latin typeface="Times New Roman" panose="02020603050405020304" pitchFamily="18" charset="0"/>
                <a:cs typeface="Times New Roman" panose="02020603050405020304" pitchFamily="18" charset="0"/>
              </a:rPr>
              <a:t>3</a:t>
            </a:r>
            <a:r>
              <a:rPr lang="en-US" dirty="0" smtClean="0">
                <a:latin typeface="Times New Roman" panose="02020603050405020304" pitchFamily="18" charset="0"/>
                <a:cs typeface="Times New Roman" panose="02020603050405020304" pitchFamily="18" charset="0"/>
              </a:rPr>
              <a:t> is waiting </a:t>
            </a:r>
            <a:r>
              <a:rPr lang="en-US" dirty="0">
                <a:latin typeface="Times New Roman" panose="02020603050405020304" pitchFamily="18" charset="0"/>
                <a:cs typeface="Times New Roman" panose="02020603050405020304" pitchFamily="18" charset="0"/>
              </a:rPr>
              <a:t>for </a:t>
            </a:r>
            <a:r>
              <a:rPr lang="en-US" dirty="0" smtClean="0">
                <a:latin typeface="Times New Roman" panose="02020603050405020304" pitchFamily="18" charset="0"/>
                <a:cs typeface="Times New Roman" panose="02020603050405020304" pitchFamily="18" charset="0"/>
              </a:rPr>
              <a:t>R</a:t>
            </a:r>
            <a:r>
              <a:rPr lang="en-US" baseline="-25000" dirty="0" smtClean="0">
                <a:latin typeface="Times New Roman" panose="02020603050405020304" pitchFamily="18" charset="0"/>
                <a:cs typeface="Times New Roman" panose="02020603050405020304" pitchFamily="18" charset="0"/>
              </a:rPr>
              <a:t>1</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as well as </a:t>
            </a:r>
            <a:r>
              <a:rPr lang="en-US" dirty="0" smtClean="0">
                <a:latin typeface="Times New Roman" panose="02020603050405020304" pitchFamily="18" charset="0"/>
                <a:cs typeface="Times New Roman" panose="02020603050405020304" pitchFamily="18" charset="0"/>
              </a:rPr>
              <a:t>R</a:t>
            </a:r>
            <a:r>
              <a:rPr lang="en-US" baseline="-25000" dirty="0" smtClean="0">
                <a:latin typeface="Times New Roman" panose="02020603050405020304" pitchFamily="18" charset="0"/>
                <a:cs typeface="Times New Roman" panose="02020603050405020304" pitchFamily="18" charset="0"/>
              </a:rPr>
              <a:t>2</a:t>
            </a:r>
            <a:endParaRPr lang="en-US" baseline="-25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419792" y="3218046"/>
            <a:ext cx="3098419" cy="2066648"/>
          </a:xfrm>
          <a:prstGeom prst="rect">
            <a:avLst/>
          </a:prstGeom>
        </p:spPr>
      </p:pic>
      <p:sp>
        <p:nvSpPr>
          <p:cNvPr id="7" name="Rectangle 6"/>
          <p:cNvSpPr/>
          <p:nvPr/>
        </p:nvSpPr>
        <p:spPr>
          <a:xfrm>
            <a:off x="1057838" y="5338043"/>
            <a:ext cx="10295961" cy="52322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graph is deadlock free since no cycle is being formed in the graph</a:t>
            </a:r>
          </a:p>
        </p:txBody>
      </p:sp>
    </p:spTree>
    <p:extLst>
      <p:ext uri="{BB962C8B-B14F-4D97-AF65-F5344CB8AC3E}">
        <p14:creationId xmlns:p14="http://schemas.microsoft.com/office/powerpoint/2010/main" val="5596603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3063"/>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Deadlock Detection using RAG</a:t>
            </a:r>
          </a:p>
        </p:txBody>
      </p:sp>
      <p:sp>
        <p:nvSpPr>
          <p:cNvPr id="3" name="Content Placeholder 2"/>
          <p:cNvSpPr>
            <a:spLocks noGrp="1"/>
          </p:cNvSpPr>
          <p:nvPr>
            <p:ph idx="1"/>
          </p:nvPr>
        </p:nvSpPr>
        <p:spPr>
          <a:xfrm>
            <a:off x="838200" y="1143000"/>
            <a:ext cx="10515600" cy="5326152"/>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If a cycle is being formed in a Resource allocation graph where all the resources </a:t>
            </a:r>
            <a:r>
              <a:rPr lang="en-US" sz="2000" dirty="0" smtClean="0">
                <a:latin typeface="Times New Roman" panose="02020603050405020304" pitchFamily="18" charset="0"/>
                <a:cs typeface="Times New Roman" panose="02020603050405020304" pitchFamily="18" charset="0"/>
              </a:rPr>
              <a:t>have the </a:t>
            </a:r>
            <a:r>
              <a:rPr lang="en-US" sz="2000" dirty="0">
                <a:latin typeface="Times New Roman" panose="02020603050405020304" pitchFamily="18" charset="0"/>
                <a:cs typeface="Times New Roman" panose="02020603050405020304" pitchFamily="18" charset="0"/>
              </a:rPr>
              <a:t>single instance then the system is </a:t>
            </a:r>
            <a:r>
              <a:rPr lang="en-US" sz="2000" dirty="0" smtClean="0">
                <a:latin typeface="Times New Roman" panose="02020603050405020304" pitchFamily="18" charset="0"/>
                <a:cs typeface="Times New Roman" panose="02020603050405020304" pitchFamily="18" charset="0"/>
              </a:rPr>
              <a:t>deadlocked</a:t>
            </a:r>
          </a:p>
          <a:p>
            <a:pPr algn="just">
              <a:lnSpc>
                <a:spcPct val="150000"/>
              </a:lnSpc>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Case of Resource </a:t>
            </a:r>
            <a:r>
              <a:rPr lang="en-US" sz="2000" dirty="0" smtClean="0">
                <a:latin typeface="Times New Roman" panose="02020603050405020304" pitchFamily="18" charset="0"/>
                <a:cs typeface="Times New Roman" panose="02020603050405020304" pitchFamily="18" charset="0"/>
              </a:rPr>
              <a:t>allocation graph </a:t>
            </a:r>
            <a:r>
              <a:rPr lang="en-US" sz="2000" dirty="0">
                <a:latin typeface="Times New Roman" panose="02020603050405020304" pitchFamily="18" charset="0"/>
                <a:cs typeface="Times New Roman" panose="02020603050405020304" pitchFamily="18" charset="0"/>
              </a:rPr>
              <a:t>with multi instanced resource types, Cycle is a necessary condition of </a:t>
            </a:r>
            <a:r>
              <a:rPr lang="en-US" sz="2000" dirty="0" smtClean="0">
                <a:latin typeface="Times New Roman" panose="02020603050405020304" pitchFamily="18" charset="0"/>
                <a:cs typeface="Times New Roman" panose="02020603050405020304" pitchFamily="18" charset="0"/>
              </a:rPr>
              <a:t>deadlock but </a:t>
            </a:r>
            <a:r>
              <a:rPr lang="en-US" sz="2000" dirty="0">
                <a:latin typeface="Times New Roman" panose="02020603050405020304" pitchFamily="18" charset="0"/>
                <a:cs typeface="Times New Roman" panose="02020603050405020304" pitchFamily="18" charset="0"/>
              </a:rPr>
              <a:t>not the sufficient </a:t>
            </a:r>
            <a:r>
              <a:rPr lang="en-US" sz="2000" dirty="0" smtClean="0">
                <a:latin typeface="Times New Roman" panose="02020603050405020304" pitchFamily="18" charset="0"/>
                <a:cs typeface="Times New Roman" panose="02020603050405020304" pitchFamily="18" charset="0"/>
              </a:rPr>
              <a:t>condition</a:t>
            </a:r>
          </a:p>
          <a:p>
            <a:pPr algn="just">
              <a:lnSpc>
                <a:spcPct val="150000"/>
              </a:lnSpc>
            </a:pPr>
            <a:r>
              <a:rPr lang="en-US" sz="2000" dirty="0">
                <a:latin typeface="Times New Roman" panose="02020603050405020304" pitchFamily="18" charset="0"/>
                <a:cs typeface="Times New Roman" panose="02020603050405020304" pitchFamily="18" charset="0"/>
              </a:rPr>
              <a:t>The following example contains three processes P1, P2, P3 and three resources </a:t>
            </a:r>
            <a:r>
              <a:rPr lang="en-US" sz="2000" dirty="0" smtClean="0">
                <a:latin typeface="Times New Roman" panose="02020603050405020304" pitchFamily="18" charset="0"/>
                <a:cs typeface="Times New Roman" panose="02020603050405020304" pitchFamily="18" charset="0"/>
              </a:rPr>
              <a:t>R1, R2 </a:t>
            </a:r>
            <a:r>
              <a:rPr lang="en-US" sz="2000" dirty="0">
                <a:latin typeface="Times New Roman" panose="02020603050405020304" pitchFamily="18" charset="0"/>
                <a:cs typeface="Times New Roman" panose="02020603050405020304" pitchFamily="18" charset="0"/>
              </a:rPr>
              <a:t>and R3. All the resources are having single instances </a:t>
            </a:r>
            <a:r>
              <a:rPr lang="en-US" sz="2000" dirty="0" smtClean="0">
                <a:latin typeface="Times New Roman" panose="02020603050405020304" pitchFamily="18" charset="0"/>
                <a:cs typeface="Times New Roman" panose="02020603050405020304" pitchFamily="18" charset="0"/>
              </a:rPr>
              <a:t>each.</a:t>
            </a: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314228" y="3728754"/>
            <a:ext cx="3340760" cy="1811433"/>
          </a:xfrm>
          <a:prstGeom prst="rect">
            <a:avLst/>
          </a:prstGeom>
        </p:spPr>
      </p:pic>
      <p:sp>
        <p:nvSpPr>
          <p:cNvPr id="5" name="Rectangle 4"/>
          <p:cNvSpPr/>
          <p:nvPr/>
        </p:nvSpPr>
        <p:spPr>
          <a:xfrm>
            <a:off x="838200" y="5387801"/>
            <a:ext cx="10515599" cy="96032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we analyze the graph then we can find out that there is a cycle formed in the </a:t>
            </a:r>
            <a:r>
              <a:rPr lang="en-US" sz="2000" dirty="0" smtClean="0">
                <a:latin typeface="Times New Roman" panose="02020603050405020304" pitchFamily="18" charset="0"/>
                <a:cs typeface="Times New Roman" panose="02020603050405020304" pitchFamily="18" charset="0"/>
              </a:rPr>
              <a:t>graph since </a:t>
            </a:r>
            <a:r>
              <a:rPr lang="en-US" sz="2000" dirty="0">
                <a:latin typeface="Times New Roman" panose="02020603050405020304" pitchFamily="18" charset="0"/>
                <a:cs typeface="Times New Roman" panose="02020603050405020304" pitchFamily="18" charset="0"/>
              </a:rPr>
              <a:t>the system is satisfying all the four conditions of deadlock</a:t>
            </a:r>
          </a:p>
        </p:txBody>
      </p:sp>
    </p:spTree>
    <p:extLst>
      <p:ext uri="{BB962C8B-B14F-4D97-AF65-F5344CB8AC3E}">
        <p14:creationId xmlns:p14="http://schemas.microsoft.com/office/powerpoint/2010/main" val="60371816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5828"/>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Recovery</a:t>
            </a:r>
            <a:r>
              <a:rPr lang="en-US" b="1" spc="-114"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from</a:t>
            </a:r>
            <a:r>
              <a:rPr lang="en-US" b="1" spc="-135" dirty="0">
                <a:solidFill>
                  <a:srgbClr val="FF0000"/>
                </a:solidFill>
                <a:latin typeface="Times New Roman" panose="02020603050405020304" pitchFamily="18" charset="0"/>
                <a:cs typeface="Times New Roman" panose="02020603050405020304" pitchFamily="18" charset="0"/>
              </a:rPr>
              <a:t> </a:t>
            </a:r>
            <a:r>
              <a:rPr lang="en-US" b="1" spc="-10" dirty="0">
                <a:solidFill>
                  <a:srgbClr val="FF0000"/>
                </a:solidFill>
                <a:latin typeface="Times New Roman" panose="02020603050405020304" pitchFamily="18" charset="0"/>
                <a:cs typeface="Times New Roman" panose="02020603050405020304" pitchFamily="18" charset="0"/>
              </a:rPr>
              <a:t>Deadlock</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02659"/>
            <a:ext cx="10515600" cy="5074304"/>
          </a:xfrm>
        </p:spPr>
        <p:txBody>
          <a:bodyPr/>
          <a:lstStyle/>
          <a:p>
            <a:pPr marL="0" indent="0">
              <a:lnSpc>
                <a:spcPts val="3190"/>
              </a:lnSpc>
              <a:spcBef>
                <a:spcPts val="105"/>
              </a:spcBef>
              <a:buNone/>
            </a:pPr>
            <a:r>
              <a:rPr lang="en-US" dirty="0"/>
              <a:t>What</a:t>
            </a:r>
            <a:r>
              <a:rPr lang="en-US" spc="-10" dirty="0"/>
              <a:t> </a:t>
            </a:r>
            <a:r>
              <a:rPr lang="en-US" dirty="0"/>
              <a:t>do</a:t>
            </a:r>
            <a:r>
              <a:rPr lang="en-US" spc="-10" dirty="0"/>
              <a:t> </a:t>
            </a:r>
            <a:r>
              <a:rPr lang="en-US" dirty="0"/>
              <a:t>next</a:t>
            </a:r>
            <a:r>
              <a:rPr lang="en-US" spc="-35" dirty="0"/>
              <a:t> </a:t>
            </a:r>
            <a:r>
              <a:rPr lang="en-US" dirty="0"/>
              <a:t>if</a:t>
            </a:r>
            <a:r>
              <a:rPr lang="en-US" spc="-20" dirty="0"/>
              <a:t> </a:t>
            </a:r>
            <a:r>
              <a:rPr lang="en-US" dirty="0"/>
              <a:t>the</a:t>
            </a:r>
            <a:r>
              <a:rPr lang="en-US" spc="-25" dirty="0"/>
              <a:t> </a:t>
            </a:r>
            <a:r>
              <a:rPr lang="en-US" dirty="0"/>
              <a:t>deadlock</a:t>
            </a:r>
            <a:r>
              <a:rPr lang="en-US" spc="-80" dirty="0"/>
              <a:t> </a:t>
            </a:r>
            <a:r>
              <a:rPr lang="en-US" dirty="0"/>
              <a:t>detection</a:t>
            </a:r>
            <a:r>
              <a:rPr lang="en-US" spc="-60" dirty="0"/>
              <a:t> </a:t>
            </a:r>
            <a:r>
              <a:rPr lang="en-US" dirty="0"/>
              <a:t>algorithm</a:t>
            </a:r>
            <a:r>
              <a:rPr lang="en-US" spc="-65" dirty="0"/>
              <a:t> </a:t>
            </a:r>
            <a:r>
              <a:rPr lang="en-US" spc="-10" dirty="0"/>
              <a:t>succeed?</a:t>
            </a:r>
          </a:p>
          <a:p>
            <a:pPr marL="2471420" indent="0">
              <a:lnSpc>
                <a:spcPts val="3190"/>
              </a:lnSpc>
              <a:buNone/>
            </a:pPr>
            <a:r>
              <a:rPr lang="en-US" dirty="0"/>
              <a:t>– recover</a:t>
            </a:r>
            <a:r>
              <a:rPr lang="en-US" spc="-75" dirty="0"/>
              <a:t> </a:t>
            </a:r>
            <a:r>
              <a:rPr lang="en-US" dirty="0"/>
              <a:t>from</a:t>
            </a:r>
            <a:r>
              <a:rPr lang="en-US" spc="-30" dirty="0"/>
              <a:t> </a:t>
            </a:r>
            <a:r>
              <a:rPr lang="en-US" spc="-10" dirty="0"/>
              <a:t>deadlock.</a:t>
            </a:r>
          </a:p>
          <a:p>
            <a:pPr marL="0" indent="0">
              <a:lnSpc>
                <a:spcPct val="100000"/>
              </a:lnSpc>
              <a:spcBef>
                <a:spcPts val="395"/>
              </a:spcBef>
              <a:buNone/>
            </a:pPr>
            <a:r>
              <a:rPr lang="en-US" sz="3200" b="1" dirty="0">
                <a:solidFill>
                  <a:srgbClr val="2C2CB8"/>
                </a:solidFill>
                <a:latin typeface="Times New Roman"/>
                <a:cs typeface="Times New Roman"/>
              </a:rPr>
              <a:t>By</a:t>
            </a:r>
            <a:r>
              <a:rPr lang="en-US" sz="3200" b="1" spc="-105" dirty="0">
                <a:solidFill>
                  <a:srgbClr val="2C2CB8"/>
                </a:solidFill>
                <a:latin typeface="Times New Roman"/>
                <a:cs typeface="Times New Roman"/>
              </a:rPr>
              <a:t> </a:t>
            </a:r>
            <a:r>
              <a:rPr lang="en-US" sz="3200" b="1" dirty="0">
                <a:solidFill>
                  <a:srgbClr val="2C2CB8"/>
                </a:solidFill>
                <a:latin typeface="Times New Roman"/>
                <a:cs typeface="Times New Roman"/>
              </a:rPr>
              <a:t>Resource</a:t>
            </a:r>
            <a:r>
              <a:rPr lang="en-US" sz="3200" b="1" spc="-70" dirty="0">
                <a:solidFill>
                  <a:srgbClr val="2C2CB8"/>
                </a:solidFill>
                <a:latin typeface="Times New Roman"/>
                <a:cs typeface="Times New Roman"/>
              </a:rPr>
              <a:t> </a:t>
            </a:r>
            <a:r>
              <a:rPr lang="en-US" sz="3200" b="1" spc="-10" dirty="0">
                <a:solidFill>
                  <a:srgbClr val="2C2CB8"/>
                </a:solidFill>
                <a:latin typeface="Times New Roman"/>
                <a:cs typeface="Times New Roman"/>
              </a:rPr>
              <a:t>Preemption</a:t>
            </a:r>
            <a:endParaRPr lang="en-US" sz="3200" dirty="0">
              <a:latin typeface="Times New Roman"/>
              <a:cs typeface="Times New Roman"/>
            </a:endParaRPr>
          </a:p>
          <a:p>
            <a:pPr marL="340995" marR="415925">
              <a:lnSpc>
                <a:spcPts val="3020"/>
              </a:lnSpc>
              <a:spcBef>
                <a:spcPts val="855"/>
              </a:spcBef>
            </a:pPr>
            <a:r>
              <a:rPr lang="en-US" dirty="0"/>
              <a:t>Preempt</a:t>
            </a:r>
            <a:r>
              <a:rPr lang="en-US" spc="-15" dirty="0"/>
              <a:t> </a:t>
            </a:r>
            <a:r>
              <a:rPr lang="en-US" dirty="0"/>
              <a:t>some</a:t>
            </a:r>
            <a:r>
              <a:rPr lang="en-US" spc="-20" dirty="0"/>
              <a:t> </a:t>
            </a:r>
            <a:r>
              <a:rPr lang="en-US" dirty="0"/>
              <a:t>resources</a:t>
            </a:r>
            <a:r>
              <a:rPr lang="en-US" spc="-100" dirty="0"/>
              <a:t> </a:t>
            </a:r>
            <a:r>
              <a:rPr lang="en-US" dirty="0"/>
              <a:t>temporarily</a:t>
            </a:r>
            <a:r>
              <a:rPr lang="en-US" spc="-75" dirty="0"/>
              <a:t> </a:t>
            </a:r>
            <a:r>
              <a:rPr lang="en-US" dirty="0"/>
              <a:t>from</a:t>
            </a:r>
            <a:r>
              <a:rPr lang="en-US" spc="-45" dirty="0"/>
              <a:t> </a:t>
            </a:r>
            <a:r>
              <a:rPr lang="en-US" dirty="0"/>
              <a:t>a</a:t>
            </a:r>
            <a:r>
              <a:rPr lang="en-US" spc="-20" dirty="0"/>
              <a:t> </a:t>
            </a:r>
            <a:r>
              <a:rPr lang="en-US" spc="-10" dirty="0"/>
              <a:t>processes </a:t>
            </a:r>
            <a:r>
              <a:rPr lang="en-US" dirty="0"/>
              <a:t>and</a:t>
            </a:r>
            <a:r>
              <a:rPr lang="en-US" spc="-35" dirty="0"/>
              <a:t> </a:t>
            </a:r>
            <a:r>
              <a:rPr lang="en-US" dirty="0"/>
              <a:t>give</a:t>
            </a:r>
            <a:r>
              <a:rPr lang="en-US" spc="-40" dirty="0"/>
              <a:t> </a:t>
            </a:r>
            <a:r>
              <a:rPr lang="en-US" dirty="0"/>
              <a:t>these</a:t>
            </a:r>
            <a:r>
              <a:rPr lang="en-US" spc="-65" dirty="0"/>
              <a:t> </a:t>
            </a:r>
            <a:r>
              <a:rPr lang="en-US" dirty="0"/>
              <a:t>resources</a:t>
            </a:r>
            <a:r>
              <a:rPr lang="en-US" spc="-5" dirty="0"/>
              <a:t> </a:t>
            </a:r>
            <a:r>
              <a:rPr lang="en-US" dirty="0"/>
              <a:t>to</a:t>
            </a:r>
            <a:r>
              <a:rPr lang="en-US" spc="-70" dirty="0"/>
              <a:t> </a:t>
            </a:r>
            <a:r>
              <a:rPr lang="en-US" dirty="0"/>
              <a:t>other</a:t>
            </a:r>
            <a:r>
              <a:rPr lang="en-US" spc="-45" dirty="0"/>
              <a:t> </a:t>
            </a:r>
            <a:r>
              <a:rPr lang="en-US" dirty="0"/>
              <a:t>processes</a:t>
            </a:r>
            <a:r>
              <a:rPr lang="en-US" spc="-5" dirty="0"/>
              <a:t> </a:t>
            </a:r>
            <a:r>
              <a:rPr lang="en-US" dirty="0"/>
              <a:t>until</a:t>
            </a:r>
            <a:r>
              <a:rPr lang="en-US" spc="-70" dirty="0"/>
              <a:t> </a:t>
            </a:r>
            <a:r>
              <a:rPr lang="en-US" spc="-25" dirty="0"/>
              <a:t>the </a:t>
            </a:r>
            <a:r>
              <a:rPr lang="en-US" dirty="0"/>
              <a:t>deadlock</a:t>
            </a:r>
            <a:r>
              <a:rPr lang="en-US" spc="-95" dirty="0"/>
              <a:t> </a:t>
            </a:r>
            <a:r>
              <a:rPr lang="en-US" dirty="0"/>
              <a:t>cycle</a:t>
            </a:r>
            <a:r>
              <a:rPr lang="en-US" spc="-5" dirty="0"/>
              <a:t> </a:t>
            </a:r>
            <a:r>
              <a:rPr lang="en-US" dirty="0"/>
              <a:t>is</a:t>
            </a:r>
            <a:r>
              <a:rPr lang="en-US" spc="-20" dirty="0"/>
              <a:t> </a:t>
            </a:r>
            <a:r>
              <a:rPr lang="en-US" spc="-10" dirty="0"/>
              <a:t>broken.</a:t>
            </a:r>
          </a:p>
          <a:p>
            <a:pPr marL="0" indent="0">
              <a:lnSpc>
                <a:spcPct val="100000"/>
              </a:lnSpc>
              <a:spcBef>
                <a:spcPts val="445"/>
              </a:spcBef>
              <a:buNone/>
            </a:pPr>
            <a:r>
              <a:rPr lang="en-US" spc="-10" dirty="0">
                <a:solidFill>
                  <a:srgbClr val="3333CC"/>
                </a:solidFill>
              </a:rPr>
              <a:t>Problem:</a:t>
            </a:r>
          </a:p>
          <a:p>
            <a:pPr marL="340995">
              <a:lnSpc>
                <a:spcPct val="100000"/>
              </a:lnSpc>
              <a:spcBef>
                <a:spcPts val="455"/>
              </a:spcBef>
            </a:pPr>
            <a:r>
              <a:rPr lang="en-US" dirty="0"/>
              <a:t>Depends</a:t>
            </a:r>
            <a:r>
              <a:rPr lang="en-US" spc="-65" dirty="0"/>
              <a:t> </a:t>
            </a:r>
            <a:r>
              <a:rPr lang="en-US" dirty="0"/>
              <a:t>on</a:t>
            </a:r>
            <a:r>
              <a:rPr lang="en-US" spc="5" dirty="0"/>
              <a:t> </a:t>
            </a:r>
            <a:r>
              <a:rPr lang="en-US" dirty="0"/>
              <a:t>the</a:t>
            </a:r>
            <a:r>
              <a:rPr lang="en-US" spc="-40" dirty="0"/>
              <a:t> </a:t>
            </a:r>
            <a:r>
              <a:rPr lang="en-US" spc="-10" dirty="0"/>
              <a:t>resources.</a:t>
            </a:r>
          </a:p>
          <a:p>
            <a:pPr marL="340995" marR="1217295">
              <a:lnSpc>
                <a:spcPts val="3840"/>
              </a:lnSpc>
              <a:spcBef>
                <a:spcPts val="75"/>
              </a:spcBef>
            </a:pPr>
            <a:r>
              <a:rPr lang="en-US" dirty="0"/>
              <a:t>Need</a:t>
            </a:r>
            <a:r>
              <a:rPr lang="en-US" spc="-10" dirty="0"/>
              <a:t> </a:t>
            </a:r>
            <a:r>
              <a:rPr lang="en-US" dirty="0"/>
              <a:t>extra</a:t>
            </a:r>
            <a:r>
              <a:rPr lang="en-US" spc="-50" dirty="0"/>
              <a:t> </a:t>
            </a:r>
            <a:r>
              <a:rPr lang="en-US" dirty="0"/>
              <a:t>manipulation</a:t>
            </a:r>
            <a:r>
              <a:rPr lang="en-US" spc="-55" dirty="0"/>
              <a:t> </a:t>
            </a:r>
            <a:r>
              <a:rPr lang="en-US" dirty="0"/>
              <a:t>to</a:t>
            </a:r>
            <a:r>
              <a:rPr lang="en-US" spc="-10" dirty="0"/>
              <a:t> </a:t>
            </a:r>
            <a:r>
              <a:rPr lang="en-US" dirty="0"/>
              <a:t>suspend</a:t>
            </a:r>
            <a:r>
              <a:rPr lang="en-US" spc="-80" dirty="0"/>
              <a:t> </a:t>
            </a:r>
            <a:r>
              <a:rPr lang="en-US" dirty="0"/>
              <a:t>the</a:t>
            </a:r>
            <a:r>
              <a:rPr lang="en-US" spc="-20" dirty="0"/>
              <a:t> </a:t>
            </a:r>
            <a:r>
              <a:rPr lang="en-US" spc="-10" dirty="0"/>
              <a:t>process. </a:t>
            </a:r>
            <a:r>
              <a:rPr lang="en-US" dirty="0"/>
              <a:t>Difficult</a:t>
            </a:r>
            <a:r>
              <a:rPr lang="en-US" spc="-45" dirty="0"/>
              <a:t> </a:t>
            </a:r>
            <a:r>
              <a:rPr lang="en-US" dirty="0"/>
              <a:t>and</a:t>
            </a:r>
            <a:r>
              <a:rPr lang="en-US" spc="-110" dirty="0"/>
              <a:t> </a:t>
            </a:r>
            <a:r>
              <a:rPr lang="en-US" dirty="0"/>
              <a:t>sometime</a:t>
            </a:r>
            <a:r>
              <a:rPr lang="en-US" spc="-30" dirty="0"/>
              <a:t> </a:t>
            </a:r>
            <a:r>
              <a:rPr lang="en-US" spc="-10" dirty="0"/>
              <a:t>impossible.</a:t>
            </a:r>
          </a:p>
        </p:txBody>
      </p:sp>
    </p:spTree>
    <p:extLst>
      <p:ext uri="{BB962C8B-B14F-4D97-AF65-F5344CB8AC3E}">
        <p14:creationId xmlns:p14="http://schemas.microsoft.com/office/powerpoint/2010/main" val="158140737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5828"/>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Recovery</a:t>
            </a:r>
            <a:r>
              <a:rPr lang="en-US" b="1" spc="-114"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from</a:t>
            </a:r>
            <a:r>
              <a:rPr lang="en-US" b="1" spc="-135" dirty="0">
                <a:solidFill>
                  <a:srgbClr val="FF0000"/>
                </a:solidFill>
                <a:latin typeface="Times New Roman" panose="02020603050405020304" pitchFamily="18" charset="0"/>
                <a:cs typeface="Times New Roman" panose="02020603050405020304" pitchFamily="18" charset="0"/>
              </a:rPr>
              <a:t> </a:t>
            </a:r>
            <a:r>
              <a:rPr lang="en-US" b="1" spc="-10" dirty="0">
                <a:solidFill>
                  <a:srgbClr val="FF0000"/>
                </a:solidFill>
                <a:latin typeface="Times New Roman" panose="02020603050405020304" pitchFamily="18" charset="0"/>
                <a:cs typeface="Times New Roman" panose="02020603050405020304" pitchFamily="18" charset="0"/>
              </a:rPr>
              <a:t>Deadlock</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02659"/>
            <a:ext cx="10515600" cy="5074304"/>
          </a:xfrm>
        </p:spPr>
        <p:txBody>
          <a:bodyPr>
            <a:normAutofit fontScale="92500"/>
          </a:bodyPr>
          <a:lstStyle/>
          <a:p>
            <a:pPr marL="0" indent="0" algn="just">
              <a:lnSpc>
                <a:spcPct val="150000"/>
              </a:lnSpc>
              <a:spcBef>
                <a:spcPts val="869"/>
              </a:spcBef>
              <a:buNone/>
            </a:pPr>
            <a:r>
              <a:rPr lang="en-US" sz="3200" b="1" dirty="0">
                <a:solidFill>
                  <a:srgbClr val="2C2CB8"/>
                </a:solidFill>
                <a:latin typeface="Times New Roman"/>
                <a:cs typeface="Times New Roman"/>
              </a:rPr>
              <a:t>By</a:t>
            </a:r>
            <a:r>
              <a:rPr lang="en-US" sz="3200" b="1" spc="-100" dirty="0">
                <a:solidFill>
                  <a:srgbClr val="2C2CB8"/>
                </a:solidFill>
                <a:latin typeface="Times New Roman"/>
                <a:cs typeface="Times New Roman"/>
              </a:rPr>
              <a:t> </a:t>
            </a:r>
            <a:r>
              <a:rPr lang="en-US" sz="3200" b="1" dirty="0">
                <a:solidFill>
                  <a:srgbClr val="2C2CB8"/>
                </a:solidFill>
                <a:latin typeface="Times New Roman"/>
                <a:cs typeface="Times New Roman"/>
              </a:rPr>
              <a:t>Process</a:t>
            </a:r>
            <a:r>
              <a:rPr lang="en-US" sz="3200" b="1" spc="-130" dirty="0">
                <a:solidFill>
                  <a:srgbClr val="2C2CB8"/>
                </a:solidFill>
                <a:latin typeface="Times New Roman"/>
                <a:cs typeface="Times New Roman"/>
              </a:rPr>
              <a:t> </a:t>
            </a:r>
            <a:r>
              <a:rPr lang="en-US" sz="3200" b="1" spc="-10" dirty="0">
                <a:solidFill>
                  <a:srgbClr val="2C2CB8"/>
                </a:solidFill>
                <a:latin typeface="Times New Roman"/>
                <a:cs typeface="Times New Roman"/>
              </a:rPr>
              <a:t>Termination</a:t>
            </a:r>
            <a:endParaRPr lang="en-US" sz="3200" dirty="0">
              <a:latin typeface="Times New Roman"/>
              <a:cs typeface="Times New Roman"/>
            </a:endParaRPr>
          </a:p>
          <a:p>
            <a:pPr marL="356870" marR="248920" algn="just">
              <a:lnSpc>
                <a:spcPct val="150000"/>
              </a:lnSpc>
              <a:spcBef>
                <a:spcPts val="885"/>
              </a:spcBef>
            </a:pPr>
            <a:r>
              <a:rPr lang="en-US" sz="2400" dirty="0">
                <a:latin typeface="Times New Roman"/>
                <a:cs typeface="Times New Roman"/>
              </a:rPr>
              <a:t>Eliminating</a:t>
            </a:r>
            <a:r>
              <a:rPr lang="en-US" sz="2400" spc="-65" dirty="0">
                <a:latin typeface="Times New Roman"/>
                <a:cs typeface="Times New Roman"/>
              </a:rPr>
              <a:t> </a:t>
            </a:r>
            <a:r>
              <a:rPr lang="en-US" sz="2400" dirty="0">
                <a:latin typeface="Times New Roman"/>
                <a:cs typeface="Times New Roman"/>
              </a:rPr>
              <a:t>deadlock</a:t>
            </a:r>
            <a:r>
              <a:rPr lang="en-US" sz="2400" spc="-20" dirty="0">
                <a:latin typeface="Times New Roman"/>
                <a:cs typeface="Times New Roman"/>
              </a:rPr>
              <a:t> </a:t>
            </a:r>
            <a:r>
              <a:rPr lang="en-US" sz="2400" dirty="0">
                <a:latin typeface="Times New Roman"/>
                <a:cs typeface="Times New Roman"/>
              </a:rPr>
              <a:t>by</a:t>
            </a:r>
            <a:r>
              <a:rPr lang="en-US" sz="2400" spc="-25" dirty="0">
                <a:latin typeface="Times New Roman"/>
                <a:cs typeface="Times New Roman"/>
              </a:rPr>
              <a:t> </a:t>
            </a:r>
            <a:r>
              <a:rPr lang="en-US" sz="2400" dirty="0">
                <a:latin typeface="Times New Roman"/>
                <a:cs typeface="Times New Roman"/>
              </a:rPr>
              <a:t>killing</a:t>
            </a:r>
            <a:r>
              <a:rPr lang="en-US" sz="2400" spc="-45" dirty="0">
                <a:latin typeface="Times New Roman"/>
                <a:cs typeface="Times New Roman"/>
              </a:rPr>
              <a:t> </a:t>
            </a:r>
            <a:r>
              <a:rPr lang="en-US" sz="2400" dirty="0">
                <a:latin typeface="Times New Roman"/>
                <a:cs typeface="Times New Roman"/>
              </a:rPr>
              <a:t>one</a:t>
            </a:r>
            <a:r>
              <a:rPr lang="en-US" sz="2400" spc="-35" dirty="0">
                <a:latin typeface="Times New Roman"/>
                <a:cs typeface="Times New Roman"/>
              </a:rPr>
              <a:t> </a:t>
            </a:r>
            <a:r>
              <a:rPr lang="en-US" sz="2400" dirty="0">
                <a:latin typeface="Times New Roman"/>
                <a:cs typeface="Times New Roman"/>
              </a:rPr>
              <a:t>or</a:t>
            </a:r>
            <a:r>
              <a:rPr lang="en-US" sz="2400" spc="-25" dirty="0">
                <a:latin typeface="Times New Roman"/>
                <a:cs typeface="Times New Roman"/>
              </a:rPr>
              <a:t> </a:t>
            </a:r>
            <a:r>
              <a:rPr lang="en-US" sz="2400" dirty="0">
                <a:latin typeface="Times New Roman"/>
                <a:cs typeface="Times New Roman"/>
              </a:rPr>
              <a:t>more</a:t>
            </a:r>
            <a:r>
              <a:rPr lang="en-US" sz="2400" spc="-35" dirty="0">
                <a:latin typeface="Times New Roman"/>
                <a:cs typeface="Times New Roman"/>
              </a:rPr>
              <a:t> </a:t>
            </a:r>
            <a:r>
              <a:rPr lang="en-US" sz="2400" dirty="0">
                <a:latin typeface="Times New Roman"/>
                <a:cs typeface="Times New Roman"/>
              </a:rPr>
              <a:t>process</a:t>
            </a:r>
            <a:r>
              <a:rPr lang="en-US" sz="2400" spc="5" dirty="0">
                <a:latin typeface="Times New Roman"/>
                <a:cs typeface="Times New Roman"/>
              </a:rPr>
              <a:t> </a:t>
            </a:r>
            <a:r>
              <a:rPr lang="en-US" sz="2400" dirty="0">
                <a:latin typeface="Times New Roman"/>
                <a:cs typeface="Times New Roman"/>
              </a:rPr>
              <a:t>in</a:t>
            </a:r>
            <a:r>
              <a:rPr lang="en-US" sz="2400" spc="-25" dirty="0">
                <a:latin typeface="Times New Roman"/>
                <a:cs typeface="Times New Roman"/>
              </a:rPr>
              <a:t> </a:t>
            </a:r>
            <a:r>
              <a:rPr lang="en-US" sz="2400" dirty="0">
                <a:latin typeface="Times New Roman"/>
                <a:cs typeface="Times New Roman"/>
              </a:rPr>
              <a:t>cycle</a:t>
            </a:r>
            <a:r>
              <a:rPr lang="en-US" sz="2400" spc="60" dirty="0">
                <a:latin typeface="Times New Roman"/>
                <a:cs typeface="Times New Roman"/>
              </a:rPr>
              <a:t> </a:t>
            </a:r>
            <a:r>
              <a:rPr lang="en-US" sz="2400" spc="-25" dirty="0">
                <a:latin typeface="Times New Roman"/>
                <a:cs typeface="Times New Roman"/>
              </a:rPr>
              <a:t>or </a:t>
            </a:r>
            <a:r>
              <a:rPr lang="en-US" sz="2400" dirty="0">
                <a:latin typeface="Times New Roman"/>
                <a:cs typeface="Times New Roman"/>
              </a:rPr>
              <a:t>process</a:t>
            </a:r>
            <a:r>
              <a:rPr lang="en-US" sz="2400" spc="-5" dirty="0">
                <a:latin typeface="Times New Roman"/>
                <a:cs typeface="Times New Roman"/>
              </a:rPr>
              <a:t> </a:t>
            </a:r>
            <a:r>
              <a:rPr lang="en-US" sz="2400" dirty="0">
                <a:latin typeface="Times New Roman"/>
                <a:cs typeface="Times New Roman"/>
              </a:rPr>
              <a:t>not</a:t>
            </a:r>
            <a:r>
              <a:rPr lang="en-US" sz="2400" spc="-20" dirty="0">
                <a:latin typeface="Times New Roman"/>
                <a:cs typeface="Times New Roman"/>
              </a:rPr>
              <a:t> </a:t>
            </a:r>
            <a:r>
              <a:rPr lang="en-US" sz="2400" dirty="0">
                <a:latin typeface="Times New Roman"/>
                <a:cs typeface="Times New Roman"/>
              </a:rPr>
              <a:t>in</a:t>
            </a:r>
            <a:r>
              <a:rPr lang="en-US" sz="2400" spc="-45" dirty="0">
                <a:latin typeface="Times New Roman"/>
                <a:cs typeface="Times New Roman"/>
              </a:rPr>
              <a:t> </a:t>
            </a:r>
            <a:r>
              <a:rPr lang="en-US" sz="2400" spc="-10" dirty="0">
                <a:latin typeface="Times New Roman"/>
                <a:cs typeface="Times New Roman"/>
              </a:rPr>
              <a:t>cycle.</a:t>
            </a:r>
            <a:endParaRPr lang="en-US" sz="2400" dirty="0">
              <a:latin typeface="Times New Roman"/>
              <a:cs typeface="Times New Roman"/>
            </a:endParaRPr>
          </a:p>
          <a:p>
            <a:pPr marL="0" indent="0" algn="just">
              <a:lnSpc>
                <a:spcPct val="150000"/>
              </a:lnSpc>
              <a:spcBef>
                <a:spcPts val="440"/>
              </a:spcBef>
              <a:buNone/>
            </a:pPr>
            <a:r>
              <a:rPr lang="en-US" spc="-10" dirty="0">
                <a:solidFill>
                  <a:srgbClr val="3333CC"/>
                </a:solidFill>
                <a:latin typeface="Times New Roman"/>
                <a:cs typeface="Times New Roman"/>
              </a:rPr>
              <a:t>Problem:</a:t>
            </a:r>
            <a:endParaRPr lang="en-US" dirty="0">
              <a:latin typeface="Times New Roman"/>
              <a:cs typeface="Times New Roman"/>
            </a:endParaRPr>
          </a:p>
          <a:p>
            <a:pPr marL="356870" marR="5080" algn="just">
              <a:lnSpc>
                <a:spcPct val="150000"/>
              </a:lnSpc>
              <a:spcBef>
                <a:spcPts val="850"/>
              </a:spcBef>
            </a:pPr>
            <a:r>
              <a:rPr lang="en-US" sz="2400" dirty="0">
                <a:latin typeface="Times New Roman"/>
                <a:cs typeface="Times New Roman"/>
              </a:rPr>
              <a:t>If</a:t>
            </a:r>
            <a:r>
              <a:rPr lang="en-US" sz="2400" spc="35" dirty="0">
                <a:latin typeface="Times New Roman"/>
                <a:cs typeface="Times New Roman"/>
              </a:rPr>
              <a:t> </a:t>
            </a:r>
            <a:r>
              <a:rPr lang="en-US" sz="2400" dirty="0">
                <a:latin typeface="Times New Roman"/>
                <a:cs typeface="Times New Roman"/>
              </a:rPr>
              <a:t>the</a:t>
            </a:r>
            <a:r>
              <a:rPr lang="en-US" sz="2400" spc="-35" dirty="0">
                <a:latin typeface="Times New Roman"/>
                <a:cs typeface="Times New Roman"/>
              </a:rPr>
              <a:t> </a:t>
            </a:r>
            <a:r>
              <a:rPr lang="en-US" sz="2400" dirty="0">
                <a:latin typeface="Times New Roman"/>
                <a:cs typeface="Times New Roman"/>
              </a:rPr>
              <a:t>process was</a:t>
            </a:r>
            <a:r>
              <a:rPr lang="en-US" sz="2400" spc="-20" dirty="0">
                <a:latin typeface="Times New Roman"/>
                <a:cs typeface="Times New Roman"/>
              </a:rPr>
              <a:t> </a:t>
            </a:r>
            <a:r>
              <a:rPr lang="en-US" sz="2400" dirty="0">
                <a:latin typeface="Times New Roman"/>
                <a:cs typeface="Times New Roman"/>
              </a:rPr>
              <a:t>in</a:t>
            </a:r>
            <a:r>
              <a:rPr lang="en-US" sz="2400" spc="-25" dirty="0">
                <a:latin typeface="Times New Roman"/>
                <a:cs typeface="Times New Roman"/>
              </a:rPr>
              <a:t> </a:t>
            </a:r>
            <a:r>
              <a:rPr lang="en-US" sz="2400" dirty="0">
                <a:latin typeface="Times New Roman"/>
                <a:cs typeface="Times New Roman"/>
              </a:rPr>
              <a:t>the</a:t>
            </a:r>
            <a:r>
              <a:rPr lang="en-US" sz="2400" spc="-30" dirty="0">
                <a:latin typeface="Times New Roman"/>
                <a:cs typeface="Times New Roman"/>
              </a:rPr>
              <a:t> </a:t>
            </a:r>
            <a:r>
              <a:rPr lang="en-US" sz="2400" dirty="0">
                <a:latin typeface="Times New Roman"/>
                <a:cs typeface="Times New Roman"/>
              </a:rPr>
              <a:t>midst</a:t>
            </a:r>
            <a:r>
              <a:rPr lang="en-US" sz="2400" spc="-45" dirty="0">
                <a:latin typeface="Times New Roman"/>
                <a:cs typeface="Times New Roman"/>
              </a:rPr>
              <a:t> </a:t>
            </a:r>
            <a:r>
              <a:rPr lang="en-US" sz="2400" dirty="0">
                <a:latin typeface="Times New Roman"/>
                <a:cs typeface="Times New Roman"/>
              </a:rPr>
              <a:t>of</a:t>
            </a:r>
            <a:r>
              <a:rPr lang="en-US" sz="2400" spc="-25" dirty="0">
                <a:latin typeface="Times New Roman"/>
                <a:cs typeface="Times New Roman"/>
              </a:rPr>
              <a:t> </a:t>
            </a:r>
            <a:r>
              <a:rPr lang="en-US" sz="2400" dirty="0">
                <a:latin typeface="Times New Roman"/>
                <a:cs typeface="Times New Roman"/>
              </a:rPr>
              <a:t>updating</a:t>
            </a:r>
            <a:r>
              <a:rPr lang="en-US" sz="2400" spc="-50" dirty="0">
                <a:latin typeface="Times New Roman"/>
                <a:cs typeface="Times New Roman"/>
              </a:rPr>
              <a:t> </a:t>
            </a:r>
            <a:r>
              <a:rPr lang="en-US" sz="2400" dirty="0">
                <a:latin typeface="Times New Roman"/>
                <a:cs typeface="Times New Roman"/>
              </a:rPr>
              <a:t>file,</a:t>
            </a:r>
            <a:r>
              <a:rPr lang="en-US" sz="2400" spc="-20" dirty="0">
                <a:latin typeface="Times New Roman"/>
                <a:cs typeface="Times New Roman"/>
              </a:rPr>
              <a:t> </a:t>
            </a:r>
            <a:r>
              <a:rPr lang="en-US" sz="2400" dirty="0">
                <a:latin typeface="Times New Roman"/>
                <a:cs typeface="Times New Roman"/>
              </a:rPr>
              <a:t>terminating</a:t>
            </a:r>
            <a:r>
              <a:rPr lang="en-US" sz="2400" spc="-45" dirty="0">
                <a:latin typeface="Times New Roman"/>
                <a:cs typeface="Times New Roman"/>
              </a:rPr>
              <a:t> </a:t>
            </a:r>
            <a:r>
              <a:rPr lang="en-US" sz="2400" dirty="0">
                <a:latin typeface="Times New Roman"/>
                <a:cs typeface="Times New Roman"/>
              </a:rPr>
              <a:t>it</a:t>
            </a:r>
            <a:r>
              <a:rPr lang="en-US" sz="2400" spc="-40" dirty="0">
                <a:latin typeface="Times New Roman"/>
                <a:cs typeface="Times New Roman"/>
              </a:rPr>
              <a:t> </a:t>
            </a:r>
            <a:r>
              <a:rPr lang="en-US" sz="2400" spc="-20" dirty="0">
                <a:latin typeface="Times New Roman"/>
                <a:cs typeface="Times New Roman"/>
              </a:rPr>
              <a:t>will </a:t>
            </a:r>
            <a:r>
              <a:rPr lang="en-US" sz="2400" dirty="0">
                <a:latin typeface="Times New Roman"/>
                <a:cs typeface="Times New Roman"/>
              </a:rPr>
              <a:t>leave</a:t>
            </a:r>
            <a:r>
              <a:rPr lang="en-US" sz="2400" spc="-40" dirty="0">
                <a:latin typeface="Times New Roman"/>
                <a:cs typeface="Times New Roman"/>
              </a:rPr>
              <a:t> </a:t>
            </a:r>
            <a:r>
              <a:rPr lang="en-US" sz="2400" dirty="0">
                <a:latin typeface="Times New Roman"/>
                <a:cs typeface="Times New Roman"/>
              </a:rPr>
              <a:t>file</a:t>
            </a:r>
            <a:r>
              <a:rPr lang="en-US" sz="2400" spc="-35" dirty="0">
                <a:latin typeface="Times New Roman"/>
                <a:cs typeface="Times New Roman"/>
              </a:rPr>
              <a:t> </a:t>
            </a:r>
            <a:r>
              <a:rPr lang="en-US" sz="2400" dirty="0">
                <a:latin typeface="Times New Roman"/>
                <a:cs typeface="Times New Roman"/>
              </a:rPr>
              <a:t>in</a:t>
            </a:r>
            <a:r>
              <a:rPr lang="en-US" sz="2400" spc="-30" dirty="0">
                <a:latin typeface="Times New Roman"/>
                <a:cs typeface="Times New Roman"/>
              </a:rPr>
              <a:t> </a:t>
            </a:r>
            <a:r>
              <a:rPr lang="en-US" sz="2400" dirty="0">
                <a:latin typeface="Times New Roman"/>
                <a:cs typeface="Times New Roman"/>
              </a:rPr>
              <a:t>incorrect</a:t>
            </a:r>
            <a:r>
              <a:rPr lang="en-US" sz="2400" spc="-5" dirty="0">
                <a:latin typeface="Times New Roman"/>
                <a:cs typeface="Times New Roman"/>
              </a:rPr>
              <a:t> </a:t>
            </a:r>
            <a:r>
              <a:rPr lang="en-US" sz="2400" spc="-10" dirty="0">
                <a:latin typeface="Times New Roman"/>
                <a:cs typeface="Times New Roman"/>
              </a:rPr>
              <a:t>state.</a:t>
            </a:r>
            <a:endParaRPr lang="en-US" sz="2400" dirty="0">
              <a:latin typeface="Times New Roman"/>
              <a:cs typeface="Times New Roman"/>
            </a:endParaRPr>
          </a:p>
          <a:p>
            <a:pPr algn="just">
              <a:lnSpc>
                <a:spcPct val="150000"/>
              </a:lnSpc>
              <a:spcBef>
                <a:spcPts val="1440"/>
              </a:spcBef>
            </a:pPr>
            <a:endParaRPr lang="en-US" sz="2400" dirty="0">
              <a:latin typeface="Times New Roman"/>
              <a:cs typeface="Times New Roman"/>
            </a:endParaRPr>
          </a:p>
          <a:p>
            <a:pPr marL="12065" marR="405765" indent="0" algn="just">
              <a:lnSpc>
                <a:spcPct val="150000"/>
              </a:lnSpc>
              <a:buNone/>
            </a:pPr>
            <a:r>
              <a:rPr lang="en-US" sz="2400" i="1" dirty="0">
                <a:latin typeface="Times New Roman"/>
                <a:cs typeface="Times New Roman"/>
              </a:rPr>
              <a:t>Key</a:t>
            </a:r>
            <a:r>
              <a:rPr lang="en-US" sz="2400" i="1" spc="-40" dirty="0">
                <a:latin typeface="Times New Roman"/>
                <a:cs typeface="Times New Roman"/>
              </a:rPr>
              <a:t> </a:t>
            </a:r>
            <a:r>
              <a:rPr lang="en-US" sz="2400" i="1" dirty="0">
                <a:latin typeface="Times New Roman"/>
                <a:cs typeface="Times New Roman"/>
              </a:rPr>
              <a:t>idea:</a:t>
            </a:r>
            <a:r>
              <a:rPr lang="en-US" sz="2400" i="1" spc="-30" dirty="0">
                <a:latin typeface="Times New Roman"/>
                <a:cs typeface="Times New Roman"/>
              </a:rPr>
              <a:t> </a:t>
            </a:r>
            <a:r>
              <a:rPr lang="en-US" sz="2400" i="1" dirty="0">
                <a:latin typeface="Times New Roman"/>
                <a:cs typeface="Times New Roman"/>
              </a:rPr>
              <a:t>we</a:t>
            </a:r>
            <a:r>
              <a:rPr lang="en-US" sz="2400" i="1" spc="-40" dirty="0">
                <a:latin typeface="Times New Roman"/>
                <a:cs typeface="Times New Roman"/>
              </a:rPr>
              <a:t> </a:t>
            </a:r>
            <a:r>
              <a:rPr lang="en-US" sz="2400" i="1" dirty="0">
                <a:latin typeface="Times New Roman"/>
                <a:cs typeface="Times New Roman"/>
              </a:rPr>
              <a:t>should</a:t>
            </a:r>
            <a:r>
              <a:rPr lang="en-US" sz="2400" i="1" spc="-25" dirty="0">
                <a:latin typeface="Times New Roman"/>
                <a:cs typeface="Times New Roman"/>
              </a:rPr>
              <a:t> </a:t>
            </a:r>
            <a:r>
              <a:rPr lang="en-US" sz="2400" i="1" dirty="0">
                <a:latin typeface="Times New Roman"/>
                <a:cs typeface="Times New Roman"/>
              </a:rPr>
              <a:t>terminate</a:t>
            </a:r>
            <a:r>
              <a:rPr lang="en-US" sz="2400" i="1" spc="-40" dirty="0">
                <a:latin typeface="Times New Roman"/>
                <a:cs typeface="Times New Roman"/>
              </a:rPr>
              <a:t> </a:t>
            </a:r>
            <a:r>
              <a:rPr lang="en-US" sz="2400" i="1" dirty="0">
                <a:latin typeface="Times New Roman"/>
                <a:cs typeface="Times New Roman"/>
              </a:rPr>
              <a:t>those</a:t>
            </a:r>
            <a:r>
              <a:rPr lang="en-US" sz="2400" i="1" spc="-35" dirty="0">
                <a:latin typeface="Times New Roman"/>
                <a:cs typeface="Times New Roman"/>
              </a:rPr>
              <a:t> </a:t>
            </a:r>
            <a:r>
              <a:rPr lang="en-US" sz="2400" i="1" spc="-10" dirty="0">
                <a:latin typeface="Times New Roman"/>
                <a:cs typeface="Times New Roman"/>
              </a:rPr>
              <a:t>processes </a:t>
            </a:r>
            <a:r>
              <a:rPr lang="en-US" sz="2400" i="1" dirty="0">
                <a:latin typeface="Times New Roman"/>
                <a:cs typeface="Times New Roman"/>
              </a:rPr>
              <a:t>the</a:t>
            </a:r>
            <a:r>
              <a:rPr lang="en-US" sz="2400" i="1" spc="-35" dirty="0">
                <a:latin typeface="Times New Roman"/>
                <a:cs typeface="Times New Roman"/>
              </a:rPr>
              <a:t> </a:t>
            </a:r>
            <a:r>
              <a:rPr lang="en-US" sz="2400" i="1" dirty="0">
                <a:latin typeface="Times New Roman"/>
                <a:cs typeface="Times New Roman"/>
              </a:rPr>
              <a:t>termination</a:t>
            </a:r>
            <a:r>
              <a:rPr lang="en-US" sz="2400" i="1" spc="-55" dirty="0">
                <a:latin typeface="Times New Roman"/>
                <a:cs typeface="Times New Roman"/>
              </a:rPr>
              <a:t> </a:t>
            </a:r>
            <a:r>
              <a:rPr lang="en-US" sz="2400" i="1" spc="-25" dirty="0">
                <a:latin typeface="Times New Roman"/>
                <a:cs typeface="Times New Roman"/>
              </a:rPr>
              <a:t>of </a:t>
            </a:r>
            <a:r>
              <a:rPr lang="en-US" sz="2400" i="1" dirty="0">
                <a:latin typeface="Times New Roman"/>
                <a:cs typeface="Times New Roman"/>
              </a:rPr>
              <a:t>which</a:t>
            </a:r>
            <a:r>
              <a:rPr lang="en-US" sz="2400" i="1" spc="-35" dirty="0">
                <a:latin typeface="Times New Roman"/>
                <a:cs typeface="Times New Roman"/>
              </a:rPr>
              <a:t> </a:t>
            </a:r>
            <a:r>
              <a:rPr lang="en-US" sz="2400" i="1" dirty="0">
                <a:latin typeface="Times New Roman"/>
                <a:cs typeface="Times New Roman"/>
              </a:rPr>
              <a:t>incur</a:t>
            </a:r>
            <a:r>
              <a:rPr lang="en-US" sz="2400" i="1" spc="-50" dirty="0">
                <a:latin typeface="Times New Roman"/>
                <a:cs typeface="Times New Roman"/>
              </a:rPr>
              <a:t> </a:t>
            </a:r>
            <a:r>
              <a:rPr lang="en-US" sz="2400" i="1" dirty="0">
                <a:latin typeface="Times New Roman"/>
                <a:cs typeface="Times New Roman"/>
              </a:rPr>
              <a:t>the</a:t>
            </a:r>
            <a:r>
              <a:rPr lang="en-US" sz="2400" i="1" spc="-40" dirty="0">
                <a:latin typeface="Times New Roman"/>
                <a:cs typeface="Times New Roman"/>
              </a:rPr>
              <a:t> </a:t>
            </a:r>
            <a:r>
              <a:rPr lang="en-US" sz="2400" i="1" dirty="0">
                <a:latin typeface="Times New Roman"/>
                <a:cs typeface="Times New Roman"/>
              </a:rPr>
              <a:t>minimum</a:t>
            </a:r>
            <a:r>
              <a:rPr lang="en-US" sz="2400" i="1" spc="-20" dirty="0">
                <a:latin typeface="Times New Roman"/>
                <a:cs typeface="Times New Roman"/>
              </a:rPr>
              <a:t> </a:t>
            </a:r>
            <a:r>
              <a:rPr lang="en-US" sz="2400" i="1" spc="-10" dirty="0">
                <a:latin typeface="Times New Roman"/>
                <a:cs typeface="Times New Roman"/>
              </a:rPr>
              <a:t>cost.</a:t>
            </a:r>
            <a:endParaRPr lang="en-US" sz="2400" dirty="0">
              <a:latin typeface="Times New Roman"/>
              <a:cs typeface="Times New Roman"/>
            </a:endParaRPr>
          </a:p>
          <a:p>
            <a:pPr marL="0" indent="0" algn="just">
              <a:lnSpc>
                <a:spcPct val="150000"/>
              </a:lnSpc>
              <a:spcBef>
                <a:spcPts val="105"/>
              </a:spcBef>
              <a:buNone/>
            </a:pPr>
            <a:endParaRPr lang="en-US" sz="2400" spc="-10" dirty="0"/>
          </a:p>
        </p:txBody>
      </p:sp>
    </p:spTree>
    <p:extLst>
      <p:ext uri="{BB962C8B-B14F-4D97-AF65-F5344CB8AC3E}">
        <p14:creationId xmlns:p14="http://schemas.microsoft.com/office/powerpoint/2010/main" val="32701536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9616"/>
          </a:xfrm>
        </p:spPr>
        <p:txBody>
          <a:bodyPr>
            <a:normAutofit fontScale="90000"/>
          </a:bodyPr>
          <a:lstStyle/>
          <a:p>
            <a:pPr algn="ctr"/>
            <a:r>
              <a:rPr lang="en-US" b="1" dirty="0" smtClean="0">
                <a:solidFill>
                  <a:srgbClr val="FF0000"/>
                </a:solidFill>
              </a:rPr>
              <a:t>CASE STUDY </a:t>
            </a:r>
            <a:endParaRPr lang="en-US" b="1" dirty="0">
              <a:solidFill>
                <a:srgbClr val="FF0000"/>
              </a:solidFill>
            </a:endParaRPr>
          </a:p>
        </p:txBody>
      </p:sp>
      <p:sp>
        <p:nvSpPr>
          <p:cNvPr id="3" name="Content Placeholder 2"/>
          <p:cNvSpPr>
            <a:spLocks noGrp="1"/>
          </p:cNvSpPr>
          <p:nvPr>
            <p:ph idx="1"/>
          </p:nvPr>
        </p:nvSpPr>
        <p:spPr>
          <a:xfrm>
            <a:off x="838200" y="954742"/>
            <a:ext cx="10515600" cy="5222221"/>
          </a:xfrm>
        </p:spPr>
        <p:txBody>
          <a:bodyPr/>
          <a:lstStyle/>
          <a:p>
            <a:pPr algn="just">
              <a:lnSpc>
                <a:spcPct val="150000"/>
              </a:lnSpc>
            </a:pPr>
            <a:r>
              <a:rPr lang="en-US" dirty="0" smtClean="0">
                <a:latin typeface="Times New Roman" panose="02020603050405020304" pitchFamily="18" charset="0"/>
                <a:cs typeface="Times New Roman" panose="02020603050405020304" pitchFamily="18" charset="0"/>
              </a:rPr>
              <a:t>Process </a:t>
            </a:r>
            <a:r>
              <a:rPr lang="en-US" dirty="0">
                <a:latin typeface="Times New Roman" panose="02020603050405020304" pitchFamily="18" charset="0"/>
                <a:cs typeface="Times New Roman" panose="02020603050405020304" pitchFamily="18" charset="0"/>
              </a:rPr>
              <a:t>and thread </a:t>
            </a:r>
            <a:r>
              <a:rPr lang="en-US" dirty="0" smtClean="0">
                <a:latin typeface="Times New Roman" panose="02020603050405020304" pitchFamily="18" charset="0"/>
                <a:cs typeface="Times New Roman" panose="02020603050405020304" pitchFamily="18" charset="0"/>
              </a:rPr>
              <a:t>management in </a:t>
            </a:r>
            <a:r>
              <a:rPr lang="en-US" dirty="0">
                <a:latin typeface="Times New Roman" panose="02020603050405020304" pitchFamily="18" charset="0"/>
                <a:cs typeface="Times New Roman" panose="02020603050405020304" pitchFamily="18" charset="0"/>
              </a:rPr>
              <a:t>real-time systems </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Operating systems for the Internet of Things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lnSpc>
                <a:spcPct val="150000"/>
              </a:lnSpc>
            </a:pPr>
            <a:r>
              <a:rPr lang="en-US" dirty="0" smtClean="0">
                <a:latin typeface="Times New Roman" panose="02020603050405020304" pitchFamily="18" charset="0"/>
                <a:cs typeface="Times New Roman" panose="02020603050405020304" pitchFamily="18" charset="0"/>
              </a:rPr>
              <a:t>Operating </a:t>
            </a:r>
            <a:r>
              <a:rPr lang="en-US" dirty="0">
                <a:latin typeface="Times New Roman" panose="02020603050405020304" pitchFamily="18" charset="0"/>
                <a:cs typeface="Times New Roman" panose="02020603050405020304" pitchFamily="18" charset="0"/>
              </a:rPr>
              <a:t>system support for mobile and embedded devices </a:t>
            </a:r>
          </a:p>
          <a:p>
            <a:endParaRPr lang="en-US" dirty="0"/>
          </a:p>
        </p:txBody>
      </p:sp>
    </p:spTree>
    <p:extLst>
      <p:ext uri="{BB962C8B-B14F-4D97-AF65-F5344CB8AC3E}">
        <p14:creationId xmlns:p14="http://schemas.microsoft.com/office/powerpoint/2010/main" val="709672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5976</TotalTime>
  <Words>6782</Words>
  <Application>Microsoft Office PowerPoint</Application>
  <PresentationFormat>Widescreen</PresentationFormat>
  <Paragraphs>1212</Paragraphs>
  <Slides>113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113</vt:i4>
      </vt:variant>
    </vt:vector>
  </HeadingPairs>
  <TitlesOfParts>
    <vt:vector size="123" baseType="lpstr">
      <vt:lpstr>Arial</vt:lpstr>
      <vt:lpstr>Calibri</vt:lpstr>
      <vt:lpstr>Calibri Light</vt:lpstr>
      <vt:lpstr>Courier New</vt:lpstr>
      <vt:lpstr>inter-regular</vt:lpstr>
      <vt:lpstr>Symbol</vt:lpstr>
      <vt:lpstr>Times New Roman</vt:lpstr>
      <vt:lpstr>Times New Roman</vt:lpstr>
      <vt:lpstr>Wingdings</vt:lpstr>
      <vt:lpstr>Office Theme</vt:lpstr>
      <vt:lpstr>PowerPoint Presentation</vt:lpstr>
      <vt:lpstr>What is process?</vt:lpstr>
      <vt:lpstr>Programs and Processes</vt:lpstr>
      <vt:lpstr>Programs and Processes</vt:lpstr>
      <vt:lpstr>Programs and Processes</vt:lpstr>
      <vt:lpstr>Process State</vt:lpstr>
      <vt:lpstr>PowerPoint Presentation</vt:lpstr>
      <vt:lpstr>Process state transitions</vt:lpstr>
      <vt:lpstr>Process Control Block</vt:lpstr>
      <vt:lpstr>CPU switch from process to process</vt:lpstr>
      <vt:lpstr>Operations on Processes</vt:lpstr>
      <vt:lpstr>PowerPoint Presentation</vt:lpstr>
      <vt:lpstr>Unix Process Creation Example</vt:lpstr>
      <vt:lpstr>PowerPoint Presentation</vt:lpstr>
      <vt:lpstr>Interprocess Communication</vt:lpstr>
      <vt:lpstr>PowerPoint Presentation</vt:lpstr>
      <vt:lpstr>PowerPoint Presentation</vt:lpstr>
      <vt:lpstr>Shared Memory System</vt:lpstr>
      <vt:lpstr>Shared Memory: Example Producer Consumer problem</vt:lpstr>
      <vt:lpstr>Message Passing System</vt:lpstr>
      <vt:lpstr>Multithreading</vt:lpstr>
      <vt:lpstr>PowerPoint Presentation</vt:lpstr>
      <vt:lpstr> Multithreading Benefits </vt:lpstr>
      <vt:lpstr>Users and Kernel Threads</vt:lpstr>
      <vt:lpstr>PowerPoint Presentation</vt:lpstr>
      <vt:lpstr>Multi-Threading Models :</vt:lpstr>
      <vt:lpstr>Many-to-One Model</vt:lpstr>
      <vt:lpstr> One-to-One Model </vt:lpstr>
      <vt:lpstr>Many-to-Many Model</vt:lpstr>
      <vt:lpstr>Process Scheduling</vt:lpstr>
      <vt:lpstr>CPU-I/O Burst</vt:lpstr>
      <vt:lpstr>PowerPoint Presentation</vt:lpstr>
      <vt:lpstr>Scheduler</vt:lpstr>
      <vt:lpstr>PowerPoint Presentation</vt:lpstr>
      <vt:lpstr>Scheduling Criteria</vt:lpstr>
      <vt:lpstr>Scheduling algorithms</vt:lpstr>
      <vt:lpstr>PowerPoint Presentation</vt:lpstr>
      <vt:lpstr>Shortest Job First (SJF)</vt:lpstr>
      <vt:lpstr>PowerPoint Presentation</vt:lpstr>
      <vt:lpstr>PowerPoint Presentation</vt:lpstr>
      <vt:lpstr>Shortest-Remaining-Time-First (SRTF)</vt:lpstr>
      <vt:lpstr>PowerPoint Presentation</vt:lpstr>
      <vt:lpstr>PowerPoint Presentation</vt:lpstr>
      <vt:lpstr>Round-Robin (RR)</vt:lpstr>
      <vt:lpstr>PowerPoint Presentation</vt:lpstr>
      <vt:lpstr>PowerPoint Presentation</vt:lpstr>
      <vt:lpstr>PowerPoint Presentation</vt:lpstr>
      <vt:lpstr>Priority Scheduling</vt:lpstr>
      <vt:lpstr>PowerPoint Presentation</vt:lpstr>
      <vt:lpstr>PowerPoint Presentation</vt:lpstr>
      <vt:lpstr>PowerPoint Presentation</vt:lpstr>
      <vt:lpstr>PowerPoint Presentation</vt:lpstr>
      <vt:lpstr>Multiple Queues Scheduling</vt:lpstr>
      <vt:lpstr>PowerPoint Presentation</vt:lpstr>
      <vt:lpstr>PowerPoint Presentation</vt:lpstr>
      <vt:lpstr> Multilevel Feedback Queue Scheduling </vt:lpstr>
      <vt:lpstr>PowerPoint Presentation</vt:lpstr>
      <vt:lpstr>PowerPoint Presentation</vt:lpstr>
      <vt:lpstr>Thread Scheduling</vt:lpstr>
      <vt:lpstr>PowerPoint Presentation</vt:lpstr>
      <vt:lpstr>PowerPoint Presentation</vt:lpstr>
      <vt:lpstr>PowerPoint Presentation</vt:lpstr>
      <vt:lpstr>PowerPoint Presentation</vt:lpstr>
      <vt:lpstr>Process Synchronization</vt:lpstr>
      <vt:lpstr>Race Conditions</vt:lpstr>
      <vt:lpstr>Mutual Exclusion</vt:lpstr>
      <vt:lpstr>Critical Section Problem</vt:lpstr>
      <vt:lpstr>PowerPoint Presentation</vt:lpstr>
      <vt:lpstr>Critical Section Problem</vt:lpstr>
      <vt:lpstr> Solution to CSP: Disabling Interrupts </vt:lpstr>
      <vt:lpstr>Solution to CSP: Lock Variables</vt:lpstr>
      <vt:lpstr>Solution to CSP: Strict Alternation</vt:lpstr>
      <vt:lpstr>Solution to CSP: Peterson's Algorithm</vt:lpstr>
      <vt:lpstr>PowerPoint Presentation</vt:lpstr>
      <vt:lpstr>Solution to CSP: The TSL Instruction</vt:lpstr>
      <vt:lpstr>PowerPoint Presentation</vt:lpstr>
      <vt:lpstr>Sleep and Wake-up</vt:lpstr>
      <vt:lpstr>Sleep and Wakeup Producer-Consumer Problem</vt:lpstr>
      <vt:lpstr>PowerPoint Presentation</vt:lpstr>
      <vt:lpstr>Sleep and Wakeup Producer-Consumer Problem</vt:lpstr>
      <vt:lpstr>Semaphore</vt:lpstr>
      <vt:lpstr>PowerPoint Presentation</vt:lpstr>
      <vt:lpstr>PowerPoint Presentation</vt:lpstr>
      <vt:lpstr>Semaphores Producer-Consumer using Semaphore</vt:lpstr>
      <vt:lpstr>Semaphores Producer-Consumer using Semaphore</vt:lpstr>
      <vt:lpstr>Deadlock</vt:lpstr>
      <vt:lpstr>Resource Deadlock</vt:lpstr>
      <vt:lpstr>Conditions for Deadlock</vt:lpstr>
      <vt:lpstr>Handling Deadlocks</vt:lpstr>
      <vt:lpstr>Deadlock prevention</vt:lpstr>
      <vt:lpstr>Deadlock prevention</vt:lpstr>
      <vt:lpstr>Deadlock Ignorance: Ostrich Algorithm</vt:lpstr>
      <vt:lpstr>Deadlock Avoidance</vt:lpstr>
      <vt:lpstr>Deadlock Avoidance Safe and Unsafe States</vt:lpstr>
      <vt:lpstr>Deadlock Avoidance Safe and Unsafe States</vt:lpstr>
      <vt:lpstr> Deadlock Avoidance Banker’s Algorithm </vt:lpstr>
      <vt:lpstr> Deadlock Avoidance Banker’s Algorithm </vt:lpstr>
      <vt:lpstr>Numerical Problem 1</vt:lpstr>
      <vt:lpstr>PowerPoint Presentation</vt:lpstr>
      <vt:lpstr>PowerPoint Presentation</vt:lpstr>
      <vt:lpstr>PowerPoint Presentation</vt:lpstr>
      <vt:lpstr>PowerPoint Presentation</vt:lpstr>
      <vt:lpstr>Numerical Example-2</vt:lpstr>
      <vt:lpstr>Numerical Example-3</vt:lpstr>
      <vt:lpstr>Problem with Banker’s Algorithm</vt:lpstr>
      <vt:lpstr>Deadlock Detection and Recovery</vt:lpstr>
      <vt:lpstr>Deadlock Detection</vt:lpstr>
      <vt:lpstr>RAG(Resource Allocation Graph)</vt:lpstr>
      <vt:lpstr>PowerPoint Presentation</vt:lpstr>
      <vt:lpstr>Deadlock Detection using RAG</vt:lpstr>
      <vt:lpstr>Recovery from Deadlock</vt:lpstr>
      <vt:lpstr>Recovery from Deadlock</vt:lpstr>
      <vt:lpstr>CASE STUDY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Acer</cp:lastModifiedBy>
  <cp:revision>61</cp:revision>
  <dcterms:created xsi:type="dcterms:W3CDTF">2024-06-23T01:06:32Z</dcterms:created>
  <dcterms:modified xsi:type="dcterms:W3CDTF">2026-05-15T06:17:27Z</dcterms:modified>
</cp:coreProperties>
</file>